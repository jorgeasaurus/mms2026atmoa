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8"/>
  </p:handoutMasterIdLst>
  <p:sldIdLst>
    <p:sldId id="256" r:id="rId6"/>
    <p:sldId id="264" r:id="rId7"/>
    <p:sldId id="260" r:id="rId8"/>
    <p:sldId id="258" r:id="rId9"/>
    <p:sldId id="267" r:id="rId10"/>
    <p:sldId id="270" r:id="rId11"/>
    <p:sldId id="268" r:id="rId12"/>
    <p:sldId id="271" r:id="rId13"/>
    <p:sldId id="272" r:id="rId14"/>
    <p:sldId id="269" r:id="rId15"/>
    <p:sldId id="263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258"/>
            <p14:sldId id="267"/>
            <p14:sldId id="270"/>
            <p14:sldId id="268"/>
            <p14:sldId id="271"/>
            <p14:sldId id="272"/>
            <p14:sldId id="269"/>
          </p14:sldIdLst>
        </p14:section>
        <p14:section name="Closing" id="{35F0DD0F-C871-4339-9D6B-25AB6010E816}">
          <p14:sldIdLst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92" autoAdjust="0"/>
  </p:normalViewPr>
  <p:slideViewPr>
    <p:cSldViewPr snapToGrid="0">
      <p:cViewPr varScale="1">
        <p:scale>
          <a:sx n="94" d="100"/>
          <a:sy n="94" d="100"/>
        </p:scale>
        <p:origin x="1240" y="2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rio" userId="dbe1492c70b6d8a8" providerId="LiveId" clId="{C0A32B92-FFB3-4116-9370-C21BA5ED7C08}"/>
    <pc:docChg chg="delSld modSection">
      <pc:chgData name="Scott Corio" userId="dbe1492c70b6d8a8" providerId="LiveId" clId="{C0A32B92-FFB3-4116-9370-C21BA5ED7C08}" dt="2026-04-06T15:04:46.130" v="2" actId="47"/>
      <pc:docMkLst>
        <pc:docMk/>
      </pc:docMkLst>
      <pc:sldChg chg="del">
        <pc:chgData name="Scott Corio" userId="dbe1492c70b6d8a8" providerId="LiveId" clId="{C0A32B92-FFB3-4116-9370-C21BA5ED7C08}" dt="2026-04-06T15:04:38.699" v="0" actId="47"/>
        <pc:sldMkLst>
          <pc:docMk/>
          <pc:sldMk cId="1040070314" sldId="273"/>
        </pc:sldMkLst>
      </pc:sldChg>
      <pc:sldChg chg="del">
        <pc:chgData name="Scott Corio" userId="dbe1492c70b6d8a8" providerId="LiveId" clId="{C0A32B92-FFB3-4116-9370-C21BA5ED7C08}" dt="2026-04-06T15:04:40.645" v="1" actId="47"/>
        <pc:sldMkLst>
          <pc:docMk/>
          <pc:sldMk cId="2892112160" sldId="274"/>
        </pc:sldMkLst>
      </pc:sldChg>
      <pc:sldChg chg="del">
        <pc:chgData name="Scott Corio" userId="dbe1492c70b6d8a8" providerId="LiveId" clId="{C0A32B92-FFB3-4116-9370-C21BA5ED7C08}" dt="2026-04-06T15:04:46.130" v="2" actId="47"/>
        <pc:sldMkLst>
          <pc:docMk/>
          <pc:sldMk cId="2112181249" sldId="27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image" Target="../media/image38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image" Target="../media/image3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3C22F-E38A-4267-9F12-03701FE8B419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034C47-C1FA-42E7-B5C0-6E4415619419}">
      <dgm:prSet phldrT="[Text]" phldr="0"/>
      <dgm:spPr/>
      <dgm:t>
        <a:bodyPr/>
        <a:lstStyle/>
        <a:p>
          <a:r>
            <a:rPr lang="en-US" dirty="0"/>
            <a:t>Enter Data</a:t>
          </a:r>
        </a:p>
      </dgm:t>
    </dgm:pt>
    <dgm:pt modelId="{731AF47D-7C8E-427B-A3FA-0D2541B31652}" type="parTrans" cxnId="{D161A9DE-70DA-460D-9CAA-3B127E0060C5}">
      <dgm:prSet/>
      <dgm:spPr/>
      <dgm:t>
        <a:bodyPr/>
        <a:lstStyle/>
        <a:p>
          <a:endParaRPr lang="en-US"/>
        </a:p>
      </dgm:t>
    </dgm:pt>
    <dgm:pt modelId="{83E0567D-C124-44EE-8FBF-8AD8F976E926}" type="sibTrans" cxnId="{D161A9DE-70DA-460D-9CAA-3B127E0060C5}">
      <dgm:prSet/>
      <dgm:spPr/>
      <dgm:t>
        <a:bodyPr/>
        <a:lstStyle/>
        <a:p>
          <a:endParaRPr lang="en-US"/>
        </a:p>
      </dgm:t>
    </dgm:pt>
    <dgm:pt modelId="{8FF7A229-24F0-41ED-A4E2-6EF023167C3A}">
      <dgm:prSet phldrT="[Text]" phldr="0"/>
      <dgm:spPr/>
      <dgm:t>
        <a:bodyPr/>
        <a:lstStyle/>
        <a:p>
          <a:r>
            <a:rPr lang="en-US" dirty="0"/>
            <a:t>Web Form</a:t>
          </a:r>
        </a:p>
      </dgm:t>
    </dgm:pt>
    <dgm:pt modelId="{A622C1F5-F8A5-4DE2-9D45-8021F7684ACA}" type="parTrans" cxnId="{BC9279B1-F19F-4605-BA5F-C5CB4CB62401}">
      <dgm:prSet/>
      <dgm:spPr/>
      <dgm:t>
        <a:bodyPr/>
        <a:lstStyle/>
        <a:p>
          <a:endParaRPr lang="en-US"/>
        </a:p>
      </dgm:t>
    </dgm:pt>
    <dgm:pt modelId="{87493D69-69C9-431D-BB92-9EB8A2CBDB04}" type="sibTrans" cxnId="{BC9279B1-F19F-4605-BA5F-C5CB4CB62401}">
      <dgm:prSet/>
      <dgm:spPr/>
      <dgm:t>
        <a:bodyPr/>
        <a:lstStyle/>
        <a:p>
          <a:endParaRPr lang="en-US"/>
        </a:p>
      </dgm:t>
    </dgm:pt>
    <dgm:pt modelId="{6CA771D4-9022-40A8-9F68-D92DB7748A76}">
      <dgm:prSet phldrT="[Text]" phldr="0"/>
      <dgm:spPr/>
      <dgm:t>
        <a:bodyPr/>
        <a:lstStyle/>
        <a:p>
          <a:r>
            <a:rPr lang="en-US" dirty="0"/>
            <a:t>JS/HTML</a:t>
          </a:r>
        </a:p>
      </dgm:t>
    </dgm:pt>
    <dgm:pt modelId="{EDA19DEE-523D-4216-A65A-47AD69C638CF}" type="parTrans" cxnId="{C12419E3-CAAE-458D-89EC-C4CAC5C4A8FD}">
      <dgm:prSet/>
      <dgm:spPr/>
      <dgm:t>
        <a:bodyPr/>
        <a:lstStyle/>
        <a:p>
          <a:endParaRPr lang="en-US"/>
        </a:p>
      </dgm:t>
    </dgm:pt>
    <dgm:pt modelId="{B582ACD5-24E2-4D1D-AEB9-FD1FA3FBE509}" type="sibTrans" cxnId="{C12419E3-CAAE-458D-89EC-C4CAC5C4A8FD}">
      <dgm:prSet/>
      <dgm:spPr/>
      <dgm:t>
        <a:bodyPr/>
        <a:lstStyle/>
        <a:p>
          <a:endParaRPr lang="en-US"/>
        </a:p>
      </dgm:t>
    </dgm:pt>
    <dgm:pt modelId="{84DF076D-CAC9-41F6-9AC2-DA05C86DE797}">
      <dgm:prSet phldrT="[Text]" phldr="0"/>
      <dgm:spPr/>
      <dgm:t>
        <a:bodyPr/>
        <a:lstStyle/>
        <a:p>
          <a:r>
            <a:rPr lang="en-US" dirty="0"/>
            <a:t>Store Data</a:t>
          </a:r>
        </a:p>
      </dgm:t>
    </dgm:pt>
    <dgm:pt modelId="{13613FEB-DB72-4D12-BCB2-F6BE76D5DFD6}" type="parTrans" cxnId="{C23375CF-F09E-42A0-AFD0-B9A0919BA9A2}">
      <dgm:prSet/>
      <dgm:spPr/>
      <dgm:t>
        <a:bodyPr/>
        <a:lstStyle/>
        <a:p>
          <a:endParaRPr lang="en-US"/>
        </a:p>
      </dgm:t>
    </dgm:pt>
    <dgm:pt modelId="{2D8EC112-1E2D-4868-89A3-E8CD4660B76A}" type="sibTrans" cxnId="{C23375CF-F09E-42A0-AFD0-B9A0919BA9A2}">
      <dgm:prSet/>
      <dgm:spPr/>
      <dgm:t>
        <a:bodyPr/>
        <a:lstStyle/>
        <a:p>
          <a:endParaRPr lang="en-US"/>
        </a:p>
      </dgm:t>
    </dgm:pt>
    <dgm:pt modelId="{A2704E61-7614-4210-B4B9-45896D95CC9B}">
      <dgm:prSet phldrT="[Text]" phldr="0"/>
      <dgm:spPr/>
      <dgm:t>
        <a:bodyPr/>
        <a:lstStyle/>
        <a:p>
          <a:r>
            <a:rPr lang="en-US" dirty="0" err="1"/>
            <a:t>mySQL</a:t>
          </a:r>
          <a:endParaRPr lang="en-US" dirty="0"/>
        </a:p>
      </dgm:t>
    </dgm:pt>
    <dgm:pt modelId="{D728894E-EFA8-41EF-985D-1F23EFD5DD8F}" type="parTrans" cxnId="{0B36E695-8E85-4F83-8906-D8FC23EC8E69}">
      <dgm:prSet/>
      <dgm:spPr/>
      <dgm:t>
        <a:bodyPr/>
        <a:lstStyle/>
        <a:p>
          <a:endParaRPr lang="en-US"/>
        </a:p>
      </dgm:t>
    </dgm:pt>
    <dgm:pt modelId="{524EBEFA-9FDB-414C-AA08-53AA1D0D0E74}" type="sibTrans" cxnId="{0B36E695-8E85-4F83-8906-D8FC23EC8E69}">
      <dgm:prSet/>
      <dgm:spPr/>
      <dgm:t>
        <a:bodyPr/>
        <a:lstStyle/>
        <a:p>
          <a:endParaRPr lang="en-US"/>
        </a:p>
      </dgm:t>
    </dgm:pt>
    <dgm:pt modelId="{B3415561-A64B-44B7-B8DE-E49BD22852AA}">
      <dgm:prSet phldrT="[Text]" phldr="0"/>
      <dgm:spPr/>
      <dgm:t>
        <a:bodyPr/>
        <a:lstStyle/>
        <a:p>
          <a:r>
            <a:rPr lang="en-US" dirty="0"/>
            <a:t>D:\cache for temp storage</a:t>
          </a:r>
        </a:p>
      </dgm:t>
    </dgm:pt>
    <dgm:pt modelId="{6FB3F018-0B35-43E5-9E53-0BD6998DC4D3}" type="parTrans" cxnId="{370C532E-6C99-496E-8001-A8176B107550}">
      <dgm:prSet/>
      <dgm:spPr/>
      <dgm:t>
        <a:bodyPr/>
        <a:lstStyle/>
        <a:p>
          <a:endParaRPr lang="en-US"/>
        </a:p>
      </dgm:t>
    </dgm:pt>
    <dgm:pt modelId="{69423F84-E040-48F0-900D-C5F8BDB00A46}" type="sibTrans" cxnId="{370C532E-6C99-496E-8001-A8176B107550}">
      <dgm:prSet/>
      <dgm:spPr/>
      <dgm:t>
        <a:bodyPr/>
        <a:lstStyle/>
        <a:p>
          <a:endParaRPr lang="en-US"/>
        </a:p>
      </dgm:t>
    </dgm:pt>
    <dgm:pt modelId="{160824BD-0554-4CBF-A5F6-576E644F4B44}">
      <dgm:prSet phldrT="[Text]" phldr="0"/>
      <dgm:spPr/>
      <dgm:t>
        <a:bodyPr/>
        <a:lstStyle/>
        <a:p>
          <a:r>
            <a:rPr lang="en-US" dirty="0"/>
            <a:t>Return Data</a:t>
          </a:r>
        </a:p>
      </dgm:t>
    </dgm:pt>
    <dgm:pt modelId="{5BCDAE95-7F73-425C-82D3-7D6BA2E14587}" type="parTrans" cxnId="{BDDD36F8-0B62-498D-835B-3B8ABEBDD291}">
      <dgm:prSet/>
      <dgm:spPr/>
      <dgm:t>
        <a:bodyPr/>
        <a:lstStyle/>
        <a:p>
          <a:endParaRPr lang="en-US"/>
        </a:p>
      </dgm:t>
    </dgm:pt>
    <dgm:pt modelId="{F8F021B6-006C-401D-A1EE-54D286ACCD74}" type="sibTrans" cxnId="{BDDD36F8-0B62-498D-835B-3B8ABEBDD291}">
      <dgm:prSet/>
      <dgm:spPr/>
      <dgm:t>
        <a:bodyPr/>
        <a:lstStyle/>
        <a:p>
          <a:endParaRPr lang="en-US"/>
        </a:p>
      </dgm:t>
    </dgm:pt>
    <dgm:pt modelId="{EA059B12-0706-4ACF-B782-8CA37DF1AA76}">
      <dgm:prSet phldrT="[Text]" phldr="0"/>
      <dgm:spPr/>
      <dgm:t>
        <a:bodyPr/>
        <a:lstStyle/>
        <a:p>
          <a:r>
            <a:rPr lang="en-US" dirty="0"/>
            <a:t>XLS Report</a:t>
          </a:r>
        </a:p>
      </dgm:t>
    </dgm:pt>
    <dgm:pt modelId="{9B09E2F1-D5B1-42A0-847C-035C7FD751ED}" type="parTrans" cxnId="{9D4D86A6-B948-4EA8-A73D-2B880A8170EA}">
      <dgm:prSet/>
      <dgm:spPr/>
      <dgm:t>
        <a:bodyPr/>
        <a:lstStyle/>
        <a:p>
          <a:endParaRPr lang="en-US"/>
        </a:p>
      </dgm:t>
    </dgm:pt>
    <dgm:pt modelId="{38FAB6AB-324D-442B-92BF-5CA0586D2F02}" type="sibTrans" cxnId="{9D4D86A6-B948-4EA8-A73D-2B880A8170EA}">
      <dgm:prSet/>
      <dgm:spPr/>
      <dgm:t>
        <a:bodyPr/>
        <a:lstStyle/>
        <a:p>
          <a:endParaRPr lang="en-US"/>
        </a:p>
      </dgm:t>
    </dgm:pt>
    <dgm:pt modelId="{DEAAA21C-4BD1-46BC-BC42-256C1F3A4D9B}">
      <dgm:prSet phldrT="[Text]" phldr="0"/>
      <dgm:spPr/>
      <dgm:t>
        <a:bodyPr/>
        <a:lstStyle/>
        <a:p>
          <a:r>
            <a:rPr lang="en-US" dirty="0"/>
            <a:t>CSV Export</a:t>
          </a:r>
        </a:p>
      </dgm:t>
    </dgm:pt>
    <dgm:pt modelId="{4664BC0D-AA93-462D-A8D1-3A4C16BB23C2}" type="parTrans" cxnId="{03214298-C25C-488A-99F0-4CFDD8E3F5FA}">
      <dgm:prSet/>
      <dgm:spPr/>
      <dgm:t>
        <a:bodyPr/>
        <a:lstStyle/>
        <a:p>
          <a:endParaRPr lang="en-US"/>
        </a:p>
      </dgm:t>
    </dgm:pt>
    <dgm:pt modelId="{5295D061-53EA-4FA5-9E98-D57B97766777}" type="sibTrans" cxnId="{03214298-C25C-488A-99F0-4CFDD8E3F5FA}">
      <dgm:prSet/>
      <dgm:spPr/>
      <dgm:t>
        <a:bodyPr/>
        <a:lstStyle/>
        <a:p>
          <a:endParaRPr lang="en-US"/>
        </a:p>
      </dgm:t>
    </dgm:pt>
    <dgm:pt modelId="{EE05553A-C272-420A-956E-E2A7EF17645A}" type="pres">
      <dgm:prSet presAssocID="{48A3C22F-E38A-4267-9F12-03701FE8B419}" presName="Name0" presStyleCnt="0">
        <dgm:presLayoutVars>
          <dgm:dir/>
          <dgm:resizeHandles val="exact"/>
        </dgm:presLayoutVars>
      </dgm:prSet>
      <dgm:spPr/>
    </dgm:pt>
    <dgm:pt modelId="{8EC29543-43C7-4A1A-BF07-47F94DB3AE57}" type="pres">
      <dgm:prSet presAssocID="{53034C47-C1FA-42E7-B5C0-6E4415619419}" presName="composite" presStyleCnt="0"/>
      <dgm:spPr/>
    </dgm:pt>
    <dgm:pt modelId="{33440209-96F2-4A24-B2ED-DA9129583A83}" type="pres">
      <dgm:prSet presAssocID="{53034C47-C1FA-42E7-B5C0-6E4415619419}" presName="imagSh" presStyleLbl="bgImgPlace1" presStyleIdx="0" presStyleCnt="3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Pen placed on top of a signature line"/>
        </a:ext>
      </dgm:extLst>
    </dgm:pt>
    <dgm:pt modelId="{17C9E714-D30A-4F87-B0BB-999895ED402F}" type="pres">
      <dgm:prSet presAssocID="{53034C47-C1FA-42E7-B5C0-6E4415619419}" presName="txNode" presStyleLbl="node1" presStyleIdx="0" presStyleCnt="3">
        <dgm:presLayoutVars>
          <dgm:bulletEnabled val="1"/>
        </dgm:presLayoutVars>
      </dgm:prSet>
      <dgm:spPr/>
    </dgm:pt>
    <dgm:pt modelId="{BA29948D-9CC9-41F2-937C-256BCD664E3E}" type="pres">
      <dgm:prSet presAssocID="{83E0567D-C124-44EE-8FBF-8AD8F976E926}" presName="sibTrans" presStyleLbl="sibTrans2D1" presStyleIdx="0" presStyleCnt="2"/>
      <dgm:spPr/>
    </dgm:pt>
    <dgm:pt modelId="{05576259-C0B7-4428-BD6E-68092D9FD6B7}" type="pres">
      <dgm:prSet presAssocID="{83E0567D-C124-44EE-8FBF-8AD8F976E926}" presName="connTx" presStyleLbl="sibTrans2D1" presStyleIdx="0" presStyleCnt="2"/>
      <dgm:spPr/>
    </dgm:pt>
    <dgm:pt modelId="{B02D63F7-E06F-477E-91A5-57CE820FAE2A}" type="pres">
      <dgm:prSet presAssocID="{84DF076D-CAC9-41F6-9AC2-DA05C86DE797}" presName="composite" presStyleCnt="0"/>
      <dgm:spPr/>
    </dgm:pt>
    <dgm:pt modelId="{6961E198-855C-460F-9178-F4980154DCBB}" type="pres">
      <dgm:prSet presAssocID="{84DF076D-CAC9-41F6-9AC2-DA05C86DE797}" presName="imagSh" presStyleLbl="bgImgPlace1" presStyleIdx="1" presStyleCnt="3"/>
      <dgm:spPr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Neon computer chips"/>
        </a:ext>
      </dgm:extLst>
    </dgm:pt>
    <dgm:pt modelId="{4EF600C6-1E2D-4AE7-B10B-78F66E5EF81F}" type="pres">
      <dgm:prSet presAssocID="{84DF076D-CAC9-41F6-9AC2-DA05C86DE797}" presName="txNode" presStyleLbl="node1" presStyleIdx="1" presStyleCnt="3">
        <dgm:presLayoutVars>
          <dgm:bulletEnabled val="1"/>
        </dgm:presLayoutVars>
      </dgm:prSet>
      <dgm:spPr/>
    </dgm:pt>
    <dgm:pt modelId="{AAD5D762-189F-4324-AF05-8E69276FC288}" type="pres">
      <dgm:prSet presAssocID="{2D8EC112-1E2D-4868-89A3-E8CD4660B76A}" presName="sibTrans" presStyleLbl="sibTrans2D1" presStyleIdx="1" presStyleCnt="2"/>
      <dgm:spPr/>
    </dgm:pt>
    <dgm:pt modelId="{F9B90666-3552-4EC4-BC47-DED8C56E74A1}" type="pres">
      <dgm:prSet presAssocID="{2D8EC112-1E2D-4868-89A3-E8CD4660B76A}" presName="connTx" presStyleLbl="sibTrans2D1" presStyleIdx="1" presStyleCnt="2"/>
      <dgm:spPr/>
    </dgm:pt>
    <dgm:pt modelId="{256B1FF1-40C1-4A83-99DE-6728BB55FD37}" type="pres">
      <dgm:prSet presAssocID="{160824BD-0554-4CBF-A5F6-576E644F4B44}" presName="composite" presStyleCnt="0"/>
      <dgm:spPr/>
    </dgm:pt>
    <dgm:pt modelId="{23091200-9D44-44C8-99EF-E9BB034ED2D2}" type="pres">
      <dgm:prSet presAssocID="{160824BD-0554-4CBF-A5F6-576E644F4B44}" presName="imagSh" presStyleLbl="bgImgPlace1" presStyleIdx="2" presStyleCnt="3"/>
      <dgm:spPr>
        <a:blipFill>
          <a:blip xmlns:r="http://schemas.openxmlformats.org/officeDocument/2006/relationships" r:embed="rId3"/>
          <a:srcRect/>
          <a:stretch>
            <a:fillRect l="-17000" r="-17000"/>
          </a:stretch>
        </a:blipFill>
      </dgm:spPr>
      <dgm:extLst>
        <a:ext uri="{E40237B7-FDA0-4F09-8148-C483321AD2D9}">
          <dgm14:cNvPr xmlns:dgm14="http://schemas.microsoft.com/office/drawing/2010/diagram" id="0" name="" descr="Digital graph of stock market"/>
        </a:ext>
      </dgm:extLst>
    </dgm:pt>
    <dgm:pt modelId="{7731DB8E-16C3-45C6-8859-9B8EEA16D62F}" type="pres">
      <dgm:prSet presAssocID="{160824BD-0554-4CBF-A5F6-576E644F4B44}" presName="txNode" presStyleLbl="node1" presStyleIdx="2" presStyleCnt="3">
        <dgm:presLayoutVars>
          <dgm:bulletEnabled val="1"/>
        </dgm:presLayoutVars>
      </dgm:prSet>
      <dgm:spPr/>
    </dgm:pt>
  </dgm:ptLst>
  <dgm:cxnLst>
    <dgm:cxn modelId="{798C4204-F232-4E55-A540-43E814A9DAB2}" type="presOf" srcId="{6CA771D4-9022-40A8-9F68-D92DB7748A76}" destId="{17C9E714-D30A-4F87-B0BB-999895ED402F}" srcOrd="0" destOrd="2" presId="urn:microsoft.com/office/officeart/2005/8/layout/hProcess10"/>
    <dgm:cxn modelId="{3880C41F-4FAD-4985-BC38-20EAF6E9A73F}" type="presOf" srcId="{48A3C22F-E38A-4267-9F12-03701FE8B419}" destId="{EE05553A-C272-420A-956E-E2A7EF17645A}" srcOrd="0" destOrd="0" presId="urn:microsoft.com/office/officeart/2005/8/layout/hProcess10"/>
    <dgm:cxn modelId="{1AA75223-A976-4ED3-8AD4-3757F44A41E5}" type="presOf" srcId="{EA059B12-0706-4ACF-B782-8CA37DF1AA76}" destId="{7731DB8E-16C3-45C6-8859-9B8EEA16D62F}" srcOrd="0" destOrd="1" presId="urn:microsoft.com/office/officeart/2005/8/layout/hProcess10"/>
    <dgm:cxn modelId="{370C532E-6C99-496E-8001-A8176B107550}" srcId="{84DF076D-CAC9-41F6-9AC2-DA05C86DE797}" destId="{B3415561-A64B-44B7-B8DE-E49BD22852AA}" srcOrd="1" destOrd="0" parTransId="{6FB3F018-0B35-43E5-9E53-0BD6998DC4D3}" sibTransId="{69423F84-E040-48F0-900D-C5F8BDB00A46}"/>
    <dgm:cxn modelId="{65679E61-7057-43DB-8CAA-3EA985D77958}" type="presOf" srcId="{84DF076D-CAC9-41F6-9AC2-DA05C86DE797}" destId="{4EF600C6-1E2D-4AE7-B10B-78F66E5EF81F}" srcOrd="0" destOrd="0" presId="urn:microsoft.com/office/officeart/2005/8/layout/hProcess10"/>
    <dgm:cxn modelId="{BCF18464-C4F5-4D7B-B184-464DD69E2A5A}" type="presOf" srcId="{160824BD-0554-4CBF-A5F6-576E644F4B44}" destId="{7731DB8E-16C3-45C6-8859-9B8EEA16D62F}" srcOrd="0" destOrd="0" presId="urn:microsoft.com/office/officeart/2005/8/layout/hProcess10"/>
    <dgm:cxn modelId="{6298576F-5CD2-48DC-9377-554FF9A9B9BB}" type="presOf" srcId="{83E0567D-C124-44EE-8FBF-8AD8F976E926}" destId="{BA29948D-9CC9-41F2-937C-256BCD664E3E}" srcOrd="0" destOrd="0" presId="urn:microsoft.com/office/officeart/2005/8/layout/hProcess10"/>
    <dgm:cxn modelId="{400FEB70-F764-43A2-9205-5F830D156EE1}" type="presOf" srcId="{2D8EC112-1E2D-4868-89A3-E8CD4660B76A}" destId="{AAD5D762-189F-4324-AF05-8E69276FC288}" srcOrd="0" destOrd="0" presId="urn:microsoft.com/office/officeart/2005/8/layout/hProcess10"/>
    <dgm:cxn modelId="{0B36E695-8E85-4F83-8906-D8FC23EC8E69}" srcId="{84DF076D-CAC9-41F6-9AC2-DA05C86DE797}" destId="{A2704E61-7614-4210-B4B9-45896D95CC9B}" srcOrd="0" destOrd="0" parTransId="{D728894E-EFA8-41EF-985D-1F23EFD5DD8F}" sibTransId="{524EBEFA-9FDB-414C-AA08-53AA1D0D0E74}"/>
    <dgm:cxn modelId="{03214298-C25C-488A-99F0-4CFDD8E3F5FA}" srcId="{160824BD-0554-4CBF-A5F6-576E644F4B44}" destId="{DEAAA21C-4BD1-46BC-BC42-256C1F3A4D9B}" srcOrd="1" destOrd="0" parTransId="{4664BC0D-AA93-462D-A8D1-3A4C16BB23C2}" sibTransId="{5295D061-53EA-4FA5-9E98-D57B97766777}"/>
    <dgm:cxn modelId="{9D4D86A6-B948-4EA8-A73D-2B880A8170EA}" srcId="{160824BD-0554-4CBF-A5F6-576E644F4B44}" destId="{EA059B12-0706-4ACF-B782-8CA37DF1AA76}" srcOrd="0" destOrd="0" parTransId="{9B09E2F1-D5B1-42A0-847C-035C7FD751ED}" sibTransId="{38FAB6AB-324D-442B-92BF-5CA0586D2F02}"/>
    <dgm:cxn modelId="{DE0F82A7-15A4-4C26-B5B7-D73E5A59E487}" type="presOf" srcId="{A2704E61-7614-4210-B4B9-45896D95CC9B}" destId="{4EF600C6-1E2D-4AE7-B10B-78F66E5EF81F}" srcOrd="0" destOrd="1" presId="urn:microsoft.com/office/officeart/2005/8/layout/hProcess10"/>
    <dgm:cxn modelId="{938D4EB1-6A7B-4EB0-A7CF-7F8838704074}" type="presOf" srcId="{DEAAA21C-4BD1-46BC-BC42-256C1F3A4D9B}" destId="{7731DB8E-16C3-45C6-8859-9B8EEA16D62F}" srcOrd="0" destOrd="2" presId="urn:microsoft.com/office/officeart/2005/8/layout/hProcess10"/>
    <dgm:cxn modelId="{BC9279B1-F19F-4605-BA5F-C5CB4CB62401}" srcId="{53034C47-C1FA-42E7-B5C0-6E4415619419}" destId="{8FF7A229-24F0-41ED-A4E2-6EF023167C3A}" srcOrd="0" destOrd="0" parTransId="{A622C1F5-F8A5-4DE2-9D45-8021F7684ACA}" sibTransId="{87493D69-69C9-431D-BB92-9EB8A2CBDB04}"/>
    <dgm:cxn modelId="{403D38B3-DC89-485D-ABC3-D23C78B4ADCA}" type="presOf" srcId="{2D8EC112-1E2D-4868-89A3-E8CD4660B76A}" destId="{F9B90666-3552-4EC4-BC47-DED8C56E74A1}" srcOrd="1" destOrd="0" presId="urn:microsoft.com/office/officeart/2005/8/layout/hProcess10"/>
    <dgm:cxn modelId="{73DD18C4-C061-46DF-815A-7D12C997AA3E}" type="presOf" srcId="{8FF7A229-24F0-41ED-A4E2-6EF023167C3A}" destId="{17C9E714-D30A-4F87-B0BB-999895ED402F}" srcOrd="0" destOrd="1" presId="urn:microsoft.com/office/officeart/2005/8/layout/hProcess10"/>
    <dgm:cxn modelId="{8D66E2C5-9B18-4BA7-A973-F059E589D249}" type="presOf" srcId="{83E0567D-C124-44EE-8FBF-8AD8F976E926}" destId="{05576259-C0B7-4428-BD6E-68092D9FD6B7}" srcOrd="1" destOrd="0" presId="urn:microsoft.com/office/officeart/2005/8/layout/hProcess10"/>
    <dgm:cxn modelId="{C23375CF-F09E-42A0-AFD0-B9A0919BA9A2}" srcId="{48A3C22F-E38A-4267-9F12-03701FE8B419}" destId="{84DF076D-CAC9-41F6-9AC2-DA05C86DE797}" srcOrd="1" destOrd="0" parTransId="{13613FEB-DB72-4D12-BCB2-F6BE76D5DFD6}" sibTransId="{2D8EC112-1E2D-4868-89A3-E8CD4660B76A}"/>
    <dgm:cxn modelId="{08C5C6D4-79B3-45D2-934A-DFDE8BC62F3B}" type="presOf" srcId="{53034C47-C1FA-42E7-B5C0-6E4415619419}" destId="{17C9E714-D30A-4F87-B0BB-999895ED402F}" srcOrd="0" destOrd="0" presId="urn:microsoft.com/office/officeart/2005/8/layout/hProcess10"/>
    <dgm:cxn modelId="{D161A9DE-70DA-460D-9CAA-3B127E0060C5}" srcId="{48A3C22F-E38A-4267-9F12-03701FE8B419}" destId="{53034C47-C1FA-42E7-B5C0-6E4415619419}" srcOrd="0" destOrd="0" parTransId="{731AF47D-7C8E-427B-A3FA-0D2541B31652}" sibTransId="{83E0567D-C124-44EE-8FBF-8AD8F976E926}"/>
    <dgm:cxn modelId="{C12419E3-CAAE-458D-89EC-C4CAC5C4A8FD}" srcId="{53034C47-C1FA-42E7-B5C0-6E4415619419}" destId="{6CA771D4-9022-40A8-9F68-D92DB7748A76}" srcOrd="1" destOrd="0" parTransId="{EDA19DEE-523D-4216-A65A-47AD69C638CF}" sibTransId="{B582ACD5-24E2-4D1D-AEB9-FD1FA3FBE509}"/>
    <dgm:cxn modelId="{BDDD36F8-0B62-498D-835B-3B8ABEBDD291}" srcId="{48A3C22F-E38A-4267-9F12-03701FE8B419}" destId="{160824BD-0554-4CBF-A5F6-576E644F4B44}" srcOrd="2" destOrd="0" parTransId="{5BCDAE95-7F73-425C-82D3-7D6BA2E14587}" sibTransId="{F8F021B6-006C-401D-A1EE-54D286ACCD74}"/>
    <dgm:cxn modelId="{1F9CC4FC-8459-446D-9D2C-4374E2485ACC}" type="presOf" srcId="{B3415561-A64B-44B7-B8DE-E49BD22852AA}" destId="{4EF600C6-1E2D-4AE7-B10B-78F66E5EF81F}" srcOrd="0" destOrd="2" presId="urn:microsoft.com/office/officeart/2005/8/layout/hProcess10"/>
    <dgm:cxn modelId="{505B82A1-9C6C-4283-8F2A-843C87C64647}" type="presParOf" srcId="{EE05553A-C272-420A-956E-E2A7EF17645A}" destId="{8EC29543-43C7-4A1A-BF07-47F94DB3AE57}" srcOrd="0" destOrd="0" presId="urn:microsoft.com/office/officeart/2005/8/layout/hProcess10"/>
    <dgm:cxn modelId="{8B01DC0C-3086-4DC6-9EC3-D9252E1D3F90}" type="presParOf" srcId="{8EC29543-43C7-4A1A-BF07-47F94DB3AE57}" destId="{33440209-96F2-4A24-B2ED-DA9129583A83}" srcOrd="0" destOrd="0" presId="urn:microsoft.com/office/officeart/2005/8/layout/hProcess10"/>
    <dgm:cxn modelId="{246776D9-73D9-48E4-B0E8-B35412406BDA}" type="presParOf" srcId="{8EC29543-43C7-4A1A-BF07-47F94DB3AE57}" destId="{17C9E714-D30A-4F87-B0BB-999895ED402F}" srcOrd="1" destOrd="0" presId="urn:microsoft.com/office/officeart/2005/8/layout/hProcess10"/>
    <dgm:cxn modelId="{ECADE339-47D6-489B-A810-F55E2891AF93}" type="presParOf" srcId="{EE05553A-C272-420A-956E-E2A7EF17645A}" destId="{BA29948D-9CC9-41F2-937C-256BCD664E3E}" srcOrd="1" destOrd="0" presId="urn:microsoft.com/office/officeart/2005/8/layout/hProcess10"/>
    <dgm:cxn modelId="{3FD889C0-C6A8-44E5-8AD4-4876C5BF0C87}" type="presParOf" srcId="{BA29948D-9CC9-41F2-937C-256BCD664E3E}" destId="{05576259-C0B7-4428-BD6E-68092D9FD6B7}" srcOrd="0" destOrd="0" presId="urn:microsoft.com/office/officeart/2005/8/layout/hProcess10"/>
    <dgm:cxn modelId="{3DF5F4F9-5D83-470C-9A62-4E23E9BB1882}" type="presParOf" srcId="{EE05553A-C272-420A-956E-E2A7EF17645A}" destId="{B02D63F7-E06F-477E-91A5-57CE820FAE2A}" srcOrd="2" destOrd="0" presId="urn:microsoft.com/office/officeart/2005/8/layout/hProcess10"/>
    <dgm:cxn modelId="{A7189412-FB43-4227-882B-C280E20F8439}" type="presParOf" srcId="{B02D63F7-E06F-477E-91A5-57CE820FAE2A}" destId="{6961E198-855C-460F-9178-F4980154DCBB}" srcOrd="0" destOrd="0" presId="urn:microsoft.com/office/officeart/2005/8/layout/hProcess10"/>
    <dgm:cxn modelId="{06079E39-5BD3-48D2-A3AB-7365F0023DDA}" type="presParOf" srcId="{B02D63F7-E06F-477E-91A5-57CE820FAE2A}" destId="{4EF600C6-1E2D-4AE7-B10B-78F66E5EF81F}" srcOrd="1" destOrd="0" presId="urn:microsoft.com/office/officeart/2005/8/layout/hProcess10"/>
    <dgm:cxn modelId="{76A4AA7B-8B03-4EC8-9CA9-6829D930B4C6}" type="presParOf" srcId="{EE05553A-C272-420A-956E-E2A7EF17645A}" destId="{AAD5D762-189F-4324-AF05-8E69276FC288}" srcOrd="3" destOrd="0" presId="urn:microsoft.com/office/officeart/2005/8/layout/hProcess10"/>
    <dgm:cxn modelId="{B6517657-3E05-4DB6-A2D9-BFF7C14F35C6}" type="presParOf" srcId="{AAD5D762-189F-4324-AF05-8E69276FC288}" destId="{F9B90666-3552-4EC4-BC47-DED8C56E74A1}" srcOrd="0" destOrd="0" presId="urn:microsoft.com/office/officeart/2005/8/layout/hProcess10"/>
    <dgm:cxn modelId="{674C9DE7-5561-488D-9750-B98D8BAFEAC3}" type="presParOf" srcId="{EE05553A-C272-420A-956E-E2A7EF17645A}" destId="{256B1FF1-40C1-4A83-99DE-6728BB55FD37}" srcOrd="4" destOrd="0" presId="urn:microsoft.com/office/officeart/2005/8/layout/hProcess10"/>
    <dgm:cxn modelId="{A26CE64B-110A-492F-95A9-8526B6FE8627}" type="presParOf" srcId="{256B1FF1-40C1-4A83-99DE-6728BB55FD37}" destId="{23091200-9D44-44C8-99EF-E9BB034ED2D2}" srcOrd="0" destOrd="0" presId="urn:microsoft.com/office/officeart/2005/8/layout/hProcess10"/>
    <dgm:cxn modelId="{7BD4EC65-AED1-4CF0-9583-A3AB0BE393FA}" type="presParOf" srcId="{256B1FF1-40C1-4A83-99DE-6728BB55FD37}" destId="{7731DB8E-16C3-45C6-8859-9B8EEA16D62F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40209-96F2-4A24-B2ED-DA9129583A83}">
      <dsp:nvSpPr>
        <dsp:cNvPr id="0" name=""/>
        <dsp:cNvSpPr/>
      </dsp:nvSpPr>
      <dsp:spPr>
        <a:xfrm>
          <a:off x="5230" y="363236"/>
          <a:ext cx="2463977" cy="246397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9E714-D30A-4F87-B0BB-999895ED402F}">
      <dsp:nvSpPr>
        <dsp:cNvPr id="0" name=""/>
        <dsp:cNvSpPr/>
      </dsp:nvSpPr>
      <dsp:spPr>
        <a:xfrm>
          <a:off x="406342" y="1841623"/>
          <a:ext cx="2463977" cy="24639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Enter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Web Form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JS/HTML</a:t>
          </a:r>
        </a:p>
      </dsp:txBody>
      <dsp:txXfrm>
        <a:off x="478509" y="1913790"/>
        <a:ext cx="2319643" cy="2319643"/>
      </dsp:txXfrm>
    </dsp:sp>
    <dsp:sp modelId="{BA29948D-9CC9-41F2-937C-256BCD664E3E}">
      <dsp:nvSpPr>
        <dsp:cNvPr id="0" name=""/>
        <dsp:cNvSpPr/>
      </dsp:nvSpPr>
      <dsp:spPr>
        <a:xfrm>
          <a:off x="2943824" y="1299196"/>
          <a:ext cx="474616" cy="592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2943824" y="1417608"/>
        <a:ext cx="332231" cy="355235"/>
      </dsp:txXfrm>
    </dsp:sp>
    <dsp:sp modelId="{6961E198-855C-460F-9178-F4980154DCBB}">
      <dsp:nvSpPr>
        <dsp:cNvPr id="0" name=""/>
        <dsp:cNvSpPr/>
      </dsp:nvSpPr>
      <dsp:spPr>
        <a:xfrm>
          <a:off x="3825254" y="363236"/>
          <a:ext cx="2463977" cy="246397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600C6-1E2D-4AE7-B10B-78F66E5EF81F}">
      <dsp:nvSpPr>
        <dsp:cNvPr id="0" name=""/>
        <dsp:cNvSpPr/>
      </dsp:nvSpPr>
      <dsp:spPr>
        <a:xfrm>
          <a:off x="4226367" y="1841623"/>
          <a:ext cx="2463977" cy="24639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Store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 err="1"/>
            <a:t>mySQL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D:\cache for temp storage</a:t>
          </a:r>
        </a:p>
      </dsp:txBody>
      <dsp:txXfrm>
        <a:off x="4298534" y="1913790"/>
        <a:ext cx="2319643" cy="2319643"/>
      </dsp:txXfrm>
    </dsp:sp>
    <dsp:sp modelId="{AAD5D762-189F-4324-AF05-8E69276FC288}">
      <dsp:nvSpPr>
        <dsp:cNvPr id="0" name=""/>
        <dsp:cNvSpPr/>
      </dsp:nvSpPr>
      <dsp:spPr>
        <a:xfrm>
          <a:off x="6763849" y="1299196"/>
          <a:ext cx="474616" cy="592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763849" y="1417608"/>
        <a:ext cx="332231" cy="355235"/>
      </dsp:txXfrm>
    </dsp:sp>
    <dsp:sp modelId="{23091200-9D44-44C8-99EF-E9BB034ED2D2}">
      <dsp:nvSpPr>
        <dsp:cNvPr id="0" name=""/>
        <dsp:cNvSpPr/>
      </dsp:nvSpPr>
      <dsp:spPr>
        <a:xfrm>
          <a:off x="7645279" y="363236"/>
          <a:ext cx="2463977" cy="246397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1DB8E-16C3-45C6-8859-9B8EEA16D62F}">
      <dsp:nvSpPr>
        <dsp:cNvPr id="0" name=""/>
        <dsp:cNvSpPr/>
      </dsp:nvSpPr>
      <dsp:spPr>
        <a:xfrm>
          <a:off x="8046392" y="1841623"/>
          <a:ext cx="2463977" cy="24639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Return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XLS Report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CSV Export</a:t>
          </a:r>
        </a:p>
      </dsp:txBody>
      <dsp:txXfrm>
        <a:off x="8118559" y="1913790"/>
        <a:ext cx="2319643" cy="2319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Cloudy with a Chance of Infrastructure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Leveraging Cloud Native Services to Solve Legacy Problems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CD6E66-EAB9-E15A-71BD-FB2D4F9AE9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1077" y="1662310"/>
            <a:ext cx="2703513" cy="2538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Scott Corio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Donnie Taylor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 err="1"/>
              <a:t>DumpsterDave</a:t>
            </a:r>
            <a:endParaRPr lang="en-US" dirty="0"/>
          </a:p>
          <a:p>
            <a:r>
              <a:rPr lang="en-US" dirty="0"/>
              <a:t>in/</a:t>
            </a:r>
            <a:r>
              <a:rPr lang="en-US" dirty="0" err="1"/>
              <a:t>ScottCorio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r>
              <a:rPr lang="en-US" dirty="0" err="1"/>
              <a:t>donnietaylor</a:t>
            </a:r>
            <a:endParaRPr lang="en-US" dirty="0"/>
          </a:p>
          <a:p>
            <a:r>
              <a:rPr lang="en-US" dirty="0"/>
              <a:t>   in/</a:t>
            </a:r>
            <a:r>
              <a:rPr lang="en-US" dirty="0" err="1"/>
              <a:t>DonnieTaylor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Cloud Architect, Azure MVP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Cloud Architect, Azure MVP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12" name="Picture 11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0A4AE40D-4FE6-D803-7894-11A487DAD3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552" y="5193440"/>
            <a:ext cx="475488" cy="47548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B8EEC40-46A4-2BEF-B977-21C3DA889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1552" y="5760720"/>
            <a:ext cx="476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Migrate to the Cloud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Acquisitions/Divestitures</a:t>
            </a:r>
          </a:p>
          <a:p>
            <a:r>
              <a:rPr lang="en-US" dirty="0"/>
              <a:t>Modernization Costs for self-owned data centers</a:t>
            </a:r>
          </a:p>
          <a:p>
            <a:r>
              <a:rPr lang="en-US" dirty="0"/>
              <a:t>Datacenter Closures</a:t>
            </a:r>
          </a:p>
          <a:p>
            <a:r>
              <a:rPr lang="en-US" dirty="0"/>
              <a:t>Application Modernization</a:t>
            </a:r>
          </a:p>
          <a:p>
            <a:r>
              <a:rPr lang="en-US" dirty="0"/>
              <a:t>Resiliency Needs</a:t>
            </a:r>
          </a:p>
          <a:p>
            <a:r>
              <a:rPr lang="en-US" dirty="0"/>
              <a:t>Data Residency Requirements</a:t>
            </a:r>
          </a:p>
          <a:p>
            <a:r>
              <a:rPr lang="en-US" dirty="0"/>
              <a:t>Capacity Expansion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B291-A007-1AA7-174A-3E98A81C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Re's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6AA1D-511E-3AC0-F503-FFD67064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Re-Home</a:t>
            </a:r>
          </a:p>
          <a:p>
            <a:pPr lvl="1"/>
            <a:r>
              <a:rPr lang="en-US" dirty="0"/>
              <a:t>Lift and Shift (move as is)</a:t>
            </a:r>
          </a:p>
          <a:p>
            <a:pPr lvl="1"/>
            <a:r>
              <a:rPr lang="en-US" dirty="0"/>
              <a:t>Architecture is set by requirements and cannot change</a:t>
            </a:r>
          </a:p>
          <a:p>
            <a:pPr lvl="1"/>
            <a:r>
              <a:rPr lang="en-US" dirty="0"/>
              <a:t>No time to re-design or build</a:t>
            </a:r>
          </a:p>
          <a:p>
            <a:r>
              <a:rPr lang="en-US" dirty="0"/>
              <a:t>Re-Build</a:t>
            </a:r>
          </a:p>
          <a:p>
            <a:pPr lvl="1"/>
            <a:r>
              <a:rPr lang="en-US" dirty="0"/>
              <a:t>Provide a bit more of a fresh start from a re-home, but still utilize the same basic architecture</a:t>
            </a:r>
          </a:p>
          <a:p>
            <a:r>
              <a:rPr lang="en-US" dirty="0"/>
              <a:t>Re-Design</a:t>
            </a:r>
          </a:p>
          <a:p>
            <a:pPr lvl="1"/>
            <a:r>
              <a:rPr lang="en-US" dirty="0"/>
              <a:t>Move from IaaS to PaaS/SaaS.  Migrate to Cloud native offerings (Microsoft SQL -&gt; Azure SQL, VM + Docker -&gt;  Container Apps,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Re-Tire</a:t>
            </a:r>
          </a:p>
          <a:p>
            <a:pPr lvl="1"/>
            <a:r>
              <a:rPr lang="en-US" dirty="0"/>
              <a:t>App no longer needed/viable</a:t>
            </a:r>
          </a:p>
        </p:txBody>
      </p:sp>
    </p:spTree>
    <p:extLst>
      <p:ext uri="{BB962C8B-B14F-4D97-AF65-F5344CB8AC3E}">
        <p14:creationId xmlns:p14="http://schemas.microsoft.com/office/powerpoint/2010/main" val="9730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5FD4F6-16A6-0E90-C80D-7ECA1CD7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7C550-0A4B-562F-FD56-1C49DC13E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focus of this session</a:t>
            </a:r>
          </a:p>
        </p:txBody>
      </p:sp>
    </p:spTree>
    <p:extLst>
      <p:ext uri="{BB962C8B-B14F-4D97-AF65-F5344CB8AC3E}">
        <p14:creationId xmlns:p14="http://schemas.microsoft.com/office/powerpoint/2010/main" val="144913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F30F-8989-B864-D0FA-81DC7646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You Might Redesign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91020-0B07-2255-D01A-5F8371449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 App</a:t>
            </a:r>
          </a:p>
          <a:p>
            <a:pPr lvl="1"/>
            <a:r>
              <a:rPr lang="en-US" dirty="0"/>
              <a:t>This could be as simple as a single IIS site running on a server</a:t>
            </a:r>
          </a:p>
          <a:p>
            <a:pPr lvl="1"/>
            <a:r>
              <a:rPr lang="en-US" dirty="0"/>
              <a:t>It could be a small multi-tier app that has an interface and a database</a:t>
            </a:r>
          </a:p>
          <a:p>
            <a:pPr lvl="1"/>
            <a:r>
              <a:rPr lang="en-US" dirty="0"/>
              <a:t>For our purposes, an "App" is self-contained, self-serving and does not rely on other systems or have other systems that rely on it.</a:t>
            </a:r>
          </a:p>
          <a:p>
            <a:r>
              <a:rPr lang="en-US" dirty="0"/>
              <a:t>A Platform</a:t>
            </a:r>
          </a:p>
          <a:p>
            <a:pPr lvl="1"/>
            <a:r>
              <a:rPr lang="en-US" dirty="0"/>
              <a:t>A Platform is generally regarded as a more complex application comprised of multiple systems that serve dependencies to other systems.</a:t>
            </a:r>
          </a:p>
          <a:p>
            <a:pPr lvl="1"/>
            <a:r>
              <a:rPr lang="en-US" dirty="0"/>
              <a:t>Platforms are sometimes also referred to as Shared Services and are used or relied on by multiple business units</a:t>
            </a:r>
          </a:p>
          <a:p>
            <a:r>
              <a:rPr lang="en-US" dirty="0"/>
              <a:t>An Environment</a:t>
            </a:r>
          </a:p>
          <a:p>
            <a:pPr lvl="1"/>
            <a:r>
              <a:rPr lang="en-US" dirty="0"/>
              <a:t>A Datacenter or 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7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EBA8-E542-A71C-9D5A-46A9337A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Redesigning an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72D29-02F6-6526-6952-593146DA5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Inventory</a:t>
            </a:r>
          </a:p>
          <a:p>
            <a:pPr lvl="1"/>
            <a:r>
              <a:rPr lang="en-US" dirty="0"/>
              <a:t>What does the app do?</a:t>
            </a:r>
          </a:p>
          <a:p>
            <a:pPr lvl="1"/>
            <a:r>
              <a:rPr lang="en-US" dirty="0"/>
              <a:t>What components make up the app?</a:t>
            </a:r>
          </a:p>
          <a:p>
            <a:pPr lvl="2"/>
            <a:r>
              <a:rPr lang="en-US" dirty="0"/>
              <a:t>Storage?</a:t>
            </a:r>
          </a:p>
          <a:p>
            <a:pPr lvl="2"/>
            <a:r>
              <a:rPr lang="en-US" dirty="0"/>
              <a:t>Web?</a:t>
            </a:r>
          </a:p>
          <a:p>
            <a:pPr lvl="2"/>
            <a:r>
              <a:rPr lang="en-US" dirty="0"/>
              <a:t>Database?</a:t>
            </a:r>
          </a:p>
          <a:p>
            <a:pPr lvl="1"/>
            <a:r>
              <a:rPr lang="en-US" dirty="0"/>
              <a:t>What are the runtime requirements?</a:t>
            </a:r>
          </a:p>
          <a:p>
            <a:pPr lvl="2"/>
            <a:r>
              <a:rPr lang="en-US" dirty="0"/>
              <a:t>Linux?  Windows?</a:t>
            </a:r>
          </a:p>
          <a:p>
            <a:pPr lvl="2"/>
            <a:r>
              <a:rPr lang="en-US" dirty="0"/>
              <a:t>SQL, </a:t>
            </a:r>
            <a:r>
              <a:rPr lang="en-US" dirty="0" err="1"/>
              <a:t>mySQL</a:t>
            </a:r>
            <a:r>
              <a:rPr lang="en-US" dirty="0"/>
              <a:t>, Postgres, Oracle?</a:t>
            </a:r>
          </a:p>
          <a:p>
            <a:pPr lvl="2"/>
            <a:r>
              <a:rPr lang="en-US" dirty="0"/>
              <a:t>NFS, Local Storage, Cache?</a:t>
            </a:r>
          </a:p>
          <a:p>
            <a:pPr lvl="1"/>
            <a:r>
              <a:rPr lang="en-US" dirty="0"/>
              <a:t>Who uses the app?</a:t>
            </a:r>
          </a:p>
          <a:p>
            <a:pPr lvl="1"/>
            <a:r>
              <a:rPr lang="en-US" dirty="0"/>
              <a:t>Where do people use the app?</a:t>
            </a:r>
          </a:p>
        </p:txBody>
      </p:sp>
    </p:spTree>
    <p:extLst>
      <p:ext uri="{BB962C8B-B14F-4D97-AF65-F5344CB8AC3E}">
        <p14:creationId xmlns:p14="http://schemas.microsoft.com/office/powerpoint/2010/main" val="568714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98F6-C794-D68E-1647-34C8A3A2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out a diagram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653E44-46E1-65DC-C1D2-2814B7E55B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579817"/>
              </p:ext>
            </p:extLst>
          </p:nvPr>
        </p:nvGraphicFramePr>
        <p:xfrm>
          <a:off x="838200" y="1508125"/>
          <a:ext cx="10515600" cy="4668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43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9BD1-8202-BEEF-23A3-927C0F0D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D508-7743-CD61-4C15-9E5BBA458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Cloud will save me money</a:t>
            </a:r>
          </a:p>
          <a:p>
            <a:pPr lvl="1"/>
            <a:r>
              <a:rPr lang="en-US" dirty="0"/>
              <a:t>The cloud </a:t>
            </a:r>
            <a:r>
              <a:rPr lang="en-US" b="1" dirty="0"/>
              <a:t>CAN</a:t>
            </a:r>
            <a:r>
              <a:rPr lang="en-US" dirty="0"/>
              <a:t> save you money if you do it right.  It can </a:t>
            </a:r>
            <a:r>
              <a:rPr lang="en-US" b="1" dirty="0"/>
              <a:t>COST</a:t>
            </a:r>
            <a:r>
              <a:rPr lang="en-US" dirty="0"/>
              <a:t> you money if you don't</a:t>
            </a:r>
          </a:p>
          <a:p>
            <a:r>
              <a:rPr lang="en-US" dirty="0"/>
              <a:t>I'm going to use Domain Controllers for DNS</a:t>
            </a:r>
          </a:p>
          <a:p>
            <a:pPr lvl="1"/>
            <a:r>
              <a:rPr lang="en-US" dirty="0"/>
              <a:t>This is usually the wrong approach in the cloud</a:t>
            </a:r>
          </a:p>
          <a:p>
            <a:r>
              <a:rPr lang="en-US" dirty="0"/>
              <a:t>The cloud is just another datacenter</a:t>
            </a:r>
          </a:p>
          <a:p>
            <a:pPr lvl="1"/>
            <a:r>
              <a:rPr lang="en-US" dirty="0"/>
              <a:t>It's not.  And it will bite you hard if you treat it like one!</a:t>
            </a:r>
          </a:p>
          <a:p>
            <a:r>
              <a:rPr lang="en-US" dirty="0"/>
              <a:t>I'm going to have a Dev tenant and a Prod tenant</a:t>
            </a:r>
          </a:p>
          <a:p>
            <a:pPr lvl="1"/>
            <a:r>
              <a:rPr lang="en-US" dirty="0"/>
              <a:t>Generally speaking, you should have one tenant with proper structure within.</a:t>
            </a:r>
          </a:p>
          <a:p>
            <a:r>
              <a:rPr lang="en-US" dirty="0"/>
              <a:t>I need multi-cloud</a:t>
            </a:r>
          </a:p>
          <a:p>
            <a:pPr lvl="1"/>
            <a:r>
              <a:rPr lang="en-US" dirty="0"/>
              <a:t>Very few people actually need multi-cloud, and it's very hard and expensive to do correctly.</a:t>
            </a:r>
          </a:p>
        </p:txBody>
      </p:sp>
    </p:spTree>
    <p:extLst>
      <p:ext uri="{BB962C8B-B14F-4D97-AF65-F5344CB8AC3E}">
        <p14:creationId xmlns:p14="http://schemas.microsoft.com/office/powerpoint/2010/main" val="211878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2026 at MOA-Office</Template>
  <TotalTime>119</TotalTime>
  <Words>497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Cloudy with a Chance of Infrastructure</vt:lpstr>
      <vt:lpstr>Attention</vt:lpstr>
      <vt:lpstr>PowerPoint Presentation</vt:lpstr>
      <vt:lpstr>Why Migrate to the Cloud</vt:lpstr>
      <vt:lpstr>The Re's</vt:lpstr>
      <vt:lpstr>Redesign</vt:lpstr>
      <vt:lpstr>Things You Might Redesign</vt:lpstr>
      <vt:lpstr>Redesigning an App</vt:lpstr>
      <vt:lpstr>Draw out a diagram</vt:lpstr>
      <vt:lpstr>Common Pitfalls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Scott Corio</dc:creator>
  <cp:lastModifiedBy>Scott Corio</cp:lastModifiedBy>
  <cp:revision>2</cp:revision>
  <dcterms:created xsi:type="dcterms:W3CDTF">2026-03-09T13:58:27Z</dcterms:created>
  <dcterms:modified xsi:type="dcterms:W3CDTF">2026-04-06T15:04:47Z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