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Lst>
  <p:notesMasterIdLst>
    <p:notesMasterId r:id="rId37"/>
  </p:notesMasterIdLst>
  <p:handoutMasterIdLst>
    <p:handoutMasterId r:id="rId38"/>
  </p:handoutMasterIdLst>
  <p:sldIdLst>
    <p:sldId id="256" r:id="rId6"/>
    <p:sldId id="264" r:id="rId7"/>
    <p:sldId id="260" r:id="rId8"/>
    <p:sldId id="257" r:id="rId9"/>
    <p:sldId id="275" r:id="rId10"/>
    <p:sldId id="285" r:id="rId11"/>
    <p:sldId id="278" r:id="rId12"/>
    <p:sldId id="286" r:id="rId13"/>
    <p:sldId id="292" r:id="rId14"/>
    <p:sldId id="293" r:id="rId15"/>
    <p:sldId id="294" r:id="rId16"/>
    <p:sldId id="284" r:id="rId17"/>
    <p:sldId id="299" r:id="rId18"/>
    <p:sldId id="277" r:id="rId19"/>
    <p:sldId id="297" r:id="rId20"/>
    <p:sldId id="300" r:id="rId21"/>
    <p:sldId id="301" r:id="rId22"/>
    <p:sldId id="298" r:id="rId23"/>
    <p:sldId id="288" r:id="rId24"/>
    <p:sldId id="295" r:id="rId25"/>
    <p:sldId id="279" r:id="rId26"/>
    <p:sldId id="289" r:id="rId27"/>
    <p:sldId id="290" r:id="rId28"/>
    <p:sldId id="267" r:id="rId29"/>
    <p:sldId id="280" r:id="rId30"/>
    <p:sldId id="281" r:id="rId31"/>
    <p:sldId id="296" r:id="rId32"/>
    <p:sldId id="270" r:id="rId33"/>
    <p:sldId id="266" r:id="rId34"/>
    <p:sldId id="263" r:id="rId35"/>
    <p:sldId id="26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47C90A1-52DE-4C0C-9748-AA4C35CE60DF}">
          <p14:sldIdLst>
            <p14:sldId id="256"/>
            <p14:sldId id="264"/>
            <p14:sldId id="260"/>
            <p14:sldId id="257"/>
          </p14:sldIdLst>
        </p14:section>
        <p14:section name="Presentation" id="{88398753-748C-4CE7-B81D-D95829EA2652}">
          <p14:sldIdLst>
            <p14:sldId id="275"/>
            <p14:sldId id="285"/>
            <p14:sldId id="278"/>
            <p14:sldId id="286"/>
            <p14:sldId id="292"/>
            <p14:sldId id="293"/>
            <p14:sldId id="294"/>
            <p14:sldId id="284"/>
            <p14:sldId id="299"/>
            <p14:sldId id="277"/>
            <p14:sldId id="297"/>
            <p14:sldId id="300"/>
            <p14:sldId id="301"/>
            <p14:sldId id="298"/>
            <p14:sldId id="288"/>
            <p14:sldId id="295"/>
            <p14:sldId id="279"/>
            <p14:sldId id="289"/>
            <p14:sldId id="290"/>
            <p14:sldId id="267"/>
            <p14:sldId id="280"/>
            <p14:sldId id="281"/>
            <p14:sldId id="296"/>
            <p14:sldId id="270"/>
          </p14:sldIdLst>
        </p14:section>
        <p14:section name="Closing" id="{35F0DD0F-C871-4339-9D6B-25AB6010E816}">
          <p14:sldIdLst>
            <p14:sldId id="266"/>
            <p14:sldId id="263"/>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C24"/>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3319AD-8AD1-478A-A9AE-DC55FCACCB96}" v="593" dt="2026-04-15T09:07:58.372"/>
    <p1510:client id="{EE6B1956-0E13-47DC-9587-A902131F7EF1}" v="121" dt="2026-04-15T11:00:19.783"/>
  </p1510:revLst>
</p1510:revInfo>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01D4DECA-1F4B-4D62-96E1-305994F14F7D}"/>
    <pc:docChg chg="modSld">
      <pc:chgData name="Guest User" userId="" providerId="Windows Live" clId="Web-{01D4DECA-1F4B-4D62-96E1-305994F14F7D}" dt="2026-03-18T11:24:24.414" v="125" actId="20577"/>
      <pc:docMkLst>
        <pc:docMk/>
      </pc:docMkLst>
      <pc:sldChg chg="modSp">
        <pc:chgData name="Guest User" userId="" providerId="Windows Live" clId="Web-{01D4DECA-1F4B-4D62-96E1-305994F14F7D}" dt="2026-03-18T11:20:38.840" v="0" actId="14100"/>
        <pc:sldMkLst>
          <pc:docMk/>
          <pc:sldMk cId="2749782532" sldId="260"/>
        </pc:sldMkLst>
        <pc:picChg chg="mod">
          <ac:chgData name="Guest User" userId="" providerId="Windows Live" clId="Web-{01D4DECA-1F4B-4D62-96E1-305994F14F7D}" dt="2026-03-18T11:20:38.840" v="0" actId="14100"/>
          <ac:picMkLst>
            <pc:docMk/>
            <pc:sldMk cId="2749782532" sldId="260"/>
            <ac:picMk id="2" creationId="{9D8DA1D0-E7C6-9ABA-44D2-41C00569DBFB}"/>
          </ac:picMkLst>
        </pc:picChg>
      </pc:sldChg>
      <pc:sldChg chg="modSp">
        <pc:chgData name="Guest User" userId="" providerId="Windows Live" clId="Web-{01D4DECA-1F4B-4D62-96E1-305994F14F7D}" dt="2026-03-18T11:24:24.414" v="125" actId="20577"/>
        <pc:sldMkLst>
          <pc:docMk/>
          <pc:sldMk cId="3846239379" sldId="299"/>
        </pc:sldMkLst>
        <pc:spChg chg="mod">
          <ac:chgData name="Guest User" userId="" providerId="Windows Live" clId="Web-{01D4DECA-1F4B-4D62-96E1-305994F14F7D}" dt="2026-03-18T11:24:24.414" v="125" actId="20577"/>
          <ac:spMkLst>
            <pc:docMk/>
            <pc:sldMk cId="3846239379" sldId="299"/>
            <ac:spMk id="3" creationId="{2678C645-3556-1BF2-0793-47C092749B65}"/>
          </ac:spMkLst>
        </pc:spChg>
      </pc:sldChg>
    </pc:docChg>
  </pc:docChgLst>
  <pc:docChgLst>
    <pc:chgData name="Guest User" providerId="Windows Live" clId="Web-{7371D3C8-27B3-4967-BFFB-A8D35668DD7F}"/>
    <pc:docChg chg="modSld sldOrd">
      <pc:chgData name="Guest User" userId="" providerId="Windows Live" clId="Web-{7371D3C8-27B3-4967-BFFB-A8D35668DD7F}" dt="2026-03-18T11:15:39.191" v="202" actId="20577"/>
      <pc:docMkLst>
        <pc:docMk/>
      </pc:docMkLst>
      <pc:sldChg chg="addSp delSp modSp">
        <pc:chgData name="Guest User" userId="" providerId="Windows Live" clId="Web-{7371D3C8-27B3-4967-BFFB-A8D35668DD7F}" dt="2026-03-18T11:11:41.950" v="159" actId="1076"/>
        <pc:sldMkLst>
          <pc:docMk/>
          <pc:sldMk cId="2749782532" sldId="260"/>
        </pc:sldMkLst>
        <pc:picChg chg="add mod">
          <ac:chgData name="Guest User" userId="" providerId="Windows Live" clId="Web-{7371D3C8-27B3-4967-BFFB-A8D35668DD7F}" dt="2026-03-18T11:11:41.950" v="159" actId="1076"/>
          <ac:picMkLst>
            <pc:docMk/>
            <pc:sldMk cId="2749782532" sldId="260"/>
            <ac:picMk id="2" creationId="{9D8DA1D0-E7C6-9ABA-44D2-41C00569DBFB}"/>
          </ac:picMkLst>
        </pc:picChg>
      </pc:sldChg>
      <pc:sldChg chg="modSp">
        <pc:chgData name="Guest User" userId="" providerId="Windows Live" clId="Web-{7371D3C8-27B3-4967-BFFB-A8D35668DD7F}" dt="2026-03-18T11:14:00.314" v="186" actId="20577"/>
        <pc:sldMkLst>
          <pc:docMk/>
          <pc:sldMk cId="2800528334" sldId="281"/>
        </pc:sldMkLst>
        <pc:spChg chg="mod">
          <ac:chgData name="Guest User" userId="" providerId="Windows Live" clId="Web-{7371D3C8-27B3-4967-BFFB-A8D35668DD7F}" dt="2026-03-18T11:14:00.314" v="186" actId="20577"/>
          <ac:spMkLst>
            <pc:docMk/>
            <pc:sldMk cId="2800528334" sldId="281"/>
            <ac:spMk id="3" creationId="{B431C63D-07F1-4256-320A-084CBD820A6A}"/>
          </ac:spMkLst>
        </pc:spChg>
      </pc:sldChg>
      <pc:sldChg chg="modSp">
        <pc:chgData name="Guest User" userId="" providerId="Windows Live" clId="Web-{7371D3C8-27B3-4967-BFFB-A8D35668DD7F}" dt="2026-03-18T11:15:39.191" v="202" actId="20577"/>
        <pc:sldMkLst>
          <pc:docMk/>
          <pc:sldMk cId="113928363" sldId="290"/>
        </pc:sldMkLst>
        <pc:spChg chg="mod">
          <ac:chgData name="Guest User" userId="" providerId="Windows Live" clId="Web-{7371D3C8-27B3-4967-BFFB-A8D35668DD7F}" dt="2026-03-18T11:15:39.191" v="202" actId="20577"/>
          <ac:spMkLst>
            <pc:docMk/>
            <pc:sldMk cId="113928363" sldId="290"/>
            <ac:spMk id="3" creationId="{A018F372-2775-3A05-7A5C-0799010230E8}"/>
          </ac:spMkLst>
        </pc:spChg>
      </pc:sldChg>
      <pc:sldChg chg="modSp ord">
        <pc:chgData name="Guest User" userId="" providerId="Windows Live" clId="Web-{7371D3C8-27B3-4967-BFFB-A8D35668DD7F}" dt="2026-03-18T11:09:11.568" v="153"/>
        <pc:sldMkLst>
          <pc:docMk/>
          <pc:sldMk cId="3846239379" sldId="299"/>
        </pc:sldMkLst>
        <pc:spChg chg="mod">
          <ac:chgData name="Guest User" userId="" providerId="Windows Live" clId="Web-{7371D3C8-27B3-4967-BFFB-A8D35668DD7F}" dt="2026-03-18T11:08:12.001" v="152" actId="20577"/>
          <ac:spMkLst>
            <pc:docMk/>
            <pc:sldMk cId="3846239379" sldId="299"/>
            <ac:spMk id="3" creationId="{2678C645-3556-1BF2-0793-47C092749B65}"/>
          </ac:spMkLst>
        </pc:spChg>
      </pc:sldChg>
    </pc:docChg>
  </pc:docChgLst>
  <pc:docChgLst>
    <pc:chgData name="Guest User" providerId="Windows Live" clId="Web-{EE6B1956-0E13-47DC-9587-A902131F7EF1}"/>
    <pc:docChg chg="modSld">
      <pc:chgData name="Guest User" userId="" providerId="Windows Live" clId="Web-{EE6B1956-0E13-47DC-9587-A902131F7EF1}" dt="2026-04-15T11:00:19.783" v="121" actId="20577"/>
      <pc:docMkLst>
        <pc:docMk/>
      </pc:docMkLst>
      <pc:sldChg chg="modSp">
        <pc:chgData name="Guest User" userId="" providerId="Windows Live" clId="Web-{EE6B1956-0E13-47DC-9587-A902131F7EF1}" dt="2026-04-15T10:57:37.886" v="71" actId="20577"/>
        <pc:sldMkLst>
          <pc:docMk/>
          <pc:sldMk cId="3235071368" sldId="279"/>
        </pc:sldMkLst>
        <pc:spChg chg="mod">
          <ac:chgData name="Guest User" userId="" providerId="Windows Live" clId="Web-{EE6B1956-0E13-47DC-9587-A902131F7EF1}" dt="2026-04-15T10:57:37.886" v="71" actId="20577"/>
          <ac:spMkLst>
            <pc:docMk/>
            <pc:sldMk cId="3235071368" sldId="279"/>
            <ac:spMk id="3" creationId="{0F36B69D-1BB7-0C9A-CDEE-9C9CE93E157C}"/>
          </ac:spMkLst>
        </pc:spChg>
      </pc:sldChg>
      <pc:sldChg chg="modSp">
        <pc:chgData name="Guest User" userId="" providerId="Windows Live" clId="Web-{EE6B1956-0E13-47DC-9587-A902131F7EF1}" dt="2026-04-15T11:00:19.783" v="121" actId="20577"/>
        <pc:sldMkLst>
          <pc:docMk/>
          <pc:sldMk cId="989477029" sldId="300"/>
        </pc:sldMkLst>
        <pc:spChg chg="mod">
          <ac:chgData name="Guest User" userId="" providerId="Windows Live" clId="Web-{EE6B1956-0E13-47DC-9587-A902131F7EF1}" dt="2026-04-15T11:00:19.783" v="121" actId="20577"/>
          <ac:spMkLst>
            <pc:docMk/>
            <pc:sldMk cId="989477029" sldId="300"/>
            <ac:spMk id="3" creationId="{F34A18B5-DC07-384A-7DB1-30857935107D}"/>
          </ac:spMkLst>
        </pc:spChg>
      </pc:sldChg>
    </pc:docChg>
  </pc:docChgLst>
  <pc:docChgLst>
    <pc:chgData name="Sherry Kissinger" userId="00e9df021bfa31c1" providerId="LiveId" clId="{76DA52F0-BEB7-4153-A867-7DE3354D87E0}"/>
    <pc:docChg chg="addSld modSld modSection">
      <pc:chgData name="Sherry Kissinger" userId="00e9df021bfa31c1" providerId="LiveId" clId="{76DA52F0-BEB7-4153-A867-7DE3354D87E0}" dt="2026-03-18T11:06:15.288" v="203" actId="20577"/>
      <pc:docMkLst>
        <pc:docMk/>
      </pc:docMkLst>
      <pc:sldChg chg="modNotesTx">
        <pc:chgData name="Sherry Kissinger" userId="00e9df021bfa31c1" providerId="LiveId" clId="{76DA52F0-BEB7-4153-A867-7DE3354D87E0}" dt="2026-03-18T11:06:15.288" v="203" actId="20577"/>
        <pc:sldMkLst>
          <pc:docMk/>
          <pc:sldMk cId="1032765740" sldId="295"/>
        </pc:sldMkLst>
      </pc:sldChg>
    </pc:docChg>
  </pc:docChgLst>
  <pc:docChgLst>
    <pc:chgData name="Guest User" providerId="Windows Live" clId="Web-{8D3319AD-8AD1-478A-A9AE-DC55FCACCB96}"/>
    <pc:docChg chg="addSld modSld modSection">
      <pc:chgData name="Guest User" userId="" providerId="Windows Live" clId="Web-{8D3319AD-8AD1-478A-A9AE-DC55FCACCB96}" dt="2026-04-15T09:07:58.372" v="587" actId="1076"/>
      <pc:docMkLst>
        <pc:docMk/>
      </pc:docMkLst>
      <pc:sldChg chg="modSp">
        <pc:chgData name="Guest User" userId="" providerId="Windows Live" clId="Web-{8D3319AD-8AD1-478A-A9AE-DC55FCACCB96}" dt="2026-04-15T08:52:38.824" v="4" actId="20577"/>
        <pc:sldMkLst>
          <pc:docMk/>
          <pc:sldMk cId="2645003119" sldId="284"/>
        </pc:sldMkLst>
        <pc:spChg chg="mod">
          <ac:chgData name="Guest User" userId="" providerId="Windows Live" clId="Web-{8D3319AD-8AD1-478A-A9AE-DC55FCACCB96}" dt="2026-04-15T08:52:38.824" v="4" actId="20577"/>
          <ac:spMkLst>
            <pc:docMk/>
            <pc:sldMk cId="2645003119" sldId="284"/>
            <ac:spMk id="3" creationId="{E2317CA7-6DF8-F67D-42EF-89DB860A7981}"/>
          </ac:spMkLst>
        </pc:spChg>
      </pc:sldChg>
      <pc:sldChg chg="modSp">
        <pc:chgData name="Guest User" userId="" providerId="Windows Live" clId="Web-{8D3319AD-8AD1-478A-A9AE-DC55FCACCB96}" dt="2026-04-15T08:53:12.387" v="54" actId="20577"/>
        <pc:sldMkLst>
          <pc:docMk/>
          <pc:sldMk cId="3846239379" sldId="299"/>
        </pc:sldMkLst>
        <pc:spChg chg="mod">
          <ac:chgData name="Guest User" userId="" providerId="Windows Live" clId="Web-{8D3319AD-8AD1-478A-A9AE-DC55FCACCB96}" dt="2026-04-15T08:53:12.387" v="54" actId="20577"/>
          <ac:spMkLst>
            <pc:docMk/>
            <pc:sldMk cId="3846239379" sldId="299"/>
            <ac:spMk id="3" creationId="{2678C645-3556-1BF2-0793-47C092749B65}"/>
          </ac:spMkLst>
        </pc:spChg>
      </pc:sldChg>
      <pc:sldChg chg="delSp modSp add replId">
        <pc:chgData name="Guest User" userId="" providerId="Windows Live" clId="Web-{8D3319AD-8AD1-478A-A9AE-DC55FCACCB96}" dt="2026-04-15T09:00:00.257" v="199" actId="14100"/>
        <pc:sldMkLst>
          <pc:docMk/>
          <pc:sldMk cId="989477029" sldId="300"/>
        </pc:sldMkLst>
        <pc:spChg chg="mod">
          <ac:chgData name="Guest User" userId="" providerId="Windows Live" clId="Web-{8D3319AD-8AD1-478A-A9AE-DC55FCACCB96}" dt="2026-04-15T08:53:30.840" v="58" actId="20577"/>
          <ac:spMkLst>
            <pc:docMk/>
            <pc:sldMk cId="989477029" sldId="300"/>
            <ac:spMk id="2" creationId="{0C2E3997-0D9C-0456-1F9E-498D4D406522}"/>
          </ac:spMkLst>
        </pc:spChg>
        <pc:spChg chg="mod">
          <ac:chgData name="Guest User" userId="" providerId="Windows Live" clId="Web-{8D3319AD-8AD1-478A-A9AE-DC55FCACCB96}" dt="2026-04-15T09:00:00.257" v="199" actId="14100"/>
          <ac:spMkLst>
            <pc:docMk/>
            <pc:sldMk cId="989477029" sldId="300"/>
            <ac:spMk id="3" creationId="{F34A18B5-DC07-384A-7DB1-30857935107D}"/>
          </ac:spMkLst>
        </pc:spChg>
        <pc:picChg chg="del">
          <ac:chgData name="Guest User" userId="" providerId="Windows Live" clId="Web-{8D3319AD-8AD1-478A-A9AE-DC55FCACCB96}" dt="2026-04-15T08:55:58.470" v="80"/>
          <ac:picMkLst>
            <pc:docMk/>
            <pc:sldMk cId="989477029" sldId="300"/>
            <ac:picMk id="1026" creationId="{5FD8B57F-5876-90F6-6CD3-DEE00DEBFA6A}"/>
          </ac:picMkLst>
        </pc:picChg>
      </pc:sldChg>
      <pc:sldChg chg="addSp delSp modSp add replId">
        <pc:chgData name="Guest User" userId="" providerId="Windows Live" clId="Web-{8D3319AD-8AD1-478A-A9AE-DC55FCACCB96}" dt="2026-04-15T09:07:58.372" v="587" actId="1076"/>
        <pc:sldMkLst>
          <pc:docMk/>
          <pc:sldMk cId="2801719961" sldId="301"/>
        </pc:sldMkLst>
        <pc:spChg chg="mod">
          <ac:chgData name="Guest User" userId="" providerId="Windows Live" clId="Web-{8D3319AD-8AD1-478A-A9AE-DC55FCACCB96}" dt="2026-04-15T09:00:11.069" v="201" actId="20577"/>
          <ac:spMkLst>
            <pc:docMk/>
            <pc:sldMk cId="2801719961" sldId="301"/>
            <ac:spMk id="2" creationId="{FBFEF2BA-0906-1541-35EA-C30A551015D2}"/>
          </ac:spMkLst>
        </pc:spChg>
        <pc:spChg chg="mod">
          <ac:chgData name="Guest User" userId="" providerId="Windows Live" clId="Web-{8D3319AD-8AD1-478A-A9AE-DC55FCACCB96}" dt="2026-04-15T09:06:47.558" v="574" actId="20577"/>
          <ac:spMkLst>
            <pc:docMk/>
            <pc:sldMk cId="2801719961" sldId="301"/>
            <ac:spMk id="3" creationId="{E239758F-581C-F67C-226B-28C19A8E19DF}"/>
          </ac:spMkLst>
        </pc:spChg>
        <pc:picChg chg="add del mod">
          <ac:chgData name="Guest User" userId="" providerId="Windows Live" clId="Web-{8D3319AD-8AD1-478A-A9AE-DC55FCACCB96}" dt="2026-04-15T09:06:25.605" v="553"/>
          <ac:picMkLst>
            <pc:docMk/>
            <pc:sldMk cId="2801719961" sldId="301"/>
            <ac:picMk id="4" creationId="{83270C3F-0E0C-3B04-34B2-80E207A1276D}"/>
          </ac:picMkLst>
        </pc:picChg>
        <pc:picChg chg="add mod">
          <ac:chgData name="Guest User" userId="" providerId="Windows Live" clId="Web-{8D3319AD-8AD1-478A-A9AE-DC55FCACCB96}" dt="2026-04-15T09:06:49.824" v="575" actId="1076"/>
          <ac:picMkLst>
            <pc:docMk/>
            <pc:sldMk cId="2801719961" sldId="301"/>
            <ac:picMk id="5" creationId="{150F3C6B-9538-C763-9761-33501450D074}"/>
          </ac:picMkLst>
        </pc:picChg>
        <pc:picChg chg="add del mod">
          <ac:chgData name="Guest User" userId="" providerId="Windows Live" clId="Web-{8D3319AD-8AD1-478A-A9AE-DC55FCACCB96}" dt="2026-04-15T09:07:34.090" v="584"/>
          <ac:picMkLst>
            <pc:docMk/>
            <pc:sldMk cId="2801719961" sldId="301"/>
            <ac:picMk id="6" creationId="{F2856977-735F-760A-EC6E-D0ADF8A7AA22}"/>
          </ac:picMkLst>
        </pc:picChg>
        <pc:picChg chg="add mod">
          <ac:chgData name="Guest User" userId="" providerId="Windows Live" clId="Web-{8D3319AD-8AD1-478A-A9AE-DC55FCACCB96}" dt="2026-04-15T09:07:58.372" v="587" actId="1076"/>
          <ac:picMkLst>
            <pc:docMk/>
            <pc:sldMk cId="2801719961" sldId="301"/>
            <ac:picMk id="7" creationId="{C38E5C7F-063E-BDF0-EA8B-DCB2CAD9995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479DD7-BEB9-FB69-F785-68848A4099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F1EC562-ED04-0689-F45A-C2EBCD3AFE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A59BDEA-31B7-4DB6-C40F-9DED321F51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ADBB9A-3F38-44C9-81C4-CD9EE35AF0DB}" type="slidenum">
              <a:rPr lang="en-US" smtClean="0"/>
              <a:t>‹#›</a:t>
            </a:fld>
            <a:endParaRPr lang="en-US"/>
          </a:p>
        </p:txBody>
      </p:sp>
    </p:spTree>
    <p:extLst>
      <p:ext uri="{BB962C8B-B14F-4D97-AF65-F5344CB8AC3E}">
        <p14:creationId xmlns:p14="http://schemas.microsoft.com/office/powerpoint/2010/main" val="3154314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1FBB7-E5A2-4C90-95F1-19B2AD7FC43C}"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7A271-C6C1-4F0C-8565-CF1E10E942DE}" type="slidenum">
              <a:rPr lang="en-US" smtClean="0"/>
              <a:t>‹#›</a:t>
            </a:fld>
            <a:endParaRPr lang="en-US"/>
          </a:p>
        </p:txBody>
      </p:sp>
    </p:spTree>
    <p:extLst>
      <p:ext uri="{BB962C8B-B14F-4D97-AF65-F5344CB8AC3E}">
        <p14:creationId xmlns:p14="http://schemas.microsoft.com/office/powerpoint/2010/main" val="3145298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sqlservercentral.com/forums/topic/64kb-disk-formatted-vs-4kb-disk-formatted"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sqlservercentral.com/forums/topic/are-powerplans-still-relevant-for-vm-server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joji.me/en-us/blog/understanding-the-edge-and-edge-webview2-update-logs/"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support.hcl-software.com/csm?id=kb_article&amp;sysparm_article=KB0106708"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earn.microsoft.com/en-us/intune/configmgr/sum/deploy-use/third-party-software-updates#add-a-custom-catalog"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kern="1200">
                <a:solidFill>
                  <a:schemeClr val="tx1"/>
                </a:solidFill>
                <a:effectLst/>
                <a:latin typeface="+mn-lt"/>
                <a:ea typeface="+mn-ea"/>
                <a:cs typeface="+mn-cs"/>
              </a:rPr>
              <a:t>64k allocation units allow much larger maximum Windows volume sizes than 4k allocation units. For systems like SQL Server where small numbers of large files are expected within an NTFS filesystem, 64k allocation units seems a natural choice. It is much less likely to experience very badly fragmented metadata and hopefully (if more than 1 file in the filesystem) will experience greater contiguity.  --</a:t>
            </a:r>
            <a:r>
              <a:rPr lang="en-US" sz="1200" b="0" i="0" kern="1200" err="1">
                <a:solidFill>
                  <a:schemeClr val="tx1"/>
                </a:solidFill>
                <a:effectLst/>
                <a:latin typeface="+mn-lt"/>
                <a:ea typeface="+mn-ea"/>
                <a:cs typeface="+mn-cs"/>
              </a:rPr>
              <a:t>lonnyniederstadt</a:t>
            </a:r>
            <a:r>
              <a:rPr lang="en-US" sz="1200" b="0" i="0" kern="1200">
                <a:solidFill>
                  <a:schemeClr val="tx1"/>
                </a:solidFill>
                <a:effectLst/>
                <a:latin typeface="+mn-lt"/>
                <a:ea typeface="+mn-ea"/>
                <a:cs typeface="+mn-cs"/>
              </a:rPr>
              <a:t> </a:t>
            </a:r>
            <a:r>
              <a:rPr lang="da-DK">
                <a:hlinkClick r:id="rId3"/>
              </a:rPr>
              <a:t>64KB disk formatted vs 4KB disk formatted – SQLServerCentral Forums</a:t>
            </a:r>
            <a:endParaRPr lang="da-DK"/>
          </a:p>
          <a:p>
            <a:pPr marL="171450" indent="-171450">
              <a:buFontTx/>
              <a:buChar char="-"/>
            </a:pPr>
            <a:r>
              <a:rPr lang="en-US" sz="1200" b="0" i="0" kern="1200">
                <a:solidFill>
                  <a:schemeClr val="tx1"/>
                </a:solidFill>
                <a:effectLst/>
                <a:latin typeface="+mn-lt"/>
                <a:ea typeface="+mn-ea"/>
                <a:cs typeface="+mn-cs"/>
              </a:rPr>
              <a:t> It is recommended to set 'max server memory' to 75% of the available system memory not used by other processes. This ensures that SQL Server has enough memory for its operations without causing resource contention with other applications. https://www.sqlservercentral.com/articles/understanding-maximum-server-memory-in-sql-server </a:t>
            </a:r>
          </a:p>
          <a:p>
            <a:pPr marL="171450" indent="-171450">
              <a:buFontTx/>
              <a:buChar char="-"/>
            </a:pPr>
            <a:r>
              <a:rPr lang="en-US">
                <a:hlinkClick r:id="rId4"/>
              </a:rPr>
              <a:t>Are </a:t>
            </a:r>
            <a:r>
              <a:rPr lang="en-US" err="1">
                <a:hlinkClick r:id="rId4"/>
              </a:rPr>
              <a:t>Powerplans</a:t>
            </a:r>
            <a:r>
              <a:rPr lang="en-US">
                <a:hlinkClick r:id="rId4"/>
              </a:rPr>
              <a:t> still relevant for VM servers? – </a:t>
            </a:r>
            <a:r>
              <a:rPr lang="en-US" err="1">
                <a:hlinkClick r:id="rId4"/>
              </a:rPr>
              <a:t>SQLServerCentral</a:t>
            </a:r>
            <a:r>
              <a:rPr lang="en-US">
                <a:hlinkClick r:id="rId4"/>
              </a:rPr>
              <a:t> Forums</a:t>
            </a:r>
            <a:endParaRPr lang="en-US"/>
          </a:p>
          <a:p>
            <a:pPr marL="171450" indent="-171450">
              <a:buFontTx/>
              <a:buChar char="-"/>
            </a:pPr>
            <a:endParaRPr lang="da-DK"/>
          </a:p>
          <a:p>
            <a:endParaRPr lang="en-US"/>
          </a:p>
        </p:txBody>
      </p:sp>
      <p:sp>
        <p:nvSpPr>
          <p:cNvPr id="4" name="Slide Number Placeholder 3"/>
          <p:cNvSpPr>
            <a:spLocks noGrp="1"/>
          </p:cNvSpPr>
          <p:nvPr>
            <p:ph type="sldNum" sz="quarter" idx="5"/>
          </p:nvPr>
        </p:nvSpPr>
        <p:spPr/>
        <p:txBody>
          <a:bodyPr/>
          <a:lstStyle/>
          <a:p>
            <a:fld id="{485DD56D-7060-4570-A506-9E260CADC9B0}" type="slidenum">
              <a:rPr lang="en-US" smtClean="0"/>
              <a:t>7</a:t>
            </a:fld>
            <a:endParaRPr lang="en-US"/>
          </a:p>
        </p:txBody>
      </p:sp>
    </p:spTree>
    <p:extLst>
      <p:ext uri="{BB962C8B-B14F-4D97-AF65-F5344CB8AC3E}">
        <p14:creationId xmlns:p14="http://schemas.microsoft.com/office/powerpoint/2010/main" val="3659593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a:t>
            </a:r>
          </a:p>
          <a:p>
            <a:pPr marL="171450" indent="-171450">
              <a:buFont typeface="Arial" panose="020B0604020202020204" pitchFamily="34" charset="0"/>
              <a:buChar char="•"/>
            </a:pPr>
            <a:r>
              <a:rPr lang="en-US"/>
              <a:t>setting recovery mode </a:t>
            </a:r>
          </a:p>
          <a:p>
            <a:pPr marL="171450" indent="-171450">
              <a:buFont typeface="Arial" panose="020B0604020202020204" pitchFamily="34" charset="0"/>
              <a:buChar char="•"/>
            </a:pPr>
            <a:r>
              <a:rPr lang="en-US" err="1"/>
              <a:t>sql</a:t>
            </a:r>
            <a:r>
              <a:rPr lang="en-US"/>
              <a:t> memory</a:t>
            </a:r>
          </a:p>
          <a:p>
            <a:pPr marL="171450" indent="-171450">
              <a:buFont typeface="Arial" panose="020B0604020202020204" pitchFamily="34" charset="0"/>
              <a:buChar char="•"/>
            </a:pPr>
            <a:r>
              <a:rPr lang="en-US"/>
              <a:t>Example disk layout and how to tell if its 64k formatted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installing and setting up Ola’s script (show the .</a:t>
            </a:r>
            <a:r>
              <a:rPr lang="en-US" err="1"/>
              <a:t>sql</a:t>
            </a:r>
            <a:r>
              <a:rPr lang="en-US"/>
              <a:t> changes, and Steve Thompson’s blog)</a:t>
            </a:r>
          </a:p>
          <a:p>
            <a:r>
              <a:rPr lang="en-US"/>
              <a:t>Show the sizing workbook if there's time</a:t>
            </a:r>
          </a:p>
        </p:txBody>
      </p:sp>
      <p:sp>
        <p:nvSpPr>
          <p:cNvPr id="4" name="Slide Number Placeholder 3"/>
          <p:cNvSpPr>
            <a:spLocks noGrp="1"/>
          </p:cNvSpPr>
          <p:nvPr>
            <p:ph type="sldNum" sz="quarter" idx="5"/>
          </p:nvPr>
        </p:nvSpPr>
        <p:spPr/>
        <p:txBody>
          <a:bodyPr/>
          <a:lstStyle/>
          <a:p>
            <a:fld id="{9400AC43-E6EE-C840-A2E3-29A806875E65}" type="slidenum">
              <a:rPr lang="en-US" smtClean="0"/>
              <a:t>8</a:t>
            </a:fld>
            <a:endParaRPr lang="en-US"/>
          </a:p>
        </p:txBody>
      </p:sp>
    </p:spTree>
    <p:extLst>
      <p:ext uri="{BB962C8B-B14F-4D97-AF65-F5344CB8AC3E}">
        <p14:creationId xmlns:p14="http://schemas.microsoft.com/office/powerpoint/2010/main" val="2582826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00AC43-E6EE-C840-A2E3-29A806875E65}" type="slidenum">
              <a:rPr lang="en-US" smtClean="0"/>
              <a:t>9</a:t>
            </a:fld>
            <a:endParaRPr lang="en-US"/>
          </a:p>
        </p:txBody>
      </p:sp>
    </p:spTree>
    <p:extLst>
      <p:ext uri="{BB962C8B-B14F-4D97-AF65-F5344CB8AC3E}">
        <p14:creationId xmlns:p14="http://schemas.microsoft.com/office/powerpoint/2010/main" val="1836249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00AC43-E6EE-C840-A2E3-29A806875E65}" type="slidenum">
              <a:rPr lang="en-US" smtClean="0"/>
              <a:t>10</a:t>
            </a:fld>
            <a:endParaRPr lang="en-US"/>
          </a:p>
        </p:txBody>
      </p:sp>
    </p:spTree>
    <p:extLst>
      <p:ext uri="{BB962C8B-B14F-4D97-AF65-F5344CB8AC3E}">
        <p14:creationId xmlns:p14="http://schemas.microsoft.com/office/powerpoint/2010/main" val="2215555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 ideas</a:t>
            </a:r>
          </a:p>
          <a:p>
            <a:pPr marL="171450" indent="-171450">
              <a:buFont typeface="Arial" panose="020B0604020202020204" pitchFamily="34" charset="0"/>
              <a:buChar char="•"/>
            </a:pPr>
            <a:r>
              <a:rPr lang="en-US"/>
              <a:t>Pull up IIS and show how to configure app pools</a:t>
            </a:r>
          </a:p>
          <a:p>
            <a:pPr marL="171450" indent="-171450">
              <a:buFont typeface="Arial" panose="020B0604020202020204" pitchFamily="34" charset="0"/>
              <a:buChar char="•"/>
            </a:pPr>
            <a:r>
              <a:rPr lang="en-US"/>
              <a:t>Show how to add the performance enhancements</a:t>
            </a:r>
          </a:p>
          <a:p>
            <a:pPr marL="171450" indent="-171450">
              <a:buFont typeface="Arial" panose="020B0604020202020204" pitchFamily="34" charset="0"/>
              <a:buChar char="•"/>
            </a:pPr>
            <a:r>
              <a:rPr lang="en-US"/>
              <a:t>Show how to find the enabled products</a:t>
            </a:r>
          </a:p>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9400AC43-E6EE-C840-A2E3-29A806875E65}" type="slidenum">
              <a:rPr lang="en-US" smtClean="0"/>
              <a:t>11</a:t>
            </a:fld>
            <a:endParaRPr lang="en-US"/>
          </a:p>
        </p:txBody>
      </p:sp>
    </p:spTree>
    <p:extLst>
      <p:ext uri="{BB962C8B-B14F-4D97-AF65-F5344CB8AC3E}">
        <p14:creationId xmlns:p14="http://schemas.microsoft.com/office/powerpoint/2010/main" val="1844694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00AC43-E6EE-C840-A2E3-29A806875E65}" type="slidenum">
              <a:rPr lang="en-US" smtClean="0"/>
              <a:t>12</a:t>
            </a:fld>
            <a:endParaRPr lang="en-US"/>
          </a:p>
        </p:txBody>
      </p:sp>
    </p:spTree>
    <p:extLst>
      <p:ext uri="{BB962C8B-B14F-4D97-AF65-F5344CB8AC3E}">
        <p14:creationId xmlns:p14="http://schemas.microsoft.com/office/powerpoint/2010/main" val="275553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not tell</a:t>
            </a:r>
          </a:p>
        </p:txBody>
      </p:sp>
      <p:sp>
        <p:nvSpPr>
          <p:cNvPr id="4" name="Slide Number Placeholder 3"/>
          <p:cNvSpPr>
            <a:spLocks noGrp="1"/>
          </p:cNvSpPr>
          <p:nvPr>
            <p:ph type="sldNum" sz="quarter" idx="5"/>
          </p:nvPr>
        </p:nvSpPr>
        <p:spPr/>
        <p:txBody>
          <a:bodyPr/>
          <a:lstStyle/>
          <a:p>
            <a:fld id="{9400AC43-E6EE-C840-A2E3-29A806875E65}" type="slidenum">
              <a:rPr lang="en-US" smtClean="0"/>
              <a:t>14</a:t>
            </a:fld>
            <a:endParaRPr lang="en-US"/>
          </a:p>
        </p:txBody>
      </p:sp>
    </p:spTree>
    <p:extLst>
      <p:ext uri="{BB962C8B-B14F-4D97-AF65-F5344CB8AC3E}">
        <p14:creationId xmlns:p14="http://schemas.microsoft.com/office/powerpoint/2010/main" val="1400226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704DA-9F19-E39A-043E-964694721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AC8A6-2879-D9DE-1ABD-384148F1C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F84712-EBC2-5F01-65EF-E2A1D88C0321}"/>
              </a:ext>
            </a:extLst>
          </p:cNvPr>
          <p:cNvSpPr>
            <a:spLocks noGrp="1"/>
          </p:cNvSpPr>
          <p:nvPr>
            <p:ph type="body" idx="1"/>
          </p:nvPr>
        </p:nvSpPr>
        <p:spPr/>
        <p:txBody>
          <a:bodyPr/>
          <a:lstStyle/>
          <a:p>
            <a:r>
              <a:rPr lang="en-US"/>
              <a:t>Show not tell</a:t>
            </a:r>
          </a:p>
        </p:txBody>
      </p:sp>
      <p:sp>
        <p:nvSpPr>
          <p:cNvPr id="4" name="Slide Number Placeholder 3">
            <a:extLst>
              <a:ext uri="{FF2B5EF4-FFF2-40B4-BE49-F238E27FC236}">
                <a16:creationId xmlns:a16="http://schemas.microsoft.com/office/drawing/2014/main" id="{F15A0044-76E5-C14F-2136-666050C98DFB}"/>
              </a:ext>
            </a:extLst>
          </p:cNvPr>
          <p:cNvSpPr>
            <a:spLocks noGrp="1"/>
          </p:cNvSpPr>
          <p:nvPr>
            <p:ph type="sldNum" sz="quarter" idx="5"/>
          </p:nvPr>
        </p:nvSpPr>
        <p:spPr/>
        <p:txBody>
          <a:bodyPr/>
          <a:lstStyle/>
          <a:p>
            <a:fld id="{9400AC43-E6EE-C840-A2E3-29A806875E65}" type="slidenum">
              <a:rPr lang="en-US" smtClean="0"/>
              <a:t>15</a:t>
            </a:fld>
            <a:endParaRPr lang="en-US"/>
          </a:p>
        </p:txBody>
      </p:sp>
    </p:spTree>
    <p:extLst>
      <p:ext uri="{BB962C8B-B14F-4D97-AF65-F5344CB8AC3E}">
        <p14:creationId xmlns:p14="http://schemas.microsoft.com/office/powerpoint/2010/main" val="2741594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6C7B8-EE78-2606-9552-12CDA8358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2C15A-AE56-EF70-5960-B717F57DB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C8484-DBD6-E6D1-E895-CA1289251ECA}"/>
              </a:ext>
            </a:extLst>
          </p:cNvPr>
          <p:cNvSpPr>
            <a:spLocks noGrp="1"/>
          </p:cNvSpPr>
          <p:nvPr>
            <p:ph type="body" idx="1"/>
          </p:nvPr>
        </p:nvSpPr>
        <p:spPr/>
        <p:txBody>
          <a:bodyPr/>
          <a:lstStyle/>
          <a:p>
            <a:r>
              <a:rPr lang="en-US"/>
              <a:t>Show not tell</a:t>
            </a:r>
          </a:p>
        </p:txBody>
      </p:sp>
      <p:sp>
        <p:nvSpPr>
          <p:cNvPr id="4" name="Slide Number Placeholder 3">
            <a:extLst>
              <a:ext uri="{FF2B5EF4-FFF2-40B4-BE49-F238E27FC236}">
                <a16:creationId xmlns:a16="http://schemas.microsoft.com/office/drawing/2014/main" id="{B896214A-E849-E396-AFE8-93912F5D09DA}"/>
              </a:ext>
            </a:extLst>
          </p:cNvPr>
          <p:cNvSpPr>
            <a:spLocks noGrp="1"/>
          </p:cNvSpPr>
          <p:nvPr>
            <p:ph type="sldNum" sz="quarter" idx="5"/>
          </p:nvPr>
        </p:nvSpPr>
        <p:spPr/>
        <p:txBody>
          <a:bodyPr/>
          <a:lstStyle/>
          <a:p>
            <a:fld id="{9400AC43-E6EE-C840-A2E3-29A806875E65}" type="slidenum">
              <a:rPr lang="en-US" smtClean="0"/>
              <a:t>16</a:t>
            </a:fld>
            <a:endParaRPr lang="en-US"/>
          </a:p>
        </p:txBody>
      </p:sp>
    </p:spTree>
    <p:extLst>
      <p:ext uri="{BB962C8B-B14F-4D97-AF65-F5344CB8AC3E}">
        <p14:creationId xmlns:p14="http://schemas.microsoft.com/office/powerpoint/2010/main" val="1233524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4F10-AC41-49DF-047C-BD49CE05E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029CC-C493-1660-D3AD-394A8672D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463791-CE2D-E574-1379-F6F4E2650EFB}"/>
              </a:ext>
            </a:extLst>
          </p:cNvPr>
          <p:cNvSpPr>
            <a:spLocks noGrp="1"/>
          </p:cNvSpPr>
          <p:nvPr>
            <p:ph type="body" idx="1"/>
          </p:nvPr>
        </p:nvSpPr>
        <p:spPr/>
        <p:txBody>
          <a:bodyPr/>
          <a:lstStyle/>
          <a:p>
            <a:r>
              <a:rPr lang="en-US"/>
              <a:t>Show not tell</a:t>
            </a:r>
          </a:p>
        </p:txBody>
      </p:sp>
      <p:sp>
        <p:nvSpPr>
          <p:cNvPr id="4" name="Slide Number Placeholder 3">
            <a:extLst>
              <a:ext uri="{FF2B5EF4-FFF2-40B4-BE49-F238E27FC236}">
                <a16:creationId xmlns:a16="http://schemas.microsoft.com/office/drawing/2014/main" id="{2420CD33-7EEF-C6A8-6F33-00FF0774521B}"/>
              </a:ext>
            </a:extLst>
          </p:cNvPr>
          <p:cNvSpPr>
            <a:spLocks noGrp="1"/>
          </p:cNvSpPr>
          <p:nvPr>
            <p:ph type="sldNum" sz="quarter" idx="5"/>
          </p:nvPr>
        </p:nvSpPr>
        <p:spPr/>
        <p:txBody>
          <a:bodyPr/>
          <a:lstStyle/>
          <a:p>
            <a:fld id="{9400AC43-E6EE-C840-A2E3-29A806875E65}" type="slidenum">
              <a:rPr lang="en-US" smtClean="0"/>
              <a:t>17</a:t>
            </a:fld>
            <a:endParaRPr lang="en-US"/>
          </a:p>
        </p:txBody>
      </p:sp>
    </p:spTree>
    <p:extLst>
      <p:ext uri="{BB962C8B-B14F-4D97-AF65-F5344CB8AC3E}">
        <p14:creationId xmlns:p14="http://schemas.microsoft.com/office/powerpoint/2010/main" val="2005993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 ideas (Matt, All Matt)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Using </a:t>
            </a:r>
            <a:r>
              <a:rPr lang="en-US" err="1"/>
              <a:t>AutoPilot</a:t>
            </a:r>
            <a:r>
              <a:rPr lang="en-US"/>
              <a:t> to Join to CM</a:t>
            </a:r>
          </a:p>
          <a:p>
            <a:pPr marL="171450" indent="-171450">
              <a:buFont typeface="Arial" panose="020B0604020202020204" pitchFamily="34" charset="0"/>
              <a:buChar char="•"/>
            </a:pPr>
            <a:r>
              <a:rPr lang="en-US"/>
              <a:t>Co-Management sliders</a:t>
            </a:r>
          </a:p>
          <a:p>
            <a:pPr marL="171450" indent="-171450">
              <a:buFont typeface="Arial" panose="020B0604020202020204" pitchFamily="34" charset="0"/>
              <a:buChar char="•"/>
            </a:pPr>
            <a:r>
              <a:rPr lang="en-US"/>
              <a:t>Strategies for moving them using pilot collections</a:t>
            </a:r>
          </a:p>
          <a:p>
            <a:pPr marL="171450" indent="-171450">
              <a:buFont typeface="Arial" panose="020B0604020202020204" pitchFamily="34" charset="0"/>
              <a:buChar char="•"/>
            </a:pPr>
            <a:r>
              <a:rPr lang="en-US"/>
              <a:t>What still works when the sliders moved all the way</a:t>
            </a:r>
          </a:p>
          <a:p>
            <a:pPr marL="171450" indent="-171450">
              <a:buFont typeface="Arial" panose="020B0604020202020204" pitchFamily="34" charset="0"/>
              <a:buChar char="•"/>
            </a:pPr>
            <a:r>
              <a:rPr lang="en-US"/>
              <a:t>Cloud attach benefits</a:t>
            </a:r>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9400AC43-E6EE-C840-A2E3-29A806875E65}" type="slidenum">
              <a:rPr lang="en-US" smtClean="0"/>
              <a:t>18</a:t>
            </a:fld>
            <a:endParaRPr lang="en-US"/>
          </a:p>
        </p:txBody>
      </p:sp>
    </p:spTree>
    <p:extLst>
      <p:ext uri="{BB962C8B-B14F-4D97-AF65-F5344CB8AC3E}">
        <p14:creationId xmlns:p14="http://schemas.microsoft.com/office/powerpoint/2010/main" val="1142635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B832C-C50C-1E0B-1D6B-647F76A90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89DE9-6CB1-2C94-C203-7889A3CF9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CAC10-CA8A-72E6-714E-14CD92C126FB}"/>
              </a:ext>
            </a:extLst>
          </p:cNvPr>
          <p:cNvSpPr>
            <a:spLocks noGrp="1"/>
          </p:cNvSpPr>
          <p:nvPr>
            <p:ph type="body" idx="1"/>
          </p:nvPr>
        </p:nvSpPr>
        <p:spPr/>
        <p:txBody>
          <a:bodyPr/>
          <a:lstStyle/>
          <a:p>
            <a:r>
              <a:rPr lang="en-US"/>
              <a:t>Demo ideas</a:t>
            </a:r>
          </a:p>
          <a:p>
            <a:r>
              <a:rPr lang="en-US"/>
              <a:t>* Show the </a:t>
            </a:r>
            <a:r>
              <a:rPr lang="en-US" err="1"/>
              <a:t>misconfigurationManager</a:t>
            </a:r>
            <a:r>
              <a:rPr lang="en-US"/>
              <a:t> site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Run </a:t>
            </a:r>
            <a:r>
              <a:rPr lang="en-US" err="1"/>
              <a:t>MisconfigurationManager</a:t>
            </a:r>
            <a:r>
              <a:rPr lang="en-US"/>
              <a:t> script</a:t>
            </a:r>
          </a:p>
          <a:p>
            <a:pPr marL="171450" indent="-171450">
              <a:buFont typeface="Arial" panose="020B0604020202020204" pitchFamily="34" charset="0"/>
              <a:buChar char="•"/>
            </a:pPr>
            <a:r>
              <a:rPr lang="en-US"/>
              <a:t>Show how to disable both NAA and automatic site wide install</a:t>
            </a:r>
          </a:p>
          <a:p>
            <a:pPr marL="171450" lvl="0" indent="-171450">
              <a:buFont typeface="Arial" panose="020B0604020202020204" pitchFamily="34" charset="0"/>
              <a:buChar char="•"/>
            </a:pPr>
            <a:r>
              <a:rPr lang="en-US"/>
              <a:t>MFA for human  accounts:  Certificate based connection (</a:t>
            </a:r>
            <a:r>
              <a:rPr lang="en-US" err="1"/>
              <a:t>SmartCards</a:t>
            </a:r>
            <a:r>
              <a:rPr lang="en-US"/>
              <a:t>), or Windows Hello For Business</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07964840-CDDC-617E-DE57-CBD9AA391911}"/>
              </a:ext>
            </a:extLst>
          </p:cNvPr>
          <p:cNvSpPr>
            <a:spLocks noGrp="1"/>
          </p:cNvSpPr>
          <p:nvPr>
            <p:ph type="sldNum" sz="quarter" idx="5"/>
          </p:nvPr>
        </p:nvSpPr>
        <p:spPr/>
        <p:txBody>
          <a:bodyPr/>
          <a:lstStyle/>
          <a:p>
            <a:fld id="{9400AC43-E6EE-C840-A2E3-29A806875E65}" type="slidenum">
              <a:rPr lang="en-US" smtClean="0"/>
              <a:t>20</a:t>
            </a:fld>
            <a:endParaRPr lang="en-US"/>
          </a:p>
        </p:txBody>
      </p:sp>
    </p:spTree>
    <p:extLst>
      <p:ext uri="{BB962C8B-B14F-4D97-AF65-F5344CB8AC3E}">
        <p14:creationId xmlns:p14="http://schemas.microsoft.com/office/powerpoint/2010/main" val="660502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00AC43-E6EE-C840-A2E3-29A806875E65}" type="slidenum">
              <a:rPr lang="en-US" smtClean="0"/>
              <a:t>21</a:t>
            </a:fld>
            <a:endParaRPr lang="en-US"/>
          </a:p>
        </p:txBody>
      </p:sp>
    </p:spTree>
    <p:extLst>
      <p:ext uri="{BB962C8B-B14F-4D97-AF65-F5344CB8AC3E}">
        <p14:creationId xmlns:p14="http://schemas.microsoft.com/office/powerpoint/2010/main" val="3611106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Understanding the Edge and Edge WebView2 Update Logs</a:t>
            </a:r>
          </a:p>
          <a:p>
            <a:r>
              <a:rPr lang="en-US">
                <a:hlinkClick r:id="rId4"/>
              </a:rPr>
              <a:t>Troubleshooting MS Office Patch issues</a:t>
            </a:r>
            <a:endParaRPr lang="en-US"/>
          </a:p>
          <a:p>
            <a:r>
              <a:rPr lang="en-US"/>
              <a:t>Client logs for not-Edge not-365 updates:</a:t>
            </a:r>
          </a:p>
          <a:p>
            <a:r>
              <a:rPr lang="en-US" err="1"/>
              <a:t>UpdatesDeployment.log</a:t>
            </a:r>
            <a:r>
              <a:rPr lang="en-US"/>
              <a:t> - Deployments, SDK, UX.</a:t>
            </a:r>
          </a:p>
          <a:p>
            <a:r>
              <a:rPr lang="en-US" err="1"/>
              <a:t>UpdatesHandler.log</a:t>
            </a:r>
            <a:r>
              <a:rPr lang="en-US"/>
              <a:t> - Updates, Download.</a:t>
            </a:r>
          </a:p>
          <a:p>
            <a:r>
              <a:rPr lang="en-US" err="1"/>
              <a:t>ScanAgent.log</a:t>
            </a:r>
            <a:r>
              <a:rPr lang="en-US"/>
              <a:t> - Online/Offline scans, WSUS location requests.</a:t>
            </a:r>
          </a:p>
          <a:p>
            <a:r>
              <a:rPr lang="en-US" err="1"/>
              <a:t>WUAHandler.log</a:t>
            </a:r>
            <a:r>
              <a:rPr lang="en-US"/>
              <a:t> - Update status (missing/installed - verbose logging), WU interaction.</a:t>
            </a:r>
          </a:p>
          <a:p>
            <a:r>
              <a:rPr lang="en-US" err="1"/>
              <a:t>UpdatesStore.log</a:t>
            </a:r>
            <a:r>
              <a:rPr lang="en-US"/>
              <a:t> - Update status (missing/installed).</a:t>
            </a:r>
          </a:p>
          <a:p>
            <a:r>
              <a:rPr lang="en-US"/>
              <a:t>%</a:t>
            </a:r>
            <a:r>
              <a:rPr lang="en-US" err="1"/>
              <a:t>windir</a:t>
            </a:r>
            <a:r>
              <a:rPr lang="en-US"/>
              <a:t>%\</a:t>
            </a:r>
            <a:r>
              <a:rPr lang="en-US" err="1"/>
              <a:t>WindowsUpdate</a:t>
            </a:r>
            <a:r>
              <a:rPr lang="en-US"/>
              <a:t> logs (after you run the </a:t>
            </a:r>
            <a:r>
              <a:rPr lang="en-US" err="1"/>
              <a:t>powershell</a:t>
            </a:r>
            <a:r>
              <a:rPr lang="en-US"/>
              <a:t>) - Scanning/Installation of updates.</a:t>
            </a:r>
          </a:p>
        </p:txBody>
      </p:sp>
      <p:sp>
        <p:nvSpPr>
          <p:cNvPr id="4" name="Slide Number Placeholder 3"/>
          <p:cNvSpPr>
            <a:spLocks noGrp="1"/>
          </p:cNvSpPr>
          <p:nvPr>
            <p:ph type="sldNum" sz="quarter" idx="5"/>
          </p:nvPr>
        </p:nvSpPr>
        <p:spPr/>
        <p:txBody>
          <a:bodyPr/>
          <a:lstStyle/>
          <a:p>
            <a:fld id="{9400AC43-E6EE-C840-A2E3-29A806875E65}" type="slidenum">
              <a:rPr lang="en-US" smtClean="0"/>
              <a:t>22</a:t>
            </a:fld>
            <a:endParaRPr lang="en-US"/>
          </a:p>
        </p:txBody>
      </p:sp>
    </p:spTree>
    <p:extLst>
      <p:ext uri="{BB962C8B-B14F-4D97-AF65-F5344CB8AC3E}">
        <p14:creationId xmlns:p14="http://schemas.microsoft.com/office/powerpoint/2010/main" val="466782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5DD56D-7060-4570-A506-9E260CADC9B0}" type="slidenum">
              <a:rPr lang="en-US" smtClean="0"/>
              <a:t>23</a:t>
            </a:fld>
            <a:endParaRPr lang="en-US"/>
          </a:p>
        </p:txBody>
      </p:sp>
    </p:spTree>
    <p:extLst>
      <p:ext uri="{BB962C8B-B14F-4D97-AF65-F5344CB8AC3E}">
        <p14:creationId xmlns:p14="http://schemas.microsoft.com/office/powerpoint/2010/main" val="549284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a:t>
            </a:r>
          </a:p>
          <a:p>
            <a:pPr marL="171450" indent="-171450">
              <a:buFont typeface="Arial" panose="020B0604020202020204" pitchFamily="34" charset="0"/>
              <a:buChar char="•"/>
            </a:pPr>
            <a:r>
              <a:rPr lang="en-US"/>
              <a:t>ADRs</a:t>
            </a:r>
          </a:p>
          <a:p>
            <a:pPr marL="171450" indent="-171450">
              <a:buFont typeface="Arial" panose="020B0604020202020204" pitchFamily="34" charset="0"/>
              <a:buChar char="•"/>
            </a:pPr>
            <a:r>
              <a:rPr lang="en-US"/>
              <a:t>SUG strategies</a:t>
            </a:r>
          </a:p>
          <a:p>
            <a:pPr marL="171450" indent="-171450">
              <a:buFont typeface="Arial" panose="020B0604020202020204" pitchFamily="34" charset="0"/>
              <a:buChar char="•"/>
            </a:pPr>
            <a:r>
              <a:rPr lang="en-US"/>
              <a:t>Available third party catalogs (free)</a:t>
            </a:r>
          </a:p>
          <a:p>
            <a:pPr marL="171450" indent="-171450">
              <a:buFont typeface="Arial" panose="020B0604020202020204" pitchFamily="34" charset="0"/>
              <a:buChar char="•"/>
            </a:pPr>
            <a:r>
              <a:rPr lang="en-US">
                <a:hlinkClick r:id="rId3"/>
              </a:rPr>
              <a:t>Enable third-party updates - Configuration Manager | Microsoft Learn</a:t>
            </a:r>
            <a:endParaRPr lang="en-US"/>
          </a:p>
        </p:txBody>
      </p:sp>
      <p:sp>
        <p:nvSpPr>
          <p:cNvPr id="4" name="Slide Number Placeholder 3"/>
          <p:cNvSpPr>
            <a:spLocks noGrp="1"/>
          </p:cNvSpPr>
          <p:nvPr>
            <p:ph type="sldNum" sz="quarter" idx="5"/>
          </p:nvPr>
        </p:nvSpPr>
        <p:spPr/>
        <p:txBody>
          <a:bodyPr/>
          <a:lstStyle/>
          <a:p>
            <a:fld id="{9400AC43-E6EE-C840-A2E3-29A806875E65}" type="slidenum">
              <a:rPr lang="en-US" smtClean="0"/>
              <a:t>24</a:t>
            </a:fld>
            <a:endParaRPr lang="en-US"/>
          </a:p>
        </p:txBody>
      </p:sp>
    </p:spTree>
    <p:extLst>
      <p:ext uri="{BB962C8B-B14F-4D97-AF65-F5344CB8AC3E}">
        <p14:creationId xmlns:p14="http://schemas.microsoft.com/office/powerpoint/2010/main" val="2844633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5DD56D-7060-4570-A506-9E260CADC9B0}" type="slidenum">
              <a:rPr lang="en-US" smtClean="0"/>
              <a:t>25</a:t>
            </a:fld>
            <a:endParaRPr lang="en-US"/>
          </a:p>
        </p:txBody>
      </p:sp>
    </p:spTree>
    <p:extLst>
      <p:ext uri="{BB962C8B-B14F-4D97-AF65-F5344CB8AC3E}">
        <p14:creationId xmlns:p14="http://schemas.microsoft.com/office/powerpoint/2010/main" val="2183542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00AC43-E6EE-C840-A2E3-29A806875E65}" type="slidenum">
              <a:rPr lang="en-US" smtClean="0"/>
              <a:t>26</a:t>
            </a:fld>
            <a:endParaRPr lang="en-US"/>
          </a:p>
        </p:txBody>
      </p:sp>
    </p:spTree>
    <p:extLst>
      <p:ext uri="{BB962C8B-B14F-4D97-AF65-F5344CB8AC3E}">
        <p14:creationId xmlns:p14="http://schemas.microsoft.com/office/powerpoint/2010/main" val="1588719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5DD56D-7060-4570-A506-9E260CADC9B0}" type="slidenum">
              <a:rPr lang="en-US" smtClean="0"/>
              <a:t>27</a:t>
            </a:fld>
            <a:endParaRPr lang="en-US"/>
          </a:p>
        </p:txBody>
      </p:sp>
    </p:spTree>
    <p:extLst>
      <p:ext uri="{BB962C8B-B14F-4D97-AF65-F5344CB8AC3E}">
        <p14:creationId xmlns:p14="http://schemas.microsoft.com/office/powerpoint/2010/main" val="1914421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 ideas</a:t>
            </a:r>
          </a:p>
          <a:p>
            <a:pPr marL="171450" indent="-171450">
              <a:buFont typeface="Arial" panose="020B0604020202020204" pitchFamily="34" charset="0"/>
              <a:buChar char="•"/>
            </a:pPr>
            <a:r>
              <a:rPr lang="en-US"/>
              <a:t>Monitoring &gt; component status. Restarting services, viewing messages</a:t>
            </a:r>
          </a:p>
          <a:p>
            <a:pPr marL="171450" indent="-171450">
              <a:buFont typeface="Arial" panose="020B0604020202020204" pitchFamily="34" charset="0"/>
              <a:buChar char="•"/>
            </a:pPr>
            <a:r>
              <a:rPr lang="en-US"/>
              <a:t>Scenario Health</a:t>
            </a:r>
          </a:p>
          <a:p>
            <a:pPr marL="171450" indent="-171450">
              <a:buFont typeface="Arial" panose="020B0604020202020204" pitchFamily="34" charset="0"/>
              <a:buChar char="•"/>
            </a:pPr>
            <a:r>
              <a:rPr lang="en-US"/>
              <a:t>Gather client logs with </a:t>
            </a:r>
            <a:r>
              <a:rPr lang="en-US" err="1"/>
              <a:t>intune</a:t>
            </a:r>
            <a:endParaRPr lang="en-US"/>
          </a:p>
          <a:p>
            <a:pPr marL="171450" indent="-171450">
              <a:buFont typeface="Arial" panose="020B0604020202020204" pitchFamily="34" charset="0"/>
              <a:buChar char="•"/>
            </a:pPr>
            <a:r>
              <a:rPr lang="en-US"/>
              <a:t>Software Update health dashboard</a:t>
            </a:r>
          </a:p>
          <a:p>
            <a:pPr marL="171450" indent="-171450">
              <a:buFont typeface="Arial" panose="020B0604020202020204" pitchFamily="34" charset="0"/>
              <a:buChar char="•"/>
            </a:pPr>
            <a:r>
              <a:rPr lang="en-US"/>
              <a:t>Client Health Dashboard</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Inbox Script</a:t>
            </a:r>
          </a:p>
          <a:p>
            <a:pPr marL="171450" indent="-171450">
              <a:buFont typeface="Arial" panose="020B0604020202020204" pitchFamily="34" charset="0"/>
              <a:buChar char="•"/>
            </a:pPr>
            <a:r>
              <a:rPr lang="en-US"/>
              <a:t>Client Health Script</a:t>
            </a:r>
          </a:p>
          <a:p>
            <a:pPr marL="171450" indent="-171450">
              <a:buFont typeface="Arial" panose="020B0604020202020204" pitchFamily="34" charset="0"/>
              <a:buChar char="•"/>
            </a:pPr>
            <a:r>
              <a:rPr lang="en-US"/>
              <a:t>Show log locations</a:t>
            </a:r>
          </a:p>
          <a:p>
            <a:pPr marL="171450" indent="-171450">
              <a:buFont typeface="Arial" panose="020B0604020202020204" pitchFamily="34" charset="0"/>
              <a:buChar char="•"/>
            </a:pPr>
            <a:r>
              <a:rPr lang="en-US"/>
              <a:t>CMTrace customizations</a:t>
            </a:r>
          </a:p>
          <a:p>
            <a:pPr marL="171450" indent="-171450">
              <a:buFont typeface="Arial" panose="020B0604020202020204" pitchFamily="34" charset="0"/>
              <a:buChar char="•"/>
            </a:pPr>
            <a:r>
              <a:rPr lang="en-US"/>
              <a:t>RCT/Client center</a:t>
            </a:r>
          </a:p>
        </p:txBody>
      </p:sp>
      <p:sp>
        <p:nvSpPr>
          <p:cNvPr id="4" name="Slide Number Placeholder 3"/>
          <p:cNvSpPr>
            <a:spLocks noGrp="1"/>
          </p:cNvSpPr>
          <p:nvPr>
            <p:ph type="sldNum" sz="quarter" idx="5"/>
          </p:nvPr>
        </p:nvSpPr>
        <p:spPr/>
        <p:txBody>
          <a:bodyPr/>
          <a:lstStyle/>
          <a:p>
            <a:fld id="{9400AC43-E6EE-C840-A2E3-29A806875E65}" type="slidenum">
              <a:rPr lang="en-US" smtClean="0"/>
              <a:t>28</a:t>
            </a:fld>
            <a:endParaRPr lang="en-US"/>
          </a:p>
        </p:txBody>
      </p:sp>
    </p:spTree>
    <p:extLst>
      <p:ext uri="{BB962C8B-B14F-4D97-AF65-F5344CB8AC3E}">
        <p14:creationId xmlns:p14="http://schemas.microsoft.com/office/powerpoint/2010/main" val="12014549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8.png"/><Relationship Id="rId2" Type="http://schemas.openxmlformats.org/officeDocument/2006/relationships/image" Target="../media/image15.svg"/><Relationship Id="rId16" Type="http://schemas.openxmlformats.org/officeDocument/2006/relationships/image" Target="../media/image27.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microsoft.com/office/2007/relationships/hdphoto" Target="../media/hdphoto1.wdp"/><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0.sv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3.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8.png"/><Relationship Id="rId2" Type="http://schemas.openxmlformats.org/officeDocument/2006/relationships/image" Target="../media/image15.svg"/><Relationship Id="rId16" Type="http://schemas.openxmlformats.org/officeDocument/2006/relationships/image" Target="../media/image27.png"/><Relationship Id="rId1" Type="http://schemas.openxmlformats.org/officeDocument/2006/relationships/slideMaster" Target="../slideMasters/slideMaster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microsoft.com/office/2007/relationships/hdphoto" Target="../media/hdphoto1.wdp"/><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a:lum/>
            <a:extLst>
              <a:ext uri="{96DAC541-7B7A-43D3-8B79-37D633B846F1}">
                <asvg:svgBlip xmlns:asvg="http://schemas.microsoft.com/office/drawing/2016/SVG/main" r:embed="rId2"/>
              </a:ext>
            </a:extLst>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1524000" y="3682"/>
            <a:ext cx="9144000" cy="2306637"/>
          </a:xfrm>
        </p:spPr>
        <p:txBody>
          <a:bodyPr anchor="b"/>
          <a:lstStyle>
            <a:lvl1pPr algn="ctr">
              <a:defRPr sz="6000">
                <a:latin typeface="Aptos Display" panose="020B00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2490281"/>
            <a:ext cx="9144000" cy="1420237"/>
          </a:xfrm>
        </p:spPr>
        <p:txBody>
          <a:bodyPr/>
          <a:lstStyle>
            <a:lvl1pPr marL="0" indent="0" algn="ctr">
              <a:buNone/>
              <a:defRPr sz="2400">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Graphic 13">
            <a:extLst>
              <a:ext uri="{FF2B5EF4-FFF2-40B4-BE49-F238E27FC236}">
                <a16:creationId xmlns:a16="http://schemas.microsoft.com/office/drawing/2014/main" id="{C1C6F0CE-A001-978A-D698-EB6C97BB9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 y="2310319"/>
            <a:ext cx="12298680" cy="734379"/>
          </a:xfrm>
          <a:prstGeom prst="rect">
            <a:avLst/>
          </a:prstGeom>
        </p:spPr>
      </p:pic>
      <p:pic>
        <p:nvPicPr>
          <p:cNvPr id="11" name="Picture 10" descr="A red and black logo&#10;&#10;Description automatically generated">
            <a:extLst>
              <a:ext uri="{FF2B5EF4-FFF2-40B4-BE49-F238E27FC236}">
                <a16:creationId xmlns:a16="http://schemas.microsoft.com/office/drawing/2014/main" id="{29BE2BE2-9E00-CB03-72C1-FF931FB7228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581552" y="3910518"/>
            <a:ext cx="4998416" cy="2858572"/>
          </a:xfrm>
          <a:prstGeom prst="rect">
            <a:avLst/>
          </a:prstGeom>
          <a:noFill/>
          <a:effectLst>
            <a:glow rad="406400">
              <a:schemeClr val="tx1">
                <a:alpha val="43000"/>
              </a:schemeClr>
            </a:glow>
          </a:effectLst>
        </p:spPr>
      </p:pic>
    </p:spTree>
    <p:extLst>
      <p:ext uri="{BB962C8B-B14F-4D97-AF65-F5344CB8AC3E}">
        <p14:creationId xmlns:p14="http://schemas.microsoft.com/office/powerpoint/2010/main" val="3891636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p:spPr>
        <p:txBody>
          <a:bodyPr/>
          <a:lstStyle>
            <a:lvl1pPr>
              <a:defRPr>
                <a:latin typeface="Aptos" panose="020B0004020202020204" pitchFamily="34" charset="0"/>
              </a:defRPr>
            </a:lvl1pPr>
          </a:lstStyle>
          <a:p>
            <a:r>
              <a:rPr lang="en-US"/>
              <a:t>Click icon to add picture</a:t>
            </a:r>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p:spPr>
        <p:txBody>
          <a:bodyPr/>
          <a:lstStyle>
            <a:lvl1pPr>
              <a:defRPr>
                <a:latin typeface="Aptos" panose="020B0004020202020204" pitchFamily="34" charset="0"/>
              </a:defRPr>
            </a:lvl1pPr>
          </a:lstStyle>
          <a:p>
            <a:r>
              <a:rPr lang="en-US"/>
              <a:t>Click icon to add picture</a:t>
            </a:r>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p:spPr>
        <p:txBody>
          <a:bodyPr/>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p:spPr>
        <p:txBody>
          <a:bodyPr/>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439693" y="5303520"/>
            <a:ext cx="4572000" cy="9144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contact info</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180307" y="5303520"/>
            <a:ext cx="4572000" cy="914400"/>
          </a:xfrm>
        </p:spPr>
        <p:txBody>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contact info</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info</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info</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a:ln w="0"/>
                <a:solidFill>
                  <a:schemeClr val="bg1"/>
                </a:solidFill>
                <a:effectLst>
                  <a:outerShdw blurRad="38100" dist="19050" dir="2700000" algn="tl" rotWithShape="0">
                    <a:schemeClr val="dk1">
                      <a:alpha val="40000"/>
                    </a:schemeClr>
                  </a:outerShdw>
                </a:effectLst>
                <a:latin typeface="Aptos" panose="020B0004020202020204" pitchFamily="34" charset="0"/>
              </a:rPr>
              <a:t>Can’t see our slides? Can’t hear? Need to repeat the question? Call us out!</a:t>
            </a:r>
          </a:p>
        </p:txBody>
      </p:sp>
      <p:pic>
        <p:nvPicPr>
          <p:cNvPr id="7" name="MMS" descr="A red and black logo&#10;&#10;Description automatically generated">
            <a:extLst>
              <a:ext uri="{FF2B5EF4-FFF2-40B4-BE49-F238E27FC236}">
                <a16:creationId xmlns:a16="http://schemas.microsoft.com/office/drawing/2014/main" id="{043E37BF-9604-7220-A931-A7BC5D053E6D}"/>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1" y="6245352"/>
            <a:ext cx="1071259" cy="612648"/>
          </a:xfrm>
          <a:prstGeom prst="rect">
            <a:avLst/>
          </a:prstGeom>
        </p:spPr>
      </p:pic>
    </p:spTree>
    <p:extLst>
      <p:ext uri="{BB962C8B-B14F-4D97-AF65-F5344CB8AC3E}">
        <p14:creationId xmlns:p14="http://schemas.microsoft.com/office/powerpoint/2010/main" val="253893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MMS" descr="MMS Logo">
            <a:extLst>
              <a:ext uri="{FF2B5EF4-FFF2-40B4-BE49-F238E27FC236}">
                <a16:creationId xmlns:a16="http://schemas.microsoft.com/office/drawing/2014/main" id="{B20E1BA0-F24A-EC19-2D43-C2AEF38D6F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 y="6220684"/>
            <a:ext cx="1069571" cy="612648"/>
          </a:xfrm>
          <a:prstGeom prst="rect">
            <a:avLst/>
          </a:prstGeom>
        </p:spPr>
      </p:pic>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4669" y="1258200"/>
            <a:ext cx="12264227" cy="645279"/>
          </a:xfrm>
          <a:prstGeom prst="rect">
            <a:avLst/>
          </a:prstGeom>
        </p:spPr>
      </p:pic>
    </p:spTree>
    <p:extLst>
      <p:ext uri="{BB962C8B-B14F-4D97-AF65-F5344CB8AC3E}">
        <p14:creationId xmlns:p14="http://schemas.microsoft.com/office/powerpoint/2010/main" val="4148940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p:spPr>
        <p:txBody>
          <a:bodyPr anchor="b"/>
          <a:lstStyle>
            <a:lvl1pPr>
              <a:defRPr sz="6000">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0" y="6245352"/>
            <a:ext cx="1069571" cy="612648"/>
          </a:xfrm>
          <a:prstGeom prst="rect">
            <a:avLst/>
          </a:prstGeom>
        </p:spPr>
      </p:pic>
    </p:spTree>
    <p:extLst>
      <p:ext uri="{BB962C8B-B14F-4D97-AF65-F5344CB8AC3E}">
        <p14:creationId xmlns:p14="http://schemas.microsoft.com/office/powerpoint/2010/main" val="353019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p:spPr>
        <p:txBody>
          <a:bodyPr anchor="b"/>
          <a:lstStyle>
            <a:lvl1pPr>
              <a:defRPr sz="6000">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110829" y="5943600"/>
            <a:ext cx="1596375" cy="9144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a:ln w="0"/>
                <a:solidFill>
                  <a:schemeClr val="bg1">
                    <a:lumMod val="85000"/>
                    <a:alpha val="25000"/>
                  </a:schemeClr>
                </a:solidFill>
                <a:effectLst>
                  <a:outerShdw blurRad="38100" dist="19050" dir="2700000" algn="tl" rotWithShape="0">
                    <a:schemeClr val="dk1">
                      <a:alpha val="40000"/>
                    </a:schemeClr>
                  </a:outerShdw>
                </a:effectLst>
                <a:latin typeface="Aptos" panose="020B0004020202020204" pitchFamily="34" charset="0"/>
              </a:rPr>
              <a:t>DEMO</a:t>
            </a:r>
          </a:p>
        </p:txBody>
      </p:sp>
    </p:spTree>
    <p:extLst>
      <p:ext uri="{BB962C8B-B14F-4D97-AF65-F5344CB8AC3E}">
        <p14:creationId xmlns:p14="http://schemas.microsoft.com/office/powerpoint/2010/main" val="160278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MMS Logo">
            <a:extLst>
              <a:ext uri="{FF2B5EF4-FFF2-40B4-BE49-F238E27FC236}">
                <a16:creationId xmlns:a16="http://schemas.microsoft.com/office/drawing/2014/main" id="{2A1EA3AB-2287-A909-3F79-BFFF9117BFC9}"/>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40012" y="5943600"/>
            <a:ext cx="1596375" cy="9144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358488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p:spPr>
        <p:txBody>
          <a:bodyPr/>
          <a:lstStyle>
            <a:lvl1pPr>
              <a:defRPr>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MMS Logo">
            <a:extLst>
              <a:ext uri="{FF2B5EF4-FFF2-40B4-BE49-F238E27FC236}">
                <a16:creationId xmlns:a16="http://schemas.microsoft.com/office/drawing/2014/main" id="{A3D86560-F6A7-2176-B497-5661E33D251E}"/>
              </a:ext>
            </a:extLst>
          </p:cNvPr>
          <p:cNvPicPr>
            <a:picLocks noChangeAspect="1"/>
          </p:cNvPicPr>
          <p:nvPr userDrawn="1"/>
        </p:nvPicPr>
        <p:blipFill>
          <a:blip r:embed="rId3" cstate="screen">
            <a:alphaModFix amt="2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2178888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pic>
        <p:nvPicPr>
          <p:cNvPr id="6" name="Picture 5" descr="MMS Logo">
            <a:extLst>
              <a:ext uri="{FF2B5EF4-FFF2-40B4-BE49-F238E27FC236}">
                <a16:creationId xmlns:a16="http://schemas.microsoft.com/office/drawing/2014/main" id="{58B90811-A51E-65F2-5CD6-98D6CF98110B}"/>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725661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spTree>
    <p:extLst>
      <p:ext uri="{BB962C8B-B14F-4D97-AF65-F5344CB8AC3E}">
        <p14:creationId xmlns:p14="http://schemas.microsoft.com/office/powerpoint/2010/main" val="1484621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p:spPr>
        <p:txBody>
          <a:bodyPr anchor="b"/>
          <a:lstStyle>
            <a:lvl1pPr>
              <a:defRPr sz="3200">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p:spPr>
        <p:txBody>
          <a:bodyPr/>
          <a:lstStyle>
            <a:lvl1pPr>
              <a:defRPr sz="3200">
                <a:latin typeface="Aptos" panose="020B0004020202020204" pitchFamily="34" charset="0"/>
              </a:defRPr>
            </a:lvl1pPr>
            <a:lvl2pPr>
              <a:defRPr sz="2800">
                <a:latin typeface="Aptos" panose="020B0004020202020204" pitchFamily="34" charset="0"/>
              </a:defRPr>
            </a:lvl2pPr>
            <a:lvl3pPr>
              <a:defRPr sz="2400">
                <a:latin typeface="Aptos" panose="020B0004020202020204" pitchFamily="34" charset="0"/>
              </a:defRPr>
            </a:lvl3pPr>
            <a:lvl4pPr>
              <a:defRPr sz="2000">
                <a:latin typeface="Aptos" panose="020B0004020202020204" pitchFamily="34" charset="0"/>
              </a:defRPr>
            </a:lvl4pPr>
            <a:lvl5pPr>
              <a:defRPr sz="2000">
                <a:latin typeface="Aptos" panose="020B00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871BDB1C-D88C-7CC2-5D66-47039F15389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38391" y="5958516"/>
            <a:ext cx="1596375" cy="914400"/>
          </a:xfrm>
          <a:prstGeom prst="rect">
            <a:avLst/>
          </a:prstGeom>
        </p:spPr>
      </p:pic>
    </p:spTree>
    <p:extLst>
      <p:ext uri="{BB962C8B-B14F-4D97-AF65-F5344CB8AC3E}">
        <p14:creationId xmlns:p14="http://schemas.microsoft.com/office/powerpoint/2010/main" val="3011704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p:spPr>
        <p:txBody>
          <a:bodyPr anchor="b"/>
          <a:lstStyle>
            <a:lvl1pPr>
              <a:defRPr sz="3200">
                <a:latin typeface="Aptos" panose="020B00040202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p:spPr>
        <p:txBody>
          <a:bodyPr/>
          <a:lstStyle>
            <a:lvl1pPr marL="0" indent="0">
              <a:buNone/>
              <a:defRPr sz="3200">
                <a:latin typeface="Aptos" panose="020B00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BEAC8699-2117-4549-6791-6D861DDBC83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Tree>
    <p:extLst>
      <p:ext uri="{BB962C8B-B14F-4D97-AF65-F5344CB8AC3E}">
        <p14:creationId xmlns:p14="http://schemas.microsoft.com/office/powerpoint/2010/main" val="3293012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shing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a:solidFill>
                  <a:schemeClr val="bg1"/>
                </a:solidFill>
                <a:latin typeface="Aptos" panose="020B0004020202020204" pitchFamily="34" charset="0"/>
              </a:rPr>
              <a:t>Be sure to find Wally and sign up for 1:1 time with a speaker</a:t>
            </a:r>
          </a:p>
          <a:p>
            <a:r>
              <a:rPr lang="en-US" sz="2400" b="1">
                <a:solidFill>
                  <a:schemeClr val="bg1"/>
                </a:solidFill>
                <a:latin typeface="Aptos" panose="020B0004020202020204" pitchFamily="34" charset="0"/>
              </a:rPr>
              <a:t>If you'd like to "catch" us for a session, we are scheduled as follows:</a:t>
            </a:r>
            <a:endParaRPr lang="en-US" b="1">
              <a:solidFill>
                <a:schemeClr val="bg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a:solidFill>
                  <a:schemeClr val="bg1"/>
                </a:solidFill>
                <a:latin typeface="Aptos" panose="020B0004020202020204" pitchFamily="34" charset="0"/>
              </a:rPr>
              <a:t>Don't forget to leave feedback for your speakers!</a:t>
            </a:r>
          </a:p>
        </p:txBody>
      </p:sp>
      <p:pic>
        <p:nvPicPr>
          <p:cNvPr id="7" name="Picture 6" descr="MMS Logo">
            <a:extLst>
              <a:ext uri="{FF2B5EF4-FFF2-40B4-BE49-F238E27FC236}">
                <a16:creationId xmlns:a16="http://schemas.microsoft.com/office/drawing/2014/main" id="{BC9A6E22-95AA-8F42-08D4-0DFD93E2EF51}"/>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p:spPr>
        <p:txBody>
          <a:bodyPr/>
          <a:lstStyle>
            <a:lvl1pPr>
              <a:defRPr/>
            </a:lvl1pPr>
          </a:lstStyle>
          <a:p>
            <a:pPr lvl="0"/>
            <a:r>
              <a:rPr lang="en-US"/>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a:solidFill>
                  <a:schemeClr val="bg1"/>
                </a:solidFill>
                <a:latin typeface="Aptos" panose="020B0004020202020204" pitchFamily="34" charset="0"/>
              </a:rPr>
              <a:t>Fishing Sessions</a:t>
            </a:r>
          </a:p>
        </p:txBody>
      </p:sp>
    </p:spTree>
    <p:extLst>
      <p:ext uri="{BB962C8B-B14F-4D97-AF65-F5344CB8AC3E}">
        <p14:creationId xmlns:p14="http://schemas.microsoft.com/office/powerpoint/2010/main" val="7894247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ave the Date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MOA">
            <a:extLst>
              <a:ext uri="{FF2B5EF4-FFF2-40B4-BE49-F238E27FC236}">
                <a16:creationId xmlns:a16="http://schemas.microsoft.com/office/drawing/2014/main" id="{9CE8F994-3F43-B6B2-27DC-2BA65CDAD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36424" y="2075955"/>
            <a:ext cx="2971800" cy="2980355"/>
          </a:xfrm>
          <a:prstGeom prst="rect">
            <a:avLst/>
          </a:prstGeom>
          <a:ln w="28575">
            <a:solidFill>
              <a:schemeClr val="bg1"/>
            </a:solidFill>
          </a:ln>
        </p:spPr>
      </p:pic>
      <p:sp>
        <p:nvSpPr>
          <p:cNvPr id="4" name="TextBox 3">
            <a:extLst>
              <a:ext uri="{FF2B5EF4-FFF2-40B4-BE49-F238E27FC236}">
                <a16:creationId xmlns:a16="http://schemas.microsoft.com/office/drawing/2014/main" id="{E0828A95-6D43-E388-3D4E-E5117E2A09F8}"/>
              </a:ext>
            </a:extLst>
          </p:cNvPr>
          <p:cNvSpPr txBox="1"/>
          <p:nvPr userDrawn="1"/>
        </p:nvSpPr>
        <p:spPr>
          <a:xfrm>
            <a:off x="402199" y="1431135"/>
            <a:ext cx="2973203"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Oct 25-28, 2026</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849846" y="1431135"/>
            <a:ext cx="2952400"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Oct 10-13, 2027</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535992" y="230806"/>
            <a:ext cx="7120026"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36424" y="1431135"/>
            <a:ext cx="2952400"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May 2-6,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0674" y="2091583"/>
            <a:ext cx="2964728" cy="2964728"/>
          </a:xfrm>
          <a:prstGeom prst="rect">
            <a:avLst/>
          </a:prstGeom>
          <a:ln w="28575">
            <a:solidFill>
              <a:schemeClr val="bg1"/>
            </a:solidFill>
          </a:ln>
        </p:spPr>
      </p:pic>
      <p:pic>
        <p:nvPicPr>
          <p:cNvPr id="13" name="Picture 12" descr="A black guitar with red text&#10;&#10;AI-generated content may be incorrect.">
            <a:extLst>
              <a:ext uri="{FF2B5EF4-FFF2-40B4-BE49-F238E27FC236}">
                <a16:creationId xmlns:a16="http://schemas.microsoft.com/office/drawing/2014/main" id="{424A81D4-437A-CD95-6B7C-A4349A47DD2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869247" y="2075956"/>
            <a:ext cx="2980355" cy="2980355"/>
          </a:xfrm>
          <a:prstGeom prst="rect">
            <a:avLst/>
          </a:prstGeom>
          <a:ln w="28575">
            <a:solidFill>
              <a:schemeClr val="bg1">
                <a:lumMod val="95000"/>
              </a:schemeClr>
            </a:solidFill>
          </a:ln>
        </p:spPr>
      </p:pic>
    </p:spTree>
    <p:extLst>
      <p:ext uri="{BB962C8B-B14F-4D97-AF65-F5344CB8AC3E}">
        <p14:creationId xmlns:p14="http://schemas.microsoft.com/office/powerpoint/2010/main" val="1126592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Q&amp;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4793937" y="1390152"/>
            <a:ext cx="2743200" cy="1571299"/>
          </a:xfrm>
          <a:prstGeom prst="rect">
            <a:avLst/>
          </a:prstGeom>
        </p:spPr>
      </p:pic>
      <p:sp>
        <p:nvSpPr>
          <p:cNvPr id="10" name="Rectangle 9">
            <a:extLst>
              <a:ext uri="{FF2B5EF4-FFF2-40B4-BE49-F238E27FC236}">
                <a16:creationId xmlns:a16="http://schemas.microsoft.com/office/drawing/2014/main" id="{A0141027-F066-B9AE-93FD-9C9448960CDB}"/>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11" name="Picture 10" descr="Patch My PC">
            <a:extLst>
              <a:ext uri="{FF2B5EF4-FFF2-40B4-BE49-F238E27FC236}">
                <a16:creationId xmlns:a16="http://schemas.microsoft.com/office/drawing/2014/main" id="{F837D305-2B1E-D93E-4951-99C287BF88B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77628" y="4135460"/>
            <a:ext cx="1258699" cy="914400"/>
          </a:xfrm>
          <a:prstGeom prst="rect">
            <a:avLst/>
          </a:prstGeom>
        </p:spPr>
      </p:pic>
      <p:pic>
        <p:nvPicPr>
          <p:cNvPr id="9" name="Picture 8" descr="A black and white logo&#10;&#10;Description automatically generated with low confidence">
            <a:extLst>
              <a:ext uri="{FF2B5EF4-FFF2-40B4-BE49-F238E27FC236}">
                <a16:creationId xmlns:a16="http://schemas.microsoft.com/office/drawing/2014/main" id="{9152F94A-4D91-121D-CEB4-524094EE7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4852" y="4226900"/>
            <a:ext cx="731520" cy="731520"/>
          </a:xfrm>
          <a:prstGeom prst="rect">
            <a:avLst/>
          </a:prstGeom>
        </p:spPr>
      </p:pic>
      <p:pic>
        <p:nvPicPr>
          <p:cNvPr id="13" name="Picture 12" descr="A grey rectangle with white and blue text&#10;&#10;Description automatically generated">
            <a:extLst>
              <a:ext uri="{FF2B5EF4-FFF2-40B4-BE49-F238E27FC236}">
                <a16:creationId xmlns:a16="http://schemas.microsoft.com/office/drawing/2014/main" id="{27436F92-854C-BEE9-ECD2-98D939DF1B93}"/>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015176" y="5249533"/>
            <a:ext cx="1188721" cy="457200"/>
          </a:xfrm>
          <a:prstGeom prst="rect">
            <a:avLst/>
          </a:prstGeom>
        </p:spPr>
      </p:pic>
      <p:pic>
        <p:nvPicPr>
          <p:cNvPr id="29" name="Picture 28" descr="A white text on a black background&#10;&#10;Description automatically generated">
            <a:extLst>
              <a:ext uri="{FF2B5EF4-FFF2-40B4-BE49-F238E27FC236}">
                <a16:creationId xmlns:a16="http://schemas.microsoft.com/office/drawing/2014/main" id="{75392E0A-C0E2-C291-444E-C2565C6FA04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56251" y="6167385"/>
            <a:ext cx="901452" cy="410211"/>
          </a:xfrm>
          <a:prstGeom prst="rect">
            <a:avLst/>
          </a:prstGeom>
        </p:spPr>
      </p:pic>
      <p:pic>
        <p:nvPicPr>
          <p:cNvPr id="37" name="Graphic 36">
            <a:extLst>
              <a:ext uri="{FF2B5EF4-FFF2-40B4-BE49-F238E27FC236}">
                <a16:creationId xmlns:a16="http://schemas.microsoft.com/office/drawing/2014/main" id="{FFA7C4B9-2FE7-03A8-4C46-F9FB648245F6}"/>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408004" y="6348996"/>
            <a:ext cx="1503922" cy="228600"/>
          </a:xfrm>
          <a:prstGeom prst="rect">
            <a:avLst/>
          </a:prstGeom>
        </p:spPr>
      </p:pic>
      <p:pic>
        <p:nvPicPr>
          <p:cNvPr id="6" name="Picture 5">
            <a:extLst>
              <a:ext uri="{FF2B5EF4-FFF2-40B4-BE49-F238E27FC236}">
                <a16:creationId xmlns:a16="http://schemas.microsoft.com/office/drawing/2014/main" id="{504D6873-2AA5-65D0-992F-5D0CA23B99B8}"/>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532255" y="6368384"/>
            <a:ext cx="1554480" cy="209212"/>
          </a:xfrm>
          <a:prstGeom prst="rect">
            <a:avLst/>
          </a:prstGeom>
        </p:spPr>
      </p:pic>
      <p:pic>
        <p:nvPicPr>
          <p:cNvPr id="8" name="Picture 7">
            <a:extLst>
              <a:ext uri="{FF2B5EF4-FFF2-40B4-BE49-F238E27FC236}">
                <a16:creationId xmlns:a16="http://schemas.microsoft.com/office/drawing/2014/main" id="{6CB20B0E-D4F5-70E8-7B88-CD98C80D632A}"/>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290909" y="4306910"/>
            <a:ext cx="1554480" cy="605236"/>
          </a:xfrm>
          <a:prstGeom prst="rect">
            <a:avLst/>
          </a:prstGeom>
        </p:spPr>
      </p:pic>
      <p:pic>
        <p:nvPicPr>
          <p:cNvPr id="16" name="Picture 15">
            <a:extLst>
              <a:ext uri="{FF2B5EF4-FFF2-40B4-BE49-F238E27FC236}">
                <a16:creationId xmlns:a16="http://schemas.microsoft.com/office/drawing/2014/main" id="{0697EBA7-C89E-96EE-4748-7F907F81D9A5}"/>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357703" y="5355030"/>
            <a:ext cx="1554480" cy="270344"/>
          </a:xfrm>
          <a:prstGeom prst="rect">
            <a:avLst/>
          </a:prstGeom>
        </p:spPr>
      </p:pic>
      <p:pic>
        <p:nvPicPr>
          <p:cNvPr id="21" name="Graphic 20">
            <a:extLst>
              <a:ext uri="{FF2B5EF4-FFF2-40B4-BE49-F238E27FC236}">
                <a16:creationId xmlns:a16="http://schemas.microsoft.com/office/drawing/2014/main" id="{20F4E334-22B5-F189-E4F0-E59467F9F9B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5060619" y="4384263"/>
            <a:ext cx="1554480" cy="388620"/>
          </a:xfrm>
          <a:prstGeom prst="rect">
            <a:avLst/>
          </a:prstGeom>
        </p:spPr>
      </p:pic>
      <p:pic>
        <p:nvPicPr>
          <p:cNvPr id="24" name="Picture 23">
            <a:extLst>
              <a:ext uri="{FF2B5EF4-FFF2-40B4-BE49-F238E27FC236}">
                <a16:creationId xmlns:a16="http://schemas.microsoft.com/office/drawing/2014/main" id="{5E5F552A-9761-3A6C-8290-61044C88A9C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75502" y="4409266"/>
            <a:ext cx="1554480" cy="366787"/>
          </a:xfrm>
          <a:prstGeom prst="rect">
            <a:avLst/>
          </a:prstGeom>
        </p:spPr>
      </p:pic>
      <p:pic>
        <p:nvPicPr>
          <p:cNvPr id="25" name="Picture 24" descr="A blue text on a black background&#10;&#10;AI-generated content may be incorrect.">
            <a:extLst>
              <a:ext uri="{FF2B5EF4-FFF2-40B4-BE49-F238E27FC236}">
                <a16:creationId xmlns:a16="http://schemas.microsoft.com/office/drawing/2014/main" id="{059AA4FF-6CFA-B105-B54C-8D9B21CA931B}"/>
              </a:ext>
            </a:extLst>
          </p:cNvPr>
          <p:cNvPicPr>
            <a:picLocks noChangeAspect="1"/>
          </p:cNvPicPr>
          <p:nvPr userDrawn="1"/>
        </p:nvPicPr>
        <p:blipFill>
          <a:blip r:embed="rId14">
            <a:extLst>
              <a:ext uri="{BEBA8EAE-BF5A-486C-A8C5-ECC9F3942E4B}">
                <a14:imgProps xmlns:a14="http://schemas.microsoft.com/office/drawing/2010/main">
                  <a14:imgLayer r:embed="rId15">
                    <a14:imgEffect>
                      <a14:saturation sat="0"/>
                    </a14:imgEffect>
                    <a14:imgEffect>
                      <a14:brightnessContrast bright="100000"/>
                    </a14:imgEffect>
                  </a14:imgLayer>
                </a14:imgProps>
              </a:ext>
            </a:extLst>
          </a:blip>
          <a:stretch>
            <a:fillRect/>
          </a:stretch>
        </p:blipFill>
        <p:spPr>
          <a:xfrm>
            <a:off x="6306890" y="5315255"/>
            <a:ext cx="1554480" cy="310119"/>
          </a:xfrm>
          <a:prstGeom prst="rect">
            <a:avLst/>
          </a:prstGeom>
        </p:spPr>
      </p:pic>
      <p:pic>
        <p:nvPicPr>
          <p:cNvPr id="26" name="Picture 25" descr="A white letters on a black background&#10;&#10;AI-generated content may be incorrect.">
            <a:extLst>
              <a:ext uri="{FF2B5EF4-FFF2-40B4-BE49-F238E27FC236}">
                <a16:creationId xmlns:a16="http://schemas.microsoft.com/office/drawing/2014/main" id="{22BA2D5A-399C-36FF-E065-28AF7C39D808}"/>
              </a:ext>
            </a:extLst>
          </p:cNvPr>
          <p:cNvPicPr>
            <a:picLocks noChangeAspect="1"/>
          </p:cNvPicPr>
          <p:nvPr userDrawn="1"/>
        </p:nvPicPr>
        <p:blipFill>
          <a:blip r:embed="rId16"/>
          <a:stretch>
            <a:fillRect/>
          </a:stretch>
        </p:blipFill>
        <p:spPr>
          <a:xfrm>
            <a:off x="8964363" y="5326622"/>
            <a:ext cx="1554480" cy="321259"/>
          </a:xfrm>
          <a:prstGeom prst="rect">
            <a:avLst/>
          </a:prstGeom>
        </p:spPr>
      </p:pic>
      <p:pic>
        <p:nvPicPr>
          <p:cNvPr id="33" name="Picture 32">
            <a:extLst>
              <a:ext uri="{FF2B5EF4-FFF2-40B4-BE49-F238E27FC236}">
                <a16:creationId xmlns:a16="http://schemas.microsoft.com/office/drawing/2014/main" id="{92CA8F16-E2DC-59EF-D489-4FC3AB2CC38D}"/>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678972" y="5846076"/>
            <a:ext cx="532014" cy="731520"/>
          </a:xfrm>
          <a:prstGeom prst="rect">
            <a:avLst/>
          </a:prstGeom>
        </p:spPr>
      </p:pic>
      <p:pic>
        <p:nvPicPr>
          <p:cNvPr id="36" name="Picture 35">
            <a:extLst>
              <a:ext uri="{FF2B5EF4-FFF2-40B4-BE49-F238E27FC236}">
                <a16:creationId xmlns:a16="http://schemas.microsoft.com/office/drawing/2014/main" id="{CDA09CD3-5E5E-7480-F81F-B86933B9DC69}"/>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233196" y="6163652"/>
            <a:ext cx="1463040" cy="413944"/>
          </a:xfrm>
          <a:prstGeom prst="rect">
            <a:avLst/>
          </a:prstGeom>
        </p:spPr>
      </p:pic>
    </p:spTree>
    <p:extLst>
      <p:ext uri="{BB962C8B-B14F-4D97-AF65-F5344CB8AC3E}">
        <p14:creationId xmlns:p14="http://schemas.microsoft.com/office/powerpoint/2010/main" val="39340197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a:lum/>
            <a:extLst>
              <a:ext uri="{96DAC541-7B7A-43D3-8B79-37D633B846F1}">
                <asvg:svgBlip xmlns:asvg="http://schemas.microsoft.com/office/drawing/2016/SVG/main" r:embed="rId2"/>
              </a:ext>
            </a:extLst>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1524000" y="3682"/>
            <a:ext cx="9144000" cy="2306637"/>
          </a:xfrm>
        </p:spPr>
        <p:txBody>
          <a:bodyPr anchor="b"/>
          <a:lstStyle>
            <a:lvl1pPr algn="ctr">
              <a:defRPr sz="60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2490281"/>
            <a:ext cx="9144000" cy="142023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Graphic 13">
            <a:extLst>
              <a:ext uri="{FF2B5EF4-FFF2-40B4-BE49-F238E27FC236}">
                <a16:creationId xmlns:a16="http://schemas.microsoft.com/office/drawing/2014/main" id="{C1C6F0CE-A001-978A-D698-EB6C97BB9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 y="2310319"/>
            <a:ext cx="12298680" cy="734379"/>
          </a:xfrm>
          <a:prstGeom prst="rect">
            <a:avLst/>
          </a:prstGeom>
        </p:spPr>
      </p:pic>
      <p:pic>
        <p:nvPicPr>
          <p:cNvPr id="11" name="Picture 10" descr="A red and black logo&#10;&#10;Description automatically generated">
            <a:extLst>
              <a:ext uri="{FF2B5EF4-FFF2-40B4-BE49-F238E27FC236}">
                <a16:creationId xmlns:a16="http://schemas.microsoft.com/office/drawing/2014/main" id="{29BE2BE2-9E00-CB03-72C1-FF931FB7228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581552" y="3910518"/>
            <a:ext cx="4998416" cy="2858572"/>
          </a:xfrm>
          <a:prstGeom prst="rect">
            <a:avLst/>
          </a:prstGeom>
          <a:noFill/>
          <a:effectLst>
            <a:glow rad="406400">
              <a:schemeClr val="tx1">
                <a:alpha val="43000"/>
              </a:schemeClr>
            </a:glow>
          </a:effectLst>
        </p:spPr>
      </p:pic>
    </p:spTree>
    <p:extLst>
      <p:ext uri="{BB962C8B-B14F-4D97-AF65-F5344CB8AC3E}">
        <p14:creationId xmlns:p14="http://schemas.microsoft.com/office/powerpoint/2010/main" val="4066305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p:spPr>
        <p:txBody>
          <a:bodyPr/>
          <a:lstStyle>
            <a:lvl1pPr>
              <a:defRPr>
                <a:solidFill>
                  <a:schemeClr val="tx1"/>
                </a:solidFill>
              </a:defRPr>
            </a:lvl1pPr>
          </a:lstStyle>
          <a:p>
            <a:r>
              <a:rPr lang="en-US"/>
              <a:t>Click icon to add picture</a:t>
            </a:r>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p:spPr>
        <p:txBody>
          <a:bodyPr/>
          <a:lstStyle>
            <a:lvl1pPr>
              <a:defRPr>
                <a:solidFill>
                  <a:schemeClr val="tx1"/>
                </a:solidFill>
              </a:defRPr>
            </a:lvl1pPr>
          </a:lstStyle>
          <a:p>
            <a:r>
              <a:rPr lang="en-US"/>
              <a:t>Click icon to add picture</a:t>
            </a:r>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a:ln w="0"/>
                <a:solidFill>
                  <a:schemeClr val="tx1"/>
                </a:solidFill>
                <a:effectLst>
                  <a:outerShdw blurRad="38100" dist="19050" dir="2700000" algn="tl" rotWithShape="0">
                    <a:schemeClr val="dk1">
                      <a:alpha val="40000"/>
                    </a:schemeClr>
                  </a:outerShdw>
                </a:effectLst>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p:spPr>
        <p:txBody>
          <a:bodyPr/>
          <a:lstStyle>
            <a:lvl1pPr marL="0" indent="0" algn="ctr">
              <a:buFontTx/>
              <a:buNone/>
              <a:defRPr sz="2400" b="1">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p:spPr>
        <p:txBody>
          <a:bodyPr/>
          <a:lstStyle>
            <a:lvl1pPr marL="0" indent="0" algn="ctr">
              <a:buFontTx/>
              <a:buNone/>
              <a:defRPr sz="2400" b="1">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439693" y="5303520"/>
            <a:ext cx="4572000" cy="9144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contact info</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180307" y="5303520"/>
            <a:ext cx="4572000" cy="914400"/>
          </a:xfrm>
        </p:spPr>
        <p:txBody>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contact info</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info</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info</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a:ln w="0"/>
                <a:solidFill>
                  <a:schemeClr val="tx1"/>
                </a:solidFill>
                <a:effectLst>
                  <a:outerShdw blurRad="38100" dist="19050" dir="2700000" algn="tl" rotWithShape="0">
                    <a:schemeClr val="dk1">
                      <a:alpha val="40000"/>
                    </a:schemeClr>
                  </a:outerShdw>
                </a:effectLst>
              </a:rPr>
              <a:t>Can’t see our slides? Can’t hear? Need to repeat the question? Call us out!</a:t>
            </a:r>
          </a:p>
        </p:txBody>
      </p:sp>
      <p:pic>
        <p:nvPicPr>
          <p:cNvPr id="7" name="MMS" descr="A red and black logo&#10;&#10;Description automatically generated">
            <a:extLst>
              <a:ext uri="{FF2B5EF4-FFF2-40B4-BE49-F238E27FC236}">
                <a16:creationId xmlns:a16="http://schemas.microsoft.com/office/drawing/2014/main" id="{043E37BF-9604-7220-A931-A7BC5D053E6D}"/>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1" y="6245352"/>
            <a:ext cx="1071259" cy="612648"/>
          </a:xfrm>
          <a:prstGeom prst="rect">
            <a:avLst/>
          </a:prstGeom>
        </p:spPr>
      </p:pic>
    </p:spTree>
    <p:extLst>
      <p:ext uri="{BB962C8B-B14F-4D97-AF65-F5344CB8AC3E}">
        <p14:creationId xmlns:p14="http://schemas.microsoft.com/office/powerpoint/2010/main" val="2461185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p:txBody>
          <a:bodyPr/>
          <a:lstStyle>
            <a:lvl1pPr>
              <a:defRPr>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336" y="1258200"/>
            <a:ext cx="12264228" cy="645279"/>
          </a:xfrm>
          <a:prstGeom prst="rect">
            <a:avLst/>
          </a:prstGeom>
        </p:spPr>
      </p:pic>
      <p:pic>
        <p:nvPicPr>
          <p:cNvPr id="9" name="Picture 8" descr="A red and black logo&#10;&#10;Description automatically generated">
            <a:extLst>
              <a:ext uri="{FF2B5EF4-FFF2-40B4-BE49-F238E27FC236}">
                <a16:creationId xmlns:a16="http://schemas.microsoft.com/office/drawing/2014/main" id="{858ADF9C-553E-D4C9-65AD-8E508EBA9E1A}"/>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0" y="6241528"/>
            <a:ext cx="1077946" cy="616472"/>
          </a:xfrm>
          <a:prstGeom prst="rect">
            <a:avLst/>
          </a:prstGeom>
        </p:spPr>
      </p:pic>
    </p:spTree>
    <p:extLst>
      <p:ext uri="{BB962C8B-B14F-4D97-AF65-F5344CB8AC3E}">
        <p14:creationId xmlns:p14="http://schemas.microsoft.com/office/powerpoint/2010/main" val="15178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p:spPr>
        <p:txBody>
          <a:bodyPr anchor="b"/>
          <a:lstStyle>
            <a:lvl1pPr>
              <a:defRPr sz="6000">
                <a:solidFill>
                  <a:schemeClr val="tx1"/>
                </a:solidFill>
                <a:latin typeface="+mn-lt"/>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p:spPr>
        <p:txBody>
          <a:bodyPr/>
          <a:lstStyle>
            <a:lvl1pPr marL="0" indent="0">
              <a:buNone/>
              <a:defRPr sz="2400">
                <a:solidFill>
                  <a:schemeClr val="tx1">
                    <a:lumMod val="75000"/>
                    <a:lumOff val="25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0" y="6245352"/>
            <a:ext cx="1069571" cy="612648"/>
          </a:xfrm>
          <a:prstGeom prst="rect">
            <a:avLst/>
          </a:prstGeom>
        </p:spPr>
      </p:pic>
    </p:spTree>
    <p:extLst>
      <p:ext uri="{BB962C8B-B14F-4D97-AF65-F5344CB8AC3E}">
        <p14:creationId xmlns:p14="http://schemas.microsoft.com/office/powerpoint/2010/main" val="36494979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p:spPr>
        <p:txBody>
          <a:bodyPr anchor="b"/>
          <a:lstStyle>
            <a:lvl1pPr>
              <a:defRPr sz="6000">
                <a:solidFill>
                  <a:schemeClr val="tx1">
                    <a:lumMod val="95000"/>
                    <a:lumOff val="5000"/>
                  </a:schemeClr>
                </a:solidFill>
                <a:latin typeface="+mn-lt"/>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p:spPr>
        <p:txBody>
          <a:bodyPr/>
          <a:lstStyle>
            <a:lvl1pPr marL="0" indent="0">
              <a:buNone/>
              <a:defRPr sz="2400">
                <a:solidFill>
                  <a:schemeClr val="tx1">
                    <a:lumMod val="50000"/>
                    <a:lumOff val="50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10829" y="5943600"/>
            <a:ext cx="1596375" cy="9144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a:ln w="0"/>
                <a:solidFill>
                  <a:schemeClr val="tx1">
                    <a:lumMod val="50000"/>
                    <a:lumOff val="50000"/>
                  </a:schemeClr>
                </a:solidFill>
                <a:effectLst>
                  <a:outerShdw blurRad="38100" dist="19050" dir="2700000" algn="tl" rotWithShape="0">
                    <a:schemeClr val="dk1">
                      <a:alpha val="40000"/>
                    </a:schemeClr>
                  </a:outerShdw>
                </a:effectLst>
                <a:latin typeface="+mn-lt"/>
              </a:rPr>
              <a:t>DEMO</a:t>
            </a:r>
          </a:p>
        </p:txBody>
      </p:sp>
    </p:spTree>
    <p:extLst>
      <p:ext uri="{BB962C8B-B14F-4D97-AF65-F5344CB8AC3E}">
        <p14:creationId xmlns:p14="http://schemas.microsoft.com/office/powerpoint/2010/main" val="34515838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p:txBody>
          <a:bodyPr/>
          <a:lstStyle>
            <a:lvl1pPr>
              <a:defRPr>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MMS Logo">
            <a:extLst>
              <a:ext uri="{FF2B5EF4-FFF2-40B4-BE49-F238E27FC236}">
                <a16:creationId xmlns:a16="http://schemas.microsoft.com/office/drawing/2014/main" id="{2A1EA3AB-2287-A909-3F79-BFFF9117BFC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0012" y="5943600"/>
            <a:ext cx="1596375" cy="9144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1191773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p:spPr>
        <p:txBody>
          <a:bodyPr/>
          <a:lstStyle>
            <a:lvl1pPr>
              <a:defRPr>
                <a:solidFill>
                  <a:schemeClr val="tx1"/>
                </a:solidFill>
                <a:latin typeface="+mn-lt"/>
              </a:defRPr>
            </a:lvl1pPr>
          </a:lstStyle>
          <a:p>
            <a:r>
              <a:rPr lang="en-US"/>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MMS Logo">
            <a:extLst>
              <a:ext uri="{FF2B5EF4-FFF2-40B4-BE49-F238E27FC236}">
                <a16:creationId xmlns:a16="http://schemas.microsoft.com/office/drawing/2014/main" id="{A3D86560-F6A7-2176-B497-5661E33D251E}"/>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1433953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pic>
        <p:nvPicPr>
          <p:cNvPr id="6" name="Picture 5" descr="MMS Logo">
            <a:extLst>
              <a:ext uri="{FF2B5EF4-FFF2-40B4-BE49-F238E27FC236}">
                <a16:creationId xmlns:a16="http://schemas.microsoft.com/office/drawing/2014/main" id="{58B90811-A51E-65F2-5CD6-98D6CF98110B}"/>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778519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spTree>
    <p:extLst>
      <p:ext uri="{BB962C8B-B14F-4D97-AF65-F5344CB8AC3E}">
        <p14:creationId xmlns:p14="http://schemas.microsoft.com/office/powerpoint/2010/main" val="5776265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p:spPr>
        <p:txBody>
          <a:bodyPr anchor="b"/>
          <a:lstStyle>
            <a:lvl1pPr>
              <a:defRPr sz="3200">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p:spPr>
        <p:txBody>
          <a:bodyPr/>
          <a:lstStyle>
            <a:lvl1pPr>
              <a:defRPr sz="32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2000">
                <a:solidFill>
                  <a:schemeClr val="tx1"/>
                </a:solidFill>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871BDB1C-D88C-7CC2-5D66-47039F15389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38391" y="5958516"/>
            <a:ext cx="1596375" cy="914400"/>
          </a:xfrm>
          <a:prstGeom prst="rect">
            <a:avLst/>
          </a:prstGeom>
        </p:spPr>
      </p:pic>
    </p:spTree>
    <p:extLst>
      <p:ext uri="{BB962C8B-B14F-4D97-AF65-F5344CB8AC3E}">
        <p14:creationId xmlns:p14="http://schemas.microsoft.com/office/powerpoint/2010/main" val="8883260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p:spPr>
        <p:txBody>
          <a:bodyPr anchor="b"/>
          <a:lstStyle>
            <a:lvl1pPr>
              <a:defRPr sz="3200">
                <a:solidFill>
                  <a:schemeClr val="tx1"/>
                </a:solidFill>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p:spPr>
        <p:txBody>
          <a:bodyPr/>
          <a:lstStyle>
            <a:lvl1pPr marL="0" indent="0">
              <a:buNone/>
              <a:defRPr sz="32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BEAC8699-2117-4549-6791-6D861DDBC83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Tree>
    <p:extLst>
      <p:ext uri="{BB962C8B-B14F-4D97-AF65-F5344CB8AC3E}">
        <p14:creationId xmlns:p14="http://schemas.microsoft.com/office/powerpoint/2010/main" val="888021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shing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a:solidFill>
                  <a:schemeClr val="tx1"/>
                </a:solidFill>
                <a:latin typeface="Aptos" panose="020B0004020202020204" pitchFamily="34" charset="0"/>
              </a:rPr>
              <a:t>Be sure to find Wally and sign up for 1:1 time with a speaker</a:t>
            </a:r>
          </a:p>
          <a:p>
            <a:r>
              <a:rPr lang="en-US" sz="2400" b="1">
                <a:solidFill>
                  <a:schemeClr val="tx1"/>
                </a:solidFill>
                <a:latin typeface="Aptos" panose="020B0004020202020204" pitchFamily="34" charset="0"/>
              </a:rPr>
              <a:t>If you'd like to "catch" us for a session, we are scheduled as follows:</a:t>
            </a:r>
            <a:endParaRPr lang="en-US" b="1">
              <a:solidFill>
                <a:schemeClr val="tx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a:solidFill>
                  <a:schemeClr val="tx1"/>
                </a:solidFill>
                <a:latin typeface="Aptos" panose="020B0004020202020204" pitchFamily="34" charset="0"/>
              </a:rPr>
              <a:t>Don't forget to leave feedback for your speakers!</a:t>
            </a:r>
          </a:p>
        </p:txBody>
      </p:sp>
      <p:pic>
        <p:nvPicPr>
          <p:cNvPr id="7" name="Picture 6" descr="MMS Logo">
            <a:extLst>
              <a:ext uri="{FF2B5EF4-FFF2-40B4-BE49-F238E27FC236}">
                <a16:creationId xmlns:a16="http://schemas.microsoft.com/office/drawing/2014/main" id="{BC9A6E22-95AA-8F42-08D4-0DFD93E2EF51}"/>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p:spPr>
        <p:txBody>
          <a:bodyPr/>
          <a:lstStyle>
            <a:lvl1pPr>
              <a:defRPr/>
            </a:lvl1pPr>
          </a:lstStyle>
          <a:p>
            <a:pPr lvl="0"/>
            <a:r>
              <a:rPr lang="en-US"/>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a:solidFill>
                  <a:schemeClr val="tx1"/>
                </a:solidFill>
                <a:latin typeface="Aptos" panose="020B0004020202020204" pitchFamily="34" charset="0"/>
              </a:rPr>
              <a:t>Fishing Sessions</a:t>
            </a:r>
          </a:p>
        </p:txBody>
      </p:sp>
    </p:spTree>
    <p:extLst>
      <p:ext uri="{BB962C8B-B14F-4D97-AF65-F5344CB8AC3E}">
        <p14:creationId xmlns:p14="http://schemas.microsoft.com/office/powerpoint/2010/main" val="25281619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ave the Date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MOA">
            <a:extLst>
              <a:ext uri="{FF2B5EF4-FFF2-40B4-BE49-F238E27FC236}">
                <a16:creationId xmlns:a16="http://schemas.microsoft.com/office/drawing/2014/main" id="{9CE8F994-3F43-B6B2-27DC-2BA65CDAD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36424" y="2075955"/>
            <a:ext cx="2971800" cy="2980355"/>
          </a:xfrm>
          <a:prstGeom prst="rect">
            <a:avLst/>
          </a:prstGeom>
          <a:ln w="28575">
            <a:solidFill>
              <a:schemeClr val="bg1"/>
            </a:solidFill>
          </a:ln>
        </p:spPr>
      </p:pic>
      <p:sp>
        <p:nvSpPr>
          <p:cNvPr id="4" name="TextBox 3">
            <a:extLst>
              <a:ext uri="{FF2B5EF4-FFF2-40B4-BE49-F238E27FC236}">
                <a16:creationId xmlns:a16="http://schemas.microsoft.com/office/drawing/2014/main" id="{E0828A95-6D43-E388-3D4E-E5117E2A09F8}"/>
              </a:ext>
            </a:extLst>
          </p:cNvPr>
          <p:cNvSpPr txBox="1"/>
          <p:nvPr userDrawn="1"/>
        </p:nvSpPr>
        <p:spPr>
          <a:xfrm>
            <a:off x="402199" y="1431135"/>
            <a:ext cx="2973203"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Oct 25-28, 2026</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849846" y="1431135"/>
            <a:ext cx="2952400"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Oct 10-13, 2027</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535992" y="230806"/>
            <a:ext cx="7120026"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36424" y="1431135"/>
            <a:ext cx="2952400"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May 2-6,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0674" y="2091583"/>
            <a:ext cx="2964728" cy="2964728"/>
          </a:xfrm>
          <a:prstGeom prst="rect">
            <a:avLst/>
          </a:prstGeom>
          <a:ln w="28575">
            <a:solidFill>
              <a:schemeClr val="bg1"/>
            </a:solidFill>
          </a:ln>
        </p:spPr>
      </p:pic>
      <p:pic>
        <p:nvPicPr>
          <p:cNvPr id="13" name="Picture 12" descr="A black guitar with red text&#10;&#10;AI-generated content may be incorrect.">
            <a:extLst>
              <a:ext uri="{FF2B5EF4-FFF2-40B4-BE49-F238E27FC236}">
                <a16:creationId xmlns:a16="http://schemas.microsoft.com/office/drawing/2014/main" id="{424A81D4-437A-CD95-6B7C-A4349A47DD2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869247" y="2075956"/>
            <a:ext cx="2980355" cy="2980355"/>
          </a:xfrm>
          <a:prstGeom prst="rect">
            <a:avLst/>
          </a:prstGeom>
          <a:ln w="28575">
            <a:solidFill>
              <a:schemeClr val="bg1">
                <a:lumMod val="95000"/>
              </a:schemeClr>
            </a:solidFill>
          </a:ln>
        </p:spPr>
      </p:pic>
    </p:spTree>
    <p:extLst>
      <p:ext uri="{BB962C8B-B14F-4D97-AF65-F5344CB8AC3E}">
        <p14:creationId xmlns:p14="http://schemas.microsoft.com/office/powerpoint/2010/main" val="34260477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Q&amp;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Logo">
            <a:extLst>
              <a:ext uri="{FF2B5EF4-FFF2-40B4-BE49-F238E27FC236}">
                <a16:creationId xmlns:a16="http://schemas.microsoft.com/office/drawing/2014/main" id="{46EAA7A9-8D45-D916-28B6-4E361AADC78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4793937" y="1390152"/>
            <a:ext cx="2743200" cy="1571299"/>
          </a:xfrm>
          <a:prstGeom prst="rect">
            <a:avLst/>
          </a:prstGeom>
        </p:spPr>
      </p:pic>
      <p:sp>
        <p:nvSpPr>
          <p:cNvPr id="14" name="Rectangle 13">
            <a:extLst>
              <a:ext uri="{FF2B5EF4-FFF2-40B4-BE49-F238E27FC236}">
                <a16:creationId xmlns:a16="http://schemas.microsoft.com/office/drawing/2014/main" id="{C6CEB9E9-6A9D-3D7F-1D7E-64C798429A2C}"/>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15" name="Picture 14" descr="Patch My PC">
            <a:extLst>
              <a:ext uri="{FF2B5EF4-FFF2-40B4-BE49-F238E27FC236}">
                <a16:creationId xmlns:a16="http://schemas.microsoft.com/office/drawing/2014/main" id="{8A4E9904-CB45-3E0E-696F-D3FD79268A7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77628" y="4135460"/>
            <a:ext cx="1258699" cy="914400"/>
          </a:xfrm>
          <a:prstGeom prst="rect">
            <a:avLst/>
          </a:prstGeom>
        </p:spPr>
      </p:pic>
      <p:pic>
        <p:nvPicPr>
          <p:cNvPr id="16" name="Picture 15" descr="A black and white logo&#10;&#10;Description automatically generated with low confidence">
            <a:extLst>
              <a:ext uri="{FF2B5EF4-FFF2-40B4-BE49-F238E27FC236}">
                <a16:creationId xmlns:a16="http://schemas.microsoft.com/office/drawing/2014/main" id="{43C261DF-C273-8B85-7BEA-3CB1DD08C69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4852" y="4226900"/>
            <a:ext cx="731520" cy="731520"/>
          </a:xfrm>
          <a:prstGeom prst="rect">
            <a:avLst/>
          </a:prstGeom>
        </p:spPr>
      </p:pic>
      <p:pic>
        <p:nvPicPr>
          <p:cNvPr id="18" name="Picture 17" descr="A grey rectangle with white and blue text&#10;&#10;Description automatically generated">
            <a:extLst>
              <a:ext uri="{FF2B5EF4-FFF2-40B4-BE49-F238E27FC236}">
                <a16:creationId xmlns:a16="http://schemas.microsoft.com/office/drawing/2014/main" id="{F8C63FAC-ABFA-70CE-8D89-D47ABA5CC266}"/>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015176" y="5249533"/>
            <a:ext cx="1188721" cy="457200"/>
          </a:xfrm>
          <a:prstGeom prst="rect">
            <a:avLst/>
          </a:prstGeom>
        </p:spPr>
      </p:pic>
      <p:pic>
        <p:nvPicPr>
          <p:cNvPr id="21" name="Picture 20" descr="A white text on a black background&#10;&#10;Description automatically generated">
            <a:extLst>
              <a:ext uri="{FF2B5EF4-FFF2-40B4-BE49-F238E27FC236}">
                <a16:creationId xmlns:a16="http://schemas.microsoft.com/office/drawing/2014/main" id="{79FF2E51-F7AB-D3B9-AABE-FB46DCC3885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56251" y="6167385"/>
            <a:ext cx="901452" cy="410211"/>
          </a:xfrm>
          <a:prstGeom prst="rect">
            <a:avLst/>
          </a:prstGeom>
        </p:spPr>
      </p:pic>
      <p:pic>
        <p:nvPicPr>
          <p:cNvPr id="23" name="Graphic 22">
            <a:extLst>
              <a:ext uri="{FF2B5EF4-FFF2-40B4-BE49-F238E27FC236}">
                <a16:creationId xmlns:a16="http://schemas.microsoft.com/office/drawing/2014/main" id="{0A3AC7F1-3D93-C770-1878-626E26008948}"/>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408004" y="6348996"/>
            <a:ext cx="1503922" cy="228600"/>
          </a:xfrm>
          <a:prstGeom prst="rect">
            <a:avLst/>
          </a:prstGeom>
        </p:spPr>
      </p:pic>
      <p:pic>
        <p:nvPicPr>
          <p:cNvPr id="24" name="Picture 23">
            <a:extLst>
              <a:ext uri="{FF2B5EF4-FFF2-40B4-BE49-F238E27FC236}">
                <a16:creationId xmlns:a16="http://schemas.microsoft.com/office/drawing/2014/main" id="{AC9F9C7F-8CDE-12F1-8DD9-E08040FCF1BA}"/>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532255" y="6368384"/>
            <a:ext cx="1554480" cy="209212"/>
          </a:xfrm>
          <a:prstGeom prst="rect">
            <a:avLst/>
          </a:prstGeom>
        </p:spPr>
      </p:pic>
      <p:pic>
        <p:nvPicPr>
          <p:cNvPr id="25" name="Picture 24">
            <a:extLst>
              <a:ext uri="{FF2B5EF4-FFF2-40B4-BE49-F238E27FC236}">
                <a16:creationId xmlns:a16="http://schemas.microsoft.com/office/drawing/2014/main" id="{EF6F3F9D-B490-FA74-DF0D-405DAA79C43F}"/>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290909" y="4306910"/>
            <a:ext cx="1554480" cy="605236"/>
          </a:xfrm>
          <a:prstGeom prst="rect">
            <a:avLst/>
          </a:prstGeom>
        </p:spPr>
      </p:pic>
      <p:pic>
        <p:nvPicPr>
          <p:cNvPr id="26" name="Picture 25">
            <a:extLst>
              <a:ext uri="{FF2B5EF4-FFF2-40B4-BE49-F238E27FC236}">
                <a16:creationId xmlns:a16="http://schemas.microsoft.com/office/drawing/2014/main" id="{8CCDFE6E-1CB9-DA2B-8122-2426251CA44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357703" y="5355030"/>
            <a:ext cx="1554480" cy="270344"/>
          </a:xfrm>
          <a:prstGeom prst="rect">
            <a:avLst/>
          </a:prstGeom>
        </p:spPr>
      </p:pic>
      <p:pic>
        <p:nvPicPr>
          <p:cNvPr id="27" name="Graphic 26">
            <a:extLst>
              <a:ext uri="{FF2B5EF4-FFF2-40B4-BE49-F238E27FC236}">
                <a16:creationId xmlns:a16="http://schemas.microsoft.com/office/drawing/2014/main" id="{E662A5E5-BEDF-2923-981A-FFD254ABA471}"/>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5060619" y="4384263"/>
            <a:ext cx="1554480" cy="388620"/>
          </a:xfrm>
          <a:prstGeom prst="rect">
            <a:avLst/>
          </a:prstGeom>
        </p:spPr>
      </p:pic>
      <p:pic>
        <p:nvPicPr>
          <p:cNvPr id="28" name="Picture 27">
            <a:extLst>
              <a:ext uri="{FF2B5EF4-FFF2-40B4-BE49-F238E27FC236}">
                <a16:creationId xmlns:a16="http://schemas.microsoft.com/office/drawing/2014/main" id="{A8F655CF-14A9-3C76-FB5B-5E772726C55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75502" y="4409266"/>
            <a:ext cx="1554480" cy="366787"/>
          </a:xfrm>
          <a:prstGeom prst="rect">
            <a:avLst/>
          </a:prstGeom>
        </p:spPr>
      </p:pic>
      <p:pic>
        <p:nvPicPr>
          <p:cNvPr id="30" name="Picture 29" descr="A blue text on a black background&#10;&#10;AI-generated content may be incorrect.">
            <a:extLst>
              <a:ext uri="{FF2B5EF4-FFF2-40B4-BE49-F238E27FC236}">
                <a16:creationId xmlns:a16="http://schemas.microsoft.com/office/drawing/2014/main" id="{7E42350D-8F9C-893D-D40A-C58551699BA9}"/>
              </a:ext>
            </a:extLst>
          </p:cNvPr>
          <p:cNvPicPr>
            <a:picLocks noChangeAspect="1"/>
          </p:cNvPicPr>
          <p:nvPr userDrawn="1"/>
        </p:nvPicPr>
        <p:blipFill>
          <a:blip r:embed="rId14">
            <a:extLst>
              <a:ext uri="{BEBA8EAE-BF5A-486C-A8C5-ECC9F3942E4B}">
                <a14:imgProps xmlns:a14="http://schemas.microsoft.com/office/drawing/2010/main">
                  <a14:imgLayer r:embed="rId15">
                    <a14:imgEffect>
                      <a14:saturation sat="0"/>
                    </a14:imgEffect>
                    <a14:imgEffect>
                      <a14:brightnessContrast bright="100000"/>
                    </a14:imgEffect>
                  </a14:imgLayer>
                </a14:imgProps>
              </a:ext>
            </a:extLst>
          </a:blip>
          <a:stretch>
            <a:fillRect/>
          </a:stretch>
        </p:blipFill>
        <p:spPr>
          <a:xfrm>
            <a:off x="6306890" y="5315255"/>
            <a:ext cx="1554480" cy="310119"/>
          </a:xfrm>
          <a:prstGeom prst="rect">
            <a:avLst/>
          </a:prstGeom>
        </p:spPr>
      </p:pic>
      <p:pic>
        <p:nvPicPr>
          <p:cNvPr id="31" name="Picture 30" descr="A white letters on a black background&#10;&#10;AI-generated content may be incorrect.">
            <a:extLst>
              <a:ext uri="{FF2B5EF4-FFF2-40B4-BE49-F238E27FC236}">
                <a16:creationId xmlns:a16="http://schemas.microsoft.com/office/drawing/2014/main" id="{9801BAC5-50DF-BA7A-DFD6-870E7DCE4D74}"/>
              </a:ext>
            </a:extLst>
          </p:cNvPr>
          <p:cNvPicPr>
            <a:picLocks noChangeAspect="1"/>
          </p:cNvPicPr>
          <p:nvPr userDrawn="1"/>
        </p:nvPicPr>
        <p:blipFill>
          <a:blip r:embed="rId16"/>
          <a:stretch>
            <a:fillRect/>
          </a:stretch>
        </p:blipFill>
        <p:spPr>
          <a:xfrm>
            <a:off x="8964363" y="5326622"/>
            <a:ext cx="1554480" cy="321259"/>
          </a:xfrm>
          <a:prstGeom prst="rect">
            <a:avLst/>
          </a:prstGeom>
        </p:spPr>
      </p:pic>
      <p:pic>
        <p:nvPicPr>
          <p:cNvPr id="32" name="Picture 31">
            <a:extLst>
              <a:ext uri="{FF2B5EF4-FFF2-40B4-BE49-F238E27FC236}">
                <a16:creationId xmlns:a16="http://schemas.microsoft.com/office/drawing/2014/main" id="{91DEC2DB-BCA7-3FE2-CB57-AB1B821F323F}"/>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678972" y="5846076"/>
            <a:ext cx="532014" cy="731520"/>
          </a:xfrm>
          <a:prstGeom prst="rect">
            <a:avLst/>
          </a:prstGeom>
        </p:spPr>
      </p:pic>
      <p:pic>
        <p:nvPicPr>
          <p:cNvPr id="33" name="Picture 32">
            <a:extLst>
              <a:ext uri="{FF2B5EF4-FFF2-40B4-BE49-F238E27FC236}">
                <a16:creationId xmlns:a16="http://schemas.microsoft.com/office/drawing/2014/main" id="{52321056-273F-E68B-19D1-57AF101821FE}"/>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233196" y="6163652"/>
            <a:ext cx="1463040" cy="413944"/>
          </a:xfrm>
          <a:prstGeom prst="rect">
            <a:avLst/>
          </a:prstGeom>
        </p:spPr>
      </p:pic>
    </p:spTree>
    <p:extLst>
      <p:ext uri="{BB962C8B-B14F-4D97-AF65-F5344CB8AC3E}">
        <p14:creationId xmlns:p14="http://schemas.microsoft.com/office/powerpoint/2010/main" val="3046132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65651-282E-586C-B06B-5DB5D99446FF}"/>
              </a:ext>
            </a:extLst>
          </p:cNvPr>
          <p:cNvSpPr>
            <a:spLocks noGrp="1"/>
          </p:cNvSpPr>
          <p:nvPr>
            <p:ph type="title"/>
          </p:nvPr>
        </p:nvSpPr>
        <p:spPr>
          <a:xfrm>
            <a:off x="838200" y="365126"/>
            <a:ext cx="10515600" cy="79246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913A01-90A4-D2D1-24E8-69DD5F53470F}"/>
              </a:ext>
            </a:extLst>
          </p:cNvPr>
          <p:cNvSpPr>
            <a:spLocks noGrp="1"/>
          </p:cNvSpPr>
          <p:nvPr>
            <p:ph type="body" idx="1"/>
          </p:nvPr>
        </p:nvSpPr>
        <p:spPr>
          <a:xfrm>
            <a:off x="838200" y="1507787"/>
            <a:ext cx="10515600" cy="46691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12510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9" r:id="rId5"/>
    <p:sldLayoutId id="2147483652" r:id="rId6"/>
    <p:sldLayoutId id="2147483653" r:id="rId7"/>
    <p:sldLayoutId id="2147483654" r:id="rId8"/>
    <p:sldLayoutId id="2147483655" r:id="rId9"/>
    <p:sldLayoutId id="2147483656" r:id="rId10"/>
    <p:sldLayoutId id="2147483657" r:id="rId11"/>
    <p:sldLayoutId id="2147483673" r:id="rId12"/>
    <p:sldLayoutId id="2147483663" r:id="rId13"/>
    <p:sldLayoutId id="2147483664" r:id="rId14"/>
  </p:sldLayoutIdLst>
  <p:txStyles>
    <p:title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B0B1B4-6987-442E-8B11-D82B4992D5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265E00-A27D-612F-8389-A5568AC246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161DDB-CC2B-D54B-7517-E715290C3E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B7999B-38B3-40EF-826B-655A64799C1B}" type="datetimeFigureOut">
              <a:rPr lang="en-US" smtClean="0"/>
              <a:t>4/15/2026</a:t>
            </a:fld>
            <a:endParaRPr lang="en-US"/>
          </a:p>
        </p:txBody>
      </p:sp>
      <p:sp>
        <p:nvSpPr>
          <p:cNvPr id="5" name="Footer Placeholder 4">
            <a:extLst>
              <a:ext uri="{FF2B5EF4-FFF2-40B4-BE49-F238E27FC236}">
                <a16:creationId xmlns:a16="http://schemas.microsoft.com/office/drawing/2014/main" id="{E7F5C2E2-4322-B373-CCC7-8621FF671F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4BCAAE-4B09-81E1-1FAE-84D173487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51C39E-9AC5-4998-B89E-D6011DDB7CF1}" type="slidenum">
              <a:rPr lang="en-US" smtClean="0"/>
              <a:t>‹#›</a:t>
            </a:fld>
            <a:endParaRPr lang="en-US"/>
          </a:p>
        </p:txBody>
      </p:sp>
    </p:spTree>
    <p:extLst>
      <p:ext uri="{BB962C8B-B14F-4D97-AF65-F5344CB8AC3E}">
        <p14:creationId xmlns:p14="http://schemas.microsoft.com/office/powerpoint/2010/main" val="148027108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62"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90" r:id="rId12"/>
    <p:sldLayoutId id="2147483691"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learn.microsoft.com/en-us/mem/configmgr/core/plan-design/configs/site-size-performance-guidelines#general-sizing-guidelines"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learn.microsoft.com/en-us/mem/configmgr/core/plan-design/configs/size-and-scale-numbers"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stevethompsonmvp.wordpress.com/2017/06/21/properly-configure-sql-server-configmgr-database/"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ola.hallengren.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hyperlink" Target="https://blog.ctglobalservices.com/configuration-manager-sccm/kea/house-of-cardsthe-configmgr-software-update-point-and-wsus/" TargetMode="External"/><Relationship Id="rId7"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https://damgoodadmin.com/download/invoke-dgasoftwareupdatemaintenance/" TargetMode="External"/><Relationship Id="rId5" Type="http://schemas.openxmlformats.org/officeDocument/2006/relationships/hyperlink" Target="https://learn.microsoft.com/en-us/troubleshoot/mem/configmgr/update-management/windows-server-update-services-best-practices#disable-recycling-and-configure-memory-limits" TargetMode="External"/><Relationship Id="rId4" Type="http://schemas.openxmlformats.org/officeDocument/2006/relationships/hyperlink" Target="https://tcsmug.org/blogs/sherry-kissinger/512-wsus-administration-wsuspool-web-config-settings-enforcement-via-configuration-items"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PowerShellMafia/PowerSCCM" TargetMode="External"/><Relationship Id="rId2" Type="http://schemas.openxmlformats.org/officeDocument/2006/relationships/hyperlink" Target="https://github.com/Mayyhem/SharpSCCM" TargetMode="External"/><Relationship Id="rId1" Type="http://schemas.openxmlformats.org/officeDocument/2006/relationships/slideLayout" Target="../slideLayouts/slideLayout3.xml"/><Relationship Id="rId5" Type="http://schemas.openxmlformats.org/officeDocument/2006/relationships/hyperlink" Target="https://github.com/subat0mik/Misconfiguration-Manager?tab=readme-ov-file#remediation-quick-start" TargetMode="External"/><Relationship Id="rId4" Type="http://schemas.openxmlformats.org/officeDocument/2006/relationships/hyperlink" Target="https://learn.microsoft.com/en-us/mem/configmgr/core/plan-design/security/enable-tls-1-2#tasks-for-configuration-manager-clients-site-servers-and-remote-site-systems"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en-us/mem/configmgr/core/servers/manage/checklist-for-installing-update-2409"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hyperlink" Target="https://anthonyfontanez.com/index.php/2022/08/08/upgrading-configmgr-infrastructure-tips-and-gotchas/"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support.hcl-software.com/csm?id=kb_article&amp;sysparm_article=KB0106708"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hyperlink" Target="https://joji.me/en-us/blog/understanding-the-edge-and-edge-webview2-update-logs/"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www.eido.cloud/" TargetMode="External"/><Relationship Id="rId3" Type="http://schemas.openxmlformats.org/officeDocument/2006/relationships/hyperlink" Target="https://learn.microsoft.com/en-us/mem/configmgr/sum/deploy-use/third-party-software-update-catalogs#third-party-update-catalogs-available-for-import" TargetMode="External"/><Relationship Id="rId7" Type="http://schemas.openxmlformats.org/officeDocument/2006/relationships/hyperlink" Target="https://www.baramundi.com/en-us/products/patch-management/"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www.1e.com/platform/patch-insights/" TargetMode="External"/><Relationship Id="rId11" Type="http://schemas.openxmlformats.org/officeDocument/2006/relationships/hyperlink" Target="https://adaptiva.com/" TargetMode="External"/><Relationship Id="rId5" Type="http://schemas.openxmlformats.org/officeDocument/2006/relationships/hyperlink" Target="https://recastsoftware.com/" TargetMode="External"/><Relationship Id="rId10" Type="http://schemas.openxmlformats.org/officeDocument/2006/relationships/hyperlink" Target="https://www.zerotouch.ai/" TargetMode="External"/><Relationship Id="rId4" Type="http://schemas.openxmlformats.org/officeDocument/2006/relationships/hyperlink" Target="https://patchmypc.com/" TargetMode="External"/><Relationship Id="rId9" Type="http://schemas.openxmlformats.org/officeDocument/2006/relationships/hyperlink" Target="https://www.ninjaone.com/patch-management/"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paulwetter/ConfigMgrClientHealthV3"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learn.microsoft.com/en-us/intune/configmgr/core/plan-design/hierarchy/log-files"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learn.microsoft.com/en-us/mem/configmgr/core/support/support-center"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B669-2341-DF39-C682-5CB469879095}"/>
              </a:ext>
            </a:extLst>
          </p:cNvPr>
          <p:cNvSpPr>
            <a:spLocks noGrp="1"/>
          </p:cNvSpPr>
          <p:nvPr>
            <p:ph type="ctrTitle"/>
          </p:nvPr>
        </p:nvSpPr>
        <p:spPr/>
        <p:txBody>
          <a:bodyPr/>
          <a:lstStyle/>
          <a:p>
            <a:r>
              <a:rPr lang="en-US" err="1"/>
              <a:t>ConfigMgr</a:t>
            </a:r>
            <a:r>
              <a:rPr lang="en-US"/>
              <a:t> Fundamentals</a:t>
            </a:r>
          </a:p>
        </p:txBody>
      </p:sp>
      <p:sp>
        <p:nvSpPr>
          <p:cNvPr id="3" name="Subtitle 2">
            <a:extLst>
              <a:ext uri="{FF2B5EF4-FFF2-40B4-BE49-F238E27FC236}">
                <a16:creationId xmlns:a16="http://schemas.microsoft.com/office/drawing/2014/main" id="{B7806C1F-6D02-FA11-F860-B05CFAC0C160}"/>
              </a:ext>
            </a:extLst>
          </p:cNvPr>
          <p:cNvSpPr>
            <a:spLocks noGrp="1"/>
          </p:cNvSpPr>
          <p:nvPr>
            <p:ph type="subTitle" idx="1"/>
          </p:nvPr>
        </p:nvSpPr>
        <p:spPr/>
        <p:txBody>
          <a:bodyPr/>
          <a:lstStyle/>
          <a:p>
            <a:r>
              <a:rPr lang="en-US"/>
              <a:t>Infrastructure and Security</a:t>
            </a:r>
          </a:p>
        </p:txBody>
      </p:sp>
    </p:spTree>
    <p:extLst>
      <p:ext uri="{BB962C8B-B14F-4D97-AF65-F5344CB8AC3E}">
        <p14:creationId xmlns:p14="http://schemas.microsoft.com/office/powerpoint/2010/main" val="401895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A5B3-89D5-147C-A57E-6754B8093C4B}"/>
              </a:ext>
            </a:extLst>
          </p:cNvPr>
          <p:cNvSpPr>
            <a:spLocks noGrp="1"/>
          </p:cNvSpPr>
          <p:nvPr>
            <p:ph type="title"/>
          </p:nvPr>
        </p:nvSpPr>
        <p:spPr/>
        <p:txBody>
          <a:bodyPr/>
          <a:lstStyle/>
          <a:p>
            <a:r>
              <a:rPr lang="en-US"/>
              <a:t>Attention</a:t>
            </a:r>
          </a:p>
        </p:txBody>
      </p:sp>
      <p:sp>
        <p:nvSpPr>
          <p:cNvPr id="3" name="Content Placeholder 2">
            <a:extLst>
              <a:ext uri="{FF2B5EF4-FFF2-40B4-BE49-F238E27FC236}">
                <a16:creationId xmlns:a16="http://schemas.microsoft.com/office/drawing/2014/main" id="{C595F291-B9CB-60BF-7307-F3FFC90C9734}"/>
              </a:ext>
            </a:extLst>
          </p:cNvPr>
          <p:cNvSpPr>
            <a:spLocks noGrp="1"/>
          </p:cNvSpPr>
          <p:nvPr>
            <p:ph idx="1"/>
          </p:nvPr>
        </p:nvSpPr>
        <p:spPr/>
        <p:txBody>
          <a:bodyPr/>
          <a:lstStyle/>
          <a:p>
            <a:r>
              <a:rPr lang="en-US" sz="2800"/>
              <a:t>MMS sessions are 60-75 minutes followed by LONG Q&amp;A</a:t>
            </a:r>
          </a:p>
          <a:p>
            <a:r>
              <a:rPr lang="en-US" sz="2800"/>
              <a:t>Please hold detailed questions until that Q&amp;A starts</a:t>
            </a:r>
          </a:p>
          <a:p>
            <a:r>
              <a:rPr lang="en-US" sz="2800"/>
              <a:t>Feel free to ask clarification questions</a:t>
            </a:r>
          </a:p>
          <a:p>
            <a:r>
              <a:rPr lang="en-US" sz="2800"/>
              <a:t>Remind the speakers to use Zoom It when you can’t see</a:t>
            </a:r>
          </a:p>
        </p:txBody>
      </p:sp>
    </p:spTree>
    <p:extLst>
      <p:ext uri="{BB962C8B-B14F-4D97-AF65-F5344CB8AC3E}">
        <p14:creationId xmlns:p14="http://schemas.microsoft.com/office/powerpoint/2010/main" val="3743149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D5E42D9D-6512-2D1D-C373-A66A116519FB}"/>
              </a:ext>
            </a:extLst>
          </p:cNvPr>
          <p:cNvSpPr>
            <a:spLocks noGrp="1"/>
          </p:cNvSpPr>
          <p:nvPr>
            <p:ph type="body" sz="quarter" idx="12"/>
          </p:nvPr>
        </p:nvSpPr>
        <p:spPr/>
        <p:txBody>
          <a:bodyPr/>
          <a:lstStyle/>
          <a:p>
            <a:r>
              <a:rPr lang="en-US"/>
              <a:t>Matt Wreede</a:t>
            </a:r>
          </a:p>
          <a:p>
            <a:endParaRPr lang="en-US"/>
          </a:p>
        </p:txBody>
      </p:sp>
      <p:sp>
        <p:nvSpPr>
          <p:cNvPr id="24" name="Text Placeholder 23">
            <a:extLst>
              <a:ext uri="{FF2B5EF4-FFF2-40B4-BE49-F238E27FC236}">
                <a16:creationId xmlns:a16="http://schemas.microsoft.com/office/drawing/2014/main" id="{FBB90A25-8444-5AF2-8C06-2CEDE2B5ABBB}"/>
              </a:ext>
            </a:extLst>
          </p:cNvPr>
          <p:cNvSpPr>
            <a:spLocks noGrp="1"/>
          </p:cNvSpPr>
          <p:nvPr>
            <p:ph type="body" sz="quarter" idx="13"/>
          </p:nvPr>
        </p:nvSpPr>
        <p:spPr/>
        <p:txBody>
          <a:bodyPr/>
          <a:lstStyle/>
          <a:p>
            <a:r>
              <a:rPr lang="en-US"/>
              <a:t>Sherry Kissinger</a:t>
            </a:r>
          </a:p>
          <a:p>
            <a:endParaRPr lang="en-US"/>
          </a:p>
        </p:txBody>
      </p:sp>
      <p:sp>
        <p:nvSpPr>
          <p:cNvPr id="26" name="Text Placeholder 25">
            <a:extLst>
              <a:ext uri="{FF2B5EF4-FFF2-40B4-BE49-F238E27FC236}">
                <a16:creationId xmlns:a16="http://schemas.microsoft.com/office/drawing/2014/main" id="{7326F3D7-89F8-384F-33E2-102203A1B61E}"/>
              </a:ext>
            </a:extLst>
          </p:cNvPr>
          <p:cNvSpPr>
            <a:spLocks noGrp="1"/>
          </p:cNvSpPr>
          <p:nvPr>
            <p:ph type="body" sz="quarter" idx="15"/>
          </p:nvPr>
        </p:nvSpPr>
        <p:spPr/>
        <p:txBody>
          <a:bodyPr/>
          <a:lstStyle/>
          <a:p>
            <a:r>
              <a:rPr lang="en-US"/>
              <a:t>@slkissinger</a:t>
            </a:r>
          </a:p>
        </p:txBody>
      </p:sp>
      <p:sp>
        <p:nvSpPr>
          <p:cNvPr id="28" name="Text Placeholder 27">
            <a:extLst>
              <a:ext uri="{FF2B5EF4-FFF2-40B4-BE49-F238E27FC236}">
                <a16:creationId xmlns:a16="http://schemas.microsoft.com/office/drawing/2014/main" id="{F1B8AE53-665B-4988-F652-705C9355D24F}"/>
              </a:ext>
            </a:extLst>
          </p:cNvPr>
          <p:cNvSpPr>
            <a:spLocks noGrp="1"/>
          </p:cNvSpPr>
          <p:nvPr>
            <p:ph type="body" sz="quarter" idx="16"/>
          </p:nvPr>
        </p:nvSpPr>
        <p:spPr/>
        <p:txBody>
          <a:bodyPr/>
          <a:lstStyle/>
          <a:p>
            <a:r>
              <a:rPr lang="en-US">
                <a:ea typeface="Calibri"/>
                <a:cs typeface="Calibri"/>
              </a:rPr>
              <a:t>Cardinal Health</a:t>
            </a:r>
          </a:p>
          <a:p>
            <a:endParaRPr lang="en-US"/>
          </a:p>
        </p:txBody>
      </p:sp>
      <p:sp>
        <p:nvSpPr>
          <p:cNvPr id="30" name="Text Placeholder 29">
            <a:extLst>
              <a:ext uri="{FF2B5EF4-FFF2-40B4-BE49-F238E27FC236}">
                <a16:creationId xmlns:a16="http://schemas.microsoft.com/office/drawing/2014/main" id="{92BA97EC-3319-3C90-7841-1240C49E62D6}"/>
              </a:ext>
            </a:extLst>
          </p:cNvPr>
          <p:cNvSpPr>
            <a:spLocks noGrp="1"/>
          </p:cNvSpPr>
          <p:nvPr>
            <p:ph type="body" sz="quarter" idx="17"/>
          </p:nvPr>
        </p:nvSpPr>
        <p:spPr/>
        <p:txBody>
          <a:bodyPr/>
          <a:lstStyle/>
          <a:p>
            <a:r>
              <a:rPr lang="en-US"/>
              <a:t>Cardinal Health</a:t>
            </a:r>
          </a:p>
          <a:p>
            <a:endParaRPr lang="en-US"/>
          </a:p>
        </p:txBody>
      </p:sp>
      <p:sp>
        <p:nvSpPr>
          <p:cNvPr id="31" name="Text Placeholder 5">
            <a:extLst>
              <a:ext uri="{FF2B5EF4-FFF2-40B4-BE49-F238E27FC236}">
                <a16:creationId xmlns:a16="http://schemas.microsoft.com/office/drawing/2014/main" id="{CAEB595A-08B0-7361-60B6-4F129E4E7862}"/>
              </a:ext>
            </a:extLst>
          </p:cNvPr>
          <p:cNvSpPr>
            <a:spLocks noGrp="1"/>
          </p:cNvSpPr>
          <p:nvPr>
            <p:ph type="body" sz="quarter" idx="14"/>
          </p:nvPr>
        </p:nvSpPr>
        <p:spPr>
          <a:xfrm>
            <a:off x="1523999" y="5303520"/>
            <a:ext cx="4572000" cy="914400"/>
          </a:xfrm>
        </p:spPr>
        <p:txBody>
          <a:bodyPr vert="horz" lIns="91440" tIns="45720" rIns="91440" bIns="45720" rtlCol="0" anchor="t">
            <a:normAutofit/>
          </a:bodyPr>
          <a:lstStyle/>
          <a:p>
            <a:r>
              <a:rPr lang="en-US">
                <a:ea typeface="Calibri"/>
                <a:cs typeface="Calibri"/>
              </a:rPr>
              <a:t>@Hotdog453</a:t>
            </a:r>
          </a:p>
        </p:txBody>
      </p:sp>
      <p:pic>
        <p:nvPicPr>
          <p:cNvPr id="32" name="Picture 5">
            <a:extLst>
              <a:ext uri="{FF2B5EF4-FFF2-40B4-BE49-F238E27FC236}">
                <a16:creationId xmlns:a16="http://schemas.microsoft.com/office/drawing/2014/main" id="{F5C31A60-17FB-4B21-0D84-2A15F722A1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0021" y="5281615"/>
            <a:ext cx="544843" cy="41511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5">
            <a:extLst>
              <a:ext uri="{FF2B5EF4-FFF2-40B4-BE49-F238E27FC236}">
                <a16:creationId xmlns:a16="http://schemas.microsoft.com/office/drawing/2014/main" id="{7D288415-5C21-CBDC-1B2F-3BB2705846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4113" y="5286610"/>
            <a:ext cx="544843" cy="41511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Placeholder 10">
            <a:extLst>
              <a:ext uri="{FF2B5EF4-FFF2-40B4-BE49-F238E27FC236}">
                <a16:creationId xmlns:a16="http://schemas.microsoft.com/office/drawing/2014/main" id="{014DCBB8-205E-B161-FA7B-5A1E772A0888}"/>
              </a:ext>
            </a:extLst>
          </p:cNvPr>
          <p:cNvPicPr>
            <a:picLocks noChangeAspect="1"/>
          </p:cNvPicPr>
          <p:nvPr/>
        </p:nvPicPr>
        <p:blipFill>
          <a:blip r:embed="rId3"/>
          <a:srcRect/>
          <a:stretch/>
        </p:blipFill>
        <p:spPr>
          <a:xfrm>
            <a:off x="7103110" y="1576385"/>
            <a:ext cx="2703513" cy="2538413"/>
          </a:xfrm>
          <a:prstGeom prst="rect">
            <a:avLst/>
          </a:prstGeom>
        </p:spPr>
      </p:pic>
      <p:pic>
        <p:nvPicPr>
          <p:cNvPr id="2" name="Picture 1" descr="A person wearing sunglasses and a hat smoking a cigar&#10;&#10;AI-generated content may be incorrect.">
            <a:extLst>
              <a:ext uri="{FF2B5EF4-FFF2-40B4-BE49-F238E27FC236}">
                <a16:creationId xmlns:a16="http://schemas.microsoft.com/office/drawing/2014/main" id="{9D8DA1D0-E7C6-9ABA-44D2-41C00569DBFB}"/>
              </a:ext>
            </a:extLst>
          </p:cNvPr>
          <p:cNvPicPr>
            <a:picLocks noChangeAspect="1"/>
          </p:cNvPicPr>
          <p:nvPr/>
        </p:nvPicPr>
        <p:blipFill>
          <a:blip r:embed="rId4"/>
          <a:stretch>
            <a:fillRect/>
          </a:stretch>
        </p:blipFill>
        <p:spPr>
          <a:xfrm>
            <a:off x="2467515" y="1649104"/>
            <a:ext cx="2705497" cy="2463803"/>
          </a:xfrm>
          <a:prstGeom prst="rect">
            <a:avLst/>
          </a:prstGeom>
        </p:spPr>
      </p:pic>
    </p:spTree>
    <p:extLst>
      <p:ext uri="{BB962C8B-B14F-4D97-AF65-F5344CB8AC3E}">
        <p14:creationId xmlns:p14="http://schemas.microsoft.com/office/powerpoint/2010/main" val="2749782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4686-E403-224A-570D-6AD1962FEB8C}"/>
              </a:ext>
            </a:extLst>
          </p:cNvPr>
          <p:cNvSpPr>
            <a:spLocks noGrp="1"/>
          </p:cNvSpPr>
          <p:nvPr>
            <p:ph type="title"/>
          </p:nvPr>
        </p:nvSpPr>
        <p:spPr/>
        <p:txBody>
          <a:bodyPr/>
          <a:lstStyle/>
          <a:p>
            <a:r>
              <a:rPr lang="en-US"/>
              <a:t>Welcome</a:t>
            </a:r>
          </a:p>
        </p:txBody>
      </p:sp>
      <p:sp>
        <p:nvSpPr>
          <p:cNvPr id="3" name="Content Placeholder 2">
            <a:extLst>
              <a:ext uri="{FF2B5EF4-FFF2-40B4-BE49-F238E27FC236}">
                <a16:creationId xmlns:a16="http://schemas.microsoft.com/office/drawing/2014/main" id="{2E47C443-A519-CA6C-F515-F098DE1D8E32}"/>
              </a:ext>
            </a:extLst>
          </p:cNvPr>
          <p:cNvSpPr>
            <a:spLocks noGrp="1"/>
          </p:cNvSpPr>
          <p:nvPr>
            <p:ph idx="1"/>
          </p:nvPr>
        </p:nvSpPr>
        <p:spPr/>
        <p:txBody>
          <a:bodyPr/>
          <a:lstStyle/>
          <a:p>
            <a:r>
              <a:rPr lang="en-US"/>
              <a:t>Don’t be shy</a:t>
            </a:r>
          </a:p>
          <a:p>
            <a:r>
              <a:rPr lang="en-US"/>
              <a:t>We won’t talk about the Society for Critical Care Medicine</a:t>
            </a:r>
          </a:p>
          <a:p>
            <a:r>
              <a:rPr lang="en-US"/>
              <a:t>Long live … Intune?</a:t>
            </a:r>
          </a:p>
          <a:p>
            <a:r>
              <a:rPr lang="en-US"/>
              <a:t>Use Zoom It</a:t>
            </a:r>
          </a:p>
        </p:txBody>
      </p:sp>
    </p:spTree>
    <p:extLst>
      <p:ext uri="{BB962C8B-B14F-4D97-AF65-F5344CB8AC3E}">
        <p14:creationId xmlns:p14="http://schemas.microsoft.com/office/powerpoint/2010/main" val="2692478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09400-2DB1-4D79-9F56-F7F49287F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38D55-56E7-C3B7-7101-49B9D8D3E4C6}"/>
              </a:ext>
            </a:extLst>
          </p:cNvPr>
          <p:cNvSpPr>
            <a:spLocks noGrp="1"/>
          </p:cNvSpPr>
          <p:nvPr>
            <p:ph type="title"/>
          </p:nvPr>
        </p:nvSpPr>
        <p:spPr/>
        <p:txBody>
          <a:bodyPr/>
          <a:lstStyle/>
          <a:p>
            <a:r>
              <a:rPr lang="en-US"/>
              <a:t>Site design basics</a:t>
            </a:r>
          </a:p>
        </p:txBody>
      </p:sp>
      <p:sp>
        <p:nvSpPr>
          <p:cNvPr id="3" name="Content Placeholder 2">
            <a:extLst>
              <a:ext uri="{FF2B5EF4-FFF2-40B4-BE49-F238E27FC236}">
                <a16:creationId xmlns:a16="http://schemas.microsoft.com/office/drawing/2014/main" id="{E28DA29D-21BE-72B2-AF96-47C19156F031}"/>
              </a:ext>
            </a:extLst>
          </p:cNvPr>
          <p:cNvSpPr>
            <a:spLocks noGrp="1"/>
          </p:cNvSpPr>
          <p:nvPr>
            <p:ph idx="1"/>
          </p:nvPr>
        </p:nvSpPr>
        <p:spPr/>
        <p:txBody>
          <a:bodyPr>
            <a:normAutofit lnSpcReduction="10000"/>
          </a:bodyPr>
          <a:lstStyle/>
          <a:p>
            <a:r>
              <a:rPr lang="en-US"/>
              <a:t>Keep it simple</a:t>
            </a:r>
          </a:p>
          <a:p>
            <a:pPr lvl="1"/>
            <a:r>
              <a:rPr lang="en-US"/>
              <a:t>ConfigMgr is a beast, don’t make it more difficult than it needs to be</a:t>
            </a:r>
          </a:p>
          <a:p>
            <a:pPr lvl="1"/>
            <a:r>
              <a:rPr lang="en-US"/>
              <a:t>We promise you probably don’t need a CAS (&gt;175,000 devices)</a:t>
            </a:r>
          </a:p>
          <a:p>
            <a:r>
              <a:rPr lang="en-US"/>
              <a:t>Keep SQL co-located</a:t>
            </a:r>
          </a:p>
          <a:p>
            <a:r>
              <a:rPr lang="en-US"/>
              <a:t>Check the Size and Performance guidelines for Cores/Memory/IOPS guidance based on client counts</a:t>
            </a:r>
          </a:p>
          <a:p>
            <a:pPr lvl="1"/>
            <a:r>
              <a:rPr lang="en-US">
                <a:hlinkClick r:id="rId2"/>
              </a:rPr>
              <a:t>Microsoft’s General Sizing Guidelines</a:t>
            </a:r>
            <a:endParaRPr lang="en-US"/>
          </a:p>
          <a:p>
            <a:r>
              <a:rPr lang="en-US"/>
              <a:t>Small sites are fine to have all roles on one server (&lt;2,000 devices)</a:t>
            </a:r>
          </a:p>
          <a:p>
            <a:r>
              <a:rPr lang="en-US"/>
              <a:t>Offload client facing roles first</a:t>
            </a:r>
          </a:p>
          <a:p>
            <a:pPr lvl="1"/>
            <a:r>
              <a:rPr lang="en-US"/>
              <a:t>Distribution Point, Management Point, Software Update Point</a:t>
            </a:r>
          </a:p>
          <a:p>
            <a:pPr lvl="1"/>
            <a:r>
              <a:rPr lang="en-US"/>
              <a:t>Add multiple as needed</a:t>
            </a:r>
          </a:p>
        </p:txBody>
      </p:sp>
    </p:spTree>
    <p:extLst>
      <p:ext uri="{BB962C8B-B14F-4D97-AF65-F5344CB8AC3E}">
        <p14:creationId xmlns:p14="http://schemas.microsoft.com/office/powerpoint/2010/main" val="57371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left)">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left)">
                                      <p:cBhvr>
                                        <p:cTn id="36" dur="500"/>
                                        <p:tgtEl>
                                          <p:spTgt spid="3">
                                            <p:txEl>
                                              <p:pRg st="7" end="7"/>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left)">
                                      <p:cBhvr>
                                        <p:cTn id="39" dur="500"/>
                                        <p:tgtEl>
                                          <p:spTgt spid="3">
                                            <p:txEl>
                                              <p:pRg st="8" end="8"/>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left)">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7B78A-CD74-1F66-052E-C41DEBA0DA6C}"/>
              </a:ext>
            </a:extLst>
          </p:cNvPr>
          <p:cNvSpPr>
            <a:spLocks noGrp="1"/>
          </p:cNvSpPr>
          <p:nvPr>
            <p:ph type="title"/>
          </p:nvPr>
        </p:nvSpPr>
        <p:spPr/>
        <p:txBody>
          <a:bodyPr/>
          <a:lstStyle/>
          <a:p>
            <a:r>
              <a:rPr lang="en-US"/>
              <a:t>Site role size limits</a:t>
            </a:r>
          </a:p>
        </p:txBody>
      </p:sp>
      <p:graphicFrame>
        <p:nvGraphicFramePr>
          <p:cNvPr id="5" name="Content Placeholder 4">
            <a:extLst>
              <a:ext uri="{FF2B5EF4-FFF2-40B4-BE49-F238E27FC236}">
                <a16:creationId xmlns:a16="http://schemas.microsoft.com/office/drawing/2014/main" id="{54F53E27-1DB7-7DE8-297A-10F5D846A07A}"/>
              </a:ext>
            </a:extLst>
          </p:cNvPr>
          <p:cNvGraphicFramePr>
            <a:graphicFrameLocks noGrp="1"/>
          </p:cNvGraphicFramePr>
          <p:nvPr>
            <p:ph idx="1"/>
          </p:nvPr>
        </p:nvGraphicFramePr>
        <p:xfrm>
          <a:off x="753291" y="2481308"/>
          <a:ext cx="10515600" cy="249428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975161321"/>
                    </a:ext>
                  </a:extLst>
                </a:gridCol>
                <a:gridCol w="3505200">
                  <a:extLst>
                    <a:ext uri="{9D8B030D-6E8A-4147-A177-3AD203B41FA5}">
                      <a16:colId xmlns:a16="http://schemas.microsoft.com/office/drawing/2014/main" val="129859615"/>
                    </a:ext>
                  </a:extLst>
                </a:gridCol>
                <a:gridCol w="3505200">
                  <a:extLst>
                    <a:ext uri="{9D8B030D-6E8A-4147-A177-3AD203B41FA5}">
                      <a16:colId xmlns:a16="http://schemas.microsoft.com/office/drawing/2014/main" val="270380054"/>
                    </a:ext>
                  </a:extLst>
                </a:gridCol>
              </a:tblGrid>
              <a:tr h="370840">
                <a:tc>
                  <a:txBody>
                    <a:bodyPr/>
                    <a:lstStyle/>
                    <a:p>
                      <a:r>
                        <a:rPr lang="en-US"/>
                        <a:t>ConfigMgr Role</a:t>
                      </a:r>
                    </a:p>
                  </a:txBody>
                  <a:tcPr/>
                </a:tc>
                <a:tc>
                  <a:txBody>
                    <a:bodyPr/>
                    <a:lstStyle/>
                    <a:p>
                      <a:r>
                        <a:rPr lang="en-US"/>
                        <a:t>Max Role Count</a:t>
                      </a:r>
                    </a:p>
                  </a:txBody>
                  <a:tcPr/>
                </a:tc>
                <a:tc>
                  <a:txBody>
                    <a:bodyPr/>
                    <a:lstStyle/>
                    <a:p>
                      <a:r>
                        <a:rPr lang="en-US"/>
                        <a:t>Max Clients</a:t>
                      </a:r>
                    </a:p>
                  </a:txBody>
                  <a:tcPr/>
                </a:tc>
                <a:extLst>
                  <a:ext uri="{0D108BD9-81ED-4DB2-BD59-A6C34878D82A}">
                    <a16:rowId xmlns:a16="http://schemas.microsoft.com/office/drawing/2014/main" val="1952411867"/>
                  </a:ext>
                </a:extLst>
              </a:tr>
              <a:tr h="370840">
                <a:tc>
                  <a:txBody>
                    <a:bodyPr/>
                    <a:lstStyle/>
                    <a:p>
                      <a:r>
                        <a:rPr lang="en-US"/>
                        <a:t>Stand-alone Primary Site</a:t>
                      </a:r>
                    </a:p>
                  </a:txBody>
                  <a:tcPr/>
                </a:tc>
                <a:tc>
                  <a:txBody>
                    <a:bodyPr/>
                    <a:lstStyle/>
                    <a:p>
                      <a:r>
                        <a:rPr lang="en-US"/>
                        <a:t>N/A</a:t>
                      </a:r>
                    </a:p>
                  </a:txBody>
                  <a:tcPr/>
                </a:tc>
                <a:tc>
                  <a:txBody>
                    <a:bodyPr/>
                    <a:lstStyle/>
                    <a:p>
                      <a:r>
                        <a:rPr lang="en-US"/>
                        <a:t>175,000 clients</a:t>
                      </a:r>
                    </a:p>
                  </a:txBody>
                  <a:tcPr/>
                </a:tc>
                <a:extLst>
                  <a:ext uri="{0D108BD9-81ED-4DB2-BD59-A6C34878D82A}">
                    <a16:rowId xmlns:a16="http://schemas.microsoft.com/office/drawing/2014/main" val="220509207"/>
                  </a:ext>
                </a:extLst>
              </a:tr>
              <a:tr h="370840">
                <a:tc>
                  <a:txBody>
                    <a:bodyPr/>
                    <a:lstStyle/>
                    <a:p>
                      <a:r>
                        <a:rPr lang="en-US"/>
                        <a:t>Management Point</a:t>
                      </a:r>
                    </a:p>
                  </a:txBody>
                  <a:tcPr/>
                </a:tc>
                <a:tc>
                  <a:txBody>
                    <a:bodyPr/>
                    <a:lstStyle/>
                    <a:p>
                      <a:r>
                        <a:rPr lang="en-US"/>
                        <a:t>15 per Primary Site</a:t>
                      </a:r>
                    </a:p>
                  </a:txBody>
                  <a:tcPr/>
                </a:tc>
                <a:tc>
                  <a:txBody>
                    <a:bodyPr/>
                    <a:lstStyle/>
                    <a:p>
                      <a:r>
                        <a:rPr lang="en-US"/>
                        <a:t>25,000 clients</a:t>
                      </a:r>
                    </a:p>
                  </a:txBody>
                  <a:tcPr/>
                </a:tc>
                <a:extLst>
                  <a:ext uri="{0D108BD9-81ED-4DB2-BD59-A6C34878D82A}">
                    <a16:rowId xmlns:a16="http://schemas.microsoft.com/office/drawing/2014/main" val="525269968"/>
                  </a:ext>
                </a:extLst>
              </a:tr>
              <a:tr h="370840">
                <a:tc>
                  <a:txBody>
                    <a:bodyPr/>
                    <a:lstStyle/>
                    <a:p>
                      <a:r>
                        <a:rPr lang="en-US"/>
                        <a:t>Distribution Point</a:t>
                      </a:r>
                    </a:p>
                  </a:txBody>
                  <a:tcPr/>
                </a:tc>
                <a:tc>
                  <a:txBody>
                    <a:bodyPr/>
                    <a:lstStyle/>
                    <a:p>
                      <a:r>
                        <a:rPr lang="en-US"/>
                        <a:t>250 regular, 2000 pull DPs</a:t>
                      </a:r>
                    </a:p>
                  </a:txBody>
                  <a:tcPr/>
                </a:tc>
                <a:tc>
                  <a:txBody>
                    <a:bodyPr/>
                    <a:lstStyle/>
                    <a:p>
                      <a:r>
                        <a:rPr lang="en-US"/>
                        <a:t>Based on network speed/hardware</a:t>
                      </a:r>
                    </a:p>
                  </a:txBody>
                  <a:tcPr/>
                </a:tc>
                <a:extLst>
                  <a:ext uri="{0D108BD9-81ED-4DB2-BD59-A6C34878D82A}">
                    <a16:rowId xmlns:a16="http://schemas.microsoft.com/office/drawing/2014/main" val="4171377486"/>
                  </a:ext>
                </a:extLst>
              </a:tr>
              <a:tr h="370840">
                <a:tc>
                  <a:txBody>
                    <a:bodyPr/>
                    <a:lstStyle/>
                    <a:p>
                      <a:r>
                        <a:rPr lang="en-US"/>
                        <a:t>Cloud Management Gateway</a:t>
                      </a:r>
                    </a:p>
                  </a:txBody>
                  <a:tcPr/>
                </a:tc>
                <a:tc>
                  <a:txBody>
                    <a:bodyPr/>
                    <a:lstStyle/>
                    <a:p>
                      <a:r>
                        <a:rPr lang="en-US"/>
                        <a:t>16 VMs per CMG</a:t>
                      </a:r>
                    </a:p>
                  </a:txBody>
                  <a:tcPr/>
                </a:tc>
                <a:tc>
                  <a:txBody>
                    <a:bodyPr/>
                    <a:lstStyle/>
                    <a:p>
                      <a:r>
                        <a:rPr lang="en-US"/>
                        <a:t>A4_v2: 10,000 clients</a:t>
                      </a:r>
                    </a:p>
                  </a:txBody>
                  <a:tcPr/>
                </a:tc>
                <a:extLst>
                  <a:ext uri="{0D108BD9-81ED-4DB2-BD59-A6C34878D82A}">
                    <a16:rowId xmlns:a16="http://schemas.microsoft.com/office/drawing/2014/main" val="3374197894"/>
                  </a:ext>
                </a:extLst>
              </a:tr>
              <a:tr h="370840">
                <a:tc>
                  <a:txBody>
                    <a:bodyPr/>
                    <a:lstStyle/>
                    <a:p>
                      <a:r>
                        <a:rPr lang="en-US"/>
                        <a:t>Software Update Point</a:t>
                      </a:r>
                    </a:p>
                  </a:txBody>
                  <a:tcPr/>
                </a:tc>
                <a:tc>
                  <a:txBody>
                    <a:bodyPr/>
                    <a:lstStyle/>
                    <a:p>
                      <a:r>
                        <a:rPr lang="en-US"/>
                        <a:t>Unsure, but you probably don’t want to find out</a:t>
                      </a:r>
                    </a:p>
                  </a:txBody>
                  <a:tcPr/>
                </a:tc>
                <a:tc>
                  <a:txBody>
                    <a:bodyPr/>
                    <a:lstStyle/>
                    <a:p>
                      <a:r>
                        <a:rPr lang="en-US"/>
                        <a:t>25,000 clients when co-located,</a:t>
                      </a:r>
                    </a:p>
                    <a:p>
                      <a:r>
                        <a:rPr lang="en-US"/>
                        <a:t> ~150,000 remote 🙏</a:t>
                      </a:r>
                    </a:p>
                  </a:txBody>
                  <a:tcPr/>
                </a:tc>
                <a:extLst>
                  <a:ext uri="{0D108BD9-81ED-4DB2-BD59-A6C34878D82A}">
                    <a16:rowId xmlns:a16="http://schemas.microsoft.com/office/drawing/2014/main" val="308502501"/>
                  </a:ext>
                </a:extLst>
              </a:tr>
            </a:tbl>
          </a:graphicData>
        </a:graphic>
      </p:graphicFrame>
      <p:sp>
        <p:nvSpPr>
          <p:cNvPr id="6" name="TextBox 5">
            <a:extLst>
              <a:ext uri="{FF2B5EF4-FFF2-40B4-BE49-F238E27FC236}">
                <a16:creationId xmlns:a16="http://schemas.microsoft.com/office/drawing/2014/main" id="{0170DA83-1088-3E28-0097-C9F7D240265D}"/>
              </a:ext>
            </a:extLst>
          </p:cNvPr>
          <p:cNvSpPr txBox="1"/>
          <p:nvPr/>
        </p:nvSpPr>
        <p:spPr>
          <a:xfrm>
            <a:off x="753291" y="1802674"/>
            <a:ext cx="4856009" cy="480131"/>
          </a:xfrm>
          <a:prstGeom prst="rect">
            <a:avLst/>
          </a:prstGeom>
          <a:noFill/>
        </p:spPr>
        <p:txBody>
          <a:bodyPr wrap="none" rtlCol="0">
            <a:spAutoFit/>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hlinkClick r:id="rId2"/>
              </a:rPr>
              <a:t>Scale Numbers from Microsoft</a:t>
            </a:r>
            <a:endParaRPr kumimoji="0" lang="en-US" sz="2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076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520BC-4651-9384-7844-34892851C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A355A-2EDD-7534-7887-673FA3125011}"/>
              </a:ext>
            </a:extLst>
          </p:cNvPr>
          <p:cNvSpPr>
            <a:spLocks noGrp="1"/>
          </p:cNvSpPr>
          <p:nvPr>
            <p:ph type="title"/>
          </p:nvPr>
        </p:nvSpPr>
        <p:spPr/>
        <p:txBody>
          <a:bodyPr/>
          <a:lstStyle/>
          <a:p>
            <a:r>
              <a:rPr lang="en-US"/>
              <a:t>SQL considerations</a:t>
            </a:r>
          </a:p>
        </p:txBody>
      </p:sp>
      <p:sp>
        <p:nvSpPr>
          <p:cNvPr id="3" name="Content Placeholder 2">
            <a:extLst>
              <a:ext uri="{FF2B5EF4-FFF2-40B4-BE49-F238E27FC236}">
                <a16:creationId xmlns:a16="http://schemas.microsoft.com/office/drawing/2014/main" id="{E4493619-B23C-AA9C-96E7-7E3E0CD0A724}"/>
              </a:ext>
            </a:extLst>
          </p:cNvPr>
          <p:cNvSpPr>
            <a:spLocks noGrp="1"/>
          </p:cNvSpPr>
          <p:nvPr>
            <p:ph idx="1"/>
          </p:nvPr>
        </p:nvSpPr>
        <p:spPr/>
        <p:txBody>
          <a:bodyPr/>
          <a:lstStyle/>
          <a:p>
            <a:r>
              <a:rPr lang="en-US"/>
              <a:t>Set SQL’s Recovery Mode to simple for the CM DB</a:t>
            </a:r>
          </a:p>
          <a:p>
            <a:r>
              <a:rPr lang="en-US"/>
              <a:t>SQL Versions / DB Compat levels</a:t>
            </a:r>
          </a:p>
          <a:p>
            <a:r>
              <a:rPr lang="en-US"/>
              <a:t>Disk Layout (64k format, separate drives)</a:t>
            </a:r>
          </a:p>
          <a:p>
            <a:r>
              <a:rPr lang="en-US"/>
              <a:t>Ensure you limit SQL Max Memory</a:t>
            </a:r>
          </a:p>
          <a:p>
            <a:r>
              <a:rPr lang="en-US"/>
              <a:t>Set Windows Power Plan to High Performance</a:t>
            </a:r>
          </a:p>
          <a:p>
            <a:r>
              <a:rPr lang="en-US">
                <a:hlinkClick r:id="rId3"/>
              </a:rPr>
              <a:t>Database Sizing Worksheet – Steve Thompson</a:t>
            </a:r>
            <a:endParaRPr lang="en-US"/>
          </a:p>
          <a:p>
            <a:r>
              <a:rPr lang="en-US"/>
              <a:t>Use Ola Hallengren’s </a:t>
            </a:r>
            <a:r>
              <a:rPr lang="en-US">
                <a:hlinkClick r:id="rId4"/>
              </a:rPr>
              <a:t>script</a:t>
            </a:r>
            <a:r>
              <a:rPr lang="en-US"/>
              <a:t>!!! </a:t>
            </a:r>
            <a:endParaRPr lang="en-US" b="1"/>
          </a:p>
        </p:txBody>
      </p:sp>
    </p:spTree>
    <p:extLst>
      <p:ext uri="{BB962C8B-B14F-4D97-AF65-F5344CB8AC3E}">
        <p14:creationId xmlns:p14="http://schemas.microsoft.com/office/powerpoint/2010/main" val="3000600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D27D3-AFC3-0F61-80B9-A28CC62C07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746C24-9058-FCAB-0BEB-B4EB501D182B}"/>
              </a:ext>
            </a:extLst>
          </p:cNvPr>
          <p:cNvSpPr>
            <a:spLocks noGrp="1"/>
          </p:cNvSpPr>
          <p:nvPr>
            <p:ph type="title"/>
          </p:nvPr>
        </p:nvSpPr>
        <p:spPr/>
        <p:txBody>
          <a:bodyPr/>
          <a:lstStyle/>
          <a:p>
            <a:r>
              <a:rPr lang="en-US"/>
              <a:t>SQL Maintenance for Non-DBAs</a:t>
            </a:r>
          </a:p>
        </p:txBody>
      </p:sp>
      <p:sp>
        <p:nvSpPr>
          <p:cNvPr id="5" name="Text Placeholder 4">
            <a:extLst>
              <a:ext uri="{FF2B5EF4-FFF2-40B4-BE49-F238E27FC236}">
                <a16:creationId xmlns:a16="http://schemas.microsoft.com/office/drawing/2014/main" id="{2B8AEDCA-F729-E158-69AE-18BF718987DB}"/>
              </a:ext>
            </a:extLst>
          </p:cNvPr>
          <p:cNvSpPr>
            <a:spLocks noGrp="1"/>
          </p:cNvSpPr>
          <p:nvPr>
            <p:ph type="body" idx="1"/>
          </p:nvPr>
        </p:nvSpPr>
        <p:spPr/>
        <p:txBody>
          <a:bodyPr/>
          <a:lstStyle/>
          <a:p>
            <a:r>
              <a:rPr lang="en-US"/>
              <a:t>It’s not that scary we promise</a:t>
            </a:r>
          </a:p>
        </p:txBody>
      </p:sp>
    </p:spTree>
    <p:extLst>
      <p:ext uri="{BB962C8B-B14F-4D97-AF65-F5344CB8AC3E}">
        <p14:creationId xmlns:p14="http://schemas.microsoft.com/office/powerpoint/2010/main" val="2855480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B9DBD-2E89-94DF-6E75-ABFAE1EDAF6E}"/>
              </a:ext>
            </a:extLst>
          </p:cNvPr>
          <p:cNvSpPr>
            <a:spLocks noGrp="1"/>
          </p:cNvSpPr>
          <p:nvPr>
            <p:ph type="title"/>
          </p:nvPr>
        </p:nvSpPr>
        <p:spPr/>
        <p:txBody>
          <a:bodyPr/>
          <a:lstStyle/>
          <a:p>
            <a:r>
              <a:rPr lang="en-US"/>
              <a:t>Discovery and client cycles</a:t>
            </a:r>
          </a:p>
        </p:txBody>
      </p:sp>
      <p:sp>
        <p:nvSpPr>
          <p:cNvPr id="3" name="Content Placeholder 2">
            <a:extLst>
              <a:ext uri="{FF2B5EF4-FFF2-40B4-BE49-F238E27FC236}">
                <a16:creationId xmlns:a16="http://schemas.microsoft.com/office/drawing/2014/main" id="{509A59A7-C6DD-1051-5FED-89440C4CB482}"/>
              </a:ext>
            </a:extLst>
          </p:cNvPr>
          <p:cNvSpPr>
            <a:spLocks noGrp="1"/>
          </p:cNvSpPr>
          <p:nvPr>
            <p:ph idx="1"/>
          </p:nvPr>
        </p:nvSpPr>
        <p:spPr>
          <a:xfrm>
            <a:off x="838200" y="1507786"/>
            <a:ext cx="6938246" cy="4985087"/>
          </a:xfrm>
        </p:spPr>
        <p:txBody>
          <a:bodyPr>
            <a:normAutofit lnSpcReduction="10000"/>
          </a:bodyPr>
          <a:lstStyle/>
          <a:p>
            <a:pPr marL="0" indent="0">
              <a:buNone/>
            </a:pPr>
            <a:r>
              <a:rPr lang="en-US"/>
              <a:t>General starting guidelines we find work well in most environments</a:t>
            </a:r>
          </a:p>
          <a:p>
            <a:r>
              <a:rPr lang="en-US"/>
              <a:t>Change:</a:t>
            </a:r>
          </a:p>
          <a:p>
            <a:pPr lvl="1"/>
            <a:r>
              <a:rPr lang="en-US"/>
              <a:t>Heartbeat discovery – Daily</a:t>
            </a:r>
          </a:p>
          <a:p>
            <a:pPr lvl="1"/>
            <a:r>
              <a:rPr lang="en-US"/>
              <a:t>Hardware inventory – Daily – even in larger sites (400k +) Daily is fine.</a:t>
            </a:r>
          </a:p>
          <a:p>
            <a:pPr lvl="1"/>
            <a:r>
              <a:rPr lang="en-US"/>
              <a:t>Software (file) inventory – </a:t>
            </a:r>
            <a:r>
              <a:rPr lang="en-US" b="1" u="sng"/>
              <a:t>Never</a:t>
            </a:r>
          </a:p>
          <a:p>
            <a:pPr lvl="1"/>
            <a:r>
              <a:rPr lang="en-US"/>
              <a:t>Application re-evaluation – Daily</a:t>
            </a:r>
          </a:p>
          <a:p>
            <a:pPr lvl="1"/>
            <a:r>
              <a:rPr lang="en-US"/>
              <a:t>Software update re-evaluation – Daily</a:t>
            </a:r>
          </a:p>
          <a:p>
            <a:r>
              <a:rPr lang="en-US"/>
              <a:t>Keep default:</a:t>
            </a:r>
          </a:p>
          <a:p>
            <a:pPr lvl="1"/>
            <a:r>
              <a:rPr lang="en-US"/>
              <a:t>Machine policy - Hourly</a:t>
            </a:r>
          </a:p>
          <a:p>
            <a:pPr lvl="1"/>
            <a:r>
              <a:rPr lang="en-US"/>
              <a:t>Software update scan –7 days</a:t>
            </a:r>
          </a:p>
          <a:p>
            <a:pPr lvl="1"/>
            <a:r>
              <a:rPr lang="en-US"/>
              <a:t>Software Metering –7 days</a:t>
            </a:r>
          </a:p>
          <a:p>
            <a:pPr marL="0" indent="0">
              <a:buNone/>
            </a:pPr>
            <a:endParaRPr lang="en-US"/>
          </a:p>
          <a:p>
            <a:endParaRPr lang="en-US"/>
          </a:p>
        </p:txBody>
      </p:sp>
      <p:pic>
        <p:nvPicPr>
          <p:cNvPr id="4" name="Picture 3">
            <a:extLst>
              <a:ext uri="{FF2B5EF4-FFF2-40B4-BE49-F238E27FC236}">
                <a16:creationId xmlns:a16="http://schemas.microsoft.com/office/drawing/2014/main" id="{9A5A1A74-742E-8542-2971-9B88BEAA8C59}"/>
              </a:ext>
            </a:extLst>
          </p:cNvPr>
          <p:cNvPicPr>
            <a:picLocks noChangeAspect="1"/>
          </p:cNvPicPr>
          <p:nvPr/>
        </p:nvPicPr>
        <p:blipFill>
          <a:blip r:embed="rId3"/>
          <a:stretch>
            <a:fillRect/>
          </a:stretch>
        </p:blipFill>
        <p:spPr>
          <a:xfrm>
            <a:off x="7862346" y="3639750"/>
            <a:ext cx="4087619" cy="670625"/>
          </a:xfrm>
          <a:prstGeom prst="rect">
            <a:avLst/>
          </a:prstGeom>
        </p:spPr>
      </p:pic>
      <p:pic>
        <p:nvPicPr>
          <p:cNvPr id="5" name="Picture 4">
            <a:extLst>
              <a:ext uri="{FF2B5EF4-FFF2-40B4-BE49-F238E27FC236}">
                <a16:creationId xmlns:a16="http://schemas.microsoft.com/office/drawing/2014/main" id="{0955FA24-CCEC-25ED-8563-116EC259E5A7}"/>
              </a:ext>
            </a:extLst>
          </p:cNvPr>
          <p:cNvPicPr>
            <a:picLocks noChangeAspect="1"/>
          </p:cNvPicPr>
          <p:nvPr/>
        </p:nvPicPr>
        <p:blipFill>
          <a:blip r:embed="rId4"/>
          <a:stretch>
            <a:fillRect/>
          </a:stretch>
        </p:blipFill>
        <p:spPr>
          <a:xfrm>
            <a:off x="7862346" y="4440376"/>
            <a:ext cx="3320848" cy="600028"/>
          </a:xfrm>
          <a:prstGeom prst="rect">
            <a:avLst/>
          </a:prstGeom>
        </p:spPr>
      </p:pic>
      <p:pic>
        <p:nvPicPr>
          <p:cNvPr id="6" name="Picture 5">
            <a:extLst>
              <a:ext uri="{FF2B5EF4-FFF2-40B4-BE49-F238E27FC236}">
                <a16:creationId xmlns:a16="http://schemas.microsoft.com/office/drawing/2014/main" id="{C457332A-7C71-F586-2D23-6401730EC407}"/>
              </a:ext>
            </a:extLst>
          </p:cNvPr>
          <p:cNvPicPr>
            <a:picLocks noChangeAspect="1"/>
          </p:cNvPicPr>
          <p:nvPr/>
        </p:nvPicPr>
        <p:blipFill>
          <a:blip r:embed="rId5"/>
          <a:stretch>
            <a:fillRect/>
          </a:stretch>
        </p:blipFill>
        <p:spPr>
          <a:xfrm>
            <a:off x="7862346" y="5758990"/>
            <a:ext cx="3929888" cy="579407"/>
          </a:xfrm>
          <a:prstGeom prst="rect">
            <a:avLst/>
          </a:prstGeom>
        </p:spPr>
      </p:pic>
      <p:pic>
        <p:nvPicPr>
          <p:cNvPr id="7" name="Picture 6">
            <a:extLst>
              <a:ext uri="{FF2B5EF4-FFF2-40B4-BE49-F238E27FC236}">
                <a16:creationId xmlns:a16="http://schemas.microsoft.com/office/drawing/2014/main" id="{A9A5E0EE-10BD-8F41-3F6A-6D3321F0414F}"/>
              </a:ext>
            </a:extLst>
          </p:cNvPr>
          <p:cNvPicPr>
            <a:picLocks noChangeAspect="1"/>
          </p:cNvPicPr>
          <p:nvPr/>
        </p:nvPicPr>
        <p:blipFill>
          <a:blip r:embed="rId6"/>
          <a:stretch>
            <a:fillRect/>
          </a:stretch>
        </p:blipFill>
        <p:spPr>
          <a:xfrm>
            <a:off x="7862346" y="5170405"/>
            <a:ext cx="3971276" cy="482993"/>
          </a:xfrm>
          <a:prstGeom prst="rect">
            <a:avLst/>
          </a:prstGeom>
        </p:spPr>
      </p:pic>
      <p:pic>
        <p:nvPicPr>
          <p:cNvPr id="8" name="Picture 7">
            <a:extLst>
              <a:ext uri="{FF2B5EF4-FFF2-40B4-BE49-F238E27FC236}">
                <a16:creationId xmlns:a16="http://schemas.microsoft.com/office/drawing/2014/main" id="{5B4EEAF4-0E7C-038C-A031-82017A5DB0DC}"/>
              </a:ext>
            </a:extLst>
          </p:cNvPr>
          <p:cNvPicPr>
            <a:picLocks noChangeAspect="1"/>
          </p:cNvPicPr>
          <p:nvPr/>
        </p:nvPicPr>
        <p:blipFill>
          <a:blip r:embed="rId7"/>
          <a:stretch>
            <a:fillRect/>
          </a:stretch>
        </p:blipFill>
        <p:spPr>
          <a:xfrm>
            <a:off x="7843050" y="1554270"/>
            <a:ext cx="3175000" cy="1993900"/>
          </a:xfrm>
          <a:prstGeom prst="rect">
            <a:avLst/>
          </a:prstGeom>
        </p:spPr>
      </p:pic>
    </p:spTree>
    <p:extLst>
      <p:ext uri="{BB962C8B-B14F-4D97-AF65-F5344CB8AC3E}">
        <p14:creationId xmlns:p14="http://schemas.microsoft.com/office/powerpoint/2010/main" val="1342202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AFA7B-7109-9864-6EAD-C210AC9473CF}"/>
              </a:ext>
            </a:extLst>
          </p:cNvPr>
          <p:cNvSpPr>
            <a:spLocks noGrp="1"/>
          </p:cNvSpPr>
          <p:nvPr>
            <p:ph type="title"/>
          </p:nvPr>
        </p:nvSpPr>
        <p:spPr>
          <a:xfrm>
            <a:off x="838200" y="365126"/>
            <a:ext cx="10515600" cy="792466"/>
          </a:xfrm>
        </p:spPr>
        <p:txBody>
          <a:bodyPr anchor="ctr">
            <a:normAutofit/>
          </a:bodyPr>
          <a:lstStyle/>
          <a:p>
            <a:r>
              <a:rPr lang="en-US"/>
              <a:t>WSUS</a:t>
            </a:r>
          </a:p>
        </p:txBody>
      </p:sp>
      <p:sp>
        <p:nvSpPr>
          <p:cNvPr id="3" name="Content Placeholder 2">
            <a:extLst>
              <a:ext uri="{FF2B5EF4-FFF2-40B4-BE49-F238E27FC236}">
                <a16:creationId xmlns:a16="http://schemas.microsoft.com/office/drawing/2014/main" id="{9C62A3C9-13D1-9C20-4F22-4EE6592942B8}"/>
              </a:ext>
            </a:extLst>
          </p:cNvPr>
          <p:cNvSpPr>
            <a:spLocks noGrp="1"/>
          </p:cNvSpPr>
          <p:nvPr>
            <p:ph sz="half" idx="1"/>
          </p:nvPr>
        </p:nvSpPr>
        <p:spPr>
          <a:xfrm>
            <a:off x="838200" y="1498060"/>
            <a:ext cx="5181600" cy="4678903"/>
          </a:xfrm>
        </p:spPr>
        <p:txBody>
          <a:bodyPr vert="horz" lIns="91440" tIns="45720" rIns="91440" bIns="45720" rtlCol="0">
            <a:normAutofit fontScale="92500" lnSpcReduction="20000"/>
          </a:bodyPr>
          <a:lstStyle/>
          <a:p>
            <a:r>
              <a:rPr lang="en-US" sz="2000">
                <a:hlinkClick r:id="rId3"/>
              </a:rPr>
              <a:t>House of Cards–The ConfigMgr Software Update Point and WSUS – </a:t>
            </a:r>
            <a:r>
              <a:rPr lang="en-US" sz="2000" err="1">
                <a:hlinkClick r:id="rId3"/>
              </a:rPr>
              <a:t>CTGlobal</a:t>
            </a:r>
            <a:endParaRPr lang="en-US" sz="2000"/>
          </a:p>
          <a:p>
            <a:r>
              <a:rPr lang="en-US" sz="2000">
                <a:hlinkClick r:id="rId4"/>
              </a:rPr>
              <a:t>WSUS Administration, </a:t>
            </a:r>
            <a:r>
              <a:rPr lang="en-US" sz="2000" err="1">
                <a:hlinkClick r:id="rId4"/>
              </a:rPr>
              <a:t>WSUSPool</a:t>
            </a:r>
            <a:r>
              <a:rPr lang="en-US" sz="2000">
                <a:hlinkClick r:id="rId4"/>
              </a:rPr>
              <a:t>, </a:t>
            </a:r>
            <a:r>
              <a:rPr lang="en-US" sz="2000" err="1">
                <a:hlinkClick r:id="rId4"/>
              </a:rPr>
              <a:t>web.config</a:t>
            </a:r>
            <a:r>
              <a:rPr lang="en-US" sz="2000">
                <a:hlinkClick r:id="rId4"/>
              </a:rPr>
              <a:t>, settings enforcement via Configuration Items</a:t>
            </a:r>
            <a:endParaRPr lang="en-US" sz="2000"/>
          </a:p>
          <a:p>
            <a:r>
              <a:rPr lang="en-US" sz="2000"/>
              <a:t>Enable only the products and languages you need</a:t>
            </a:r>
          </a:p>
          <a:p>
            <a:r>
              <a:rPr lang="en-US" sz="2000"/>
              <a:t>IIS is misconfigured out of box, </a:t>
            </a:r>
            <a:r>
              <a:rPr lang="en-US" sz="2000">
                <a:hlinkClick r:id="rId5"/>
              </a:rPr>
              <a:t>fix it</a:t>
            </a:r>
            <a:endParaRPr lang="en-US" sz="2000"/>
          </a:p>
          <a:p>
            <a:r>
              <a:rPr lang="en-US" sz="2000"/>
              <a:t>Please don’t use WID for WSUS</a:t>
            </a:r>
          </a:p>
          <a:p>
            <a:r>
              <a:rPr lang="en-US" sz="2000"/>
              <a:t>Enable the built-in maintenance options</a:t>
            </a:r>
          </a:p>
          <a:p>
            <a:pPr lvl="1"/>
            <a:r>
              <a:rPr lang="en-US" sz="2000"/>
              <a:t>Non-Clustered Indexes</a:t>
            </a:r>
          </a:p>
          <a:p>
            <a:pPr lvl="1"/>
            <a:r>
              <a:rPr lang="en-US" sz="2000"/>
              <a:t>Decline </a:t>
            </a:r>
            <a:r>
              <a:rPr lang="en-US" sz="2000" err="1"/>
              <a:t>superceded</a:t>
            </a:r>
            <a:endParaRPr lang="en-US" sz="2000"/>
          </a:p>
          <a:p>
            <a:r>
              <a:rPr lang="en-US" sz="2000"/>
              <a:t>Decline updates you don’t need (languages, 32bit, </a:t>
            </a:r>
            <a:r>
              <a:rPr lang="en-US" sz="2000" err="1"/>
              <a:t>itanium</a:t>
            </a:r>
            <a:r>
              <a:rPr lang="en-US" sz="2000"/>
              <a:t>)</a:t>
            </a:r>
          </a:p>
          <a:p>
            <a:pPr lvl="1"/>
            <a:r>
              <a:rPr lang="en-US" sz="2000"/>
              <a:t>Set it and (hopefully) forget it – Bryan Dam’s </a:t>
            </a:r>
            <a:r>
              <a:rPr lang="en-US" sz="2000">
                <a:hlinkClick r:id="rId6"/>
              </a:rPr>
              <a:t>script</a:t>
            </a:r>
            <a:r>
              <a:rPr lang="en-US" sz="2000"/>
              <a:t> </a:t>
            </a:r>
          </a:p>
        </p:txBody>
      </p:sp>
      <p:pic>
        <p:nvPicPr>
          <p:cNvPr id="5" name="Picture 4">
            <a:extLst>
              <a:ext uri="{FF2B5EF4-FFF2-40B4-BE49-F238E27FC236}">
                <a16:creationId xmlns:a16="http://schemas.microsoft.com/office/drawing/2014/main" id="{783A8C2D-694D-403A-6F50-C7846DE09B84}"/>
              </a:ext>
            </a:extLst>
          </p:cNvPr>
          <p:cNvPicPr>
            <a:picLocks noChangeAspect="1"/>
          </p:cNvPicPr>
          <p:nvPr/>
        </p:nvPicPr>
        <p:blipFill>
          <a:blip r:embed="rId7"/>
          <a:stretch>
            <a:fillRect/>
          </a:stretch>
        </p:blipFill>
        <p:spPr>
          <a:xfrm>
            <a:off x="7330086" y="1498060"/>
            <a:ext cx="2865827" cy="4678903"/>
          </a:xfrm>
          <a:prstGeom prst="rect">
            <a:avLst/>
          </a:prstGeom>
          <a:noFill/>
        </p:spPr>
      </p:pic>
    </p:spTree>
    <p:extLst>
      <p:ext uri="{BB962C8B-B14F-4D97-AF65-F5344CB8AC3E}">
        <p14:creationId xmlns:p14="http://schemas.microsoft.com/office/powerpoint/2010/main" val="1187168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3D74F-D8CB-1801-5759-CB161195B6D0}"/>
              </a:ext>
            </a:extLst>
          </p:cNvPr>
          <p:cNvSpPr>
            <a:spLocks noGrp="1"/>
          </p:cNvSpPr>
          <p:nvPr>
            <p:ph type="title"/>
          </p:nvPr>
        </p:nvSpPr>
        <p:spPr/>
        <p:txBody>
          <a:bodyPr/>
          <a:lstStyle/>
          <a:p>
            <a:r>
              <a:rPr lang="en-US"/>
              <a:t>WSUS </a:t>
            </a:r>
            <a:r>
              <a:rPr lang="en-US">
                <a:sym typeface="Wingdings" pitchFamily="2" charset="2"/>
              </a:rPr>
              <a:t></a:t>
            </a:r>
            <a:endParaRPr lang="en-US"/>
          </a:p>
        </p:txBody>
      </p:sp>
      <p:sp>
        <p:nvSpPr>
          <p:cNvPr id="3" name="Text Placeholder 2">
            <a:extLst>
              <a:ext uri="{FF2B5EF4-FFF2-40B4-BE49-F238E27FC236}">
                <a16:creationId xmlns:a16="http://schemas.microsoft.com/office/drawing/2014/main" id="{7BD84A35-E6E6-4673-D677-1B93F2AB573C}"/>
              </a:ext>
            </a:extLst>
          </p:cNvPr>
          <p:cNvSpPr>
            <a:spLocks noGrp="1"/>
          </p:cNvSpPr>
          <p:nvPr>
            <p:ph type="body" idx="1"/>
          </p:nvPr>
        </p:nvSpPr>
        <p:spPr/>
        <p:txBody>
          <a:bodyPr/>
          <a:lstStyle/>
          <a:p>
            <a:r>
              <a:rPr lang="en-US"/>
              <a:t>Now with more deprecation</a:t>
            </a:r>
          </a:p>
        </p:txBody>
      </p:sp>
    </p:spTree>
    <p:extLst>
      <p:ext uri="{BB962C8B-B14F-4D97-AF65-F5344CB8AC3E}">
        <p14:creationId xmlns:p14="http://schemas.microsoft.com/office/powerpoint/2010/main" val="1511860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B7E2C-1AF1-B072-2939-C64C7681E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F0588-E7CD-4705-E868-8B6FB35D998B}"/>
              </a:ext>
            </a:extLst>
          </p:cNvPr>
          <p:cNvSpPr>
            <a:spLocks noGrp="1"/>
          </p:cNvSpPr>
          <p:nvPr>
            <p:ph type="title"/>
          </p:nvPr>
        </p:nvSpPr>
        <p:spPr>
          <a:xfrm>
            <a:off x="838200" y="365126"/>
            <a:ext cx="10515600" cy="792466"/>
          </a:xfrm>
        </p:spPr>
        <p:txBody>
          <a:bodyPr anchor="ctr">
            <a:normAutofit/>
          </a:bodyPr>
          <a:lstStyle/>
          <a:p>
            <a:r>
              <a:rPr lang="en-US"/>
              <a:t>Content distribution</a:t>
            </a:r>
          </a:p>
        </p:txBody>
      </p:sp>
      <p:sp>
        <p:nvSpPr>
          <p:cNvPr id="3" name="Content Placeholder 2">
            <a:extLst>
              <a:ext uri="{FF2B5EF4-FFF2-40B4-BE49-F238E27FC236}">
                <a16:creationId xmlns:a16="http://schemas.microsoft.com/office/drawing/2014/main" id="{E2317CA7-6DF8-F67D-42EF-89DB860A7981}"/>
              </a:ext>
            </a:extLst>
          </p:cNvPr>
          <p:cNvSpPr>
            <a:spLocks noGrp="1"/>
          </p:cNvSpPr>
          <p:nvPr>
            <p:ph idx="1"/>
          </p:nvPr>
        </p:nvSpPr>
        <p:spPr>
          <a:xfrm>
            <a:off x="838199" y="1507786"/>
            <a:ext cx="6671209" cy="5111499"/>
          </a:xfrm>
        </p:spPr>
        <p:txBody>
          <a:bodyPr vert="horz" lIns="91440" tIns="45720" rIns="91440" bIns="45720" rtlCol="0" anchor="t">
            <a:normAutofit fontScale="92500"/>
          </a:bodyPr>
          <a:lstStyle/>
          <a:p>
            <a:r>
              <a:rPr lang="en-US" sz="2200"/>
              <a:t>Keep boundaries simple – IP range not subnet</a:t>
            </a:r>
          </a:p>
          <a:p>
            <a:r>
              <a:rPr lang="en-US" sz="2200"/>
              <a:t>Enable LEDBAT – Free network throttling</a:t>
            </a:r>
          </a:p>
          <a:p>
            <a:r>
              <a:rPr lang="en-US" sz="2200"/>
              <a:t>Classic Distribution Points vs Pull Distribution Points</a:t>
            </a:r>
          </a:p>
          <a:p>
            <a:pPr lvl="1"/>
            <a:r>
              <a:rPr lang="en-US" sz="2200"/>
              <a:t>Pull DPs function like a client</a:t>
            </a:r>
          </a:p>
          <a:p>
            <a:pPr lvl="2"/>
            <a:r>
              <a:rPr lang="en-US" sz="2200"/>
              <a:t>Troubleshoot them like a client</a:t>
            </a:r>
          </a:p>
          <a:p>
            <a:pPr lvl="1"/>
            <a:r>
              <a:rPr lang="en-US" sz="2200"/>
              <a:t>Allow you to scale out much farther than regular DPs</a:t>
            </a:r>
          </a:p>
          <a:p>
            <a:pPr lvl="1"/>
            <a:r>
              <a:rPr lang="en-US" sz="2200"/>
              <a:t>Set source DPs to higher priority – See session script</a:t>
            </a:r>
          </a:p>
          <a:p>
            <a:r>
              <a:rPr lang="en-US" sz="2200"/>
              <a:t>Peer to Peer options</a:t>
            </a:r>
          </a:p>
          <a:p>
            <a:pPr lvl="1"/>
            <a:r>
              <a:rPr lang="en-US" sz="2200"/>
              <a:t>Branch Cache – Works for most things</a:t>
            </a:r>
          </a:p>
          <a:p>
            <a:pPr lvl="1"/>
            <a:r>
              <a:rPr lang="en-US" sz="2200" dirty="0">
                <a:latin typeface="Aptos"/>
              </a:rPr>
              <a:t>Microsoft Connected Cache - Intune/Store Apps/</a:t>
            </a:r>
            <a:r>
              <a:rPr lang="en-US" sz="2200" dirty="0" err="1">
                <a:latin typeface="Aptos"/>
              </a:rPr>
              <a:t>WufB</a:t>
            </a:r>
            <a:endParaRPr lang="en-US" sz="2200" dirty="0">
              <a:latin typeface="Aptos"/>
            </a:endParaRPr>
          </a:p>
          <a:p>
            <a:pPr lvl="1"/>
            <a:r>
              <a:rPr lang="en-US" sz="2200"/>
              <a:t>Peer Cache – A bit finicky, but can be useful</a:t>
            </a:r>
          </a:p>
          <a:p>
            <a:pPr lvl="1"/>
            <a:r>
              <a:rPr lang="en-US" sz="2200">
                <a:latin typeface="Aptos"/>
              </a:rPr>
              <a:t>See the sponsors</a:t>
            </a:r>
            <a:endParaRPr lang="en-US" sz="2200"/>
          </a:p>
        </p:txBody>
      </p:sp>
      <p:pic>
        <p:nvPicPr>
          <p:cNvPr id="6" name="Picture 5">
            <a:extLst>
              <a:ext uri="{FF2B5EF4-FFF2-40B4-BE49-F238E27FC236}">
                <a16:creationId xmlns:a16="http://schemas.microsoft.com/office/drawing/2014/main" id="{1CE237C4-6EE5-8D54-039C-743AFC402D44}"/>
              </a:ext>
            </a:extLst>
          </p:cNvPr>
          <p:cNvPicPr>
            <a:picLocks noChangeAspect="1"/>
          </p:cNvPicPr>
          <p:nvPr/>
        </p:nvPicPr>
        <p:blipFill>
          <a:blip r:embed="rId3"/>
          <a:stretch>
            <a:fillRect/>
          </a:stretch>
        </p:blipFill>
        <p:spPr>
          <a:xfrm>
            <a:off x="7597645" y="1507787"/>
            <a:ext cx="4035326" cy="2359981"/>
          </a:xfrm>
          <a:prstGeom prst="rect">
            <a:avLst/>
          </a:prstGeom>
        </p:spPr>
      </p:pic>
      <p:pic>
        <p:nvPicPr>
          <p:cNvPr id="8" name="Picture 7">
            <a:extLst>
              <a:ext uri="{FF2B5EF4-FFF2-40B4-BE49-F238E27FC236}">
                <a16:creationId xmlns:a16="http://schemas.microsoft.com/office/drawing/2014/main" id="{EB326F5B-65B7-6E26-EB0F-99EB2DDD802B}"/>
              </a:ext>
            </a:extLst>
          </p:cNvPr>
          <p:cNvPicPr>
            <a:picLocks noChangeAspect="1"/>
          </p:cNvPicPr>
          <p:nvPr/>
        </p:nvPicPr>
        <p:blipFill>
          <a:blip r:embed="rId4"/>
          <a:stretch>
            <a:fillRect/>
          </a:stretch>
        </p:blipFill>
        <p:spPr>
          <a:xfrm>
            <a:off x="7597645" y="4142981"/>
            <a:ext cx="4392928" cy="2219242"/>
          </a:xfrm>
          <a:prstGeom prst="rect">
            <a:avLst/>
          </a:prstGeom>
        </p:spPr>
      </p:pic>
    </p:spTree>
    <p:extLst>
      <p:ext uri="{BB962C8B-B14F-4D97-AF65-F5344CB8AC3E}">
        <p14:creationId xmlns:p14="http://schemas.microsoft.com/office/powerpoint/2010/main" val="264500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righ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right)">
                                      <p:cBhvr>
                                        <p:cTn id="17" dur="500"/>
                                        <p:tgtEl>
                                          <p:spTgt spid="3">
                                            <p:txEl>
                                              <p:pRg st="2" end="2"/>
                                            </p:txEl>
                                          </p:spTgt>
                                        </p:tgtEl>
                                      </p:cBhvr>
                                    </p:animEffect>
                                  </p:childTnLst>
                                </p:cTn>
                              </p:par>
                              <p:par>
                                <p:cTn id="18" presetID="22" presetClass="entr" presetSubtype="2"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right)">
                                      <p:cBhvr>
                                        <p:cTn id="20" dur="500"/>
                                        <p:tgtEl>
                                          <p:spTgt spid="3">
                                            <p:txEl>
                                              <p:pRg st="3" end="3"/>
                                            </p:txEl>
                                          </p:spTgt>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right)">
                                      <p:cBhvr>
                                        <p:cTn id="23" dur="500"/>
                                        <p:tgtEl>
                                          <p:spTgt spid="3">
                                            <p:txEl>
                                              <p:pRg st="4" end="4"/>
                                            </p:txEl>
                                          </p:spTgt>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right)">
                                      <p:cBhvr>
                                        <p:cTn id="26" dur="500"/>
                                        <p:tgtEl>
                                          <p:spTgt spid="3">
                                            <p:txEl>
                                              <p:pRg st="5" end="5"/>
                                            </p:txEl>
                                          </p:spTgt>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right)">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right)">
                                      <p:cBhvr>
                                        <p:cTn id="34" dur="500"/>
                                        <p:tgtEl>
                                          <p:spTgt spid="3">
                                            <p:txEl>
                                              <p:pRg st="7" end="7"/>
                                            </p:txEl>
                                          </p:spTgt>
                                        </p:tgtEl>
                                      </p:cBhvr>
                                    </p:animEffect>
                                  </p:childTnLst>
                                </p:cTn>
                              </p:par>
                              <p:par>
                                <p:cTn id="35" presetID="22" presetClass="entr" presetSubtype="2"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right)">
                                      <p:cBhvr>
                                        <p:cTn id="37" dur="500"/>
                                        <p:tgtEl>
                                          <p:spTgt spid="3">
                                            <p:txEl>
                                              <p:pRg st="8" end="8"/>
                                            </p:txEl>
                                          </p:spTgt>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wipe(right)">
                                      <p:cBhvr>
                                        <p:cTn id="40" dur="500"/>
                                        <p:tgtEl>
                                          <p:spTgt spid="3">
                                            <p:txEl>
                                              <p:pRg st="9" end="9"/>
                                            </p:txEl>
                                          </p:spTgt>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wipe(right)">
                                      <p:cBhvr>
                                        <p:cTn id="43" dur="500"/>
                                        <p:tgtEl>
                                          <p:spTgt spid="3">
                                            <p:txEl>
                                              <p:pRg st="10" end="10"/>
                                            </p:txEl>
                                          </p:spTgt>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wipe(right)">
                                      <p:cBhvr>
                                        <p:cTn id="4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9E5BB-2C3C-F85F-4D88-80BF88D0D926}"/>
              </a:ext>
            </a:extLst>
          </p:cNvPr>
          <p:cNvSpPr>
            <a:spLocks noGrp="1"/>
          </p:cNvSpPr>
          <p:nvPr>
            <p:ph type="title"/>
          </p:nvPr>
        </p:nvSpPr>
        <p:spPr/>
        <p:txBody>
          <a:bodyPr/>
          <a:lstStyle/>
          <a:p>
            <a:r>
              <a:rPr lang="en-US"/>
              <a:t>Sandys Said in 2019</a:t>
            </a:r>
          </a:p>
        </p:txBody>
      </p:sp>
      <p:sp>
        <p:nvSpPr>
          <p:cNvPr id="3" name="Content Placeholder 2">
            <a:extLst>
              <a:ext uri="{FF2B5EF4-FFF2-40B4-BE49-F238E27FC236}">
                <a16:creationId xmlns:a16="http://schemas.microsoft.com/office/drawing/2014/main" id="{2678C645-3556-1BF2-0793-47C092749B65}"/>
              </a:ext>
            </a:extLst>
          </p:cNvPr>
          <p:cNvSpPr>
            <a:spLocks noGrp="1"/>
          </p:cNvSpPr>
          <p:nvPr>
            <p:ph idx="1"/>
          </p:nvPr>
        </p:nvSpPr>
        <p:spPr/>
        <p:txBody>
          <a:bodyPr vert="horz" lIns="91440" tIns="45720" rIns="91440" bIns="45720" rtlCol="0" anchor="t">
            <a:normAutofit/>
          </a:bodyPr>
          <a:lstStyle/>
          <a:p>
            <a:r>
              <a:rPr lang="en-US" dirty="0" err="1">
                <a:solidFill>
                  <a:srgbClr val="FFFFFF"/>
                </a:solidFill>
                <a:latin typeface="Aptos"/>
              </a:rPr>
              <a:t>"Like fish and chips, peanut butter and jelly, and rhythm and </a:t>
            </a:r>
            <a:r>
              <a:rPr lang="en-US" dirty="0">
                <a:solidFill>
                  <a:srgbClr val="FFFFFF"/>
                </a:solidFill>
                <a:latin typeface="Aptos"/>
              </a:rPr>
              <a:t>blues, Configuration Manager (</a:t>
            </a:r>
            <a:r>
              <a:rPr lang="en-US" dirty="0" err="1">
                <a:solidFill>
                  <a:srgbClr val="FFFFFF"/>
                </a:solidFill>
                <a:latin typeface="Aptos"/>
              </a:rPr>
              <a:t>ConfigMgr</a:t>
            </a:r>
            <a:r>
              <a:rPr lang="en-US" dirty="0">
                <a:solidFill>
                  <a:srgbClr val="FFFFFF"/>
                </a:solidFill>
                <a:latin typeface="Aptos"/>
              </a:rPr>
              <a:t>) and Azure are, in fact, Better Together. For this reason, Microsoft created a new product suite, Microsoft Endpoint Manager (MEM). This suite unifies </a:t>
            </a:r>
            <a:r>
              <a:rPr lang="en-US" dirty="0" err="1">
                <a:solidFill>
                  <a:srgbClr val="FFFFFF"/>
                </a:solidFill>
                <a:latin typeface="Aptos"/>
              </a:rPr>
              <a:t>ConfigMgr</a:t>
            </a:r>
            <a:r>
              <a:rPr lang="en-US" dirty="0">
                <a:latin typeface="Aptos"/>
              </a:rPr>
              <a:t>, Intune, and a handful of newer, Azure-based technologies and services including the following short-list:"</a:t>
            </a:r>
          </a:p>
          <a:p>
            <a:r>
              <a:rPr lang="en-US" sz="1400" dirty="0">
                <a:latin typeface="Aptos"/>
              </a:rPr>
              <a:t>This was taken away from us, in the pursuit of SKU-</a:t>
            </a:r>
            <a:r>
              <a:rPr lang="en-US" sz="1400" dirty="0" err="1">
                <a:latin typeface="Aptos"/>
              </a:rPr>
              <a:t>ifications</a:t>
            </a:r>
            <a:r>
              <a:rPr lang="en-US" sz="1400" dirty="0">
                <a:latin typeface="Aptos"/>
              </a:rPr>
              <a:t>. </a:t>
            </a:r>
          </a:p>
          <a:p>
            <a:r>
              <a:rPr lang="en-US" sz="1400">
                <a:latin typeface="Aptos"/>
              </a:rPr>
              <a:t>Remind your account managers of this, daily. You can set up an automated email! See the Outlook session for more details!</a:t>
            </a:r>
          </a:p>
          <a:p>
            <a:r>
              <a:rPr lang="en-US" sz="1400" dirty="0">
                <a:latin typeface="Aptos"/>
              </a:rPr>
              <a:t>Every EMS/Intune level license includes on-premise </a:t>
            </a:r>
            <a:r>
              <a:rPr lang="en-US" sz="1400" dirty="0" err="1">
                <a:latin typeface="Aptos"/>
              </a:rPr>
              <a:t>ConfigMgr</a:t>
            </a:r>
            <a:r>
              <a:rPr lang="en-US" sz="1400" dirty="0">
                <a:latin typeface="Aptos"/>
              </a:rPr>
              <a:t> – Take advantage of it!</a:t>
            </a:r>
          </a:p>
          <a:p>
            <a:r>
              <a:rPr lang="en-US" sz="1400">
                <a:latin typeface="Aptos"/>
              </a:rPr>
              <a:t>To be frank, the world was better in 2019 anyways, so living there is fine. Why move forward?</a:t>
            </a:r>
            <a:endParaRPr lang="en-US" sz="1400" dirty="0"/>
          </a:p>
        </p:txBody>
      </p:sp>
    </p:spTree>
    <p:extLst>
      <p:ext uri="{BB962C8B-B14F-4D97-AF65-F5344CB8AC3E}">
        <p14:creationId xmlns:p14="http://schemas.microsoft.com/office/powerpoint/2010/main" val="3846239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E53B6-EFF8-F0F1-6ADA-51D7C7E2B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1D722-3E60-D4E0-0FE6-65D9A0603025}"/>
              </a:ext>
            </a:extLst>
          </p:cNvPr>
          <p:cNvSpPr>
            <a:spLocks noGrp="1"/>
          </p:cNvSpPr>
          <p:nvPr>
            <p:ph type="title"/>
          </p:nvPr>
        </p:nvSpPr>
        <p:spPr/>
        <p:txBody>
          <a:bodyPr/>
          <a:lstStyle/>
          <a:p>
            <a:r>
              <a:rPr lang="en-US"/>
              <a:t>Co-Management</a:t>
            </a:r>
          </a:p>
        </p:txBody>
      </p:sp>
      <p:sp>
        <p:nvSpPr>
          <p:cNvPr id="3" name="Content Placeholder 2">
            <a:extLst>
              <a:ext uri="{FF2B5EF4-FFF2-40B4-BE49-F238E27FC236}">
                <a16:creationId xmlns:a16="http://schemas.microsoft.com/office/drawing/2014/main" id="{95FB3DD7-F4E8-8A48-5A42-AC5BCB70790C}"/>
              </a:ext>
            </a:extLst>
          </p:cNvPr>
          <p:cNvSpPr>
            <a:spLocks noGrp="1"/>
          </p:cNvSpPr>
          <p:nvPr>
            <p:ph idx="1"/>
          </p:nvPr>
        </p:nvSpPr>
        <p:spPr>
          <a:xfrm>
            <a:off x="838199" y="1507786"/>
            <a:ext cx="5945691" cy="5232629"/>
          </a:xfrm>
        </p:spPr>
        <p:txBody>
          <a:bodyPr vert="horz" lIns="91440" tIns="45720" rIns="91440" bIns="45720" rtlCol="0" anchor="t">
            <a:normAutofit fontScale="92500" lnSpcReduction="20000"/>
          </a:bodyPr>
          <a:lstStyle/>
          <a:p>
            <a:r>
              <a:rPr lang="en-US"/>
              <a:t>Start with pilot Intune and pilot collections</a:t>
            </a:r>
          </a:p>
          <a:p>
            <a:r>
              <a:rPr lang="en-US"/>
              <a:t>Compliance and device typically easiest to move</a:t>
            </a:r>
          </a:p>
          <a:p>
            <a:r>
              <a:rPr lang="en-US">
                <a:ea typeface="Calibri"/>
                <a:cs typeface="Calibri"/>
              </a:rPr>
              <a:t>Applications and software updates typically last</a:t>
            </a:r>
          </a:p>
          <a:p>
            <a:r>
              <a:rPr lang="en-US"/>
              <a:t>Should you ever leave Co-Management?</a:t>
            </a:r>
            <a:endParaRPr lang="en-US">
              <a:ea typeface="Calibri"/>
              <a:cs typeface="Calibri"/>
            </a:endParaRPr>
          </a:p>
          <a:p>
            <a:pPr lvl="1"/>
            <a:r>
              <a:rPr lang="en-US"/>
              <a:t>Only when it is no longer giving you value</a:t>
            </a:r>
            <a:endParaRPr lang="en-US">
              <a:ea typeface="Calibri"/>
              <a:cs typeface="Calibri"/>
            </a:endParaRPr>
          </a:p>
          <a:p>
            <a:pPr lvl="1"/>
            <a:r>
              <a:rPr lang="en-US"/>
              <a:t>Move all the sliders to Intune and keep ConfigMgr around for what it does well</a:t>
            </a:r>
            <a:endParaRPr lang="en-US">
              <a:ea typeface="Calibri"/>
              <a:cs typeface="Calibri"/>
            </a:endParaRPr>
          </a:p>
          <a:p>
            <a:pPr lvl="2"/>
            <a:r>
              <a:rPr lang="en-US"/>
              <a:t>OSD – Think bare metal not provisioning</a:t>
            </a:r>
            <a:endParaRPr lang="en-US">
              <a:ea typeface="Calibri"/>
              <a:cs typeface="Calibri"/>
            </a:endParaRPr>
          </a:p>
          <a:p>
            <a:pPr lvl="2"/>
            <a:r>
              <a:rPr lang="en-US"/>
              <a:t>Extensible inventory and reporting</a:t>
            </a:r>
            <a:endParaRPr lang="en-US">
              <a:ea typeface="Calibri"/>
              <a:cs typeface="Calibri"/>
            </a:endParaRPr>
          </a:p>
          <a:p>
            <a:pPr lvl="2"/>
            <a:r>
              <a:rPr lang="en-US"/>
              <a:t>Configuration Items</a:t>
            </a:r>
            <a:endParaRPr lang="en-US">
              <a:ea typeface="Calibri"/>
              <a:cs typeface="Calibri"/>
            </a:endParaRPr>
          </a:p>
          <a:p>
            <a:pPr lvl="2"/>
            <a:r>
              <a:rPr lang="en-US"/>
              <a:t>Task Sequences for complex deployments</a:t>
            </a:r>
            <a:endParaRPr lang="en-US">
              <a:ea typeface="Calibri"/>
              <a:cs typeface="Calibri"/>
            </a:endParaRPr>
          </a:p>
          <a:p>
            <a:pPr lvl="2"/>
            <a:r>
              <a:rPr lang="en-US"/>
              <a:t>ConfigMgr data and actions in Intune!</a:t>
            </a:r>
            <a:endParaRPr lang="en-US">
              <a:ea typeface="Calibri"/>
              <a:cs typeface="Calibri"/>
            </a:endParaRPr>
          </a:p>
          <a:p>
            <a:pPr marL="0" indent="0">
              <a:buNone/>
            </a:pPr>
            <a:endParaRPr lang="en-US"/>
          </a:p>
        </p:txBody>
      </p:sp>
      <p:pic>
        <p:nvPicPr>
          <p:cNvPr id="7" name="Picture 6">
            <a:extLst>
              <a:ext uri="{FF2B5EF4-FFF2-40B4-BE49-F238E27FC236}">
                <a16:creationId xmlns:a16="http://schemas.microsoft.com/office/drawing/2014/main" id="{FAE6EA84-2E72-4DE5-F7D7-0F16FB66C991}"/>
              </a:ext>
            </a:extLst>
          </p:cNvPr>
          <p:cNvPicPr>
            <a:picLocks noChangeAspect="1"/>
          </p:cNvPicPr>
          <p:nvPr/>
        </p:nvPicPr>
        <p:blipFill>
          <a:blip r:embed="rId3"/>
          <a:stretch>
            <a:fillRect/>
          </a:stretch>
        </p:blipFill>
        <p:spPr>
          <a:xfrm>
            <a:off x="6783890" y="1507787"/>
            <a:ext cx="5067287" cy="5232630"/>
          </a:xfrm>
          <a:prstGeom prst="rect">
            <a:avLst/>
          </a:prstGeom>
        </p:spPr>
      </p:pic>
    </p:spTree>
    <p:extLst>
      <p:ext uri="{BB962C8B-B14F-4D97-AF65-F5344CB8AC3E}">
        <p14:creationId xmlns:p14="http://schemas.microsoft.com/office/powerpoint/2010/main" val="634826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2AF24-65A4-2D30-8F5D-E61C39A45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9DCB98-7FD6-EDF6-8534-E54553F6B677}"/>
              </a:ext>
            </a:extLst>
          </p:cNvPr>
          <p:cNvSpPr>
            <a:spLocks noGrp="1"/>
          </p:cNvSpPr>
          <p:nvPr>
            <p:ph type="title"/>
          </p:nvPr>
        </p:nvSpPr>
        <p:spPr/>
        <p:txBody>
          <a:bodyPr/>
          <a:lstStyle/>
          <a:p>
            <a:r>
              <a:rPr lang="en-US" err="1"/>
              <a:t>AutoPilot</a:t>
            </a:r>
            <a:r>
              <a:rPr lang="en-US"/>
              <a:t> to CM</a:t>
            </a:r>
          </a:p>
        </p:txBody>
      </p:sp>
      <p:sp>
        <p:nvSpPr>
          <p:cNvPr id="3" name="Content Placeholder 2">
            <a:extLst>
              <a:ext uri="{FF2B5EF4-FFF2-40B4-BE49-F238E27FC236}">
                <a16:creationId xmlns:a16="http://schemas.microsoft.com/office/drawing/2014/main" id="{3DDD5E6F-2CE3-E669-9F33-0148E0652BFD}"/>
              </a:ext>
            </a:extLst>
          </p:cNvPr>
          <p:cNvSpPr>
            <a:spLocks noGrp="1"/>
          </p:cNvSpPr>
          <p:nvPr>
            <p:ph idx="1"/>
          </p:nvPr>
        </p:nvSpPr>
        <p:spPr>
          <a:xfrm>
            <a:off x="838199" y="1507786"/>
            <a:ext cx="5749637" cy="4768323"/>
          </a:xfrm>
        </p:spPr>
        <p:txBody>
          <a:bodyPr vert="horz" lIns="91440" tIns="45720" rIns="91440" bIns="45720" rtlCol="0" anchor="t">
            <a:normAutofit/>
          </a:bodyPr>
          <a:lstStyle/>
          <a:p>
            <a:r>
              <a:rPr lang="en-US"/>
              <a:t>Unsupported… but it WORKS!!!</a:t>
            </a:r>
          </a:p>
          <a:p>
            <a:pPr lvl="1"/>
            <a:r>
              <a:rPr lang="en-US">
                <a:ea typeface="Calibri"/>
                <a:cs typeface="Calibri"/>
              </a:rPr>
              <a:t>Start with Autopilot</a:t>
            </a:r>
          </a:p>
          <a:p>
            <a:pPr lvl="1"/>
            <a:r>
              <a:rPr lang="en-US">
                <a:ea typeface="Calibri"/>
                <a:cs typeface="Calibri"/>
              </a:rPr>
              <a:t>Deliver Cert with Intune</a:t>
            </a:r>
          </a:p>
          <a:p>
            <a:pPr lvl="1"/>
            <a:r>
              <a:rPr lang="en-US">
                <a:ea typeface="Calibri"/>
                <a:cs typeface="Calibri"/>
              </a:rPr>
              <a:t>Install cm client with Intune</a:t>
            </a:r>
          </a:p>
          <a:p>
            <a:pPr lvl="1"/>
            <a:r>
              <a:rPr lang="en-US">
                <a:ea typeface="Calibri"/>
                <a:cs typeface="Calibri"/>
              </a:rPr>
              <a:t>IBCM used</a:t>
            </a:r>
          </a:p>
          <a:p>
            <a:pPr lvl="1"/>
            <a:r>
              <a:rPr lang="en-US">
                <a:ea typeface="Calibri"/>
                <a:cs typeface="Calibri"/>
              </a:rPr>
              <a:t>Switch to Task Sequence to complete</a:t>
            </a:r>
          </a:p>
          <a:p>
            <a:pPr lvl="1"/>
            <a:r>
              <a:rPr lang="en-US">
                <a:ea typeface="Calibri"/>
                <a:cs typeface="Calibri"/>
              </a:rPr>
              <a:t>Works just fine with Sliders Right</a:t>
            </a:r>
          </a:p>
          <a:p>
            <a:r>
              <a:rPr lang="en-US">
                <a:ea typeface="Calibri"/>
                <a:cs typeface="Calibri"/>
              </a:rPr>
              <a:t>“The approved way”</a:t>
            </a:r>
          </a:p>
          <a:p>
            <a:pPr lvl="1"/>
            <a:r>
              <a:rPr lang="en-US">
                <a:ea typeface="Calibri"/>
                <a:cs typeface="Calibri"/>
              </a:rPr>
              <a:t>There are x number of session on the ‘official, supported’ way to do Autopilot, go enjoy them.</a:t>
            </a:r>
          </a:p>
          <a:p>
            <a:endParaRPr lang="en-US">
              <a:ea typeface="Calibri"/>
              <a:cs typeface="Calibri"/>
            </a:endParaRPr>
          </a:p>
          <a:p>
            <a:pPr marL="0" indent="0">
              <a:buNone/>
            </a:pPr>
            <a:endParaRPr lang="en-US"/>
          </a:p>
        </p:txBody>
      </p:sp>
      <p:pic>
        <p:nvPicPr>
          <p:cNvPr id="1026" name="Picture 2">
            <a:extLst>
              <a:ext uri="{FF2B5EF4-FFF2-40B4-BE49-F238E27FC236}">
                <a16:creationId xmlns:a16="http://schemas.microsoft.com/office/drawing/2014/main" id="{2C6DA989-75D8-E2E0-21C2-41C27A75B6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0456" y="1507786"/>
            <a:ext cx="4233344" cy="4279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453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32F5F-2F2B-6635-67C8-F7107C537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E3997-0D9C-0456-1F9E-498D4D406522}"/>
              </a:ext>
            </a:extLst>
          </p:cNvPr>
          <p:cNvSpPr>
            <a:spLocks noGrp="1"/>
          </p:cNvSpPr>
          <p:nvPr>
            <p:ph type="title"/>
          </p:nvPr>
        </p:nvSpPr>
        <p:spPr/>
        <p:txBody>
          <a:bodyPr/>
          <a:lstStyle/>
          <a:p>
            <a:r>
              <a:rPr lang="en-US" dirty="0" err="1">
                <a:latin typeface="Aptos"/>
              </a:rPr>
              <a:t>AutoPilot</a:t>
            </a:r>
            <a:r>
              <a:rPr lang="en-US" dirty="0">
                <a:latin typeface="Aptos"/>
              </a:rPr>
              <a:t> to CM – Code Blurb</a:t>
            </a:r>
            <a:endParaRPr lang="en-US" dirty="0"/>
          </a:p>
        </p:txBody>
      </p:sp>
      <p:sp>
        <p:nvSpPr>
          <p:cNvPr id="3" name="Content Placeholder 2">
            <a:extLst>
              <a:ext uri="{FF2B5EF4-FFF2-40B4-BE49-F238E27FC236}">
                <a16:creationId xmlns:a16="http://schemas.microsoft.com/office/drawing/2014/main" id="{F34A18B5-DC07-384A-7DB1-30857935107D}"/>
              </a:ext>
            </a:extLst>
          </p:cNvPr>
          <p:cNvSpPr>
            <a:spLocks noGrp="1"/>
          </p:cNvSpPr>
          <p:nvPr>
            <p:ph idx="1"/>
          </p:nvPr>
        </p:nvSpPr>
        <p:spPr>
          <a:xfrm>
            <a:off x="838199" y="1507786"/>
            <a:ext cx="8703457" cy="4768323"/>
          </a:xfrm>
        </p:spPr>
        <p:txBody>
          <a:bodyPr vert="horz" lIns="91440" tIns="45720" rIns="91440" bIns="45720" rtlCol="0" anchor="t">
            <a:normAutofit/>
          </a:bodyPr>
          <a:lstStyle/>
          <a:p>
            <a:r>
              <a:rPr lang="en-US">
                <a:latin typeface="Aptos"/>
              </a:rPr>
              <a:t>CCM Command Line Blurb:</a:t>
            </a:r>
            <a:endParaRPr lang="en-US"/>
          </a:p>
          <a:p>
            <a:r>
              <a:rPr lang="en-US" sz="1800" dirty="0">
                <a:solidFill>
                  <a:srgbClr val="A5D6FF"/>
                </a:solidFill>
                <a:highlight>
                  <a:srgbClr val="121314"/>
                </a:highlight>
                <a:latin typeface="Consolas"/>
                <a:ea typeface="Calibri"/>
                <a:cs typeface="Calibri"/>
              </a:rPr>
              <a:t> </a:t>
            </a:r>
            <a:r>
              <a:rPr lang="en-US" sz="1800" dirty="0" err="1">
                <a:solidFill>
                  <a:srgbClr val="A5D6FF"/>
                </a:solidFill>
                <a:highlight>
                  <a:srgbClr val="121314"/>
                </a:highlight>
                <a:latin typeface="Consolas"/>
                <a:ea typeface="Calibri"/>
                <a:cs typeface="Calibri"/>
              </a:rPr>
              <a:t>CCMCertSel</a:t>
            </a:r>
            <a:r>
              <a:rPr lang="en-US" sz="1800" dirty="0">
                <a:solidFill>
                  <a:srgbClr val="A5D6FF"/>
                </a:solidFill>
                <a:highlight>
                  <a:srgbClr val="121314"/>
                </a:highlight>
                <a:latin typeface="Consolas"/>
                <a:ea typeface="Calibri"/>
                <a:cs typeface="Calibri"/>
              </a:rPr>
              <a:t>="</a:t>
            </a:r>
            <a:r>
              <a:rPr lang="en-US" sz="1800" dirty="0" err="1">
                <a:solidFill>
                  <a:srgbClr val="A5D6FF"/>
                </a:solidFill>
                <a:highlight>
                  <a:srgbClr val="121314"/>
                </a:highlight>
                <a:latin typeface="Consolas"/>
                <a:ea typeface="Calibri"/>
                <a:cs typeface="Calibri"/>
              </a:rPr>
              <a:t>SubjectStr:domain.net</a:t>
            </a:r>
            <a:r>
              <a:rPr lang="en-US" sz="1800" dirty="0">
                <a:solidFill>
                  <a:srgbClr val="A5D6FF"/>
                </a:solidFill>
                <a:highlight>
                  <a:srgbClr val="121314"/>
                </a:highlight>
                <a:latin typeface="Consolas"/>
                <a:ea typeface="Calibri"/>
                <a:cs typeface="Calibri"/>
              </a:rPr>
              <a:t>" SMSSITECODE=XYZ CCMALWAYSINF=1 CCMHOSTNAME=IBCMSArePerfect.NoCMGHere.com PROVISIONTS=XYZ276B3'</a:t>
            </a:r>
          </a:p>
          <a:p>
            <a:r>
              <a:rPr lang="en-US" sz="1800" dirty="0" err="1">
                <a:solidFill>
                  <a:srgbClr val="A5D6FF"/>
                </a:solidFill>
                <a:highlight>
                  <a:srgbClr val="121314"/>
                </a:highlight>
                <a:latin typeface="Consolas"/>
                <a:ea typeface="Calibri"/>
                <a:cs typeface="Calibri"/>
              </a:rPr>
              <a:t>CCMCertSel</a:t>
            </a:r>
            <a:r>
              <a:rPr lang="en-US" sz="1800" dirty="0">
                <a:solidFill>
                  <a:srgbClr val="A5D6FF"/>
                </a:solidFill>
                <a:highlight>
                  <a:srgbClr val="121314"/>
                </a:highlight>
                <a:latin typeface="Consolas"/>
                <a:ea typeface="Calibri"/>
                <a:cs typeface="Calibri"/>
              </a:rPr>
              <a:t> – Select Appropriate cert</a:t>
            </a:r>
          </a:p>
          <a:p>
            <a:r>
              <a:rPr lang="en-US" sz="1800" dirty="0" err="1">
                <a:solidFill>
                  <a:srgbClr val="A5D6FF"/>
                </a:solidFill>
                <a:highlight>
                  <a:srgbClr val="121314"/>
                </a:highlight>
                <a:latin typeface="Consolas"/>
                <a:ea typeface="Calibri"/>
                <a:cs typeface="Calibri"/>
              </a:rPr>
              <a:t>SMSSiteCode</a:t>
            </a:r>
            <a:r>
              <a:rPr lang="en-US" sz="1800" dirty="0">
                <a:solidFill>
                  <a:srgbClr val="A5D6FF"/>
                </a:solidFill>
                <a:highlight>
                  <a:srgbClr val="121314"/>
                </a:highlight>
                <a:latin typeface="Consolas"/>
                <a:ea typeface="Calibri"/>
                <a:cs typeface="Calibri"/>
              </a:rPr>
              <a:t> – We're on the Internet; </a:t>
            </a:r>
            <a:r>
              <a:rPr lang="en-US" sz="1800" dirty="0" err="1">
                <a:solidFill>
                  <a:srgbClr val="A5D6FF"/>
                </a:solidFill>
                <a:highlight>
                  <a:srgbClr val="121314"/>
                </a:highlight>
                <a:latin typeface="Consolas"/>
                <a:ea typeface="Calibri"/>
                <a:cs typeface="Calibri"/>
              </a:rPr>
              <a:t>ain't</a:t>
            </a:r>
            <a:r>
              <a:rPr lang="en-US" sz="1800" dirty="0">
                <a:solidFill>
                  <a:srgbClr val="A5D6FF"/>
                </a:solidFill>
                <a:highlight>
                  <a:srgbClr val="121314"/>
                </a:highlight>
                <a:latin typeface="Consolas"/>
                <a:ea typeface="Calibri"/>
                <a:cs typeface="Calibri"/>
              </a:rPr>
              <a:t> detecting no Active Directory site code here!</a:t>
            </a:r>
          </a:p>
          <a:p>
            <a:r>
              <a:rPr lang="en-US" sz="1800" dirty="0" err="1">
                <a:solidFill>
                  <a:srgbClr val="A5D6FF"/>
                </a:solidFill>
                <a:highlight>
                  <a:srgbClr val="121314"/>
                </a:highlight>
                <a:latin typeface="Consolas"/>
                <a:ea typeface="Calibri"/>
                <a:cs typeface="Calibri"/>
              </a:rPr>
              <a:t>CCMHostName</a:t>
            </a:r>
            <a:r>
              <a:rPr lang="en-US" sz="1800" dirty="0">
                <a:solidFill>
                  <a:srgbClr val="A5D6FF"/>
                </a:solidFill>
                <a:highlight>
                  <a:srgbClr val="121314"/>
                </a:highlight>
                <a:latin typeface="Consolas"/>
                <a:ea typeface="Calibri"/>
                <a:cs typeface="Calibri"/>
              </a:rPr>
              <a:t> – Specific server (IBCM) to send registration to</a:t>
            </a:r>
          </a:p>
          <a:p>
            <a:r>
              <a:rPr lang="en-US" sz="1800" dirty="0" err="1">
                <a:solidFill>
                  <a:srgbClr val="A5D6FF"/>
                </a:solidFill>
                <a:highlight>
                  <a:srgbClr val="121314"/>
                </a:highlight>
                <a:latin typeface="Consolas"/>
                <a:ea typeface="Calibri"/>
                <a:cs typeface="Calibri"/>
              </a:rPr>
              <a:t>ProvisionTS</a:t>
            </a:r>
            <a:r>
              <a:rPr lang="en-US" sz="1800" dirty="0">
                <a:solidFill>
                  <a:srgbClr val="A5D6FF"/>
                </a:solidFill>
                <a:highlight>
                  <a:srgbClr val="121314"/>
                </a:highlight>
                <a:latin typeface="Consolas"/>
                <a:ea typeface="Calibri"/>
                <a:cs typeface="Calibri"/>
              </a:rPr>
              <a:t> – The Task Sequence to run</a:t>
            </a:r>
          </a:p>
          <a:p>
            <a:endParaRPr lang="en-US" dirty="0">
              <a:solidFill>
                <a:srgbClr val="FFFFFF"/>
              </a:solidFill>
              <a:highlight>
                <a:srgbClr val="121314"/>
              </a:highlight>
              <a:latin typeface="Aptos"/>
              <a:ea typeface="Calibri"/>
              <a:cs typeface="Calibri"/>
            </a:endParaRPr>
          </a:p>
          <a:p>
            <a:pPr marL="0" indent="0">
              <a:buNone/>
            </a:pPr>
            <a:endParaRPr lang="en-US" sz="1800" dirty="0">
              <a:solidFill>
                <a:srgbClr val="A5D6FF"/>
              </a:solidFill>
              <a:highlight>
                <a:srgbClr val="121314"/>
              </a:highlight>
              <a:latin typeface="Consolas"/>
              <a:ea typeface="Calibri"/>
              <a:cs typeface="Calibri"/>
            </a:endParaRPr>
          </a:p>
          <a:p>
            <a:endParaRPr lang="en-US" sz="1100" dirty="0">
              <a:solidFill>
                <a:srgbClr val="A5D6FF"/>
              </a:solidFill>
              <a:highlight>
                <a:srgbClr val="121314"/>
              </a:highlight>
              <a:latin typeface="Consolas"/>
              <a:ea typeface="Calibri"/>
              <a:cs typeface="Calibri"/>
            </a:endParaRPr>
          </a:p>
          <a:p>
            <a:endParaRPr lang="en-US" dirty="0">
              <a:solidFill>
                <a:srgbClr val="FFFFFF"/>
              </a:solidFill>
              <a:ea typeface="Calibri"/>
              <a:cs typeface="Calibri"/>
            </a:endParaRPr>
          </a:p>
          <a:p>
            <a:pPr marL="0" indent="0">
              <a:buNone/>
            </a:pPr>
            <a:endParaRPr lang="en-US">
              <a:ea typeface="Calibri"/>
              <a:cs typeface="Calibri"/>
            </a:endParaRPr>
          </a:p>
        </p:txBody>
      </p:sp>
    </p:spTree>
    <p:extLst>
      <p:ext uri="{BB962C8B-B14F-4D97-AF65-F5344CB8AC3E}">
        <p14:creationId xmlns:p14="http://schemas.microsoft.com/office/powerpoint/2010/main" val="989477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4DA35-4597-5310-E233-2039A9CD5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EF2BA-0906-1541-35EA-C30A551015D2}"/>
              </a:ext>
            </a:extLst>
          </p:cNvPr>
          <p:cNvSpPr>
            <a:spLocks noGrp="1"/>
          </p:cNvSpPr>
          <p:nvPr>
            <p:ph type="title"/>
          </p:nvPr>
        </p:nvSpPr>
        <p:spPr/>
        <p:txBody>
          <a:bodyPr/>
          <a:lstStyle/>
          <a:p>
            <a:r>
              <a:rPr lang="en-US" dirty="0" err="1">
                <a:latin typeface="Aptos"/>
              </a:rPr>
              <a:t>AutoPilot</a:t>
            </a:r>
            <a:r>
              <a:rPr lang="en-US" dirty="0">
                <a:latin typeface="Aptos"/>
              </a:rPr>
              <a:t> to CM – But Why?</a:t>
            </a:r>
            <a:endParaRPr lang="en-US" dirty="0"/>
          </a:p>
        </p:txBody>
      </p:sp>
      <p:sp>
        <p:nvSpPr>
          <p:cNvPr id="3" name="Content Placeholder 2">
            <a:extLst>
              <a:ext uri="{FF2B5EF4-FFF2-40B4-BE49-F238E27FC236}">
                <a16:creationId xmlns:a16="http://schemas.microsoft.com/office/drawing/2014/main" id="{E239758F-581C-F67C-226B-28C19A8E19DF}"/>
              </a:ext>
            </a:extLst>
          </p:cNvPr>
          <p:cNvSpPr>
            <a:spLocks noGrp="1"/>
          </p:cNvSpPr>
          <p:nvPr>
            <p:ph idx="1"/>
          </p:nvPr>
        </p:nvSpPr>
        <p:spPr>
          <a:xfrm>
            <a:off x="838199" y="1507786"/>
            <a:ext cx="8703457" cy="4768323"/>
          </a:xfrm>
        </p:spPr>
        <p:txBody>
          <a:bodyPr vert="horz" lIns="91440" tIns="45720" rIns="91440" bIns="45720" rtlCol="0" anchor="t">
            <a:normAutofit/>
          </a:bodyPr>
          <a:lstStyle/>
          <a:p>
            <a:r>
              <a:rPr lang="en-US">
                <a:latin typeface="Aptos"/>
              </a:rPr>
              <a:t>Control</a:t>
            </a:r>
            <a:endParaRPr lang="en-US"/>
          </a:p>
          <a:p>
            <a:pPr lvl="1"/>
            <a:r>
              <a:rPr lang="en-US" sz="1800" dirty="0" err="1">
                <a:solidFill>
                  <a:srgbClr val="FFFFFF"/>
                </a:solidFill>
                <a:latin typeface="Aptos"/>
                <a:ea typeface="Calibri"/>
                <a:cs typeface="Calibri"/>
              </a:rPr>
              <a:t>ConfigMgr</a:t>
            </a:r>
            <a:r>
              <a:rPr lang="en-US" sz="1800" dirty="0">
                <a:solidFill>
                  <a:srgbClr val="FFFFFF"/>
                </a:solidFill>
                <a:latin typeface="Aptos"/>
                <a:ea typeface="Calibri"/>
                <a:cs typeface="Calibri"/>
              </a:rPr>
              <a:t> Task Sequence takes control- Giving you, the admin, full reign. Reboots. Installs. Downloads. Modifications. Hell, remove the IME agent; see if it cares!</a:t>
            </a:r>
            <a:endParaRPr lang="en-US" sz="1800" dirty="0">
              <a:solidFill>
                <a:srgbClr val="000000"/>
              </a:solidFill>
              <a:latin typeface="Aptos"/>
              <a:ea typeface="Calibri"/>
              <a:cs typeface="Calibri"/>
            </a:endParaRPr>
          </a:p>
          <a:p>
            <a:r>
              <a:rPr lang="en-US" dirty="0">
                <a:solidFill>
                  <a:srgbClr val="FFFFFF"/>
                </a:solidFill>
                <a:latin typeface="Aptos"/>
                <a:ea typeface="Calibri"/>
                <a:cs typeface="Calibri"/>
              </a:rPr>
              <a:t>Environment</a:t>
            </a:r>
          </a:p>
          <a:p>
            <a:pPr lvl="1"/>
            <a:r>
              <a:rPr lang="en-US" sz="1800" dirty="0">
                <a:solidFill>
                  <a:srgbClr val="FFFFFF"/>
                </a:solidFill>
                <a:latin typeface="Aptos"/>
                <a:ea typeface="Calibri"/>
                <a:cs typeface="Calibri"/>
              </a:rPr>
              <a:t>OOBE runs in user land; this can interrupt things such as VPN connections. Running as a </a:t>
            </a:r>
            <a:r>
              <a:rPr lang="en-US" sz="1800" dirty="0" err="1">
                <a:solidFill>
                  <a:srgbClr val="FFFFFF"/>
                </a:solidFill>
                <a:latin typeface="Aptos"/>
                <a:ea typeface="Calibri"/>
                <a:cs typeface="Calibri"/>
              </a:rPr>
              <a:t>TS, and</a:t>
            </a:r>
            <a:r>
              <a:rPr lang="en-US" sz="1800" dirty="0">
                <a:solidFill>
                  <a:srgbClr val="FFFFFF"/>
                </a:solidFill>
                <a:latin typeface="Aptos"/>
                <a:ea typeface="Calibri"/>
                <a:cs typeface="Calibri"/>
              </a:rPr>
              <a:t> rebooting out of OOBE has tons of benefits; use them!</a:t>
            </a:r>
            <a:endParaRPr lang="en-US" dirty="0">
              <a:solidFill>
                <a:srgbClr val="FFFFFF"/>
              </a:solidFill>
              <a:latin typeface="Aptos"/>
              <a:ea typeface="Calibri"/>
              <a:cs typeface="Calibri"/>
            </a:endParaRPr>
          </a:p>
          <a:p>
            <a:r>
              <a:rPr lang="en-US" sz="2400">
                <a:latin typeface="Aptos"/>
                <a:ea typeface="Calibri"/>
                <a:cs typeface="Calibri"/>
              </a:rPr>
              <a:t>Bandwidth Controls</a:t>
            </a:r>
            <a:endParaRPr lang="en-US" sz="2400">
              <a:solidFill>
                <a:srgbClr val="000000"/>
              </a:solidFill>
              <a:latin typeface="Aptos"/>
              <a:ea typeface="Calibri"/>
              <a:cs typeface="Calibri"/>
            </a:endParaRPr>
          </a:p>
          <a:p>
            <a:pPr lvl="1"/>
            <a:r>
              <a:rPr lang="en-US" sz="1800" dirty="0" err="1">
                <a:latin typeface="Aptos"/>
                <a:ea typeface="Calibri"/>
                <a:cs typeface="Calibri"/>
              </a:rPr>
              <a:t>ConfigMgr</a:t>
            </a:r>
            <a:r>
              <a:rPr lang="en-US" sz="1800" dirty="0">
                <a:latin typeface="Aptos"/>
                <a:ea typeface="Calibri"/>
                <a:cs typeface="Calibri"/>
              </a:rPr>
              <a:t> Task Sequence will use the IBCM/CMG to download content, but do you have an ACP? Boom. Use it. Control bandwidth with your own systems.</a:t>
            </a:r>
            <a:endParaRPr lang="en-US" sz="1800" dirty="0">
              <a:ea typeface="Calibri"/>
              <a:cs typeface="Calibri"/>
            </a:endParaRPr>
          </a:p>
          <a:p>
            <a:r>
              <a:rPr lang="en-US" sz="2400">
                <a:solidFill>
                  <a:srgbClr val="FFFFFF"/>
                </a:solidFill>
                <a:latin typeface="Aptos"/>
                <a:ea typeface="Calibri"/>
                <a:cs typeface="Calibri"/>
              </a:rPr>
              <a:t>Reporting</a:t>
            </a:r>
            <a:endParaRPr lang="en-US" sz="2400">
              <a:solidFill>
                <a:srgbClr val="000000"/>
              </a:solidFill>
              <a:latin typeface="Aptos"/>
              <a:ea typeface="Calibri"/>
              <a:cs typeface="Calibri"/>
            </a:endParaRPr>
          </a:p>
          <a:p>
            <a:pPr lvl="1"/>
            <a:r>
              <a:rPr lang="en-US" sz="1800" dirty="0">
                <a:solidFill>
                  <a:srgbClr val="FFFFFF"/>
                </a:solidFill>
                <a:latin typeface="Aptos"/>
                <a:ea typeface="Calibri"/>
                <a:cs typeface="Calibri"/>
              </a:rPr>
              <a:t>Is shot to hell. </a:t>
            </a:r>
            <a:r>
              <a:rPr lang="en-US" sz="1800" dirty="0" err="1">
                <a:solidFill>
                  <a:srgbClr val="FFFFFF"/>
                </a:solidFill>
                <a:latin typeface="Aptos"/>
                <a:ea typeface="Calibri"/>
                <a:cs typeface="Calibri"/>
              </a:rPr>
              <a:t>AutoPilot</a:t>
            </a:r>
            <a:r>
              <a:rPr lang="en-US" sz="1800" dirty="0">
                <a:solidFill>
                  <a:srgbClr val="FFFFFF"/>
                </a:solidFill>
                <a:latin typeface="Aptos"/>
                <a:ea typeface="Calibri"/>
                <a:cs typeface="Calibri"/>
              </a:rPr>
              <a:t> always shows failures. Task Sequence reporting DOES work!</a:t>
            </a:r>
            <a:endParaRPr lang="en-US" sz="1800" dirty="0">
              <a:ea typeface="Calibri"/>
              <a:cs typeface="Calibri"/>
            </a:endParaRPr>
          </a:p>
          <a:p>
            <a:pPr marL="457200" lvl="1" indent="0">
              <a:buNone/>
            </a:pPr>
            <a:endParaRPr lang="en-US" sz="1800" dirty="0">
              <a:solidFill>
                <a:srgbClr val="FFFFFF"/>
              </a:solidFill>
              <a:latin typeface="Aptos"/>
              <a:ea typeface="Calibri"/>
              <a:cs typeface="Calibri"/>
            </a:endParaRPr>
          </a:p>
          <a:p>
            <a:pPr lvl="1"/>
            <a:endParaRPr lang="en-US" sz="2800" dirty="0">
              <a:solidFill>
                <a:srgbClr val="FFFFFF"/>
              </a:solidFill>
              <a:latin typeface="Aptos"/>
              <a:ea typeface="Calibri"/>
              <a:cs typeface="Calibri"/>
            </a:endParaRPr>
          </a:p>
          <a:p>
            <a:pPr lvl="1"/>
            <a:endParaRPr lang="en-US" sz="2800" dirty="0">
              <a:solidFill>
                <a:srgbClr val="FFFFFF"/>
              </a:solidFill>
              <a:latin typeface="Aptos"/>
              <a:ea typeface="Calibri"/>
              <a:cs typeface="Calibri"/>
            </a:endParaRPr>
          </a:p>
          <a:p>
            <a:endParaRPr lang="en-US" sz="1100" dirty="0">
              <a:solidFill>
                <a:srgbClr val="A5D6FF"/>
              </a:solidFill>
              <a:highlight>
                <a:srgbClr val="121314"/>
              </a:highlight>
              <a:latin typeface="Consolas"/>
              <a:ea typeface="Calibri"/>
              <a:cs typeface="Calibri"/>
            </a:endParaRPr>
          </a:p>
          <a:p>
            <a:endParaRPr lang="en-US" dirty="0">
              <a:ea typeface="Calibri"/>
              <a:cs typeface="Calibri"/>
            </a:endParaRPr>
          </a:p>
          <a:p>
            <a:pPr marL="0" indent="0">
              <a:buNone/>
            </a:pPr>
            <a:endParaRPr lang="en-US">
              <a:ea typeface="Calibri"/>
              <a:cs typeface="Calibri"/>
            </a:endParaRPr>
          </a:p>
        </p:txBody>
      </p:sp>
      <p:pic>
        <p:nvPicPr>
          <p:cNvPr id="5" name="Picture 4" descr="A black rectangular object with white text&#10;&#10;AI-generated content may be incorrect.">
            <a:extLst>
              <a:ext uri="{FF2B5EF4-FFF2-40B4-BE49-F238E27FC236}">
                <a16:creationId xmlns:a16="http://schemas.microsoft.com/office/drawing/2014/main" id="{150F3C6B-9538-C763-9761-33501450D074}"/>
              </a:ext>
            </a:extLst>
          </p:cNvPr>
          <p:cNvPicPr>
            <a:picLocks noChangeAspect="1"/>
          </p:cNvPicPr>
          <p:nvPr/>
        </p:nvPicPr>
        <p:blipFill>
          <a:blip r:embed="rId3"/>
          <a:stretch>
            <a:fillRect/>
          </a:stretch>
        </p:blipFill>
        <p:spPr>
          <a:xfrm>
            <a:off x="839056" y="5940616"/>
            <a:ext cx="10034427" cy="340732"/>
          </a:xfrm>
          <a:prstGeom prst="rect">
            <a:avLst/>
          </a:prstGeom>
        </p:spPr>
      </p:pic>
      <p:pic>
        <p:nvPicPr>
          <p:cNvPr id="7" name="Picture 6" descr="A person wearing a surgical cap and a mask&#10;&#10;AI-generated content may be incorrect.">
            <a:extLst>
              <a:ext uri="{FF2B5EF4-FFF2-40B4-BE49-F238E27FC236}">
                <a16:creationId xmlns:a16="http://schemas.microsoft.com/office/drawing/2014/main" id="{C38E5C7F-063E-BDF0-EA8B-DCB2CAD99955}"/>
              </a:ext>
            </a:extLst>
          </p:cNvPr>
          <p:cNvPicPr>
            <a:picLocks noChangeAspect="1"/>
          </p:cNvPicPr>
          <p:nvPr/>
        </p:nvPicPr>
        <p:blipFill>
          <a:blip r:embed="rId4"/>
          <a:stretch>
            <a:fillRect/>
          </a:stretch>
        </p:blipFill>
        <p:spPr>
          <a:xfrm>
            <a:off x="9790361" y="532061"/>
            <a:ext cx="2166243" cy="1534382"/>
          </a:xfrm>
          <a:prstGeom prst="rect">
            <a:avLst/>
          </a:prstGeom>
        </p:spPr>
      </p:pic>
    </p:spTree>
    <p:extLst>
      <p:ext uri="{BB962C8B-B14F-4D97-AF65-F5344CB8AC3E}">
        <p14:creationId xmlns:p14="http://schemas.microsoft.com/office/powerpoint/2010/main" val="2801719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2FA82-625B-0532-AE08-873CB242586D}"/>
              </a:ext>
            </a:extLst>
          </p:cNvPr>
          <p:cNvSpPr>
            <a:spLocks noGrp="1"/>
          </p:cNvSpPr>
          <p:nvPr>
            <p:ph type="title"/>
          </p:nvPr>
        </p:nvSpPr>
        <p:spPr/>
        <p:txBody>
          <a:bodyPr/>
          <a:lstStyle/>
          <a:p>
            <a:r>
              <a:rPr lang="en-US"/>
              <a:t>Co-Management</a:t>
            </a:r>
          </a:p>
        </p:txBody>
      </p:sp>
      <p:sp>
        <p:nvSpPr>
          <p:cNvPr id="3" name="Text Placeholder 2">
            <a:extLst>
              <a:ext uri="{FF2B5EF4-FFF2-40B4-BE49-F238E27FC236}">
                <a16:creationId xmlns:a16="http://schemas.microsoft.com/office/drawing/2014/main" id="{F3F62FC0-DC3C-B26D-8773-103979B07329}"/>
              </a:ext>
            </a:extLst>
          </p:cNvPr>
          <p:cNvSpPr>
            <a:spLocks noGrp="1"/>
          </p:cNvSpPr>
          <p:nvPr>
            <p:ph type="body" idx="1"/>
          </p:nvPr>
        </p:nvSpPr>
        <p:spPr/>
        <p:txBody>
          <a:bodyPr/>
          <a:lstStyle/>
          <a:p>
            <a:r>
              <a:rPr lang="en-US"/>
              <a:t>Better together!</a:t>
            </a:r>
          </a:p>
        </p:txBody>
      </p:sp>
    </p:spTree>
    <p:extLst>
      <p:ext uri="{BB962C8B-B14F-4D97-AF65-F5344CB8AC3E}">
        <p14:creationId xmlns:p14="http://schemas.microsoft.com/office/powerpoint/2010/main" val="1970830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CF247-02A6-D988-B63B-360590D7C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F9B48-2F7F-67FE-BAE0-A38C8678302F}"/>
              </a:ext>
            </a:extLst>
          </p:cNvPr>
          <p:cNvSpPr>
            <a:spLocks noGrp="1"/>
          </p:cNvSpPr>
          <p:nvPr>
            <p:ph type="title"/>
          </p:nvPr>
        </p:nvSpPr>
        <p:spPr/>
        <p:txBody>
          <a:bodyPr/>
          <a:lstStyle/>
          <a:p>
            <a:r>
              <a:rPr lang="en-US"/>
              <a:t>Security recommendations</a:t>
            </a:r>
          </a:p>
        </p:txBody>
      </p:sp>
      <p:sp>
        <p:nvSpPr>
          <p:cNvPr id="3" name="Content Placeholder 2">
            <a:extLst>
              <a:ext uri="{FF2B5EF4-FFF2-40B4-BE49-F238E27FC236}">
                <a16:creationId xmlns:a16="http://schemas.microsoft.com/office/drawing/2014/main" id="{958579BF-CE18-FB08-FBC7-F93089C849F5}"/>
              </a:ext>
            </a:extLst>
          </p:cNvPr>
          <p:cNvSpPr>
            <a:spLocks noGrp="1"/>
          </p:cNvSpPr>
          <p:nvPr>
            <p:ph idx="1"/>
          </p:nvPr>
        </p:nvSpPr>
        <p:spPr/>
        <p:txBody>
          <a:bodyPr>
            <a:normAutofit fontScale="92500" lnSpcReduction="20000"/>
          </a:bodyPr>
          <a:lstStyle/>
          <a:p>
            <a:r>
              <a:rPr lang="en-US"/>
              <a:t>Is it really that important? YES!</a:t>
            </a:r>
          </a:p>
          <a:p>
            <a:pPr lvl="1"/>
            <a:r>
              <a:rPr lang="en-US"/>
              <a:t>Exploitation tools like </a:t>
            </a:r>
            <a:r>
              <a:rPr lang="en-US">
                <a:hlinkClick r:id="rId2"/>
              </a:rPr>
              <a:t>SharpSCCM</a:t>
            </a:r>
            <a:r>
              <a:rPr lang="en-US"/>
              <a:t> and </a:t>
            </a:r>
            <a:r>
              <a:rPr lang="en-US">
                <a:hlinkClick r:id="rId3"/>
              </a:rPr>
              <a:t>PowerSCCM</a:t>
            </a:r>
            <a:r>
              <a:rPr lang="en-US"/>
              <a:t> exist…</a:t>
            </a:r>
          </a:p>
          <a:p>
            <a:r>
              <a:rPr lang="en-US"/>
              <a:t>Use a “Run As” account to access the console</a:t>
            </a:r>
          </a:p>
          <a:p>
            <a:r>
              <a:rPr lang="en-US"/>
              <a:t>Network Access Accounts are evil</a:t>
            </a:r>
          </a:p>
          <a:p>
            <a:r>
              <a:rPr lang="en-US"/>
              <a:t>Disable client push – Install via another system instead</a:t>
            </a:r>
          </a:p>
          <a:p>
            <a:pPr lvl="1"/>
            <a:r>
              <a:rPr lang="en-US"/>
              <a:t>Client Health Scripts</a:t>
            </a:r>
          </a:p>
          <a:p>
            <a:pPr lvl="1"/>
            <a:r>
              <a:rPr lang="en-US"/>
              <a:t>GPO</a:t>
            </a:r>
          </a:p>
          <a:p>
            <a:pPr lvl="1"/>
            <a:r>
              <a:rPr lang="en-US"/>
              <a:t>Install from Intune</a:t>
            </a:r>
          </a:p>
          <a:p>
            <a:r>
              <a:rPr lang="en-US"/>
              <a:t>Disable NTLM fallback – Now disabled by default for new installs</a:t>
            </a:r>
          </a:p>
          <a:p>
            <a:r>
              <a:rPr lang="en-US"/>
              <a:t>Force TLS 1.2</a:t>
            </a:r>
          </a:p>
          <a:p>
            <a:pPr lvl="1"/>
            <a:r>
              <a:rPr lang="en-US">
                <a:hlinkClick r:id="rId4"/>
              </a:rPr>
              <a:t>Manual configuration</a:t>
            </a:r>
            <a:r>
              <a:rPr lang="en-US"/>
              <a:t> required on site systems and client</a:t>
            </a:r>
          </a:p>
          <a:p>
            <a:r>
              <a:rPr lang="en-US"/>
              <a:t>Check out </a:t>
            </a:r>
            <a:r>
              <a:rPr lang="en-US">
                <a:hlinkClick r:id="rId5"/>
              </a:rPr>
              <a:t>MisconfigurationManager</a:t>
            </a:r>
            <a:endParaRPr lang="en-US"/>
          </a:p>
        </p:txBody>
      </p:sp>
    </p:spTree>
    <p:extLst>
      <p:ext uri="{BB962C8B-B14F-4D97-AF65-F5344CB8AC3E}">
        <p14:creationId xmlns:p14="http://schemas.microsoft.com/office/powerpoint/2010/main" val="217759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righ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right)">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right)">
                                      <p:cBhvr>
                                        <p:cTn id="25" dur="500"/>
                                        <p:tgtEl>
                                          <p:spTgt spid="3">
                                            <p:txEl>
                                              <p:pRg st="4" end="4"/>
                                            </p:txEl>
                                          </p:spTgt>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right)">
                                      <p:cBhvr>
                                        <p:cTn id="28" dur="500"/>
                                        <p:tgtEl>
                                          <p:spTgt spid="3">
                                            <p:txEl>
                                              <p:pRg st="5" end="5"/>
                                            </p:txEl>
                                          </p:spTgt>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right)">
                                      <p:cBhvr>
                                        <p:cTn id="31" dur="500"/>
                                        <p:tgtEl>
                                          <p:spTgt spid="3">
                                            <p:txEl>
                                              <p:pRg st="6" end="6"/>
                                            </p:txEl>
                                          </p:spTgt>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right)">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right)">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wipe(right)">
                                      <p:cBhvr>
                                        <p:cTn id="44" dur="500"/>
                                        <p:tgtEl>
                                          <p:spTgt spid="3">
                                            <p:txEl>
                                              <p:pRg st="9" end="9"/>
                                            </p:txEl>
                                          </p:spTgt>
                                        </p:tgtEl>
                                      </p:cBhvr>
                                    </p:animEffect>
                                  </p:childTnLst>
                                </p:cTn>
                              </p:par>
                              <p:par>
                                <p:cTn id="45" presetID="22" presetClass="entr" presetSubtype="2" fill="hold" grpId="0"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wipe(right)">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wipe(right)">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A1AD3-E771-C863-7958-F8D6FC724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75BBE-CA03-AA3D-E8A6-D83EDE3EC7F3}"/>
              </a:ext>
            </a:extLst>
          </p:cNvPr>
          <p:cNvSpPr>
            <a:spLocks noGrp="1"/>
          </p:cNvSpPr>
          <p:nvPr>
            <p:ph type="title"/>
          </p:nvPr>
        </p:nvSpPr>
        <p:spPr/>
        <p:txBody>
          <a:bodyPr/>
          <a:lstStyle/>
          <a:p>
            <a:r>
              <a:rPr lang="en-US"/>
              <a:t>Security</a:t>
            </a:r>
          </a:p>
        </p:txBody>
      </p:sp>
      <p:sp>
        <p:nvSpPr>
          <p:cNvPr id="3" name="Text Placeholder 2">
            <a:extLst>
              <a:ext uri="{FF2B5EF4-FFF2-40B4-BE49-F238E27FC236}">
                <a16:creationId xmlns:a16="http://schemas.microsoft.com/office/drawing/2014/main" id="{47A0EC98-51AB-7F67-E204-B27A055A134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32765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1A7E0-EBBA-FE0B-30F0-50125298B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D4C39-AB66-CECD-2D8C-B260B6BF0668}"/>
              </a:ext>
            </a:extLst>
          </p:cNvPr>
          <p:cNvSpPr>
            <a:spLocks noGrp="1"/>
          </p:cNvSpPr>
          <p:nvPr>
            <p:ph type="title"/>
          </p:nvPr>
        </p:nvSpPr>
        <p:spPr/>
        <p:txBody>
          <a:bodyPr/>
          <a:lstStyle/>
          <a:p>
            <a:r>
              <a:rPr lang="en-US"/>
              <a:t>Keep it updated</a:t>
            </a:r>
          </a:p>
        </p:txBody>
      </p:sp>
      <p:sp>
        <p:nvSpPr>
          <p:cNvPr id="3" name="Content Placeholder 2">
            <a:extLst>
              <a:ext uri="{FF2B5EF4-FFF2-40B4-BE49-F238E27FC236}">
                <a16:creationId xmlns:a16="http://schemas.microsoft.com/office/drawing/2014/main" id="{0F36B69D-1BB7-0C9A-CDEE-9C9CE93E157C}"/>
              </a:ext>
            </a:extLst>
          </p:cNvPr>
          <p:cNvSpPr>
            <a:spLocks noGrp="1"/>
          </p:cNvSpPr>
          <p:nvPr>
            <p:ph idx="1"/>
          </p:nvPr>
        </p:nvSpPr>
        <p:spPr/>
        <p:txBody>
          <a:bodyPr vert="horz" lIns="91440" tIns="45720" rIns="91440" bIns="45720" rtlCol="0" anchor="t">
            <a:normAutofit fontScale="92500" lnSpcReduction="20000"/>
          </a:bodyPr>
          <a:lstStyle/>
          <a:p>
            <a:r>
              <a:rPr lang="en-US" dirty="0" err="1">
                <a:latin typeface="Aptos"/>
              </a:rPr>
              <a:t>ConfigMgr</a:t>
            </a:r>
            <a:r>
              <a:rPr lang="en-US" dirty="0">
                <a:latin typeface="Aptos"/>
              </a:rPr>
              <a:t> Updates</a:t>
            </a:r>
          </a:p>
          <a:p>
            <a:pPr lvl="1"/>
            <a:r>
              <a:rPr lang="en-US">
                <a:latin typeface="Aptos"/>
              </a:rPr>
              <a:t>Major versions once a year – Intune is the priority</a:t>
            </a:r>
          </a:p>
          <a:p>
            <a:pPr marL="1143000">
              <a:spcBef>
                <a:spcPts val="500"/>
              </a:spcBef>
            </a:pPr>
            <a:r>
              <a:rPr lang="en-US" sz="2000">
                <a:latin typeface="Aptos"/>
              </a:rPr>
              <a:t>Hotfixes as needed, or, as Microsoft says, quite literally: "</a:t>
            </a:r>
            <a:r>
              <a:rPr lang="en-US" sz="2000">
                <a:latin typeface="Aptos"/>
                <a:cs typeface="Segoe UI"/>
              </a:rPr>
              <a:t>Providing hotfix rollups only when absolutely necessary (e.g., for critical security or functionality issues)." This is </a:t>
            </a:r>
            <a:r>
              <a:rPr lang="en-US" sz="2000" b="1" i="1" u="sng">
                <a:latin typeface="Aptos"/>
                <a:cs typeface="Segoe UI"/>
              </a:rPr>
              <a:t>VERY </a:t>
            </a:r>
            <a:r>
              <a:rPr lang="en-US" sz="2000">
                <a:latin typeface="Aptos"/>
                <a:cs typeface="Segoe UI"/>
              </a:rPr>
              <a:t>intentional language. Some PM OK'd that language.</a:t>
            </a:r>
            <a:endParaRPr lang="en-US" sz="2000">
              <a:latin typeface="Aptos"/>
            </a:endParaRPr>
          </a:p>
          <a:p>
            <a:pPr lvl="2"/>
            <a:endParaRPr lang="en-US" dirty="0"/>
          </a:p>
          <a:p>
            <a:pPr lvl="1"/>
            <a:r>
              <a:rPr lang="en-US"/>
              <a:t>Supported for 18 months</a:t>
            </a:r>
          </a:p>
          <a:p>
            <a:pPr lvl="1"/>
            <a:r>
              <a:rPr lang="en-US"/>
              <a:t>Pretty painless (mostly)</a:t>
            </a:r>
          </a:p>
          <a:p>
            <a:pPr lvl="2"/>
            <a:r>
              <a:rPr lang="en-US">
                <a:latin typeface="Aptos"/>
              </a:rPr>
              <a:t>Review checklists for upgrades on </a:t>
            </a:r>
            <a:r>
              <a:rPr lang="en-US" dirty="0">
                <a:latin typeface="Aptos"/>
                <a:hlinkClick r:id="rId3"/>
              </a:rPr>
              <a:t>learn</a:t>
            </a:r>
            <a:endParaRPr lang="en-US" dirty="0">
              <a:latin typeface="Aptos"/>
            </a:endParaRPr>
          </a:p>
          <a:p>
            <a:r>
              <a:rPr lang="en-US"/>
              <a:t>OS Upgrades</a:t>
            </a:r>
          </a:p>
          <a:p>
            <a:pPr lvl="1"/>
            <a:r>
              <a:rPr lang="en-US"/>
              <a:t>Keep your server OS current</a:t>
            </a:r>
          </a:p>
          <a:p>
            <a:pPr lvl="1"/>
            <a:r>
              <a:rPr lang="en-US" dirty="0">
                <a:latin typeface="Aptos"/>
              </a:rPr>
              <a:t>In-place upgrades are great, don’t be scared – </a:t>
            </a:r>
            <a:r>
              <a:rPr lang="en-US" dirty="0">
                <a:latin typeface="Aptos"/>
                <a:hlinkClick r:id="rId4"/>
              </a:rPr>
              <a:t>Tips and Gotchas - AJF</a:t>
            </a:r>
            <a:endParaRPr lang="en-US" dirty="0">
              <a:latin typeface="Aptos"/>
            </a:endParaRPr>
          </a:p>
          <a:p>
            <a:r>
              <a:rPr lang="en-US"/>
              <a:t>SQL Upgrades</a:t>
            </a:r>
          </a:p>
          <a:p>
            <a:pPr lvl="1"/>
            <a:r>
              <a:rPr lang="en-US"/>
              <a:t>Keep SQL up to date – both major versions and cumulative updates</a:t>
            </a:r>
          </a:p>
          <a:p>
            <a:pPr lvl="1"/>
            <a:r>
              <a:rPr lang="en-US"/>
              <a:t>Make sure you keep in mind DB compatibility</a:t>
            </a:r>
          </a:p>
          <a:p>
            <a:pPr lvl="1"/>
            <a:endParaRPr lang="en-US"/>
          </a:p>
          <a:p>
            <a:pPr marL="914400" lvl="2" indent="0">
              <a:buNone/>
            </a:pPr>
            <a:endParaRPr lang="en-US"/>
          </a:p>
          <a:p>
            <a:pPr lvl="1"/>
            <a:endParaRPr lang="en-US"/>
          </a:p>
          <a:p>
            <a:endParaRPr lang="en-US"/>
          </a:p>
        </p:txBody>
      </p:sp>
    </p:spTree>
    <p:extLst>
      <p:ext uri="{BB962C8B-B14F-4D97-AF65-F5344CB8AC3E}">
        <p14:creationId xmlns:p14="http://schemas.microsoft.com/office/powerpoint/2010/main" val="3235071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right)">
                                      <p:cBhvr>
                                        <p:cTn id="15" dur="500"/>
                                        <p:tgtEl>
                                          <p:spTgt spid="3">
                                            <p:txEl>
                                              <p:pRg st="2" end="2"/>
                                            </p:txEl>
                                          </p:spTgt>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right)">
                                      <p:cBhvr>
                                        <p:cTn id="18" dur="500"/>
                                        <p:tgtEl>
                                          <p:spTgt spid="3">
                                            <p:txEl>
                                              <p:pRg st="4" end="4"/>
                                            </p:txEl>
                                          </p:spTgt>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right)">
                                      <p:cBhvr>
                                        <p:cTn id="21" dur="500"/>
                                        <p:tgtEl>
                                          <p:spTgt spid="3">
                                            <p:txEl>
                                              <p:pRg st="5" end="5"/>
                                            </p:txEl>
                                          </p:spTgt>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right)">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wipe(right)">
                                      <p:cBhvr>
                                        <p:cTn id="29" dur="500"/>
                                        <p:tgtEl>
                                          <p:spTgt spid="3">
                                            <p:txEl>
                                              <p:pRg st="7" end="7"/>
                                            </p:txEl>
                                          </p:spTgt>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wipe(right)">
                                      <p:cBhvr>
                                        <p:cTn id="32" dur="500"/>
                                        <p:tgtEl>
                                          <p:spTgt spid="3">
                                            <p:txEl>
                                              <p:pRg st="8" end="8"/>
                                            </p:txEl>
                                          </p:spTgt>
                                        </p:tgtEl>
                                      </p:cBhvr>
                                    </p:animEffect>
                                  </p:childTnLst>
                                </p:cTn>
                              </p:par>
                              <p:par>
                                <p:cTn id="33" presetID="22" presetClass="entr" presetSubtype="2"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wipe(right)">
                                      <p:cBhvr>
                                        <p:cTn id="35" dur="500"/>
                                        <p:tgtEl>
                                          <p:spTgt spid="3">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wipe(right)">
                                      <p:cBhvr>
                                        <p:cTn id="40" dur="500"/>
                                        <p:tgtEl>
                                          <p:spTgt spid="3">
                                            <p:txEl>
                                              <p:pRg st="10" end="10"/>
                                            </p:txEl>
                                          </p:spTgt>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wipe(right)">
                                      <p:cBhvr>
                                        <p:cTn id="43" dur="500"/>
                                        <p:tgtEl>
                                          <p:spTgt spid="3">
                                            <p:txEl>
                                              <p:pRg st="11" end="11"/>
                                            </p:txEl>
                                          </p:spTgt>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3">
                                            <p:txEl>
                                              <p:pRg st="12" end="12"/>
                                            </p:txEl>
                                          </p:spTgt>
                                        </p:tgtEl>
                                        <p:attrNameLst>
                                          <p:attrName>style.visibility</p:attrName>
                                        </p:attrNameLst>
                                      </p:cBhvr>
                                      <p:to>
                                        <p:strVal val="visible"/>
                                      </p:to>
                                    </p:set>
                                    <p:animEffect transition="in" filter="wipe(right)">
                                      <p:cBhvr>
                                        <p:cTn id="46"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8BE35-F48D-9197-0224-8F33EBCF10CC}"/>
              </a:ext>
            </a:extLst>
          </p:cNvPr>
          <p:cNvSpPr>
            <a:spLocks noGrp="1"/>
          </p:cNvSpPr>
          <p:nvPr>
            <p:ph type="title"/>
          </p:nvPr>
        </p:nvSpPr>
        <p:spPr/>
        <p:txBody>
          <a:bodyPr/>
          <a:lstStyle/>
          <a:p>
            <a:r>
              <a:rPr lang="en-US"/>
              <a:t>Software updates</a:t>
            </a:r>
          </a:p>
        </p:txBody>
      </p:sp>
      <p:sp>
        <p:nvSpPr>
          <p:cNvPr id="3" name="Content Placeholder 2">
            <a:extLst>
              <a:ext uri="{FF2B5EF4-FFF2-40B4-BE49-F238E27FC236}">
                <a16:creationId xmlns:a16="http://schemas.microsoft.com/office/drawing/2014/main" id="{770DF463-9DE0-26FB-E37E-5D4B323E142E}"/>
              </a:ext>
            </a:extLst>
          </p:cNvPr>
          <p:cNvSpPr>
            <a:spLocks noGrp="1"/>
          </p:cNvSpPr>
          <p:nvPr>
            <p:ph idx="1"/>
          </p:nvPr>
        </p:nvSpPr>
        <p:spPr>
          <a:xfrm>
            <a:off x="838200" y="1507787"/>
            <a:ext cx="6068347" cy="5143866"/>
          </a:xfrm>
        </p:spPr>
        <p:txBody>
          <a:bodyPr vert="horz" lIns="91440" tIns="45720" rIns="91440" bIns="45720" rtlCol="0" anchor="t">
            <a:normAutofit fontScale="92500" lnSpcReduction="20000"/>
          </a:bodyPr>
          <a:lstStyle/>
          <a:p>
            <a:r>
              <a:rPr lang="en-US"/>
              <a:t>ADRs are your friend</a:t>
            </a:r>
          </a:p>
          <a:p>
            <a:pPr lvl="1"/>
            <a:r>
              <a:rPr lang="en-US"/>
              <a:t>If its not automated, it will get missed</a:t>
            </a:r>
          </a:p>
          <a:p>
            <a:pPr lvl="1"/>
            <a:r>
              <a:rPr lang="en-US"/>
              <a:t>Do not rely </a:t>
            </a:r>
            <a:r>
              <a:rPr lang="en-US" err="1"/>
              <a:t>on“Required</a:t>
            </a:r>
            <a:r>
              <a:rPr lang="en-US"/>
              <a:t> &gt;= 1”</a:t>
            </a:r>
          </a:p>
          <a:p>
            <a:pPr lvl="1"/>
            <a:r>
              <a:rPr lang="en-US"/>
              <a:t>Trust but verify</a:t>
            </a:r>
          </a:p>
          <a:p>
            <a:r>
              <a:rPr lang="en-US"/>
              <a:t>Software Update Groups – 3 options</a:t>
            </a:r>
          </a:p>
          <a:p>
            <a:pPr lvl="1"/>
            <a:r>
              <a:rPr lang="en-US">
                <a:ea typeface="Calibri"/>
                <a:cs typeface="Calibri"/>
              </a:rPr>
              <a:t>Create a new one each month</a:t>
            </a:r>
          </a:p>
          <a:p>
            <a:pPr lvl="2"/>
            <a:r>
              <a:rPr lang="en-US">
                <a:ea typeface="Calibri"/>
                <a:cs typeface="Calibri"/>
              </a:rPr>
              <a:t>Most straightforward for reporting</a:t>
            </a:r>
          </a:p>
          <a:p>
            <a:pPr lvl="2"/>
            <a:r>
              <a:rPr lang="en-US">
                <a:ea typeface="Calibri"/>
                <a:cs typeface="Calibri"/>
              </a:rPr>
              <a:t>Rollup to yearly SUGs</a:t>
            </a:r>
          </a:p>
          <a:p>
            <a:pPr lvl="1"/>
            <a:r>
              <a:rPr lang="en-US">
                <a:ea typeface="Calibri"/>
                <a:cs typeface="Calibri"/>
              </a:rPr>
              <a:t>Reuse the same SUG each month</a:t>
            </a:r>
          </a:p>
          <a:p>
            <a:pPr lvl="2"/>
            <a:r>
              <a:rPr lang="en-US">
                <a:ea typeface="Calibri"/>
                <a:cs typeface="Calibri"/>
              </a:rPr>
              <a:t>Simple, no SUG maintenance</a:t>
            </a:r>
          </a:p>
          <a:p>
            <a:pPr lvl="2"/>
            <a:r>
              <a:rPr lang="en-US">
                <a:ea typeface="Calibri"/>
                <a:cs typeface="Calibri"/>
              </a:rPr>
              <a:t>Hard to have long patch cycles (&gt;1 month) </a:t>
            </a:r>
          </a:p>
          <a:p>
            <a:pPr lvl="1"/>
            <a:r>
              <a:rPr lang="en-US">
                <a:ea typeface="Calibri"/>
                <a:cs typeface="Calibri"/>
              </a:rPr>
              <a:t>Alternate between two SUGs (Month A / Month B)</a:t>
            </a:r>
          </a:p>
          <a:p>
            <a:pPr lvl="2"/>
            <a:r>
              <a:rPr lang="en-US">
                <a:ea typeface="Calibri"/>
                <a:cs typeface="Calibri"/>
              </a:rPr>
              <a:t>Simple-</a:t>
            </a:r>
            <a:r>
              <a:rPr lang="en-US" err="1">
                <a:ea typeface="Calibri"/>
                <a:cs typeface="Calibri"/>
              </a:rPr>
              <a:t>ish</a:t>
            </a:r>
            <a:r>
              <a:rPr lang="en-US">
                <a:ea typeface="Calibri"/>
                <a:cs typeface="Calibri"/>
              </a:rPr>
              <a:t>, allows for longer patch cycles</a:t>
            </a:r>
          </a:p>
          <a:p>
            <a:r>
              <a:rPr lang="en-US"/>
              <a:t>M365 Client Management – </a:t>
            </a:r>
            <a:r>
              <a:rPr lang="en-US">
                <a:hlinkClick r:id="rId3"/>
              </a:rPr>
              <a:t>Logs</a:t>
            </a:r>
            <a:endParaRPr lang="en-US">
              <a:ea typeface="Calibri"/>
              <a:cs typeface="Calibri"/>
            </a:endParaRPr>
          </a:p>
          <a:p>
            <a:r>
              <a:rPr lang="en-US">
                <a:ea typeface="Calibri"/>
                <a:cs typeface="Calibri"/>
              </a:rPr>
              <a:t>Edge Updates – a </a:t>
            </a:r>
            <a:r>
              <a:rPr lang="en-US">
                <a:ea typeface="Calibri"/>
                <a:cs typeface="Calibri"/>
                <a:hlinkClick r:id="rId4"/>
              </a:rPr>
              <a:t>Guide</a:t>
            </a:r>
            <a:endParaRPr lang="en-US">
              <a:ea typeface="Calibri"/>
              <a:cs typeface="Calibri"/>
            </a:endParaRPr>
          </a:p>
          <a:p>
            <a:endParaRPr lang="en-US">
              <a:ea typeface="Calibri"/>
              <a:cs typeface="Calibri"/>
            </a:endParaRPr>
          </a:p>
        </p:txBody>
      </p:sp>
      <p:pic>
        <p:nvPicPr>
          <p:cNvPr id="4" name="Picture 3">
            <a:extLst>
              <a:ext uri="{FF2B5EF4-FFF2-40B4-BE49-F238E27FC236}">
                <a16:creationId xmlns:a16="http://schemas.microsoft.com/office/drawing/2014/main" id="{A935D36D-7C67-9C35-1363-03DEBD890F16}"/>
              </a:ext>
            </a:extLst>
          </p:cNvPr>
          <p:cNvPicPr>
            <a:picLocks noChangeAspect="1"/>
          </p:cNvPicPr>
          <p:nvPr/>
        </p:nvPicPr>
        <p:blipFill>
          <a:blip r:embed="rId5"/>
          <a:stretch>
            <a:fillRect/>
          </a:stretch>
        </p:blipFill>
        <p:spPr>
          <a:xfrm>
            <a:off x="6906547" y="1683531"/>
            <a:ext cx="4994185" cy="4600322"/>
          </a:xfrm>
          <a:prstGeom prst="rect">
            <a:avLst/>
          </a:prstGeom>
        </p:spPr>
      </p:pic>
    </p:spTree>
    <p:extLst>
      <p:ext uri="{BB962C8B-B14F-4D97-AF65-F5344CB8AC3E}">
        <p14:creationId xmlns:p14="http://schemas.microsoft.com/office/powerpoint/2010/main" val="54521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right)">
                                      <p:cBhvr>
                                        <p:cTn id="13" dur="500"/>
                                        <p:tgtEl>
                                          <p:spTgt spid="3">
                                            <p:txEl>
                                              <p:pRg st="2" end="2"/>
                                            </p:txEl>
                                          </p:spTgt>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right)">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right)">
                                      <p:cBhvr>
                                        <p:cTn id="21" dur="500"/>
                                        <p:tgtEl>
                                          <p:spTgt spid="3">
                                            <p:txEl>
                                              <p:pRg st="4" end="4"/>
                                            </p:txEl>
                                          </p:spTgt>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right)">
                                      <p:cBhvr>
                                        <p:cTn id="24" dur="500"/>
                                        <p:tgtEl>
                                          <p:spTgt spid="3">
                                            <p:txEl>
                                              <p:pRg st="5" end="5"/>
                                            </p:txEl>
                                          </p:spTgt>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right)">
                                      <p:cBhvr>
                                        <p:cTn id="27" dur="500"/>
                                        <p:tgtEl>
                                          <p:spTgt spid="3">
                                            <p:txEl>
                                              <p:pRg st="6" end="6"/>
                                            </p:txEl>
                                          </p:spTgt>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right)">
                                      <p:cBhvr>
                                        <p:cTn id="30" dur="500"/>
                                        <p:tgtEl>
                                          <p:spTgt spid="3">
                                            <p:txEl>
                                              <p:pRg st="7" end="7"/>
                                            </p:txEl>
                                          </p:spTgt>
                                        </p:tgtEl>
                                      </p:cBhvr>
                                    </p:animEffect>
                                  </p:childTnLst>
                                </p:cTn>
                              </p:par>
                              <p:par>
                                <p:cTn id="31" presetID="22" presetClass="entr" presetSubtype="2"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right)">
                                      <p:cBhvr>
                                        <p:cTn id="33" dur="500"/>
                                        <p:tgtEl>
                                          <p:spTgt spid="3">
                                            <p:txEl>
                                              <p:pRg st="8" end="8"/>
                                            </p:txEl>
                                          </p:spTgt>
                                        </p:tgtEl>
                                      </p:cBhvr>
                                    </p:animEffect>
                                  </p:childTnLst>
                                </p:cTn>
                              </p:par>
                              <p:par>
                                <p:cTn id="34" presetID="22" presetClass="entr" presetSubtype="2"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right)">
                                      <p:cBhvr>
                                        <p:cTn id="36" dur="500"/>
                                        <p:tgtEl>
                                          <p:spTgt spid="3">
                                            <p:txEl>
                                              <p:pRg st="9" end="9"/>
                                            </p:txEl>
                                          </p:spTgt>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wipe(right)">
                                      <p:cBhvr>
                                        <p:cTn id="39" dur="500"/>
                                        <p:tgtEl>
                                          <p:spTgt spid="3">
                                            <p:txEl>
                                              <p:pRg st="10" end="10"/>
                                            </p:txEl>
                                          </p:spTgt>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wipe(right)">
                                      <p:cBhvr>
                                        <p:cTn id="42" dur="500"/>
                                        <p:tgtEl>
                                          <p:spTgt spid="3">
                                            <p:txEl>
                                              <p:pRg st="11" end="11"/>
                                            </p:txEl>
                                          </p:spTgt>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Effect transition="in" filter="wipe(right)">
                                      <p:cBhvr>
                                        <p:cTn id="45" dur="500"/>
                                        <p:tgtEl>
                                          <p:spTgt spid="3">
                                            <p:txEl>
                                              <p:pRg st="12" end="1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3">
                                            <p:txEl>
                                              <p:pRg st="13" end="13"/>
                                            </p:txEl>
                                          </p:spTgt>
                                        </p:tgtEl>
                                        <p:attrNameLst>
                                          <p:attrName>style.visibility</p:attrName>
                                        </p:attrNameLst>
                                      </p:cBhvr>
                                      <p:to>
                                        <p:strVal val="visible"/>
                                      </p:to>
                                    </p:set>
                                    <p:animEffect transition="in" filter="wipe(right)">
                                      <p:cBhvr>
                                        <p:cTn id="50" dur="500"/>
                                        <p:tgtEl>
                                          <p:spTgt spid="3">
                                            <p:txEl>
                                              <p:pRg st="13" end="1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Effect transition="in" filter="wipe(right)">
                                      <p:cBhvr>
                                        <p:cTn id="55"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83E72-7B10-EB70-2110-53357071E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B8705-7E1A-294F-C0F6-B15B056660D3}"/>
              </a:ext>
            </a:extLst>
          </p:cNvPr>
          <p:cNvSpPr>
            <a:spLocks noGrp="1"/>
          </p:cNvSpPr>
          <p:nvPr>
            <p:ph type="title"/>
          </p:nvPr>
        </p:nvSpPr>
        <p:spPr/>
        <p:txBody>
          <a:bodyPr/>
          <a:lstStyle/>
          <a:p>
            <a:r>
              <a:rPr lang="en-US"/>
              <a:t>Other apps</a:t>
            </a:r>
          </a:p>
        </p:txBody>
      </p:sp>
      <p:sp>
        <p:nvSpPr>
          <p:cNvPr id="3" name="Content Placeholder 2">
            <a:extLst>
              <a:ext uri="{FF2B5EF4-FFF2-40B4-BE49-F238E27FC236}">
                <a16:creationId xmlns:a16="http://schemas.microsoft.com/office/drawing/2014/main" id="{A018F372-2775-3A05-7A5C-0799010230E8}"/>
              </a:ext>
            </a:extLst>
          </p:cNvPr>
          <p:cNvSpPr>
            <a:spLocks noGrp="1"/>
          </p:cNvSpPr>
          <p:nvPr>
            <p:ph idx="1"/>
          </p:nvPr>
        </p:nvSpPr>
        <p:spPr/>
        <p:txBody>
          <a:bodyPr vert="horz" lIns="91440" tIns="45720" rIns="91440" bIns="45720" rtlCol="0" anchor="t">
            <a:normAutofit fontScale="92500" lnSpcReduction="20000"/>
          </a:bodyPr>
          <a:lstStyle/>
          <a:p>
            <a:r>
              <a:rPr lang="en-US"/>
              <a:t>Third Party Updates</a:t>
            </a:r>
          </a:p>
          <a:p>
            <a:pPr lvl="1"/>
            <a:r>
              <a:rPr lang="en-US">
                <a:latin typeface="Aptos"/>
              </a:rPr>
              <a:t>You aren’t done if you aren’t managing these</a:t>
            </a:r>
          </a:p>
          <a:p>
            <a:pPr lvl="1"/>
            <a:r>
              <a:rPr lang="en-US"/>
              <a:t>Do it manually</a:t>
            </a:r>
          </a:p>
          <a:p>
            <a:pPr lvl="2"/>
            <a:r>
              <a:rPr lang="en-US"/>
              <a:t>Create an app for each version of every app in your environment as soon as it releases…</a:t>
            </a:r>
          </a:p>
          <a:p>
            <a:pPr lvl="1"/>
            <a:r>
              <a:rPr lang="en-US"/>
              <a:t>Free catalogs - limited</a:t>
            </a:r>
          </a:p>
          <a:p>
            <a:pPr lvl="2"/>
            <a:r>
              <a:rPr lang="en-US">
                <a:latin typeface="Aptos"/>
                <a:hlinkClick r:id="rId3"/>
              </a:rPr>
              <a:t>https://learn.microsoft.com/en-us/mem/configmgr/sum/deploy-use/third-party-software-update-catalogs#third-party-update-catalogs-available-for-import</a:t>
            </a:r>
            <a:r>
              <a:rPr lang="en-US">
                <a:latin typeface="Aptos"/>
              </a:rPr>
              <a:t> </a:t>
            </a:r>
          </a:p>
          <a:p>
            <a:pPr lvl="1"/>
            <a:r>
              <a:rPr lang="en-US"/>
              <a:t>Need more? See the vendors!</a:t>
            </a:r>
          </a:p>
          <a:p>
            <a:pPr lvl="2"/>
            <a:r>
              <a:rPr lang="en-US"/>
              <a:t>Patch My PC </a:t>
            </a:r>
            <a:r>
              <a:rPr lang="en-US">
                <a:hlinkClick r:id="rId4"/>
              </a:rPr>
              <a:t>https://patchmypc.com/</a:t>
            </a:r>
            <a:r>
              <a:rPr lang="en-US"/>
              <a:t> </a:t>
            </a:r>
          </a:p>
          <a:p>
            <a:pPr lvl="2"/>
            <a:r>
              <a:rPr lang="en-US"/>
              <a:t>Recast Software </a:t>
            </a:r>
            <a:r>
              <a:rPr lang="en-US">
                <a:hlinkClick r:id="rId5"/>
              </a:rPr>
              <a:t>https://recastsoftware.com</a:t>
            </a:r>
            <a:endParaRPr lang="en-US"/>
          </a:p>
          <a:p>
            <a:pPr lvl="2"/>
            <a:r>
              <a:rPr lang="en-US"/>
              <a:t>1E Patch Insights </a:t>
            </a:r>
            <a:r>
              <a:rPr lang="en-US">
                <a:hlinkClick r:id="rId6"/>
              </a:rPr>
              <a:t>https://www.1e.com/platform/patch-insights/</a:t>
            </a:r>
            <a:r>
              <a:rPr lang="en-US"/>
              <a:t> </a:t>
            </a:r>
          </a:p>
          <a:p>
            <a:pPr lvl="2"/>
            <a:r>
              <a:rPr lang="en-US" err="1"/>
              <a:t>Baramundi</a:t>
            </a:r>
            <a:r>
              <a:rPr lang="en-US"/>
              <a:t> </a:t>
            </a:r>
            <a:r>
              <a:rPr lang="en-US">
                <a:hlinkClick r:id="rId7"/>
              </a:rPr>
              <a:t>https://www.baramundi.com/en-us/products/patch-management/</a:t>
            </a:r>
            <a:r>
              <a:rPr lang="en-US"/>
              <a:t> </a:t>
            </a:r>
          </a:p>
          <a:p>
            <a:pPr lvl="2"/>
            <a:r>
              <a:rPr lang="en-US"/>
              <a:t>Eido </a:t>
            </a:r>
            <a:r>
              <a:rPr lang="en-US">
                <a:hlinkClick r:id="rId8"/>
              </a:rPr>
              <a:t>https://www.eido.cloud</a:t>
            </a:r>
            <a:r>
              <a:rPr lang="en-US"/>
              <a:t> </a:t>
            </a:r>
          </a:p>
          <a:p>
            <a:pPr lvl="2"/>
            <a:r>
              <a:rPr lang="en-US" err="1"/>
              <a:t>NinjaOne</a:t>
            </a:r>
            <a:r>
              <a:rPr lang="en-US"/>
              <a:t> </a:t>
            </a:r>
            <a:r>
              <a:rPr lang="en-US">
                <a:hlinkClick r:id="rId9"/>
              </a:rPr>
              <a:t>https://www.ninjaone.com/patch-management/</a:t>
            </a:r>
            <a:r>
              <a:rPr lang="en-US"/>
              <a:t> </a:t>
            </a:r>
          </a:p>
          <a:p>
            <a:pPr lvl="2"/>
            <a:r>
              <a:rPr lang="en-US"/>
              <a:t>ZeroTouch.ai </a:t>
            </a:r>
            <a:r>
              <a:rPr lang="en-US">
                <a:hlinkClick r:id="rId10"/>
              </a:rPr>
              <a:t>https://www.zerotouch.ai/</a:t>
            </a:r>
            <a:r>
              <a:rPr lang="en-US"/>
              <a:t> </a:t>
            </a:r>
          </a:p>
          <a:p>
            <a:pPr lvl="2"/>
            <a:r>
              <a:rPr lang="en-US" err="1">
                <a:latin typeface="Aptos"/>
              </a:rPr>
              <a:t>Adaptiva</a:t>
            </a:r>
            <a:r>
              <a:rPr lang="en-US">
                <a:latin typeface="Aptos"/>
              </a:rPr>
              <a:t> </a:t>
            </a:r>
            <a:r>
              <a:rPr lang="en-US">
                <a:latin typeface="Aptos"/>
                <a:hlinkClick r:id="rId11"/>
              </a:rPr>
              <a:t>https://adaptiva.com/</a:t>
            </a:r>
            <a:endParaRPr lang="en-US"/>
          </a:p>
          <a:p>
            <a:pPr marL="914400" lvl="2" indent="0">
              <a:buNone/>
            </a:pPr>
            <a:endParaRPr lang="en-US"/>
          </a:p>
          <a:p>
            <a:pPr lvl="2"/>
            <a:endParaRPr lang="en-US"/>
          </a:p>
          <a:p>
            <a:endParaRPr lang="en-US"/>
          </a:p>
        </p:txBody>
      </p:sp>
    </p:spTree>
    <p:extLst>
      <p:ext uri="{BB962C8B-B14F-4D97-AF65-F5344CB8AC3E}">
        <p14:creationId xmlns:p14="http://schemas.microsoft.com/office/powerpoint/2010/main" val="11392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right)">
                                      <p:cBhvr>
                                        <p:cTn id="13" dur="500"/>
                                        <p:tgtEl>
                                          <p:spTgt spid="3">
                                            <p:txEl>
                                              <p:pRg st="2" end="2"/>
                                            </p:txEl>
                                          </p:spTgt>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right)">
                                      <p:cBhvr>
                                        <p:cTn id="16" dur="500"/>
                                        <p:tgtEl>
                                          <p:spTgt spid="3">
                                            <p:txEl>
                                              <p:pRg st="3" end="3"/>
                                            </p:txEl>
                                          </p:spTgt>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right)">
                                      <p:cBhvr>
                                        <p:cTn id="19" dur="500"/>
                                        <p:tgtEl>
                                          <p:spTgt spid="3">
                                            <p:txEl>
                                              <p:pRg st="4" end="4"/>
                                            </p:txEl>
                                          </p:spTgt>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right)">
                                      <p:cBhvr>
                                        <p:cTn id="22" dur="500"/>
                                        <p:tgtEl>
                                          <p:spTgt spid="3">
                                            <p:txEl>
                                              <p:pRg st="5" end="5"/>
                                            </p:txEl>
                                          </p:spTgt>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right)">
                                      <p:cBhvr>
                                        <p:cTn id="25" dur="500"/>
                                        <p:tgtEl>
                                          <p:spTgt spid="3">
                                            <p:txEl>
                                              <p:pRg st="6" end="6"/>
                                            </p:txEl>
                                          </p:spTgt>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right)">
                                      <p:cBhvr>
                                        <p:cTn id="28" dur="500"/>
                                        <p:tgtEl>
                                          <p:spTgt spid="3">
                                            <p:txEl>
                                              <p:pRg st="7" end="7"/>
                                            </p:txEl>
                                          </p:spTgt>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right)">
                                      <p:cBhvr>
                                        <p:cTn id="31" dur="500"/>
                                        <p:tgtEl>
                                          <p:spTgt spid="3">
                                            <p:txEl>
                                              <p:pRg st="8" end="8"/>
                                            </p:txEl>
                                          </p:spTgt>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right)">
                                      <p:cBhvr>
                                        <p:cTn id="34" dur="500"/>
                                        <p:tgtEl>
                                          <p:spTgt spid="3">
                                            <p:txEl>
                                              <p:pRg st="9" end="9"/>
                                            </p:txEl>
                                          </p:spTgt>
                                        </p:tgtEl>
                                      </p:cBhvr>
                                    </p:animEffect>
                                  </p:childTnLst>
                                </p:cTn>
                              </p:par>
                              <p:par>
                                <p:cTn id="35" presetID="22" presetClass="entr" presetSubtype="2"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right)">
                                      <p:cBhvr>
                                        <p:cTn id="37" dur="500"/>
                                        <p:tgtEl>
                                          <p:spTgt spid="3">
                                            <p:txEl>
                                              <p:pRg st="10" end="10"/>
                                            </p:txEl>
                                          </p:spTgt>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wipe(right)">
                                      <p:cBhvr>
                                        <p:cTn id="40" dur="500"/>
                                        <p:tgtEl>
                                          <p:spTgt spid="3">
                                            <p:txEl>
                                              <p:pRg st="11" end="11"/>
                                            </p:txEl>
                                          </p:spTgt>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Effect transition="in" filter="wipe(right)">
                                      <p:cBhvr>
                                        <p:cTn id="43" dur="500"/>
                                        <p:tgtEl>
                                          <p:spTgt spid="3">
                                            <p:txEl>
                                              <p:pRg st="12" end="12"/>
                                            </p:txEl>
                                          </p:spTgt>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3">
                                            <p:txEl>
                                              <p:pRg st="13" end="13"/>
                                            </p:txEl>
                                          </p:spTgt>
                                        </p:tgtEl>
                                        <p:attrNameLst>
                                          <p:attrName>style.visibility</p:attrName>
                                        </p:attrNameLst>
                                      </p:cBhvr>
                                      <p:to>
                                        <p:strVal val="visible"/>
                                      </p:to>
                                    </p:set>
                                    <p:animEffect transition="in" filter="wipe(right)">
                                      <p:cBhvr>
                                        <p:cTn id="46" dur="500"/>
                                        <p:tgtEl>
                                          <p:spTgt spid="3">
                                            <p:txEl>
                                              <p:pRg st="13" end="13"/>
                                            </p:txEl>
                                          </p:spTgt>
                                        </p:tgtEl>
                                      </p:cBhvr>
                                    </p:animEffect>
                                  </p:childTnLst>
                                </p:cTn>
                              </p:par>
                              <p:par>
                                <p:cTn id="47" presetID="22" presetClass="entr" presetSubtype="2" fill="hold" grpId="0"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animEffect transition="in" filter="wipe(right)">
                                      <p:cBhvr>
                                        <p:cTn id="49"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EDC4A-1A25-EE41-5021-3EA9E8990D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FA5C08-BCE7-A697-0269-DD7A00AFB656}"/>
              </a:ext>
            </a:extLst>
          </p:cNvPr>
          <p:cNvSpPr>
            <a:spLocks noGrp="1"/>
          </p:cNvSpPr>
          <p:nvPr>
            <p:ph type="title"/>
          </p:nvPr>
        </p:nvSpPr>
        <p:spPr/>
        <p:txBody>
          <a:bodyPr/>
          <a:lstStyle/>
          <a:p>
            <a:r>
              <a:rPr lang="en-US"/>
              <a:t>Updating all the things</a:t>
            </a:r>
          </a:p>
        </p:txBody>
      </p:sp>
      <p:sp>
        <p:nvSpPr>
          <p:cNvPr id="3" name="Text Placeholder 2">
            <a:extLst>
              <a:ext uri="{FF2B5EF4-FFF2-40B4-BE49-F238E27FC236}">
                <a16:creationId xmlns:a16="http://schemas.microsoft.com/office/drawing/2014/main" id="{49C51902-E407-BBB8-8C1B-D7A62FE71BC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51882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7E212-562F-D4CA-401B-AEEEC11E6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78CC5-DC09-22A9-385A-5BF98339FB8F}"/>
              </a:ext>
            </a:extLst>
          </p:cNvPr>
          <p:cNvSpPr>
            <a:spLocks noGrp="1"/>
          </p:cNvSpPr>
          <p:nvPr>
            <p:ph type="title"/>
          </p:nvPr>
        </p:nvSpPr>
        <p:spPr/>
        <p:txBody>
          <a:bodyPr/>
          <a:lstStyle/>
          <a:p>
            <a:r>
              <a:rPr lang="en-US"/>
              <a:t>Keep it running</a:t>
            </a:r>
          </a:p>
        </p:txBody>
      </p:sp>
      <p:sp>
        <p:nvSpPr>
          <p:cNvPr id="3" name="Content Placeholder 2">
            <a:extLst>
              <a:ext uri="{FF2B5EF4-FFF2-40B4-BE49-F238E27FC236}">
                <a16:creationId xmlns:a16="http://schemas.microsoft.com/office/drawing/2014/main" id="{D92F15CC-FEA3-A673-625F-D3F0F5D5A531}"/>
              </a:ext>
            </a:extLst>
          </p:cNvPr>
          <p:cNvSpPr>
            <a:spLocks noGrp="1"/>
          </p:cNvSpPr>
          <p:nvPr>
            <p:ph idx="1"/>
          </p:nvPr>
        </p:nvSpPr>
        <p:spPr/>
        <p:txBody>
          <a:bodyPr vert="horz" lIns="91440" tIns="45720" rIns="91440" bIns="45720" rtlCol="0" anchor="t">
            <a:normAutofit/>
          </a:bodyPr>
          <a:lstStyle/>
          <a:p>
            <a:r>
              <a:rPr lang="en-US"/>
              <a:t>Monitoring &gt; Site/Component Status</a:t>
            </a:r>
          </a:p>
          <a:p>
            <a:r>
              <a:rPr lang="en-US"/>
              <a:t>Scenario Health and Management Insights</a:t>
            </a:r>
          </a:p>
          <a:p>
            <a:r>
              <a:rPr lang="en-US"/>
              <a:t>Software Update health dashboard</a:t>
            </a:r>
          </a:p>
          <a:p>
            <a:r>
              <a:rPr lang="en-US">
                <a:hlinkClick r:id="rId3"/>
              </a:rPr>
              <a:t>Client Health Script v3 </a:t>
            </a:r>
            <a:endParaRPr lang="en-US"/>
          </a:p>
          <a:p>
            <a:r>
              <a:rPr lang="en-US">
                <a:ea typeface="Calibri" panose="020F0502020204030204"/>
                <a:cs typeface="Calibri" panose="020F0502020204030204"/>
              </a:rPr>
              <a:t>IIS Log File Cleanup (script available in session downloads)</a:t>
            </a:r>
          </a:p>
          <a:p>
            <a:r>
              <a:rPr lang="en-US">
                <a:ea typeface="Calibri" panose="020F0502020204030204"/>
                <a:cs typeface="Calibri" panose="020F0502020204030204"/>
              </a:rPr>
              <a:t>Inbox Monitoring</a:t>
            </a:r>
          </a:p>
          <a:p>
            <a:pPr lvl="1"/>
            <a:r>
              <a:rPr lang="en-US">
                <a:ea typeface="Calibri" panose="020F0502020204030204"/>
                <a:cs typeface="Calibri" panose="020F0502020204030204"/>
              </a:rPr>
              <a:t>Get-</a:t>
            </a:r>
            <a:r>
              <a:rPr lang="en-US" err="1">
                <a:ea typeface="Calibri" panose="020F0502020204030204"/>
                <a:cs typeface="Calibri" panose="020F0502020204030204"/>
              </a:rPr>
              <a:t>CimInstance</a:t>
            </a:r>
            <a:r>
              <a:rPr lang="en-US">
                <a:ea typeface="Calibri" panose="020F0502020204030204"/>
                <a:cs typeface="Calibri" panose="020F0502020204030204"/>
              </a:rPr>
              <a:t> -</a:t>
            </a:r>
            <a:r>
              <a:rPr lang="en-US" err="1">
                <a:ea typeface="Calibri" panose="020F0502020204030204"/>
                <a:cs typeface="Calibri" panose="020F0502020204030204"/>
              </a:rPr>
              <a:t>ClassName</a:t>
            </a:r>
            <a:r>
              <a:rPr lang="en-US">
                <a:ea typeface="Calibri" panose="020F0502020204030204"/>
                <a:cs typeface="Calibri" panose="020F0502020204030204"/>
              </a:rPr>
              <a:t> Win32_PerfFormattedData_SMSINBOXMONITOR_SMSInbox | Select-Object -Property Name, </a:t>
            </a:r>
            <a:r>
              <a:rPr lang="en-US" err="1">
                <a:ea typeface="Calibri" panose="020F0502020204030204"/>
                <a:cs typeface="Calibri" panose="020F0502020204030204"/>
              </a:rPr>
              <a:t>FileCurrentCount</a:t>
            </a:r>
            <a:endParaRPr lang="en-US"/>
          </a:p>
          <a:p>
            <a:endParaRPr lang="en-US"/>
          </a:p>
          <a:p>
            <a:endParaRPr lang="en-US">
              <a:ea typeface="Calibri" panose="020F0502020204030204"/>
              <a:cs typeface="Calibri" panose="020F0502020204030204"/>
            </a:endParaRPr>
          </a:p>
        </p:txBody>
      </p:sp>
    </p:spTree>
    <p:extLst>
      <p:ext uri="{BB962C8B-B14F-4D97-AF65-F5344CB8AC3E}">
        <p14:creationId xmlns:p14="http://schemas.microsoft.com/office/powerpoint/2010/main" val="3319124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righ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righ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righ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righ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righ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CB5DD-DE4F-6664-0194-9BBA19124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BF19E-652D-61AF-BF02-BE12F74A84A7}"/>
              </a:ext>
            </a:extLst>
          </p:cNvPr>
          <p:cNvSpPr>
            <a:spLocks noGrp="1"/>
          </p:cNvSpPr>
          <p:nvPr>
            <p:ph type="title"/>
          </p:nvPr>
        </p:nvSpPr>
        <p:spPr/>
        <p:txBody>
          <a:bodyPr/>
          <a:lstStyle/>
          <a:p>
            <a:r>
              <a:rPr lang="en-US"/>
              <a:t>When it goes bad</a:t>
            </a:r>
          </a:p>
        </p:txBody>
      </p:sp>
      <p:sp>
        <p:nvSpPr>
          <p:cNvPr id="3" name="Content Placeholder 2">
            <a:extLst>
              <a:ext uri="{FF2B5EF4-FFF2-40B4-BE49-F238E27FC236}">
                <a16:creationId xmlns:a16="http://schemas.microsoft.com/office/drawing/2014/main" id="{B431C63D-07F1-4256-320A-084CBD820A6A}"/>
              </a:ext>
            </a:extLst>
          </p:cNvPr>
          <p:cNvSpPr>
            <a:spLocks noGrp="1"/>
          </p:cNvSpPr>
          <p:nvPr>
            <p:ph idx="1"/>
          </p:nvPr>
        </p:nvSpPr>
        <p:spPr/>
        <p:txBody>
          <a:bodyPr vert="horz" lIns="91440" tIns="45720" rIns="91440" bIns="45720" rtlCol="0" anchor="t">
            <a:normAutofit fontScale="85000" lnSpcReduction="20000"/>
          </a:bodyPr>
          <a:lstStyle/>
          <a:p>
            <a:r>
              <a:rPr lang="en-US">
                <a:latin typeface="Aptos"/>
              </a:rPr>
              <a:t>Logs </a:t>
            </a:r>
            <a:r>
              <a:rPr lang="en-US" err="1">
                <a:latin typeface="Aptos"/>
              </a:rPr>
              <a:t>Logs</a:t>
            </a:r>
            <a:r>
              <a:rPr lang="en-US">
                <a:latin typeface="Aptos"/>
              </a:rPr>
              <a:t> </a:t>
            </a:r>
            <a:r>
              <a:rPr lang="en-US" err="1">
                <a:latin typeface="Aptos"/>
              </a:rPr>
              <a:t>Logs</a:t>
            </a:r>
            <a:r>
              <a:rPr lang="en-US">
                <a:latin typeface="Aptos"/>
              </a:rPr>
              <a:t>!!</a:t>
            </a:r>
          </a:p>
          <a:p>
            <a:pPr lvl="1"/>
            <a:r>
              <a:rPr lang="en-US" err="1">
                <a:latin typeface="Aptos"/>
              </a:rPr>
              <a:t>ConfigMgr</a:t>
            </a:r>
          </a:p>
          <a:p>
            <a:pPr lvl="2"/>
            <a:r>
              <a:rPr lang="en-US"/>
              <a:t>Client logs – C:\Windows\CCM\Logs</a:t>
            </a:r>
          </a:p>
          <a:p>
            <a:pPr lvl="2"/>
            <a:r>
              <a:rPr lang="en-US"/>
              <a:t>Server logs – Program Files\Microsoft Configuration Manager\Logs</a:t>
            </a:r>
          </a:p>
          <a:p>
            <a:pPr lvl="2"/>
            <a:r>
              <a:rPr lang="en-US">
                <a:hlinkClick r:id="rId3"/>
              </a:rPr>
              <a:t>Log File reference</a:t>
            </a:r>
            <a:endParaRPr lang="en-US"/>
          </a:p>
          <a:p>
            <a:pPr lvl="1"/>
            <a:r>
              <a:rPr lang="en-US"/>
              <a:t>Intune</a:t>
            </a:r>
          </a:p>
          <a:p>
            <a:pPr lvl="2"/>
            <a:r>
              <a:rPr lang="en-US" err="1"/>
              <a:t>MdmDiagnosticsTool</a:t>
            </a:r>
            <a:r>
              <a:rPr lang="en-US"/>
              <a:t> – Can be run remotely from Intune device overview &gt; collect diagnostics</a:t>
            </a:r>
          </a:p>
          <a:p>
            <a:r>
              <a:rPr lang="en-US"/>
              <a:t>Log Reading Tools</a:t>
            </a:r>
          </a:p>
          <a:p>
            <a:pPr lvl="1"/>
            <a:r>
              <a:rPr lang="en-US" err="1">
                <a:latin typeface="Aptos"/>
              </a:rPr>
              <a:t>CMTrace</a:t>
            </a:r>
            <a:r>
              <a:rPr lang="en-US">
                <a:latin typeface="Aptos"/>
              </a:rPr>
              <a:t> - %</a:t>
            </a:r>
            <a:r>
              <a:rPr lang="en-US" err="1">
                <a:latin typeface="Aptos"/>
              </a:rPr>
              <a:t>windir</a:t>
            </a:r>
            <a:r>
              <a:rPr lang="en-US">
                <a:latin typeface="Aptos"/>
              </a:rPr>
              <a:t>%\ccm\</a:t>
            </a:r>
            <a:r>
              <a:rPr lang="en-US" err="1">
                <a:latin typeface="Aptos"/>
              </a:rPr>
              <a:t>cmtrace.exe</a:t>
            </a:r>
            <a:endParaRPr lang="en-US">
              <a:latin typeface="Aptos"/>
            </a:endParaRPr>
          </a:p>
          <a:p>
            <a:pPr lvl="1"/>
            <a:r>
              <a:rPr lang="en-US" err="1">
                <a:latin typeface="Aptos"/>
                <a:hlinkClick r:id="rId4"/>
              </a:rPr>
              <a:t>OneTrace</a:t>
            </a:r>
            <a:r>
              <a:rPr lang="en-US">
                <a:latin typeface="Aptos"/>
              </a:rPr>
              <a:t> – Installs with support center</a:t>
            </a:r>
          </a:p>
          <a:p>
            <a:pPr lvl="1"/>
            <a:r>
              <a:rPr lang="en-US"/>
              <a:t>Notepad </a:t>
            </a:r>
            <a:r>
              <a:rPr lang="en-US">
                <a:sym typeface="Wingdings" pitchFamily="2" charset="2"/>
              </a:rPr>
              <a:t></a:t>
            </a:r>
            <a:endParaRPr lang="en-US"/>
          </a:p>
          <a:p>
            <a:pPr lvl="1"/>
            <a:r>
              <a:rPr lang="en-US" err="1">
                <a:latin typeface="Aptos"/>
                <a:sym typeface="Wingdings" pitchFamily="2" charset="2"/>
              </a:rPr>
              <a:t>CMTraceOpen</a:t>
            </a:r>
            <a:r>
              <a:rPr lang="en-US">
                <a:latin typeface="Aptos"/>
                <a:sym typeface="Wingdings" pitchFamily="2" charset="2"/>
              </a:rPr>
              <a:t> – Adam Gell - https://github.com/adamgell/cmtraceopen</a:t>
            </a:r>
          </a:p>
          <a:p>
            <a:r>
              <a:rPr lang="en-US"/>
              <a:t>Community Solutions</a:t>
            </a:r>
          </a:p>
          <a:p>
            <a:pPr lvl="1"/>
            <a:r>
              <a:rPr lang="en-US"/>
              <a:t>RCT Community Edition</a:t>
            </a:r>
          </a:p>
          <a:p>
            <a:pPr lvl="1"/>
            <a:r>
              <a:rPr lang="en-US"/>
              <a:t>Client Center</a:t>
            </a:r>
          </a:p>
          <a:p>
            <a:endParaRPr lang="en-US"/>
          </a:p>
        </p:txBody>
      </p:sp>
    </p:spTree>
    <p:extLst>
      <p:ext uri="{BB962C8B-B14F-4D97-AF65-F5344CB8AC3E}">
        <p14:creationId xmlns:p14="http://schemas.microsoft.com/office/powerpoint/2010/main" val="2800528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right)">
                                      <p:cBhvr>
                                        <p:cTn id="13" dur="500"/>
                                        <p:tgtEl>
                                          <p:spTgt spid="3">
                                            <p:txEl>
                                              <p:pRg st="2" end="2"/>
                                            </p:txEl>
                                          </p:spTgt>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right)">
                                      <p:cBhvr>
                                        <p:cTn id="16" dur="500"/>
                                        <p:tgtEl>
                                          <p:spTgt spid="3">
                                            <p:txEl>
                                              <p:pRg st="3" end="3"/>
                                            </p:txEl>
                                          </p:spTgt>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right)">
                                      <p:cBhvr>
                                        <p:cTn id="19" dur="500"/>
                                        <p:tgtEl>
                                          <p:spTgt spid="3">
                                            <p:txEl>
                                              <p:pRg st="4" end="4"/>
                                            </p:txEl>
                                          </p:spTgt>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right)">
                                      <p:cBhvr>
                                        <p:cTn id="22" dur="500"/>
                                        <p:tgtEl>
                                          <p:spTgt spid="3">
                                            <p:txEl>
                                              <p:pRg st="5" end="5"/>
                                            </p:txEl>
                                          </p:spTgt>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right)">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right)">
                                      <p:cBhvr>
                                        <p:cTn id="30" dur="500"/>
                                        <p:tgtEl>
                                          <p:spTgt spid="3">
                                            <p:txEl>
                                              <p:pRg st="7" end="7"/>
                                            </p:txEl>
                                          </p:spTgt>
                                        </p:tgtEl>
                                      </p:cBhvr>
                                    </p:animEffect>
                                  </p:childTnLst>
                                </p:cTn>
                              </p:par>
                              <p:par>
                                <p:cTn id="31" presetID="22" presetClass="entr" presetSubtype="2"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right)">
                                      <p:cBhvr>
                                        <p:cTn id="33" dur="500"/>
                                        <p:tgtEl>
                                          <p:spTgt spid="3">
                                            <p:txEl>
                                              <p:pRg st="8" end="8"/>
                                            </p:txEl>
                                          </p:spTgt>
                                        </p:tgtEl>
                                      </p:cBhvr>
                                    </p:animEffect>
                                  </p:childTnLst>
                                </p:cTn>
                              </p:par>
                              <p:par>
                                <p:cTn id="34" presetID="22" presetClass="entr" presetSubtype="2"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right)">
                                      <p:cBhvr>
                                        <p:cTn id="36" dur="500"/>
                                        <p:tgtEl>
                                          <p:spTgt spid="3">
                                            <p:txEl>
                                              <p:pRg st="9" end="9"/>
                                            </p:txEl>
                                          </p:spTgt>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wipe(right)">
                                      <p:cBhvr>
                                        <p:cTn id="39" dur="500"/>
                                        <p:tgtEl>
                                          <p:spTgt spid="3">
                                            <p:txEl>
                                              <p:pRg st="10" end="10"/>
                                            </p:txEl>
                                          </p:spTgt>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wipe(right)">
                                      <p:cBhvr>
                                        <p:cTn id="42" dur="500"/>
                                        <p:tgtEl>
                                          <p:spTgt spid="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wipe(right)">
                                      <p:cBhvr>
                                        <p:cTn id="47" dur="500"/>
                                        <p:tgtEl>
                                          <p:spTgt spid="3">
                                            <p:txEl>
                                              <p:pRg st="12" end="12"/>
                                            </p:txEl>
                                          </p:spTgt>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3">
                                            <p:txEl>
                                              <p:pRg st="13" end="13"/>
                                            </p:txEl>
                                          </p:spTgt>
                                        </p:tgtEl>
                                        <p:attrNameLst>
                                          <p:attrName>style.visibility</p:attrName>
                                        </p:attrNameLst>
                                      </p:cBhvr>
                                      <p:to>
                                        <p:strVal val="visible"/>
                                      </p:to>
                                    </p:set>
                                    <p:animEffect transition="in" filter="wipe(right)">
                                      <p:cBhvr>
                                        <p:cTn id="50" dur="500"/>
                                        <p:tgtEl>
                                          <p:spTgt spid="3">
                                            <p:txEl>
                                              <p:pRg st="13" end="13"/>
                                            </p:txEl>
                                          </p:spTgt>
                                        </p:tgtEl>
                                      </p:cBhvr>
                                    </p:animEffect>
                                  </p:childTnLst>
                                </p:cTn>
                              </p:par>
                              <p:par>
                                <p:cTn id="51" presetID="22" presetClass="entr" presetSubtype="2" fill="hold" grpId="0" nodeType="withEffect">
                                  <p:stCondLst>
                                    <p:cond delay="0"/>
                                  </p:stCondLst>
                                  <p:childTnLst>
                                    <p:set>
                                      <p:cBhvr>
                                        <p:cTn id="52" dur="1" fill="hold">
                                          <p:stCondLst>
                                            <p:cond delay="0"/>
                                          </p:stCondLst>
                                        </p:cTn>
                                        <p:tgtEl>
                                          <p:spTgt spid="3">
                                            <p:txEl>
                                              <p:pRg st="14" end="14"/>
                                            </p:txEl>
                                          </p:spTgt>
                                        </p:tgtEl>
                                        <p:attrNameLst>
                                          <p:attrName>style.visibility</p:attrName>
                                        </p:attrNameLst>
                                      </p:cBhvr>
                                      <p:to>
                                        <p:strVal val="visible"/>
                                      </p:to>
                                    </p:set>
                                    <p:animEffect transition="in" filter="wipe(right)">
                                      <p:cBhvr>
                                        <p:cTn id="53"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24797-E2F2-BA2E-7EC5-00F18A4D5033}"/>
              </a:ext>
            </a:extLst>
          </p:cNvPr>
          <p:cNvSpPr>
            <a:spLocks noGrp="1"/>
          </p:cNvSpPr>
          <p:nvPr>
            <p:ph type="title"/>
          </p:nvPr>
        </p:nvSpPr>
        <p:spPr/>
        <p:txBody>
          <a:bodyPr/>
          <a:lstStyle/>
          <a:p>
            <a:r>
              <a:rPr lang="en-US">
                <a:ea typeface="Calibri"/>
                <a:cs typeface="Calibri"/>
              </a:rPr>
              <a:t>Preparation for when it goes REALLY BAD</a:t>
            </a:r>
            <a:endParaRPr lang="en-US"/>
          </a:p>
        </p:txBody>
      </p:sp>
      <p:sp>
        <p:nvSpPr>
          <p:cNvPr id="3" name="Content Placeholder 2">
            <a:extLst>
              <a:ext uri="{FF2B5EF4-FFF2-40B4-BE49-F238E27FC236}">
                <a16:creationId xmlns:a16="http://schemas.microsoft.com/office/drawing/2014/main" id="{354BB851-88D2-4F1E-3D2A-F70995501C27}"/>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sz="2400">
                <a:latin typeface="Poppins"/>
                <a:cs typeface="Poppins"/>
              </a:rPr>
              <a:t>Thou Shalt</a:t>
            </a:r>
            <a:endParaRPr lang="en-US">
              <a:ea typeface="Calibri" panose="020F0502020204030204"/>
              <a:cs typeface="Calibri" panose="020F0502020204030204"/>
            </a:endParaRPr>
          </a:p>
          <a:p>
            <a:r>
              <a:rPr lang="en-US" sz="2000">
                <a:latin typeface="Poppins"/>
                <a:cs typeface="Poppins"/>
              </a:rPr>
              <a:t>Backup the SQL DB</a:t>
            </a:r>
            <a:endParaRPr lang="en-US"/>
          </a:p>
          <a:p>
            <a:r>
              <a:rPr lang="en-US" sz="2000">
                <a:latin typeface="Poppins"/>
                <a:cs typeface="Poppins"/>
              </a:rPr>
              <a:t>Backup the SOURCE content directory</a:t>
            </a:r>
            <a:endParaRPr lang="en-US"/>
          </a:p>
          <a:p>
            <a:r>
              <a:rPr lang="en-US" sz="2000">
                <a:latin typeface="Poppins"/>
                <a:cs typeface="Poppins"/>
              </a:rPr>
              <a:t>Backup the CD.LATEST directory</a:t>
            </a:r>
            <a:endParaRPr lang="en-US"/>
          </a:p>
          <a:p>
            <a:r>
              <a:rPr lang="en-US" sz="2000">
                <a:latin typeface="Poppins"/>
                <a:cs typeface="Poppins"/>
              </a:rPr>
              <a:t>The rest – is organization contextual</a:t>
            </a:r>
            <a:endParaRPr lang="en-US"/>
          </a:p>
          <a:p>
            <a:r>
              <a:rPr lang="en-US" sz="2000">
                <a:latin typeface="Poppins"/>
                <a:cs typeface="Poppins"/>
              </a:rPr>
              <a:t>TEST YOUR BACKUPS – (Even simple tests are OK)</a:t>
            </a:r>
            <a:endParaRPr lang="en-US"/>
          </a:p>
          <a:p>
            <a:pPr marL="0" indent="0">
              <a:buNone/>
            </a:pPr>
            <a:br>
              <a:rPr lang="en-US" sz="2400">
                <a:latin typeface="Poppins"/>
                <a:cs typeface="Poppins"/>
              </a:rPr>
            </a:br>
            <a:r>
              <a:rPr lang="en-US" sz="2400">
                <a:latin typeface="Poppins"/>
                <a:cs typeface="Poppins"/>
              </a:rPr>
              <a:t>Thou Shalt Not</a:t>
            </a:r>
            <a:endParaRPr lang="en-US">
              <a:ea typeface="Calibri" panose="020F0502020204030204"/>
              <a:cs typeface="Calibri" panose="020F0502020204030204"/>
            </a:endParaRPr>
          </a:p>
          <a:p>
            <a:r>
              <a:rPr lang="en-US" sz="2000">
                <a:latin typeface="Poppins"/>
                <a:cs typeface="Poppins"/>
              </a:rPr>
              <a:t>Restore “hot” Hyper-V/VMWare (whatever appliance)</a:t>
            </a:r>
            <a:br>
              <a:rPr lang="en-US" sz="2000">
                <a:latin typeface="Poppins"/>
                <a:cs typeface="Poppins"/>
              </a:rPr>
            </a:br>
            <a:r>
              <a:rPr lang="en-US" sz="2000">
                <a:latin typeface="Poppins"/>
                <a:cs typeface="Poppins"/>
              </a:rPr>
              <a:t>snapshots. You’ll have a bad time.</a:t>
            </a:r>
            <a:endParaRPr lang="en-US"/>
          </a:p>
          <a:p>
            <a:r>
              <a:rPr lang="en-US" sz="2000">
                <a:latin typeface="Poppins"/>
                <a:cs typeface="Poppins"/>
              </a:rPr>
              <a:t>Store them only on the same server. </a:t>
            </a:r>
            <a:endParaRPr lang="en-US"/>
          </a:p>
          <a:p>
            <a:r>
              <a:rPr lang="en-US" sz="2000">
                <a:latin typeface="Poppins"/>
                <a:cs typeface="Poppins"/>
              </a:rPr>
              <a:t>Restore older than 30 days (Maybe)</a:t>
            </a:r>
            <a:endParaRPr lang="en-US"/>
          </a:p>
          <a:p>
            <a:r>
              <a:rPr lang="en-US" sz="2000">
                <a:latin typeface="Poppins"/>
                <a:cs typeface="Poppins"/>
              </a:rPr>
              <a:t>Use only the native backup</a:t>
            </a:r>
            <a:endParaRPr lang="en-US"/>
          </a:p>
          <a:p>
            <a:endParaRPr lang="en-US">
              <a:ea typeface="Calibri"/>
              <a:cs typeface="Calibri"/>
            </a:endParaRPr>
          </a:p>
        </p:txBody>
      </p:sp>
      <p:pic>
        <p:nvPicPr>
          <p:cNvPr id="7" name="Picture 6">
            <a:extLst>
              <a:ext uri="{FF2B5EF4-FFF2-40B4-BE49-F238E27FC236}">
                <a16:creationId xmlns:a16="http://schemas.microsoft.com/office/drawing/2014/main" id="{4BE0D074-E42D-7ED5-3A61-60BB407D243D}"/>
              </a:ext>
            </a:extLst>
          </p:cNvPr>
          <p:cNvPicPr>
            <a:picLocks noChangeAspect="1"/>
          </p:cNvPicPr>
          <p:nvPr/>
        </p:nvPicPr>
        <p:blipFill>
          <a:blip r:embed="rId3">
            <a:alphaModFix amt="50000"/>
          </a:blip>
          <a:stretch>
            <a:fillRect/>
          </a:stretch>
        </p:blipFill>
        <p:spPr>
          <a:xfrm>
            <a:off x="8828490" y="1507787"/>
            <a:ext cx="2525310" cy="2436032"/>
          </a:xfrm>
          <a:prstGeom prst="rect">
            <a:avLst/>
          </a:prstGeom>
        </p:spPr>
      </p:pic>
      <p:pic>
        <p:nvPicPr>
          <p:cNvPr id="9" name="Picture 8">
            <a:extLst>
              <a:ext uri="{FF2B5EF4-FFF2-40B4-BE49-F238E27FC236}">
                <a16:creationId xmlns:a16="http://schemas.microsoft.com/office/drawing/2014/main" id="{B0AF2A08-C2BD-9836-2D5B-4D9491BC1B09}"/>
              </a:ext>
            </a:extLst>
          </p:cNvPr>
          <p:cNvPicPr>
            <a:picLocks noChangeAspect="1"/>
          </p:cNvPicPr>
          <p:nvPr/>
        </p:nvPicPr>
        <p:blipFill>
          <a:blip r:embed="rId4">
            <a:alphaModFix amt="50000"/>
          </a:blip>
          <a:stretch>
            <a:fillRect/>
          </a:stretch>
        </p:blipFill>
        <p:spPr>
          <a:xfrm>
            <a:off x="9527640" y="4165519"/>
            <a:ext cx="1350805" cy="2085344"/>
          </a:xfrm>
          <a:prstGeom prst="rect">
            <a:avLst/>
          </a:prstGeom>
        </p:spPr>
      </p:pic>
    </p:spTree>
    <p:extLst>
      <p:ext uri="{BB962C8B-B14F-4D97-AF65-F5344CB8AC3E}">
        <p14:creationId xmlns:p14="http://schemas.microsoft.com/office/powerpoint/2010/main" val="59350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righ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righ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righ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righ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righ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righ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righ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right)">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right)">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right)">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17C1-1D73-1303-4D1D-ADB07523C7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1FC337-C2DB-FBBD-C9F1-7863588C4220}"/>
              </a:ext>
            </a:extLst>
          </p:cNvPr>
          <p:cNvSpPr>
            <a:spLocks noGrp="1"/>
          </p:cNvSpPr>
          <p:nvPr>
            <p:ph type="title"/>
          </p:nvPr>
        </p:nvSpPr>
        <p:spPr/>
        <p:txBody>
          <a:bodyPr/>
          <a:lstStyle/>
          <a:p>
            <a:r>
              <a:rPr lang="en-US"/>
              <a:t>What do the logs say?</a:t>
            </a:r>
          </a:p>
        </p:txBody>
      </p:sp>
      <p:sp>
        <p:nvSpPr>
          <p:cNvPr id="3" name="Text Placeholder 2">
            <a:extLst>
              <a:ext uri="{FF2B5EF4-FFF2-40B4-BE49-F238E27FC236}">
                <a16:creationId xmlns:a16="http://schemas.microsoft.com/office/drawing/2014/main" id="{12889269-9B60-7D47-49B0-53E90CBA88F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40747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7C4865-A8EA-DE9B-A9E4-A479B9FE5284}"/>
              </a:ext>
            </a:extLst>
          </p:cNvPr>
          <p:cNvSpPr>
            <a:spLocks noGrp="1"/>
          </p:cNvSpPr>
          <p:nvPr>
            <p:ph type="body" sz="quarter" idx="10"/>
          </p:nvPr>
        </p:nvSpPr>
        <p:spPr/>
        <p:txBody>
          <a:bodyPr/>
          <a:lstStyle/>
          <a:p>
            <a:r>
              <a:rPr lang="en-US"/>
              <a:t>See Wally, he’ll find a mutual time for us to meet!</a:t>
            </a:r>
          </a:p>
          <a:p>
            <a:pPr marL="0" indent="0">
              <a:buNone/>
            </a:pPr>
            <a:endParaRPr lang="en-US"/>
          </a:p>
        </p:txBody>
      </p:sp>
    </p:spTree>
    <p:extLst>
      <p:ext uri="{BB962C8B-B14F-4D97-AF65-F5344CB8AC3E}">
        <p14:creationId xmlns:p14="http://schemas.microsoft.com/office/powerpoint/2010/main" val="1651702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781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530864"/>
      </p:ext>
    </p:extLst>
  </p:cSld>
  <p:clrMapOvr>
    <a:masterClrMapping/>
  </p:clrMapOvr>
</p:sld>
</file>

<file path=ppt/theme/theme1.xml><?xml version="1.0" encoding="utf-8"?>
<a:theme xmlns:a="http://schemas.openxmlformats.org/drawingml/2006/main" name="Dark Mod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MS 2026 at MOA.potx" id="{D8842C19-AA0D-435F-9EEB-FA31630ABB9B}" vid="{B3EE2789-FD7D-46D1-B302-E8985430D9C8}"/>
    </a:ext>
  </a:extLst>
</a:theme>
</file>

<file path=ppt/theme/theme2.xml><?xml version="1.0" encoding="utf-8"?>
<a:theme xmlns:a="http://schemas.openxmlformats.org/drawingml/2006/main" name="Light Mod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MS 2026 at MOA.potx" id="{D8842C19-AA0D-435F-9EEB-FA31630ABB9B}" vid="{5142D9BD-4495-4882-B39B-A8686CD3B0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4c1987-0261-432a-b2ef-a9da39f1b5e2">
      <Terms xmlns="http://schemas.microsoft.com/office/infopath/2007/PartnerControls"/>
    </lcf76f155ced4ddcb4097134ff3c332f>
    <TaxCatchAll xmlns="0f628621-369a-46c7-83bd-de17ca40753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66787FB9552CF40BFF026EAAC52FBCA" ma:contentTypeVersion="20" ma:contentTypeDescription="Create a new document." ma:contentTypeScope="" ma:versionID="edddbbb644e7c0bd6adf7ea50799224d">
  <xsd:schema xmlns:xsd="http://www.w3.org/2001/XMLSchema" xmlns:xs="http://www.w3.org/2001/XMLSchema" xmlns:p="http://schemas.microsoft.com/office/2006/metadata/properties" xmlns:ns2="0f628621-369a-46c7-83bd-de17ca407533" xmlns:ns3="994c1987-0261-432a-b2ef-a9da39f1b5e2" targetNamespace="http://schemas.microsoft.com/office/2006/metadata/properties" ma:root="true" ma:fieldsID="49108ad5585ca2305a1dbbeb1151d3a3" ns2:_="" ns3:_="">
    <xsd:import namespace="0f628621-369a-46c7-83bd-de17ca407533"/>
    <xsd:import namespace="994c1987-0261-432a-b2ef-a9da39f1b5e2"/>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628621-369a-46c7-83bd-de17ca40753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3" nillable="true" ma:displayName="Taxonomy Catch All Column" ma:hidden="true" ma:list="{373337a8-41f0-47ae-895f-b179ccc8878d}" ma:internalName="TaxCatchAll" ma:showField="CatchAllData" ma:web="0f628621-369a-46c7-83bd-de17ca4075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94c1987-0261-432a-b2ef-a9da39f1b5e2"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4f3eb32-8128-4a7e-868e-0456b78e6ea9"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0B4D4-529D-4984-8525-2DCCA1BEFF9D}">
  <ds:schemaRefs>
    <ds:schemaRef ds:uri="0f628621-369a-46c7-83bd-de17ca407533"/>
    <ds:schemaRef ds:uri="994c1987-0261-432a-b2ef-a9da39f1b5e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2549C15-4E42-4D07-A4DB-8ECA1C2B5F12}">
  <ds:schemaRefs>
    <ds:schemaRef ds:uri="0f628621-369a-46c7-83bd-de17ca407533"/>
    <ds:schemaRef ds:uri="994c1987-0261-432a-b2ef-a9da39f1b5e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BB99CDF-4DD1-4BCA-94A9-937C9978E90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MMS 2026 at MOA-Office</Template>
  <Application>Microsoft Office PowerPoint</Application>
  <PresentationFormat>Widescreen</PresentationFormat>
  <Slides>31</Slides>
  <Notes>20</Notes>
  <HiddenSlides>0</HiddenSlide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Dark Mode</vt:lpstr>
      <vt:lpstr>Light Mode</vt:lpstr>
      <vt:lpstr>ConfigMgr Fundamentals</vt:lpstr>
      <vt:lpstr>Attention</vt:lpstr>
      <vt:lpstr>PowerPoint Presentation</vt:lpstr>
      <vt:lpstr>Welcome</vt:lpstr>
      <vt:lpstr>Site design basics</vt:lpstr>
      <vt:lpstr>Site role size limits</vt:lpstr>
      <vt:lpstr>SQL considerations</vt:lpstr>
      <vt:lpstr>SQL Maintenance for Non-DBAs</vt:lpstr>
      <vt:lpstr>Discovery and client cycles</vt:lpstr>
      <vt:lpstr>WSUS</vt:lpstr>
      <vt:lpstr>WSUS </vt:lpstr>
      <vt:lpstr>Content distribution</vt:lpstr>
      <vt:lpstr>Sandys Said in 2019</vt:lpstr>
      <vt:lpstr>Co-Management</vt:lpstr>
      <vt:lpstr>AutoPilot to CM</vt:lpstr>
      <vt:lpstr>AutoPilot to CM – Code Blurb</vt:lpstr>
      <vt:lpstr>AutoPilot to CM – But Why?</vt:lpstr>
      <vt:lpstr>Co-Management</vt:lpstr>
      <vt:lpstr>Security recommendations</vt:lpstr>
      <vt:lpstr>Security</vt:lpstr>
      <vt:lpstr>Keep it updated</vt:lpstr>
      <vt:lpstr>Software updates</vt:lpstr>
      <vt:lpstr>Other apps</vt:lpstr>
      <vt:lpstr>Updating all the things</vt:lpstr>
      <vt:lpstr>Keep it running</vt:lpstr>
      <vt:lpstr>When it goes bad</vt:lpstr>
      <vt:lpstr>Preparation for when it goes REALLY BAD</vt:lpstr>
      <vt:lpstr>What do the logs say?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MMS 2026 at MOA</dc:subject>
  <dc:creator>Sherry Kissinger</dc:creator>
  <cp:revision>95</cp:revision>
  <dcterms:created xsi:type="dcterms:W3CDTF">2026-02-26T13:41:20Z</dcterms:created>
  <dcterms:modified xsi:type="dcterms:W3CDTF">2026-04-15T11:01:42Z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0x010100066787FB9552CF40BFF026EAAC52FBCA</vt:lpwstr>
  </property>
  <property fmtid="{D5CDD505-2E9C-101B-9397-08002B2CF9AE}" pid="3" name="MediaServiceImageTags">
    <vt:lpwstr/>
  </property>
</Properties>
</file>