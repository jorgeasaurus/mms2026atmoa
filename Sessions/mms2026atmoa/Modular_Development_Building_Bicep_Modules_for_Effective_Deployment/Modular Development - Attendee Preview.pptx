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7"/>
  </p:handoutMasterIdLst>
  <p:sldIdLst>
    <p:sldId id="256" r:id="rId6"/>
    <p:sldId id="264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63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7"/>
          </p14:sldIdLst>
        </p14:section>
        <p14:section name="Presentation" id="{88398753-748C-4CE7-B81D-D95829EA265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9C444-C66C-442E-AA3B-31C875C499EC}" v="12" dt="2026-03-25T01:28:59.394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2" autoAdjust="0"/>
  </p:normalViewPr>
  <p:slideViewPr>
    <p:cSldViewPr snapToGrid="0">
      <p:cViewPr varScale="1">
        <p:scale>
          <a:sx n="150" d="100"/>
          <a:sy n="150" d="100"/>
        </p:scale>
        <p:origin x="76" y="3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rio" userId="dbe1492c70b6d8a8" providerId="LiveId" clId="{C0A32B92-FFB3-4116-9370-C21BA5ED7C08}"/>
    <pc:docChg chg="undo custSel addSld modSld modSection">
      <pc:chgData name="Scott Corio" userId="dbe1492c70b6d8a8" providerId="LiveId" clId="{C0A32B92-FFB3-4116-9370-C21BA5ED7C08}" dt="2026-03-25T01:36:14.393" v="1086" actId="27636"/>
      <pc:docMkLst>
        <pc:docMk/>
      </pc:docMkLst>
      <pc:sldChg chg="modSp mod">
        <pc:chgData name="Scott Corio" userId="dbe1492c70b6d8a8" providerId="LiveId" clId="{C0A32B92-FFB3-4116-9370-C21BA5ED7C08}" dt="2026-03-25T01:17:34.895" v="193" actId="20577"/>
        <pc:sldMkLst>
          <pc:docMk/>
          <pc:sldMk cId="4024259014" sldId="270"/>
        </pc:sldMkLst>
        <pc:spChg chg="mod">
          <ac:chgData name="Scott Corio" userId="dbe1492c70b6d8a8" providerId="LiveId" clId="{C0A32B92-FFB3-4116-9370-C21BA5ED7C08}" dt="2026-03-25T01:17:34.895" v="193" actId="20577"/>
          <ac:spMkLst>
            <pc:docMk/>
            <pc:sldMk cId="4024259014" sldId="270"/>
            <ac:spMk id="3" creationId="{DB367E0F-21DB-441E-E93E-016522D70FA0}"/>
          </ac:spMkLst>
        </pc:spChg>
      </pc:sldChg>
      <pc:sldChg chg="addSp modSp new mod addAnim delAnim modAnim">
        <pc:chgData name="Scott Corio" userId="dbe1492c70b6d8a8" providerId="LiveId" clId="{C0A32B92-FFB3-4116-9370-C21BA5ED7C08}" dt="2026-03-25T01:26:53.369" v="811"/>
        <pc:sldMkLst>
          <pc:docMk/>
          <pc:sldMk cId="2490795399" sldId="271"/>
        </pc:sldMkLst>
        <pc:spChg chg="mod">
          <ac:chgData name="Scott Corio" userId="dbe1492c70b6d8a8" providerId="LiveId" clId="{C0A32B92-FFB3-4116-9370-C21BA5ED7C08}" dt="2026-03-25T01:18:35.963" v="209" actId="20577"/>
          <ac:spMkLst>
            <pc:docMk/>
            <pc:sldMk cId="2490795399" sldId="271"/>
            <ac:spMk id="2" creationId="{04AD0E42-DA62-36F8-CBA9-DAF1BB6A97D5}"/>
          </ac:spMkLst>
        </pc:spChg>
        <pc:spChg chg="mod">
          <ac:chgData name="Scott Corio" userId="dbe1492c70b6d8a8" providerId="LiveId" clId="{C0A32B92-FFB3-4116-9370-C21BA5ED7C08}" dt="2026-03-25T01:21:04.986" v="586" actId="20577"/>
          <ac:spMkLst>
            <pc:docMk/>
            <pc:sldMk cId="2490795399" sldId="271"/>
            <ac:spMk id="3" creationId="{CC77FAAD-8FEF-8040-88C0-E6A17672EDD5}"/>
          </ac:spMkLst>
        </pc:spChg>
        <pc:spChg chg="add mod">
          <ac:chgData name="Scott Corio" userId="dbe1492c70b6d8a8" providerId="LiveId" clId="{C0A32B92-FFB3-4116-9370-C21BA5ED7C08}" dt="2026-03-25T01:24:49.174" v="803" actId="1076"/>
          <ac:spMkLst>
            <pc:docMk/>
            <pc:sldMk cId="2490795399" sldId="271"/>
            <ac:spMk id="4" creationId="{D4F6B27F-397D-8D24-1ACB-D8B3594F82D4}"/>
          </ac:spMkLst>
        </pc:spChg>
        <pc:cxnChg chg="add">
          <ac:chgData name="Scott Corio" userId="dbe1492c70b6d8a8" providerId="LiveId" clId="{C0A32B92-FFB3-4116-9370-C21BA5ED7C08}" dt="2026-03-25T01:26:01.453" v="804" actId="11529"/>
          <ac:cxnSpMkLst>
            <pc:docMk/>
            <pc:sldMk cId="2490795399" sldId="271"/>
            <ac:cxnSpMk id="6" creationId="{901ED3C3-D4D0-A243-A137-F795B349F1ED}"/>
          </ac:cxnSpMkLst>
        </pc:cxnChg>
        <pc:cxnChg chg="add">
          <ac:chgData name="Scott Corio" userId="dbe1492c70b6d8a8" providerId="LiveId" clId="{C0A32B92-FFB3-4116-9370-C21BA5ED7C08}" dt="2026-03-25T01:26:09.099" v="805" actId="11529"/>
          <ac:cxnSpMkLst>
            <pc:docMk/>
            <pc:sldMk cId="2490795399" sldId="271"/>
            <ac:cxnSpMk id="8" creationId="{66D59D41-0F83-6009-7916-AD69B1A5E8F4}"/>
          </ac:cxnSpMkLst>
        </pc:cxnChg>
      </pc:sldChg>
      <pc:sldChg chg="modSp add mod">
        <pc:chgData name="Scott Corio" userId="dbe1492c70b6d8a8" providerId="LiveId" clId="{C0A32B92-FFB3-4116-9370-C21BA5ED7C08}" dt="2026-03-25T01:22:07.274" v="719" actId="20577"/>
        <pc:sldMkLst>
          <pc:docMk/>
          <pc:sldMk cId="1782106631" sldId="272"/>
        </pc:sldMkLst>
        <pc:spChg chg="mod">
          <ac:chgData name="Scott Corio" userId="dbe1492c70b6d8a8" providerId="LiveId" clId="{C0A32B92-FFB3-4116-9370-C21BA5ED7C08}" dt="2026-03-25T01:21:31.217" v="604" actId="20577"/>
          <ac:spMkLst>
            <pc:docMk/>
            <pc:sldMk cId="1782106631" sldId="272"/>
            <ac:spMk id="2" creationId="{B714C751-AED6-4C15-3C84-3881C5993BD1}"/>
          </ac:spMkLst>
        </pc:spChg>
        <pc:spChg chg="mod">
          <ac:chgData name="Scott Corio" userId="dbe1492c70b6d8a8" providerId="LiveId" clId="{C0A32B92-FFB3-4116-9370-C21BA5ED7C08}" dt="2026-03-25T01:22:07.274" v="719" actId="20577"/>
          <ac:spMkLst>
            <pc:docMk/>
            <pc:sldMk cId="1782106631" sldId="272"/>
            <ac:spMk id="3" creationId="{9A3142F8-1308-316F-D199-5A3A6F75D7F3}"/>
          </ac:spMkLst>
        </pc:spChg>
      </pc:sldChg>
      <pc:sldChg chg="modSp new mod">
        <pc:chgData name="Scott Corio" userId="dbe1492c70b6d8a8" providerId="LiveId" clId="{C0A32B92-FFB3-4116-9370-C21BA5ED7C08}" dt="2026-03-25T01:36:14.393" v="1086" actId="27636"/>
        <pc:sldMkLst>
          <pc:docMk/>
          <pc:sldMk cId="4016499081" sldId="273"/>
        </pc:sldMkLst>
        <pc:spChg chg="mod">
          <ac:chgData name="Scott Corio" userId="dbe1492c70b6d8a8" providerId="LiveId" clId="{C0A32B92-FFB3-4116-9370-C21BA5ED7C08}" dt="2026-03-25T01:28:05.510" v="862" actId="20577"/>
          <ac:spMkLst>
            <pc:docMk/>
            <pc:sldMk cId="4016499081" sldId="273"/>
            <ac:spMk id="2" creationId="{F5ECC482-E3FA-4713-433D-8903E61795B6}"/>
          </ac:spMkLst>
        </pc:spChg>
        <pc:spChg chg="mod">
          <ac:chgData name="Scott Corio" userId="dbe1492c70b6d8a8" providerId="LiveId" clId="{C0A32B92-FFB3-4116-9370-C21BA5ED7C08}" dt="2026-03-25T01:36:14.393" v="1086" actId="27636"/>
          <ac:spMkLst>
            <pc:docMk/>
            <pc:sldMk cId="4016499081" sldId="273"/>
            <ac:spMk id="3" creationId="{11388A81-B272-EAF7-A3B2-D2BC8D40543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svg"/><Relationship Id="rId20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svg"/><Relationship Id="rId20" Type="http://schemas.openxmlformats.org/officeDocument/2006/relationships/image" Target="../media/image4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652" y="1956816"/>
            <a:ext cx="2971800" cy="298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755363" y="1488483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431814" y="1488483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885025" y="230806"/>
            <a:ext cx="6421951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71628" y="1492834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87" y="1950148"/>
            <a:ext cx="2964728" cy="2964728"/>
          </a:xfrm>
          <a:prstGeom prst="rect">
            <a:avLst/>
          </a:prstGeom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58" y="1934521"/>
            <a:ext cx="2980355" cy="29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971" y="4044020"/>
            <a:ext cx="1258699" cy="914400"/>
          </a:xfrm>
          <a:prstGeom prst="rect">
            <a:avLst/>
          </a:prstGeom>
        </p:spPr>
      </p:pic>
      <p:pic>
        <p:nvPicPr>
          <p:cNvPr id="19" name="Picture 18" descr="Microsoft">
            <a:extLst>
              <a:ext uri="{FF2B5EF4-FFF2-40B4-BE49-F238E27FC236}">
                <a16:creationId xmlns:a16="http://schemas.microsoft.com/office/drawing/2014/main" id="{F1B0E5FC-C842-2CF5-F268-35CF4E989D6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518" y="4897480"/>
            <a:ext cx="2244144" cy="100584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983" y="4135460"/>
            <a:ext cx="731520" cy="731520"/>
          </a:xfrm>
          <a:prstGeom prst="rect">
            <a:avLst/>
          </a:prstGeom>
        </p:spPr>
      </p:pic>
      <p:pic>
        <p:nvPicPr>
          <p:cNvPr id="17" name="Graphic 16" descr="2Pint Software">
            <a:extLst>
              <a:ext uri="{FF2B5EF4-FFF2-40B4-BE49-F238E27FC236}">
                <a16:creationId xmlns:a16="http://schemas.microsoft.com/office/drawing/2014/main" id="{67F8DDDD-DFAE-B059-F17D-48D5058DC49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8087" y="4306910"/>
            <a:ext cx="1554480" cy="3886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2188" y="5171800"/>
            <a:ext cx="1188721" cy="45720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70C1D7FD-CF3B-5E3C-F668-5241BE18643A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286" y="6172200"/>
            <a:ext cx="1143367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846" y="6195695"/>
            <a:ext cx="901452" cy="410211"/>
          </a:xfrm>
          <a:prstGeom prst="rect">
            <a:avLst/>
          </a:prstGeom>
        </p:spPr>
      </p:pic>
      <p:pic>
        <p:nvPicPr>
          <p:cNvPr id="35" name="Picture 34" descr="A white circle with orange arrow and text&#10;&#10;Description automatically generated">
            <a:extLst>
              <a:ext uri="{FF2B5EF4-FFF2-40B4-BE49-F238E27FC236}">
                <a16:creationId xmlns:a16="http://schemas.microsoft.com/office/drawing/2014/main" id="{C9BC325D-6EE6-A42A-3C7C-3C2402F596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059" y="5004002"/>
            <a:ext cx="792796" cy="792796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85398DA-D502-19CD-EC19-BB63F64512C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2919" y="4287997"/>
            <a:ext cx="1828800" cy="4264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3670" y="5286100"/>
            <a:ext cx="1503922" cy="228600"/>
          </a:xfrm>
          <a:prstGeom prst="rect">
            <a:avLst/>
          </a:prstGeom>
        </p:spPr>
      </p:pic>
      <p:pic>
        <p:nvPicPr>
          <p:cNvPr id="33" name="Picture 32" descr="A logo with white text&#10;&#10;Description automatically generated">
            <a:extLst>
              <a:ext uri="{FF2B5EF4-FFF2-40B4-BE49-F238E27FC236}">
                <a16:creationId xmlns:a16="http://schemas.microsoft.com/office/drawing/2014/main" id="{183011D5-C6F7-DA00-67E6-8875D9BC1E2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5943600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FAC9FF6-3344-53B0-ED7E-28F6FA59D0B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4" y="4278412"/>
            <a:ext cx="1554480" cy="445617"/>
          </a:xfrm>
          <a:prstGeom prst="rect">
            <a:avLst/>
          </a:prstGeom>
        </p:spPr>
      </p:pic>
      <p:pic>
        <p:nvPicPr>
          <p:cNvPr id="22" name="Picture 21" descr="A blue logo with white text&#10;&#10;Description automatically generated">
            <a:extLst>
              <a:ext uri="{FF2B5EF4-FFF2-40B4-BE49-F238E27FC236}">
                <a16:creationId xmlns:a16="http://schemas.microsoft.com/office/drawing/2014/main" id="{469B32A5-A67E-EC47-BCAE-A83C9B992371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94" y="6035040"/>
            <a:ext cx="870599" cy="731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023378-D629-FEFF-9D58-B44519B4966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549" y="6035040"/>
            <a:ext cx="115438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5652" y="1956816"/>
            <a:ext cx="2971800" cy="298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755363" y="1488483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431814" y="1488483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885025" y="230806"/>
            <a:ext cx="6421951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71628" y="1492834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87" y="1950148"/>
            <a:ext cx="2964728" cy="2964728"/>
          </a:xfrm>
          <a:prstGeom prst="rect">
            <a:avLst/>
          </a:prstGeom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858" y="1934521"/>
            <a:ext cx="2980355" cy="29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63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971" y="4044020"/>
            <a:ext cx="1258699" cy="914400"/>
          </a:xfrm>
          <a:prstGeom prst="rect">
            <a:avLst/>
          </a:prstGeom>
        </p:spPr>
      </p:pic>
      <p:pic>
        <p:nvPicPr>
          <p:cNvPr id="19" name="Picture 18" descr="Microsoft">
            <a:extLst>
              <a:ext uri="{FF2B5EF4-FFF2-40B4-BE49-F238E27FC236}">
                <a16:creationId xmlns:a16="http://schemas.microsoft.com/office/drawing/2014/main" id="{F1B0E5FC-C842-2CF5-F268-35CF4E989D6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2518" y="4897480"/>
            <a:ext cx="2244144" cy="100584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983" y="4135460"/>
            <a:ext cx="731520" cy="731520"/>
          </a:xfrm>
          <a:prstGeom prst="rect">
            <a:avLst/>
          </a:prstGeom>
        </p:spPr>
      </p:pic>
      <p:pic>
        <p:nvPicPr>
          <p:cNvPr id="17" name="Graphic 16" descr="2Pint Software">
            <a:extLst>
              <a:ext uri="{FF2B5EF4-FFF2-40B4-BE49-F238E27FC236}">
                <a16:creationId xmlns:a16="http://schemas.microsoft.com/office/drawing/2014/main" id="{67F8DDDD-DFAE-B059-F17D-48D5058DC49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8087" y="4306910"/>
            <a:ext cx="1554480" cy="3886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2188" y="5171800"/>
            <a:ext cx="1188721" cy="457200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70C1D7FD-CF3B-5E3C-F668-5241BE18643A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1286" y="6172200"/>
            <a:ext cx="1143367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846" y="6195695"/>
            <a:ext cx="901452" cy="410211"/>
          </a:xfrm>
          <a:prstGeom prst="rect">
            <a:avLst/>
          </a:prstGeom>
        </p:spPr>
      </p:pic>
      <p:pic>
        <p:nvPicPr>
          <p:cNvPr id="35" name="Picture 34" descr="A white circle with orange arrow and text&#10;&#10;Description automatically generated">
            <a:extLst>
              <a:ext uri="{FF2B5EF4-FFF2-40B4-BE49-F238E27FC236}">
                <a16:creationId xmlns:a16="http://schemas.microsoft.com/office/drawing/2014/main" id="{C9BC325D-6EE6-A42A-3C7C-3C2402F596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6059" y="5004002"/>
            <a:ext cx="792796" cy="792796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85398DA-D502-19CD-EC19-BB63F64512C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2919" y="4287997"/>
            <a:ext cx="1828800" cy="426447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3670" y="5286100"/>
            <a:ext cx="1503922" cy="228600"/>
          </a:xfrm>
          <a:prstGeom prst="rect">
            <a:avLst/>
          </a:prstGeom>
        </p:spPr>
      </p:pic>
      <p:pic>
        <p:nvPicPr>
          <p:cNvPr id="33" name="Picture 32" descr="A logo with white text&#10;&#10;Description automatically generated">
            <a:extLst>
              <a:ext uri="{FF2B5EF4-FFF2-40B4-BE49-F238E27FC236}">
                <a16:creationId xmlns:a16="http://schemas.microsoft.com/office/drawing/2014/main" id="{183011D5-C6F7-DA00-67E6-8875D9BC1E2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5943600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5FAC9FF6-3344-53B0-ED7E-28F6FA59D0B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4" y="4278412"/>
            <a:ext cx="1554480" cy="445617"/>
          </a:xfrm>
          <a:prstGeom prst="rect">
            <a:avLst/>
          </a:prstGeom>
        </p:spPr>
      </p:pic>
      <p:pic>
        <p:nvPicPr>
          <p:cNvPr id="22" name="Picture 21" descr="A blue logo with white text&#10;&#10;Description automatically generated">
            <a:extLst>
              <a:ext uri="{FF2B5EF4-FFF2-40B4-BE49-F238E27FC236}">
                <a16:creationId xmlns:a16="http://schemas.microsoft.com/office/drawing/2014/main" id="{469B32A5-A67E-EC47-BCAE-A83C9B992371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94" y="6035040"/>
            <a:ext cx="870599" cy="731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023378-D629-FEFF-9D58-B44519B4966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549" y="6035040"/>
            <a:ext cx="115438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88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Modular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Bicep Modules for Effective Deployment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/>
        </p:blipFill>
        <p:spPr/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David Brook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Scott Corio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dbbrook24</a:t>
            </a:r>
          </a:p>
          <a:p>
            <a:r>
              <a:rPr lang="en-US" dirty="0"/>
              <a:t>in/</a:t>
            </a:r>
            <a:r>
              <a:rPr lang="en-US" dirty="0" err="1"/>
              <a:t>davidbrookcxp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DumpsterDave</a:t>
            </a:r>
            <a:endParaRPr lang="en-US" dirty="0"/>
          </a:p>
          <a:p>
            <a:r>
              <a:rPr lang="en-US" dirty="0"/>
              <a:t>   in/</a:t>
            </a:r>
            <a:r>
              <a:rPr lang="en-US" dirty="0" err="1"/>
              <a:t>ScottCorio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Managing Consultant, Intune MVP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Cloud Architect, Azure MVP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6DAF7F0-41C0-0FFE-E4A3-03DC4A610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162" y="5720614"/>
            <a:ext cx="476250" cy="4762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17" name="Picture 16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A41FE4A7-D719-AE27-CECB-7BAF254940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924" y="5261408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7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54037-6474-5BCF-134F-8B5AB7AE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Know Before You Show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F63819-38FB-F85C-68EB-10554414C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you already understand the following:</a:t>
            </a:r>
          </a:p>
          <a:p>
            <a:pPr lvl="1"/>
            <a:r>
              <a:rPr lang="en-US" dirty="0"/>
              <a:t>What Bicep is, even if you don't understand how it works</a:t>
            </a:r>
          </a:p>
          <a:p>
            <a:pPr lvl="1"/>
            <a:r>
              <a:rPr lang="en-US" dirty="0"/>
              <a:t>The concept of a container registry (like dockerhub.io or ghcr.io)</a:t>
            </a:r>
          </a:p>
        </p:txBody>
      </p:sp>
    </p:spTree>
    <p:extLst>
      <p:ext uri="{BB962C8B-B14F-4D97-AF65-F5344CB8AC3E}">
        <p14:creationId xmlns:p14="http://schemas.microsoft.com/office/powerpoint/2010/main" val="54754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3FD6-F431-CADF-9028-F9D80B66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Bicep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3F1E-4EFF-819E-2A16-EA450A1A0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 err="1">
                <a:latin typeface="Aptos Mono" panose="020B0009020202020204" pitchFamily="49" charset="0"/>
              </a:rPr>
              <a:t>targetScope</a:t>
            </a:r>
            <a:r>
              <a:rPr lang="en-US" sz="1400" dirty="0">
                <a:latin typeface="Aptos Mono" panose="020B0009020202020204" pitchFamily="49" charset="0"/>
              </a:rPr>
              <a:t> = '</a:t>
            </a:r>
            <a:r>
              <a:rPr lang="en-US" sz="1400" dirty="0" err="1">
                <a:latin typeface="Aptos Mono" panose="020B0009020202020204" pitchFamily="49" charset="0"/>
              </a:rPr>
              <a:t>resourceGroup</a:t>
            </a:r>
            <a:r>
              <a:rPr lang="en-US" sz="1400" dirty="0">
                <a:latin typeface="Aptos Mono" panose="020B0009020202020204" pitchFamily="49" charset="0"/>
              </a:rPr>
              <a:t>'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@description('This is a decorator for a required string parameter')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param location string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@description('This is an optional parameter with no default value')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param </a:t>
            </a:r>
            <a:r>
              <a:rPr lang="en-US" sz="1400" dirty="0" err="1">
                <a:latin typeface="Aptos Mono" panose="020B0009020202020204" pitchFamily="49" charset="0"/>
              </a:rPr>
              <a:t>displayName</a:t>
            </a:r>
            <a:r>
              <a:rPr lang="en-US" sz="1400" dirty="0">
                <a:latin typeface="Aptos Mono" panose="020B0009020202020204" pitchFamily="49" charset="0"/>
              </a:rPr>
              <a:t> string?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resource </a:t>
            </a:r>
            <a:r>
              <a:rPr lang="en-US" sz="1400" dirty="0" err="1">
                <a:latin typeface="Aptos Mono" panose="020B0009020202020204" pitchFamily="49" charset="0"/>
              </a:rPr>
              <a:t>objectName</a:t>
            </a:r>
            <a:r>
              <a:rPr lang="en-US" sz="1400" dirty="0">
                <a:latin typeface="Aptos Mono" panose="020B0009020202020204" pitchFamily="49" charset="0"/>
              </a:rPr>
              <a:t> "</a:t>
            </a:r>
            <a:r>
              <a:rPr lang="en-US" sz="1400" dirty="0" err="1">
                <a:latin typeface="Aptos Mono" panose="020B0009020202020204" pitchFamily="49" charset="0"/>
              </a:rPr>
              <a:t>Microsoft.Network</a:t>
            </a:r>
            <a:r>
              <a:rPr lang="en-US" sz="1400" dirty="0">
                <a:latin typeface="Aptos Mono" panose="020B0009020202020204" pitchFamily="49" charset="0"/>
              </a:rPr>
              <a:t>/virtualNetwork@2026-01-01" = {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name: name ? name : </a:t>
            </a:r>
            <a:r>
              <a:rPr lang="en-US" sz="1400" dirty="0" err="1">
                <a:latin typeface="Aptos Mono" panose="020B0009020202020204" pitchFamily="49" charset="0"/>
              </a:rPr>
              <a:t>displayName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location: location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properties: {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  </a:t>
            </a:r>
            <a:r>
              <a:rPr lang="en-US" sz="1400" dirty="0" err="1">
                <a:latin typeface="Aptos Mono" panose="020B0009020202020204" pitchFamily="49" charset="0"/>
              </a:rPr>
              <a:t>displayName</a:t>
            </a:r>
            <a:r>
              <a:rPr lang="en-US" sz="1400" dirty="0">
                <a:latin typeface="Aptos Mono" panose="020B0009020202020204" pitchFamily="49" charset="0"/>
              </a:rPr>
              <a:t>: </a:t>
            </a:r>
            <a:r>
              <a:rPr lang="en-US" sz="1400" dirty="0" err="1">
                <a:latin typeface="Aptos Mono" panose="020B0009020202020204" pitchFamily="49" charset="0"/>
              </a:rPr>
              <a:t>displayName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  </a:t>
            </a:r>
            <a:r>
              <a:rPr lang="en-US" sz="1400" dirty="0" err="1">
                <a:latin typeface="Aptos Mono" panose="020B0009020202020204" pitchFamily="49" charset="0"/>
              </a:rPr>
              <a:t>addressSpace</a:t>
            </a:r>
            <a:r>
              <a:rPr lang="en-US" sz="1400" dirty="0">
                <a:latin typeface="Aptos Mono" panose="020B0009020202020204" pitchFamily="49" charset="0"/>
              </a:rPr>
              <a:t>: [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    '10.10.0.0/16'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  subnets: []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}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18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81D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4627E-8695-1BCC-10B3-1E5C9A35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Bicep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67E0F-21DB-441E-E93E-016522D70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are "compiled" resources that allow you to control what properties are exposed and limit options for values</a:t>
            </a:r>
          </a:p>
          <a:p>
            <a:pPr lvl="1"/>
            <a:r>
              <a:rPr lang="en-US" dirty="0"/>
              <a:t>For instance, requiring a PE on a storage account and setting public access to disabled</a:t>
            </a:r>
          </a:p>
          <a:p>
            <a:r>
              <a:rPr lang="en-US" dirty="0"/>
              <a:t>Provide a versioned object similar to an API version reference</a:t>
            </a:r>
          </a:p>
          <a:p>
            <a:r>
              <a:rPr lang="en-US" dirty="0"/>
              <a:t>Can be scoped differently than the template they are deployed with</a:t>
            </a:r>
          </a:p>
          <a:p>
            <a:r>
              <a:rPr lang="en-US" dirty="0"/>
              <a:t>Are like nested deployments</a:t>
            </a:r>
          </a:p>
          <a:p>
            <a:r>
              <a:rPr lang="en-US" dirty="0"/>
              <a:t>Can simplify templates and template logic</a:t>
            </a:r>
          </a:p>
        </p:txBody>
      </p:sp>
    </p:spTree>
    <p:extLst>
      <p:ext uri="{BB962C8B-B14F-4D97-AF65-F5344CB8AC3E}">
        <p14:creationId xmlns:p14="http://schemas.microsoft.com/office/powerpoint/2010/main" val="402425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0E42-DA62-36F8-CBA9-DAF1BB6A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FAAD-8FEF-8040-88C0-E6A17672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#This is Invalid</a:t>
            </a:r>
          </a:p>
          <a:p>
            <a:pPr marL="0" indent="0">
              <a:buNone/>
            </a:pPr>
            <a:r>
              <a:rPr lang="en-US" sz="1400" dirty="0" err="1">
                <a:latin typeface="Aptos Mono" panose="020B0009020202020204" pitchFamily="49" charset="0"/>
              </a:rPr>
              <a:t>targetScope</a:t>
            </a:r>
            <a:r>
              <a:rPr lang="en-US" sz="1400" dirty="0">
                <a:latin typeface="Aptos Mono" panose="020B0009020202020204" pitchFamily="49" charset="0"/>
              </a:rPr>
              <a:t> = 'subscription'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resource </a:t>
            </a:r>
            <a:r>
              <a:rPr lang="en-US" sz="1400" dirty="0" err="1">
                <a:latin typeface="Aptos Mono" panose="020B0009020202020204" pitchFamily="49" charset="0"/>
              </a:rPr>
              <a:t>resourceGroup</a:t>
            </a:r>
            <a:r>
              <a:rPr lang="en-US" sz="1400" dirty="0">
                <a:latin typeface="Aptos Mono" panose="020B0009020202020204" pitchFamily="49" charset="0"/>
              </a:rPr>
              <a:t> '</a:t>
            </a:r>
            <a:r>
              <a:rPr lang="en-US" sz="1400" dirty="0" err="1">
                <a:latin typeface="Aptos Mono" panose="020B0009020202020204" pitchFamily="49" charset="0"/>
              </a:rPr>
              <a:t>Microsoft.Resources</a:t>
            </a:r>
            <a:r>
              <a:rPr lang="en-US" sz="1400" dirty="0">
                <a:latin typeface="Aptos Mono" panose="020B0009020202020204" pitchFamily="49" charset="0"/>
              </a:rPr>
              <a:t>/resourceGroup@2025-01-02' = {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name: </a:t>
            </a:r>
            <a:r>
              <a:rPr lang="en-US" sz="1400" dirty="0" err="1">
                <a:latin typeface="Aptos Mono" panose="020B0009020202020204" pitchFamily="49" charset="0"/>
              </a:rPr>
              <a:t>resourceGroupName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location: '</a:t>
            </a:r>
            <a:r>
              <a:rPr lang="en-US" sz="1400" dirty="0" err="1">
                <a:latin typeface="Aptos Mono" panose="020B0009020202020204" pitchFamily="49" charset="0"/>
              </a:rPr>
              <a:t>eastus</a:t>
            </a:r>
            <a:r>
              <a:rPr lang="en-US" sz="1400" dirty="0">
                <a:latin typeface="Aptos Mono" panose="020B00090202020202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resource </a:t>
            </a:r>
            <a:r>
              <a:rPr lang="en-US" sz="1400" dirty="0" err="1">
                <a:latin typeface="Aptos Mono" panose="020B0009020202020204" pitchFamily="49" charset="0"/>
              </a:rPr>
              <a:t>storageAccount</a:t>
            </a:r>
            <a:r>
              <a:rPr lang="en-US" sz="1400" dirty="0">
                <a:latin typeface="Aptos Mono" panose="020B0009020202020204" pitchFamily="49" charset="0"/>
              </a:rPr>
              <a:t> '</a:t>
            </a:r>
            <a:r>
              <a:rPr lang="en-US" sz="1400" dirty="0" err="1">
                <a:latin typeface="Aptos Mono" panose="020B0009020202020204" pitchFamily="49" charset="0"/>
              </a:rPr>
              <a:t>Microsoft.Storage</a:t>
            </a:r>
            <a:r>
              <a:rPr lang="en-US" sz="1400" dirty="0">
                <a:latin typeface="Aptos Mono" panose="020B0009020202020204" pitchFamily="49" charset="0"/>
              </a:rPr>
              <a:t>/accounts@2025-01-02' = {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name: </a:t>
            </a:r>
            <a:r>
              <a:rPr lang="en-US" sz="1400" dirty="0" err="1">
                <a:latin typeface="Aptos Mono" panose="020B0009020202020204" pitchFamily="49" charset="0"/>
              </a:rPr>
              <a:t>storageAccountName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location: '</a:t>
            </a:r>
            <a:r>
              <a:rPr lang="en-US" sz="1400" dirty="0" err="1">
                <a:latin typeface="Aptos Mono" panose="020B0009020202020204" pitchFamily="49" charset="0"/>
              </a:rPr>
              <a:t>eastus</a:t>
            </a:r>
            <a:r>
              <a:rPr lang="en-US" sz="1400" dirty="0">
                <a:latin typeface="Aptos Mono" panose="020B00090202020202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properties: {}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6B27F-397D-8D24-1ACB-D8B3594F82D4}"/>
              </a:ext>
            </a:extLst>
          </p:cNvPr>
          <p:cNvSpPr txBox="1"/>
          <p:nvPr/>
        </p:nvSpPr>
        <p:spPr>
          <a:xfrm>
            <a:off x="3458633" y="3750734"/>
            <a:ext cx="8090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Resources can't be deployed at a different scope than the file they are defined 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1ED3C3-D4D0-A243-A137-F795B349F1ED}"/>
              </a:ext>
            </a:extLst>
          </p:cNvPr>
          <p:cNvCxnSpPr/>
          <p:nvPr/>
        </p:nvCxnSpPr>
        <p:spPr>
          <a:xfrm flipH="1">
            <a:off x="1862667" y="3958167"/>
            <a:ext cx="1481666" cy="474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D59D41-0F83-6009-7916-AD69B1A5E8F4}"/>
              </a:ext>
            </a:extLst>
          </p:cNvPr>
          <p:cNvCxnSpPr/>
          <p:nvPr/>
        </p:nvCxnSpPr>
        <p:spPr>
          <a:xfrm flipH="1" flipV="1">
            <a:off x="2781300" y="2425700"/>
            <a:ext cx="613833" cy="1509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7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5B90-0F56-F1E2-DC8A-1C3C0258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C751-AED6-4C15-3C84-3881C599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Scope Properly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42F8-1308-316F-D199-5A3A6F75D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#This is valid</a:t>
            </a:r>
          </a:p>
          <a:p>
            <a:pPr marL="0" indent="0">
              <a:buNone/>
            </a:pPr>
            <a:r>
              <a:rPr lang="en-US" sz="1400" dirty="0" err="1">
                <a:latin typeface="Aptos Mono" panose="020B0009020202020204" pitchFamily="49" charset="0"/>
              </a:rPr>
              <a:t>targetScope</a:t>
            </a:r>
            <a:r>
              <a:rPr lang="en-US" sz="1400" dirty="0">
                <a:latin typeface="Aptos Mono" panose="020B0009020202020204" pitchFamily="49" charset="0"/>
              </a:rPr>
              <a:t> = 'subscription'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resource </a:t>
            </a:r>
            <a:r>
              <a:rPr lang="en-US" sz="1400" dirty="0" err="1">
                <a:latin typeface="Aptos Mono" panose="020B0009020202020204" pitchFamily="49" charset="0"/>
              </a:rPr>
              <a:t>resourceGroup</a:t>
            </a:r>
            <a:r>
              <a:rPr lang="en-US" sz="1400" dirty="0">
                <a:latin typeface="Aptos Mono" panose="020B0009020202020204" pitchFamily="49" charset="0"/>
              </a:rPr>
              <a:t> '</a:t>
            </a:r>
            <a:r>
              <a:rPr lang="en-US" sz="1400" dirty="0" err="1">
                <a:latin typeface="Aptos Mono" panose="020B0009020202020204" pitchFamily="49" charset="0"/>
              </a:rPr>
              <a:t>Microsoft.Resources</a:t>
            </a:r>
            <a:r>
              <a:rPr lang="en-US" sz="1400" dirty="0">
                <a:latin typeface="Aptos Mono" panose="020B0009020202020204" pitchFamily="49" charset="0"/>
              </a:rPr>
              <a:t>/resourceGroup@2025-01-02' = {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name: </a:t>
            </a:r>
            <a:r>
              <a:rPr lang="en-US" sz="1400" dirty="0" err="1">
                <a:latin typeface="Aptos Mono" panose="020B0009020202020204" pitchFamily="49" charset="0"/>
              </a:rPr>
              <a:t>resourceGroupName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location: '</a:t>
            </a:r>
            <a:r>
              <a:rPr lang="en-US" sz="1400" dirty="0" err="1">
                <a:latin typeface="Aptos Mono" panose="020B0009020202020204" pitchFamily="49" charset="0"/>
              </a:rPr>
              <a:t>eastus</a:t>
            </a:r>
            <a:r>
              <a:rPr lang="en-US" sz="1400" dirty="0">
                <a:latin typeface="Aptos Mono" panose="020B00090202020202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module </a:t>
            </a:r>
            <a:r>
              <a:rPr lang="en-US" sz="1400" dirty="0" err="1">
                <a:latin typeface="Aptos Mono" panose="020B0009020202020204" pitchFamily="49" charset="0"/>
              </a:rPr>
              <a:t>storageAccount</a:t>
            </a:r>
            <a:r>
              <a:rPr lang="en-US" sz="1400" dirty="0">
                <a:latin typeface="Aptos Mono" panose="020B0009020202020204" pitchFamily="49" charset="0"/>
              </a:rPr>
              <a:t> './</a:t>
            </a:r>
            <a:r>
              <a:rPr lang="en-US" sz="1400" dirty="0" err="1">
                <a:latin typeface="Aptos Mono" panose="020B0009020202020204" pitchFamily="49" charset="0"/>
              </a:rPr>
              <a:t>storageAccount.bicep</a:t>
            </a:r>
            <a:r>
              <a:rPr lang="en-US" sz="1400" dirty="0">
                <a:latin typeface="Aptos Mono" panose="020B0009020202020204" pitchFamily="49" charset="0"/>
              </a:rPr>
              <a:t>' = {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name: </a:t>
            </a:r>
            <a:r>
              <a:rPr lang="en-US" sz="1400" dirty="0" err="1">
                <a:latin typeface="Aptos Mono" panose="020B0009020202020204" pitchFamily="49" charset="0"/>
              </a:rPr>
              <a:t>storageAccountName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location: '</a:t>
            </a:r>
            <a:r>
              <a:rPr lang="en-US" sz="1400" dirty="0" err="1">
                <a:latin typeface="Aptos Mono" panose="020B0009020202020204" pitchFamily="49" charset="0"/>
              </a:rPr>
              <a:t>eastus</a:t>
            </a:r>
            <a:r>
              <a:rPr lang="en-US" sz="1400" dirty="0">
                <a:latin typeface="Aptos Mono" panose="020B00090202020202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scope: </a:t>
            </a:r>
            <a:r>
              <a:rPr lang="en-US" sz="1400" dirty="0" err="1">
                <a:latin typeface="Aptos Mono" panose="020B0009020202020204" pitchFamily="49" charset="0"/>
              </a:rPr>
              <a:t>resourceGroup</a:t>
            </a:r>
            <a:endParaRPr lang="en-US" sz="1400" dirty="0">
              <a:latin typeface="Aptos Mono" panose="020B0009020202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  params: {}</a:t>
            </a:r>
          </a:p>
          <a:p>
            <a:pPr marL="0" indent="0">
              <a:buNone/>
            </a:pPr>
            <a:r>
              <a:rPr lang="en-US" sz="1400" dirty="0">
                <a:latin typeface="Aptos Mono" panose="020B0009020202020204" pitchFamily="49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10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C482-E3FA-4713-433D-8903E617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Pipeline Steps to Create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88A81-B272-EAF7-A3B2-D2BC8D40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task</a:t>
            </a:r>
            <a:r>
              <a:rPr lang="en-US" dirty="0">
                <a:latin typeface="Aptos Mono" panose="020B0009020202020204" pitchFamily="49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AzureCLI@2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displayName</a:t>
            </a:r>
            <a:r>
              <a:rPr lang="en-US" dirty="0">
                <a:latin typeface="Aptos Mono" panose="020B0009020202020204" pitchFamily="49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'Publish to Azure'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inputs</a:t>
            </a:r>
            <a:r>
              <a:rPr lang="en-US" dirty="0">
                <a:latin typeface="Aptos Mono" panose="020B000902020202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workingDirectory</a:t>
            </a:r>
            <a:r>
              <a:rPr lang="en-US" dirty="0">
                <a:latin typeface="Aptos Mono" panose="020B0009020202020204" pitchFamily="49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'bicep'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azureSubscription</a:t>
            </a:r>
            <a:r>
              <a:rPr lang="en-US" dirty="0">
                <a:latin typeface="Aptos Mono" panose="020B0009020202020204" pitchFamily="49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azglbssiacacr0201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scriptType</a:t>
            </a:r>
            <a:r>
              <a:rPr lang="en-US" dirty="0">
                <a:latin typeface="Aptos Mono" panose="020B0009020202020204" pitchFamily="49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'bash'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scriptLocation</a:t>
            </a:r>
            <a:r>
              <a:rPr lang="en-US" dirty="0">
                <a:latin typeface="Aptos Mono" panose="020B0009020202020204" pitchFamily="49" charset="0"/>
              </a:rPr>
              <a:t>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'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inlineScript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Aptos Mono" panose="020B0009020202020204" pitchFamily="49" charset="0"/>
              </a:rPr>
              <a:t>'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Aptos Mono" panose="020B0009020202020204" pitchFamily="49" charset="0"/>
              </a:rPr>
              <a:t>inlineScript</a:t>
            </a:r>
            <a:r>
              <a:rPr lang="en-US" dirty="0">
                <a:latin typeface="Aptos Mono" panose="020B0009020202020204" pitchFamily="49" charset="0"/>
              </a:rPr>
              <a:t>: |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echo "Publishing Bicep module to ACR"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</a:t>
            </a:r>
            <a:r>
              <a:rPr lang="en-US" dirty="0" err="1">
                <a:latin typeface="Aptos Mono" panose="020B0009020202020204" pitchFamily="49" charset="0"/>
              </a:rPr>
              <a:t>az</a:t>
            </a:r>
            <a:r>
              <a:rPr lang="en-US" dirty="0">
                <a:latin typeface="Aptos Mono" panose="020B0009020202020204" pitchFamily="49" charset="0"/>
              </a:rPr>
              <a:t> config set </a:t>
            </a:r>
            <a:r>
              <a:rPr lang="en-US" dirty="0" err="1">
                <a:latin typeface="Aptos Mono" panose="020B0009020202020204" pitchFamily="49" charset="0"/>
              </a:rPr>
              <a:t>bicep.use_binary_from_path</a:t>
            </a:r>
            <a:r>
              <a:rPr lang="en-US" dirty="0">
                <a:latin typeface="Aptos Mono" panose="020B0009020202020204" pitchFamily="49" charset="0"/>
              </a:rPr>
              <a:t>=false --only-show-errors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</a:t>
            </a:r>
            <a:r>
              <a:rPr lang="en-US" dirty="0" err="1">
                <a:latin typeface="Aptos Mono" panose="020B0009020202020204" pitchFamily="49" charset="0"/>
              </a:rPr>
              <a:t>az</a:t>
            </a:r>
            <a:r>
              <a:rPr lang="en-US" dirty="0">
                <a:latin typeface="Aptos Mono" panose="020B0009020202020204" pitchFamily="49" charset="0"/>
              </a:rPr>
              <a:t> bicep publish --file ${{ </a:t>
            </a:r>
            <a:r>
              <a:rPr lang="en-US" dirty="0" err="1">
                <a:latin typeface="Aptos Mono" panose="020B0009020202020204" pitchFamily="49" charset="0"/>
              </a:rPr>
              <a:t>parameters.templateFileName</a:t>
            </a:r>
            <a:r>
              <a:rPr lang="en-US" dirty="0">
                <a:latin typeface="Aptos Mono" panose="020B0009020202020204" pitchFamily="49" charset="0"/>
              </a:rPr>
              <a:t> }} --target </a:t>
            </a:r>
            <a:r>
              <a:rPr lang="en-US" dirty="0" err="1">
                <a:latin typeface="Aptos Mono" panose="020B0009020202020204" pitchFamily="49" charset="0"/>
              </a:rPr>
              <a:t>br</a:t>
            </a:r>
            <a:r>
              <a:rPr lang="en-US" dirty="0">
                <a:latin typeface="Aptos Mono" panose="020B0009020202020204" pitchFamily="49" charset="0"/>
              </a:rPr>
              <a:t>:${{ </a:t>
            </a:r>
            <a:r>
              <a:rPr lang="en-US" dirty="0" err="1">
                <a:latin typeface="Aptos Mono" panose="020B0009020202020204" pitchFamily="49" charset="0"/>
              </a:rPr>
              <a:t>parameters.registryName</a:t>
            </a:r>
            <a:r>
              <a:rPr lang="en-US" dirty="0">
                <a:latin typeface="Aptos Mono" panose="020B0009020202020204" pitchFamily="49" charset="0"/>
              </a:rPr>
              <a:t> }}.azurecr.io/${{ </a:t>
            </a:r>
            <a:r>
              <a:rPr lang="en-US" dirty="0" err="1">
                <a:latin typeface="Aptos Mono" panose="020B0009020202020204" pitchFamily="49" charset="0"/>
              </a:rPr>
              <a:t>parameters.registryPath</a:t>
            </a:r>
            <a:r>
              <a:rPr lang="en-US" dirty="0">
                <a:latin typeface="Aptos Mono" panose="020B0009020202020204" pitchFamily="49" charset="0"/>
              </a:rPr>
              <a:t> }}$(</a:t>
            </a:r>
            <a:r>
              <a:rPr lang="en-US" dirty="0" err="1">
                <a:latin typeface="Aptos Mono" panose="020B0009020202020204" pitchFamily="49" charset="0"/>
              </a:rPr>
              <a:t>Build.Repository.Name</a:t>
            </a:r>
            <a:r>
              <a:rPr lang="en-US" dirty="0">
                <a:latin typeface="Aptos Mono" panose="020B0009020202020204" pitchFamily="49" charset="0"/>
              </a:rPr>
              <a:t>):$(</a:t>
            </a:r>
            <a:r>
              <a:rPr lang="en-US" dirty="0" err="1">
                <a:latin typeface="Aptos Mono" panose="020B0009020202020204" pitchFamily="49" charset="0"/>
              </a:rPr>
              <a:t>Build.BuildId</a:t>
            </a:r>
            <a:r>
              <a:rPr lang="en-US" dirty="0">
                <a:latin typeface="Aptos Mono" panose="020B000902020202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if [ $? -ne 0 ]; then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  echo "Bicep module publishing failed"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  exit 1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fi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ptos Mono" panose="020B0009020202020204" pitchFamily="49" charset="0"/>
              </a:rPr>
              <a:t># The following command is in preview at the time of commit. 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ptos Mono" panose="020B0009020202020204" pitchFamily="49" charset="0"/>
              </a:rPr>
              <a:t>      # It will allow for the repository to be streamed across multiple regions to faster pull times.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</a:t>
            </a:r>
            <a:r>
              <a:rPr lang="en-US" dirty="0" err="1">
                <a:latin typeface="Aptos Mono" panose="020B0009020202020204" pitchFamily="49" charset="0"/>
              </a:rPr>
              <a:t>az</a:t>
            </a:r>
            <a:r>
              <a:rPr lang="en-US" dirty="0">
                <a:latin typeface="Aptos Mono" panose="020B0009020202020204" pitchFamily="49" charset="0"/>
              </a:rPr>
              <a:t> </a:t>
            </a:r>
            <a:r>
              <a:rPr lang="en-US" dirty="0" err="1">
                <a:latin typeface="Aptos Mono" panose="020B0009020202020204" pitchFamily="49" charset="0"/>
              </a:rPr>
              <a:t>acr</a:t>
            </a:r>
            <a:r>
              <a:rPr lang="en-US" dirty="0">
                <a:latin typeface="Aptos Mono" panose="020B0009020202020204" pitchFamily="49" charset="0"/>
              </a:rPr>
              <a:t> artifact-streaming update -n ${{ </a:t>
            </a:r>
            <a:r>
              <a:rPr lang="en-US" dirty="0" err="1">
                <a:latin typeface="Aptos Mono" panose="020B0009020202020204" pitchFamily="49" charset="0"/>
              </a:rPr>
              <a:t>parameters.registryName</a:t>
            </a:r>
            <a:r>
              <a:rPr lang="en-US" dirty="0">
                <a:latin typeface="Aptos Mono" panose="020B0009020202020204" pitchFamily="49" charset="0"/>
              </a:rPr>
              <a:t> }} --repository bicep/modules/$(</a:t>
            </a:r>
            <a:r>
              <a:rPr lang="en-US" dirty="0" err="1">
                <a:latin typeface="Aptos Mono" panose="020B0009020202020204" pitchFamily="49" charset="0"/>
              </a:rPr>
              <a:t>Build.Repository.Name</a:t>
            </a:r>
            <a:r>
              <a:rPr lang="en-US" dirty="0">
                <a:latin typeface="Aptos Mono" panose="020B0009020202020204" pitchFamily="49" charset="0"/>
              </a:rPr>
              <a:t>) --enable-streaming True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dirty="0">
                <a:latin typeface="Aptos Mono" panose="020B0009020202020204" pitchFamily="49" charset="0"/>
              </a:rPr>
              <a:t>      docker logout # Ensure that there are no lingering credentials.</a:t>
            </a:r>
          </a:p>
        </p:txBody>
      </p:sp>
    </p:spTree>
    <p:extLst>
      <p:ext uri="{BB962C8B-B14F-4D97-AF65-F5344CB8AC3E}">
        <p14:creationId xmlns:p14="http://schemas.microsoft.com/office/powerpoint/2010/main" val="401649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2026atMOA.potx" id="{C0EA89D2-3C39-4E3B-8C7D-61207489A7A6}" vid="{831415BC-B640-486E-8B9F-9A91F0CD06B0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2026atMOA.potx" id="{C0EA89D2-3C39-4E3B-8C7D-61207489A7A6}" vid="{B32784F3-23DD-4C9A-A8A3-B31A58F6D8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9926a708316be73da3f3a5bd4ff97d05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b04a7c4ced30567db5a7e999b24446c0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89C335D-62A5-479D-8FAE-C7FE39281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MMS2026atMOA</Template>
  <TotalTime>84</TotalTime>
  <Words>603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Aptos Mono</vt:lpstr>
      <vt:lpstr>Arial</vt:lpstr>
      <vt:lpstr>Calibri</vt:lpstr>
      <vt:lpstr>Wingdings</vt:lpstr>
      <vt:lpstr>Dark Mode</vt:lpstr>
      <vt:lpstr>Light Mode</vt:lpstr>
      <vt:lpstr>Modular Development</vt:lpstr>
      <vt:lpstr>Attention</vt:lpstr>
      <vt:lpstr>PowerPoint Presentation</vt:lpstr>
      <vt:lpstr>Know Before You Show</vt:lpstr>
      <vt:lpstr>Bicep Refresher</vt:lpstr>
      <vt:lpstr>What is a Bicep Module</vt:lpstr>
      <vt:lpstr>Changing Scope</vt:lpstr>
      <vt:lpstr>Changing Scope Properly</vt:lpstr>
      <vt:lpstr>Pipeline Steps to Create a Module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2025 at MOA</dc:subject>
  <dc:creator>Scott Corio</dc:creator>
  <cp:lastModifiedBy>Scott Corio</cp:lastModifiedBy>
  <cp:revision>1</cp:revision>
  <dcterms:created xsi:type="dcterms:W3CDTF">2026-03-25T00:11:43Z</dcterms:created>
  <dcterms:modified xsi:type="dcterms:W3CDTF">2026-03-25T01:36:19Z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