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.xml" ContentType="application/vnd.openxmlformats-officedocument.presentationml.tags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56"/>
  </p:notesMasterIdLst>
  <p:sldIdLst>
    <p:sldId id="256" r:id="rId5"/>
    <p:sldId id="264" r:id="rId6"/>
    <p:sldId id="2147470377" r:id="rId7"/>
    <p:sldId id="2147470378" r:id="rId8"/>
    <p:sldId id="258" r:id="rId9"/>
    <p:sldId id="2147470379" r:id="rId10"/>
    <p:sldId id="2147470380" r:id="rId11"/>
    <p:sldId id="2147470382" r:id="rId12"/>
    <p:sldId id="2147470381" r:id="rId13"/>
    <p:sldId id="2147470387" r:id="rId14"/>
    <p:sldId id="2147470419" r:id="rId15"/>
    <p:sldId id="2147470389" r:id="rId16"/>
    <p:sldId id="2147470395" r:id="rId17"/>
    <p:sldId id="2147479626" r:id="rId18"/>
    <p:sldId id="2147470391" r:id="rId19"/>
    <p:sldId id="2147470390" r:id="rId20"/>
    <p:sldId id="2147470392" r:id="rId21"/>
    <p:sldId id="477" r:id="rId22"/>
    <p:sldId id="2147470410" r:id="rId23"/>
    <p:sldId id="2147470416" r:id="rId24"/>
    <p:sldId id="2076138442" r:id="rId25"/>
    <p:sldId id="2147470393" r:id="rId26"/>
    <p:sldId id="2147470394" r:id="rId27"/>
    <p:sldId id="2147470422" r:id="rId28"/>
    <p:sldId id="2147470420" r:id="rId29"/>
    <p:sldId id="2147470421" r:id="rId30"/>
    <p:sldId id="2147470383" r:id="rId31"/>
    <p:sldId id="2147470411" r:id="rId32"/>
    <p:sldId id="2147470414" r:id="rId33"/>
    <p:sldId id="2147470415" r:id="rId34"/>
    <p:sldId id="2147470388" r:id="rId35"/>
    <p:sldId id="2147470417" r:id="rId36"/>
    <p:sldId id="2147470385" r:id="rId37"/>
    <p:sldId id="2147470412" r:id="rId38"/>
    <p:sldId id="2147470386" r:id="rId39"/>
    <p:sldId id="2147470407" r:id="rId40"/>
    <p:sldId id="2147470408" r:id="rId41"/>
    <p:sldId id="2147470424" r:id="rId42"/>
    <p:sldId id="2147470396" r:id="rId43"/>
    <p:sldId id="2147470397" r:id="rId44"/>
    <p:sldId id="2147470398" r:id="rId45"/>
    <p:sldId id="2147470399" r:id="rId46"/>
    <p:sldId id="2147470400" r:id="rId47"/>
    <p:sldId id="317" r:id="rId48"/>
    <p:sldId id="2147470403" r:id="rId49"/>
    <p:sldId id="2147470404" r:id="rId50"/>
    <p:sldId id="399" r:id="rId51"/>
    <p:sldId id="2147470406" r:id="rId52"/>
    <p:sldId id="266" r:id="rId53"/>
    <p:sldId id="263" r:id="rId54"/>
    <p:sldId id="26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036C8D4-71A1-4CF8-ACE5-3D6C30B53112}">
          <p14:sldIdLst>
            <p14:sldId id="256"/>
            <p14:sldId id="264"/>
            <p14:sldId id="2147470377"/>
            <p14:sldId id="2147470378"/>
            <p14:sldId id="258"/>
          </p14:sldIdLst>
        </p14:section>
        <p14:section name="Presentation" id="{0235CA26-D3C2-4CD9-8E18-85E335D63C63}">
          <p14:sldIdLst>
            <p14:sldId id="2147470379"/>
            <p14:sldId id="2147470380"/>
            <p14:sldId id="2147470382"/>
            <p14:sldId id="2147470381"/>
            <p14:sldId id="2147470387"/>
            <p14:sldId id="2147470419"/>
            <p14:sldId id="2147470389"/>
            <p14:sldId id="2147470395"/>
            <p14:sldId id="2147479626"/>
            <p14:sldId id="2147470391"/>
            <p14:sldId id="2147470390"/>
            <p14:sldId id="2147470392"/>
            <p14:sldId id="477"/>
            <p14:sldId id="2147470410"/>
            <p14:sldId id="2147470416"/>
            <p14:sldId id="2076138442"/>
            <p14:sldId id="2147470393"/>
            <p14:sldId id="2147470394"/>
            <p14:sldId id="2147470422"/>
            <p14:sldId id="2147470420"/>
            <p14:sldId id="2147470421"/>
            <p14:sldId id="2147470383"/>
            <p14:sldId id="2147470411"/>
            <p14:sldId id="2147470414"/>
            <p14:sldId id="2147470415"/>
            <p14:sldId id="2147470388"/>
            <p14:sldId id="2147470417"/>
            <p14:sldId id="2147470385"/>
            <p14:sldId id="2147470412"/>
            <p14:sldId id="2147470386"/>
            <p14:sldId id="2147470407"/>
            <p14:sldId id="2147470408"/>
          </p14:sldIdLst>
        </p14:section>
        <p14:section name="Scan Source" id="{6AC46E63-5CE5-4246-9254-035AB3E0CC29}">
          <p14:sldIdLst>
            <p14:sldId id="2147470424"/>
            <p14:sldId id="2147470396"/>
            <p14:sldId id="2147470397"/>
            <p14:sldId id="2147470398"/>
            <p14:sldId id="2147470399"/>
          </p14:sldIdLst>
        </p14:section>
        <p14:section name="Deployment Service" id="{0746234F-1B6F-455F-B355-E74D98C78438}">
          <p14:sldIdLst>
            <p14:sldId id="2147470400"/>
            <p14:sldId id="317"/>
            <p14:sldId id="2147470403"/>
            <p14:sldId id="2147470404"/>
            <p14:sldId id="399"/>
            <p14:sldId id="2147470406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DA710F-62B4-35E6-970F-B0298116E06C}" name="Brian Reistad" initials="BR" userId="S::brianrei@ntdev.microsoft.com::34266590-1843-497b-882b-30e4379f17fb" providerId="AD"/>
  <p188:author id="{F3828625-AD6A-5CCF-C50F-8921C52C2BEA}" name="Thad Martin" initials="TM" userId="S::thmartin@microsoft.com::f90e8213-dfe2-4522-a9dc-cdff5f8da2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134"/>
    <a:srgbClr val="44546A"/>
    <a:srgbClr val="BC8E00"/>
    <a:srgbClr val="2E61BA"/>
    <a:srgbClr val="0599DB"/>
    <a:srgbClr val="FFFF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1" autoAdjust="0"/>
    <p:restoredTop sz="67042" autoAdjust="0"/>
  </p:normalViewPr>
  <p:slideViewPr>
    <p:cSldViewPr snapToGrid="0">
      <p:cViewPr varScale="1">
        <p:scale>
          <a:sx n="67" d="100"/>
          <a:sy n="67" d="100"/>
        </p:scale>
        <p:origin x="16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d Martin" userId="f90e8213-dfe2-4522-a9dc-cdff5f8da28b" providerId="ADAL" clId="{EAE9EC89-5B35-481E-9656-EE2E76B5C3C1}"/>
    <pc:docChg chg="mod modSld modMainMaster">
      <pc:chgData name="Thad Martin" userId="f90e8213-dfe2-4522-a9dc-cdff5f8da28b" providerId="ADAL" clId="{EAE9EC89-5B35-481E-9656-EE2E76B5C3C1}" dt="2026-05-05T22:26:22.839" v="3" actId="6549"/>
      <pc:docMkLst>
        <pc:docMk/>
      </pc:docMkLst>
      <pc:sldChg chg="modNotesTx">
        <pc:chgData name="Thad Martin" userId="f90e8213-dfe2-4522-a9dc-cdff5f8da28b" providerId="ADAL" clId="{EAE9EC89-5B35-481E-9656-EE2E76B5C3C1}" dt="2026-05-05T22:26:12.102" v="2" actId="20577"/>
        <pc:sldMkLst>
          <pc:docMk/>
          <pc:sldMk cId="950806468" sldId="2147470407"/>
        </pc:sldMkLst>
      </pc:sldChg>
      <pc:sldChg chg="modNotesTx">
        <pc:chgData name="Thad Martin" userId="f90e8213-dfe2-4522-a9dc-cdff5f8da28b" providerId="ADAL" clId="{EAE9EC89-5B35-481E-9656-EE2E76B5C3C1}" dt="2026-05-05T22:26:22.839" v="3" actId="6549"/>
        <pc:sldMkLst>
          <pc:docMk/>
          <pc:sldMk cId="4279219941" sldId="2147470408"/>
        </pc:sldMkLst>
      </pc:sldChg>
      <pc:sldMasterChg chg="delSp mod">
        <pc:chgData name="Thad Martin" userId="f90e8213-dfe2-4522-a9dc-cdff5f8da28b" providerId="ADAL" clId="{EAE9EC89-5B35-481E-9656-EE2E76B5C3C1}" dt="2026-05-05T22:21:45.475" v="0" actId="33475"/>
        <pc:sldMasterMkLst>
          <pc:docMk/>
          <pc:sldMasterMk cId="1496575033" sldId="2147483728"/>
        </pc:sldMasterMkLst>
        <pc:spChg chg="del">
          <ac:chgData name="Thad Martin" userId="f90e8213-dfe2-4522-a9dc-cdff5f8da28b" providerId="ADAL" clId="{EAE9EC89-5B35-481E-9656-EE2E76B5C3C1}" dt="2026-05-05T22:21:45.475" v="0" actId="33475"/>
          <ac:spMkLst>
            <pc:docMk/>
            <pc:sldMasterMk cId="1496575033" sldId="2147483728"/>
            <ac:spMk id="6" creationId="{B7303F8A-1587-F405-E70A-E5E80B88A525}"/>
          </ac:spMkLst>
        </pc:spChg>
        <pc:spChg chg="del">
          <ac:chgData name="Thad Martin" userId="f90e8213-dfe2-4522-a9dc-cdff5f8da28b" providerId="ADAL" clId="{EAE9EC89-5B35-481E-9656-EE2E76B5C3C1}" dt="2026-05-05T22:21:45.475" v="0" actId="33475"/>
          <ac:spMkLst>
            <pc:docMk/>
            <pc:sldMasterMk cId="1496575033" sldId="2147483728"/>
            <ac:spMk id="7" creationId="{37C96633-4116-D7B1-60F9-78CA02D4557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54280-C0A1-4C8C-ABDD-B97BBC6F799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AF4C4-BAB7-4151-82DD-5D3A4EB52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2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51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7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Bryan: Introduce Thad</a:t>
            </a:r>
            <a:br>
              <a:rPr lang="en-US"/>
            </a:br>
            <a:r>
              <a:rPr lang="en-US"/>
              <a:t>My role in this session was to nerd-snipe 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1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75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8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69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80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53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Bryan: Flush out of tokens to fix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54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03B2-03E4-5E40-0091-EB844C01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FC4A5-CDAD-31C2-B6A5-4C59D80C8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FB29C-553F-2A5F-6E3B-B119F7965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2DDF6-D6B8-9403-47A7-056D0C628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89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0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86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93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 – or Andy?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85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50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0010-887A-0C0A-9AEC-2570FEDC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B1199-316D-B70E-C0B7-91A84D33C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F9C7A-EC65-8A1B-7038-D35DEFBD3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428E-6481-F9DE-23BF-FA9B776DC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0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  <a:p>
            <a:br>
              <a:rPr lang="en-US"/>
            </a:br>
            <a:r>
              <a:rPr lang="en-US"/>
              <a:t>COM interface between WUA and </a:t>
            </a:r>
            <a:r>
              <a:rPr lang="en-US" err="1"/>
              <a:t>UpdateAgent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19223-7E39-4704-ACBD-36546D9CF9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69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35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83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86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7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150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68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b="1"/>
              <a:t>Thad</a:t>
            </a:r>
          </a:p>
          <a:p>
            <a:pPr fontAlgn="t"/>
            <a:r>
              <a:rPr lang="en-US" b="1"/>
              <a:t>Client performance + scale issues</a:t>
            </a:r>
            <a:br>
              <a:rPr lang="en-US"/>
            </a:br>
            <a:r>
              <a:rPr lang="en-US"/>
              <a:t>The MUv6/WSUS model causes large local datastore growth and expensive scans—especially the first scan, which requires downloading and reasoning over a lot of metadata.</a:t>
            </a:r>
          </a:p>
          <a:p>
            <a:pPr fontAlgn="t"/>
            <a:r>
              <a:rPr lang="en-US" b="1"/>
              <a:t>Inefficient, chatty protocol</a:t>
            </a:r>
            <a:br>
              <a:rPr lang="en-US"/>
            </a:br>
            <a:r>
              <a:rPr lang="en-US"/>
              <a:t>The pruning model requires multiple round trips between client and service to converge on applicable updates, which drives unnecessary bandwidth and latency.</a:t>
            </a:r>
          </a:p>
          <a:p>
            <a:pPr fontAlgn="t"/>
            <a:r>
              <a:rPr lang="en-US" b="1"/>
              <a:t>Too much logic in the client (limits agility)</a:t>
            </a:r>
            <a:br>
              <a:rPr lang="en-US"/>
            </a:br>
            <a:r>
              <a:rPr lang="en-US"/>
              <a:t>Applicability evaluation lives heavily in the client, so any change requires updating clients broadly—making it slow to evolve compared to a service-driven model like DCAT.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59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ACD2-8C64-0893-5248-C6BDB05E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AF962-84FB-8789-4987-01D4E9C3A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F14ED-58A3-5DDA-FCB1-28B0772D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b="1" dirty="0"/>
              <a:t>Thad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00E41-A470-8630-8F1D-3690E3A4A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6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151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18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Thad</a:t>
            </a:r>
          </a:p>
          <a:p>
            <a:endParaRPr lang="en-US" dirty="0"/>
          </a:p>
          <a:p>
            <a:r>
              <a:rPr lang="en-US" dirty="0"/>
              <a:t>Demo steps:</a:t>
            </a:r>
          </a:p>
          <a:p>
            <a:pPr marL="228600" indent="-228600">
              <a:buAutoNum type="arabicPeriod"/>
            </a:pPr>
            <a:r>
              <a:rPr lang="en-US" dirty="0"/>
              <a:t>Add test device, pull up driver version in Device Manager (1.0.0.0)</a:t>
            </a:r>
          </a:p>
          <a:p>
            <a:pPr marL="228600" indent="-228600">
              <a:buAutoNum type="arabicPeriod"/>
            </a:pPr>
            <a:r>
              <a:rPr lang="en-US" dirty="0"/>
              <a:t>Scan WU, note the time, see new driver version 1.0.0.1 install</a:t>
            </a:r>
          </a:p>
          <a:p>
            <a:pPr marL="228600" indent="-228600">
              <a:buAutoNum type="arabicPeriod"/>
            </a:pPr>
            <a:r>
              <a:rPr lang="en-US" dirty="0"/>
              <a:t>Set partner test reg key</a:t>
            </a:r>
          </a:p>
          <a:p>
            <a:pPr marL="228600" indent="-228600">
              <a:buAutoNum type="arabicPeriod"/>
            </a:pPr>
            <a:r>
              <a:rPr lang="en-US" dirty="0"/>
              <a:t>Scan WU, note the time, see new driver version 1.0.0.2 install</a:t>
            </a:r>
          </a:p>
          <a:p>
            <a:pPr marL="228600" indent="-228600">
              <a:buAutoNum type="arabicPeriod"/>
            </a:pPr>
            <a:r>
              <a:rPr lang="en-US" dirty="0"/>
              <a:t>Copy relevant .</a:t>
            </a:r>
            <a:r>
              <a:rPr lang="en-US" dirty="0" err="1"/>
              <a:t>etl</a:t>
            </a:r>
            <a:r>
              <a:rPr lang="en-US" dirty="0"/>
              <a:t> files from %</a:t>
            </a:r>
            <a:r>
              <a:rPr lang="en-US" dirty="0" err="1"/>
              <a:t>windir</a:t>
            </a:r>
            <a:r>
              <a:rPr lang="en-US" dirty="0"/>
              <a:t>%\Logs\</a:t>
            </a:r>
            <a:r>
              <a:rPr lang="en-US" dirty="0" err="1"/>
              <a:t>WindowsUpdate</a:t>
            </a:r>
            <a:r>
              <a:rPr lang="en-US" dirty="0"/>
              <a:t> to a different folder</a:t>
            </a:r>
          </a:p>
          <a:p>
            <a:pPr marL="228600" indent="-228600">
              <a:buAutoNum type="arabicPeriod"/>
            </a:pPr>
            <a:r>
              <a:rPr lang="en-US" dirty="0"/>
              <a:t>Decode .</a:t>
            </a:r>
            <a:r>
              <a:rPr lang="en-US" dirty="0" err="1"/>
              <a:t>etl</a:t>
            </a:r>
            <a:r>
              <a:rPr lang="en-US" dirty="0"/>
              <a:t> files (Get-</a:t>
            </a:r>
            <a:r>
              <a:rPr lang="en-US" dirty="0" err="1"/>
              <a:t>WindowsUpdateLog</a:t>
            </a:r>
            <a:r>
              <a:rPr lang="en-US" dirty="0"/>
              <a:t>), open folder in VS Code</a:t>
            </a:r>
          </a:p>
          <a:p>
            <a:pPr marL="228600" indent="-228600">
              <a:buAutoNum type="arabicPeriod"/>
            </a:pPr>
            <a:r>
              <a:rPr lang="en-US" dirty="0"/>
              <a:t>Open WindowsUpdate.log, search for </a:t>
            </a:r>
            <a:r>
              <a:rPr lang="en-US" dirty="0" err="1"/>
              <a:t>DeviceAttributes</a:t>
            </a:r>
            <a:r>
              <a:rPr lang="en-US" dirty="0"/>
              <a:t> (CTAC) with the timestamp of the first scan</a:t>
            </a:r>
          </a:p>
          <a:p>
            <a:pPr marL="228600" indent="-228600">
              <a:buAutoNum type="arabicPeriod"/>
            </a:pPr>
            <a:r>
              <a:rPr lang="en-US" dirty="0"/>
              <a:t>Select the relevant text and ask GitHub Copilot to generate a JSON file of the attributes</a:t>
            </a:r>
          </a:p>
          <a:p>
            <a:pPr marL="228600" indent="-228600">
              <a:buAutoNum type="arabicPeriod"/>
            </a:pPr>
            <a:r>
              <a:rPr lang="en-US" dirty="0"/>
              <a:t>Search for </a:t>
            </a:r>
            <a:r>
              <a:rPr lang="en-US" dirty="0" err="1"/>
              <a:t>DeviceAttributes</a:t>
            </a:r>
            <a:r>
              <a:rPr lang="en-US" dirty="0"/>
              <a:t> (CTAC) with the timestamp of the second scan</a:t>
            </a:r>
          </a:p>
          <a:p>
            <a:pPr marL="228600" indent="-228600">
              <a:buAutoNum type="arabicPeriod"/>
            </a:pPr>
            <a:r>
              <a:rPr lang="en-US" dirty="0"/>
              <a:t>Create another JSON</a:t>
            </a:r>
          </a:p>
          <a:p>
            <a:pPr marL="228600" indent="-228600">
              <a:buAutoNum type="arabicPeriod"/>
            </a:pPr>
            <a:r>
              <a:rPr lang="en-US" dirty="0"/>
              <a:t>Ask Copilot to compare, or visually 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31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9C94-BC35-4E12-1D28-9687A873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A6ABB-493A-8101-A10F-75BF419F8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F62DA-C43C-DB62-E162-D60F6BB12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55B9A-5FFB-30BE-2737-FD509C5C8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432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48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60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87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F4C4-BAB7-4151-82DD-5D3A4EB522E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632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702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958F-1ECC-35BA-A268-A17EEB6A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5DD86-4636-8E45-D33A-B40BEE24C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5F3CB-5E4A-0005-A128-FA2E6893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84506-7CA0-14C6-35AC-F8FC1E879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6728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0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2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8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569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7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9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1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4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0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3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802308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5105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87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657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atchmypc.com/blog/sccm-co-management-dual-scan/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Windows Update Internals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AA5F843-56E7-2BDE-3C18-6F2C25C7D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Why Didn’t I Get That Update?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MMS sessions are 60-75 minutes followed by LONG Q&amp;A</a:t>
            </a:r>
          </a:p>
          <a:p>
            <a:r>
              <a:rPr lang="en-US" sz="2800"/>
              <a:t>Please hold detailed questions until that Q&amp;A starts</a:t>
            </a:r>
          </a:p>
          <a:p>
            <a:r>
              <a:rPr lang="en-US" sz="2800"/>
              <a:t>Feel free to ask clarification questions</a:t>
            </a:r>
          </a:p>
          <a:p>
            <a:r>
              <a:rPr lang="en-US" sz="280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A person wearing glasses and a plaid shirt&#10;&#10;Description automatically generated">
            <a:extLst>
              <a:ext uri="{FF2B5EF4-FFF2-40B4-BE49-F238E27FC236}">
                <a16:creationId xmlns:a16="http://schemas.microsoft.com/office/drawing/2014/main" id="{247A324A-98F7-286A-4410-488CCC9C87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/>
        </p:blipFill>
        <p:spPr/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B55D331-2DD0-25A9-BE4B-B19BA0D1FE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/>
              <a:t>Bryan Dam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/>
              <a:t>Thad Martin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@bdam555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8527D53-070F-51F0-95D0-921757BC1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/>
              <a:t>Patch Lover Extraordinaire, PMPC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DE6A3A-184E-15CC-E11E-9FF58DD89E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Principal Product Manager - Microsoft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433D0B1-17CF-E3D4-AAC0-1847C2EE41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159" y="53035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BC092C-38D3-BF25-FAB7-3DF6ADA2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Listen Folks, We’re </a:t>
            </a:r>
            <a:r>
              <a:rPr lang="en-US" sz="4800" err="1"/>
              <a:t>Gonna</a:t>
            </a:r>
            <a:r>
              <a:rPr lang="en-US" sz="4800"/>
              <a:t> Get Nerdy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5B200-541E-54CE-17E2-D0A0A9D5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Like, really </a:t>
            </a:r>
            <a:r>
              <a:rPr lang="en-US" err="1"/>
              <a:t>fricken</a:t>
            </a:r>
            <a:r>
              <a:rPr lang="en-US"/>
              <a:t> nerdy about how this stuff all works</a:t>
            </a:r>
          </a:p>
        </p:txBody>
      </p:sp>
    </p:spTree>
    <p:extLst>
      <p:ext uri="{BB962C8B-B14F-4D97-AF65-F5344CB8AC3E}">
        <p14:creationId xmlns:p14="http://schemas.microsoft.com/office/powerpoint/2010/main" val="122496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History of the first, and still best, cloud service: Windows Update</a:t>
            </a:r>
          </a:p>
          <a:p>
            <a:r>
              <a:rPr lang="en-US">
                <a:ea typeface="Calibri"/>
                <a:cs typeface="Calibri"/>
              </a:rPr>
              <a:t>How the client orchestrates the whole process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What actually happens when a device scans?</a:t>
            </a:r>
          </a:p>
          <a:p>
            <a:r>
              <a:rPr lang="en-US">
                <a:ea typeface="Calibri"/>
                <a:cs typeface="Calibri"/>
              </a:rPr>
              <a:t>How are update selected for a given device</a:t>
            </a:r>
          </a:p>
          <a:p>
            <a:r>
              <a:rPr lang="en-US">
                <a:ea typeface="Calibri"/>
                <a:cs typeface="Calibri"/>
              </a:rPr>
              <a:t>Autopatch Deployment Service (maybe)</a:t>
            </a:r>
          </a:p>
          <a:p>
            <a:r>
              <a:rPr lang="en-US">
                <a:ea typeface="Calibri"/>
                <a:cs typeface="Calibri"/>
              </a:rPr>
              <a:t>Scan Demo</a:t>
            </a:r>
          </a:p>
          <a:p>
            <a:pPr marL="457200" lvl="1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72427E-7DC0-AE00-CF55-15D79720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Before Times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97DA6D-1B90-B0A4-FDA7-23388C436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XP and its predecessors has no meaningful patching mechanism</a:t>
            </a:r>
          </a:p>
          <a:p>
            <a:pPr lvl="1"/>
            <a:r>
              <a:rPr lang="en-US"/>
              <a:t>Windows 98: Windows Update as a web app</a:t>
            </a:r>
            <a:endParaRPr lang="en-US">
              <a:cs typeface="Segoe UI"/>
            </a:endParaRPr>
          </a:p>
          <a:p>
            <a:pPr lvl="2"/>
            <a:r>
              <a:rPr lang="en-US"/>
              <a:t>Critical Update Notification Utility</a:t>
            </a:r>
            <a:endParaRPr lang="en-US">
              <a:cs typeface="Segoe UI"/>
            </a:endParaRPr>
          </a:p>
          <a:p>
            <a:pPr lvl="1"/>
            <a:r>
              <a:rPr lang="en-US"/>
              <a:t>Windows ME/2000: Automatic Updates</a:t>
            </a:r>
            <a:endParaRPr lang="en-US">
              <a:cs typeface="Segoe UI"/>
            </a:endParaRPr>
          </a:p>
          <a:p>
            <a:pPr lvl="1"/>
            <a:r>
              <a:rPr lang="en-US"/>
              <a:t>Windows XP (2001): BITS, mandatory reboots</a:t>
            </a:r>
            <a:endParaRPr lang="en-US">
              <a:cs typeface="Segoe UI"/>
            </a:endParaRPr>
          </a:p>
          <a:p>
            <a:endParaRPr lang="en-US"/>
          </a:p>
          <a:p>
            <a:r>
              <a:rPr lang="en-US"/>
              <a:t>NIMDA hit in 2001 and things got real</a:t>
            </a:r>
          </a:p>
          <a:p>
            <a:pPr lvl="1"/>
            <a:r>
              <a:rPr lang="en-US">
                <a:cs typeface="Segoe UI"/>
              </a:rPr>
              <a:t>Engineering effort from Longhorn borrowed to build "XP Springboard"</a:t>
            </a:r>
          </a:p>
          <a:p>
            <a:endParaRPr lang="en-US"/>
          </a:p>
          <a:p>
            <a:r>
              <a:rPr lang="en-US"/>
              <a:t>Vista (2006) introduces the Windows Update Agent</a:t>
            </a:r>
            <a:endParaRPr lang="en-US">
              <a:cs typeface="Segoe UI"/>
            </a:endParaRPr>
          </a:p>
          <a:p>
            <a:pPr lvl="1"/>
            <a:r>
              <a:rPr lang="en-US"/>
              <a:t>Users can postpone the restart!</a:t>
            </a:r>
            <a:endParaRPr lang="en-US">
              <a:cs typeface="Segoe UI"/>
            </a:endParaRPr>
          </a:p>
          <a:p>
            <a:pPr lvl="1"/>
            <a:r>
              <a:rPr lang="en-US"/>
              <a:t>GPO Configurations</a:t>
            </a:r>
            <a:endParaRPr lang="en-US"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2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F269-0DC2-D47E-E98C-3B66FB59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224437" cy="792466"/>
          </a:xfrm>
        </p:spPr>
        <p:txBody>
          <a:bodyPr>
            <a:normAutofit fontScale="90000"/>
          </a:bodyPr>
          <a:lstStyle/>
          <a:p>
            <a:r>
              <a:rPr lang="en-US"/>
              <a:t>Windows Update Was Cloud Before It Was Cool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2440-04A1-20FB-040E-7F6DB574B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Before Azure, before AWS, there was Windows Update</a:t>
            </a:r>
          </a:p>
          <a:p>
            <a:endParaRPr lang="en-US"/>
          </a:p>
          <a:p>
            <a:r>
              <a:rPr lang="en-US"/>
              <a:t>20+ years old</a:t>
            </a:r>
          </a:p>
          <a:p>
            <a:endParaRPr lang="en-US"/>
          </a:p>
          <a:p>
            <a:r>
              <a:rPr lang="en-US"/>
              <a:t>Serving nearly 2 billion devices around the world</a:t>
            </a:r>
          </a:p>
          <a:p>
            <a:endParaRPr lang="en-US"/>
          </a:p>
          <a:p>
            <a:r>
              <a:rPr lang="en-US"/>
              <a:t>Billions of updates</a:t>
            </a:r>
          </a:p>
          <a:p>
            <a:endParaRPr lang="en-US"/>
          </a:p>
          <a:p>
            <a:r>
              <a:rPr lang="en-US"/>
              <a:t>It never, ever goes down</a:t>
            </a:r>
          </a:p>
          <a:p>
            <a:pPr lvl="1"/>
            <a:r>
              <a:rPr lang="en-US" sz="800"/>
              <a:t>Ok … maybe like twice</a:t>
            </a:r>
          </a:p>
        </p:txBody>
      </p:sp>
    </p:spTree>
    <p:extLst>
      <p:ext uri="{BB962C8B-B14F-4D97-AF65-F5344CB8AC3E}">
        <p14:creationId xmlns:p14="http://schemas.microsoft.com/office/powerpoint/2010/main" val="1822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B7D6-B607-E12F-BC50-A5C0145B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Windows Update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86250-97EA-F69D-D9C0-AB3FB9E49D85}"/>
              </a:ext>
            </a:extLst>
          </p:cNvPr>
          <p:cNvSpPr/>
          <p:nvPr/>
        </p:nvSpPr>
        <p:spPr>
          <a:xfrm>
            <a:off x="4999394" y="1550612"/>
            <a:ext cx="2362954" cy="2092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Microsoft Update v6 (MUv6)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22AC80-DFB5-14C3-AB0E-5D1CAA805152}"/>
              </a:ext>
            </a:extLst>
          </p:cNvPr>
          <p:cNvSpPr/>
          <p:nvPr/>
        </p:nvSpPr>
        <p:spPr>
          <a:xfrm>
            <a:off x="4999394" y="4414544"/>
            <a:ext cx="2362954" cy="2092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Delivery Catalog (DCAT)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EDED1A-8313-9D5D-3ADC-70871F59B86B}"/>
              </a:ext>
            </a:extLst>
          </p:cNvPr>
          <p:cNvGrpSpPr/>
          <p:nvPr/>
        </p:nvGrpSpPr>
        <p:grpSpPr>
          <a:xfrm>
            <a:off x="9395656" y="1612255"/>
            <a:ext cx="1702052" cy="1186004"/>
            <a:chOff x="1724685" y="4836814"/>
            <a:chExt cx="1702052" cy="1186004"/>
          </a:xfrm>
        </p:grpSpPr>
        <p:pic>
          <p:nvPicPr>
            <p:cNvPr id="10" name="Graphic 9" descr="Laptop with solid fill">
              <a:extLst>
                <a:ext uri="{FF2B5EF4-FFF2-40B4-BE49-F238E27FC236}">
                  <a16:creationId xmlns:a16="http://schemas.microsoft.com/office/drawing/2014/main" id="{B53BA990-AAE1-97FF-9D81-E39C5EBAE3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8511" y="4836814"/>
              <a:ext cx="914400" cy="9144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411826-E193-8588-AB21-F3A78C68973E}"/>
                </a:ext>
              </a:extLst>
            </p:cNvPr>
            <p:cNvSpPr/>
            <p:nvPr/>
          </p:nvSpPr>
          <p:spPr>
            <a:xfrm>
              <a:off x="1724685" y="5671996"/>
              <a:ext cx="1702052" cy="3508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Pre-Win10 1703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668DD6-A26B-8E78-162B-FA96B98E12EE}"/>
              </a:ext>
            </a:extLst>
          </p:cNvPr>
          <p:cNvGrpSpPr/>
          <p:nvPr/>
        </p:nvGrpSpPr>
        <p:grpSpPr>
          <a:xfrm>
            <a:off x="9495999" y="3435872"/>
            <a:ext cx="1501366" cy="1174687"/>
            <a:chOff x="1825028" y="4836814"/>
            <a:chExt cx="1501366" cy="1174687"/>
          </a:xfrm>
        </p:grpSpPr>
        <p:pic>
          <p:nvPicPr>
            <p:cNvPr id="14" name="Graphic 13" descr="Laptop with solid fill">
              <a:extLst>
                <a:ext uri="{FF2B5EF4-FFF2-40B4-BE49-F238E27FC236}">
                  <a16:creationId xmlns:a16="http://schemas.microsoft.com/office/drawing/2014/main" id="{FA634B6C-2F40-0757-1048-F605A49A45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8511" y="4836814"/>
              <a:ext cx="914400" cy="9144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77E367-C3B5-8797-49EF-85FB3F598D67}"/>
                </a:ext>
              </a:extLst>
            </p:cNvPr>
            <p:cNvSpPr/>
            <p:nvPr/>
          </p:nvSpPr>
          <p:spPr>
            <a:xfrm>
              <a:off x="1825028" y="5660679"/>
              <a:ext cx="1501366" cy="3508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Win10 1703+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3ACE50-7A5C-39DB-F5F7-A47BAB9C9A9A}"/>
              </a:ext>
            </a:extLst>
          </p:cNvPr>
          <p:cNvCxnSpPr>
            <a:cxnSpLocks/>
          </p:cNvCxnSpPr>
          <p:nvPr/>
        </p:nvCxnSpPr>
        <p:spPr>
          <a:xfrm flipH="1" flipV="1">
            <a:off x="7362348" y="2069455"/>
            <a:ext cx="2427134" cy="16069"/>
          </a:xfrm>
          <a:prstGeom prst="straightConnector1">
            <a:avLst/>
          </a:prstGeom>
          <a:ln w="666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D62E7B-7D58-895B-B94F-E9F11E0F6331}"/>
              </a:ext>
            </a:extLst>
          </p:cNvPr>
          <p:cNvCxnSpPr>
            <a:cxnSpLocks/>
          </p:cNvCxnSpPr>
          <p:nvPr/>
        </p:nvCxnSpPr>
        <p:spPr>
          <a:xfrm flipH="1" flipV="1">
            <a:off x="7362348" y="2899702"/>
            <a:ext cx="2427134" cy="810613"/>
          </a:xfrm>
          <a:prstGeom prst="straightConnector1">
            <a:avLst/>
          </a:prstGeom>
          <a:ln w="666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ACE489-2BCE-97E6-853C-44AE15AB960A}"/>
              </a:ext>
            </a:extLst>
          </p:cNvPr>
          <p:cNvCxnSpPr>
            <a:cxnSpLocks/>
          </p:cNvCxnSpPr>
          <p:nvPr/>
        </p:nvCxnSpPr>
        <p:spPr>
          <a:xfrm flipV="1">
            <a:off x="7362348" y="3892620"/>
            <a:ext cx="2427134" cy="847868"/>
          </a:xfrm>
          <a:prstGeom prst="straightConnector1">
            <a:avLst/>
          </a:prstGeom>
          <a:ln w="666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E11FA9-5ED7-6BA4-E12B-EE2D26B79204}"/>
              </a:ext>
            </a:extLst>
          </p:cNvPr>
          <p:cNvGrpSpPr/>
          <p:nvPr/>
        </p:nvGrpSpPr>
        <p:grpSpPr>
          <a:xfrm>
            <a:off x="9495999" y="5289438"/>
            <a:ext cx="1501366" cy="1218138"/>
            <a:chOff x="9495999" y="3443350"/>
            <a:chExt cx="1501366" cy="1218138"/>
          </a:xfrm>
        </p:grpSpPr>
        <p:pic>
          <p:nvPicPr>
            <p:cNvPr id="33" name="Graphic 32" descr="Server with solid fill">
              <a:extLst>
                <a:ext uri="{FF2B5EF4-FFF2-40B4-BE49-F238E27FC236}">
                  <a16:creationId xmlns:a16="http://schemas.microsoft.com/office/drawing/2014/main" id="{FBBB9718-7394-E4BC-DFF1-90C5AF672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89482" y="3443350"/>
              <a:ext cx="914400" cy="91440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9562FF8-3EF8-BA63-6BA2-40E2919110E3}"/>
                </a:ext>
              </a:extLst>
            </p:cNvPr>
            <p:cNvSpPr/>
            <p:nvPr/>
          </p:nvSpPr>
          <p:spPr>
            <a:xfrm>
              <a:off x="9495999" y="4310666"/>
              <a:ext cx="1501366" cy="3508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WSUS</a:t>
              </a: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54789A-3279-F371-21C1-3C4B47512673}"/>
              </a:ext>
            </a:extLst>
          </p:cNvPr>
          <p:cNvCxnSpPr>
            <a:cxnSpLocks/>
          </p:cNvCxnSpPr>
          <p:nvPr/>
        </p:nvCxnSpPr>
        <p:spPr>
          <a:xfrm flipH="1" flipV="1">
            <a:off x="7366918" y="5739030"/>
            <a:ext cx="2427134" cy="16069"/>
          </a:xfrm>
          <a:prstGeom prst="straightConnector1">
            <a:avLst/>
          </a:prstGeom>
          <a:ln w="666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B508F69-18AD-A0F7-5FD8-5E9A15FDEAA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180871" y="3643039"/>
            <a:ext cx="0" cy="77150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3B9E1-A8E3-7294-5489-D8CB19ACF638}"/>
              </a:ext>
            </a:extLst>
          </p:cNvPr>
          <p:cNvSpPr/>
          <p:nvPr/>
        </p:nvSpPr>
        <p:spPr>
          <a:xfrm>
            <a:off x="7593790" y="5332085"/>
            <a:ext cx="1964250" cy="350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Server/Server Sync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F61FCB-0D57-2ECB-D851-2F8E31053CEC}"/>
              </a:ext>
            </a:extLst>
          </p:cNvPr>
          <p:cNvSpPr/>
          <p:nvPr/>
        </p:nvSpPr>
        <p:spPr>
          <a:xfrm>
            <a:off x="6180872" y="3853380"/>
            <a:ext cx="1586910" cy="350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WSUS/Catalog</a:t>
            </a:r>
          </a:p>
          <a:p>
            <a:r>
              <a:rPr lang="en-US"/>
              <a:t>updates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C4098D-96E3-B558-D1B5-D814D2A50B8A}"/>
              </a:ext>
            </a:extLst>
          </p:cNvPr>
          <p:cNvSpPr/>
          <p:nvPr/>
        </p:nvSpPr>
        <p:spPr>
          <a:xfrm>
            <a:off x="502789" y="2982577"/>
            <a:ext cx="2362954" cy="20924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Microsoft Publishers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Drivers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Defender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Visual Studio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Etc.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4D4C56-E7A1-9113-0037-80DBFAA873D0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877110" y="2596826"/>
            <a:ext cx="2122284" cy="1360339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C1251D-1A9E-D94E-90F0-9231743F0FF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877110" y="4167507"/>
            <a:ext cx="2122284" cy="1293251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85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2368-D93E-DD01-9E37-3A7B5A49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79888" cy="792466"/>
          </a:xfrm>
        </p:spPr>
        <p:txBody>
          <a:bodyPr>
            <a:normAutofit fontScale="90000"/>
          </a:bodyPr>
          <a:lstStyle/>
          <a:p>
            <a:r>
              <a:rPr lang="en-US"/>
              <a:t>Why is there Windows </a:t>
            </a:r>
            <a:r>
              <a:rPr lang="en-US" u="sng"/>
              <a:t>And</a:t>
            </a:r>
            <a:r>
              <a:rPr lang="en-US"/>
              <a:t> Microsoft Update?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B1E47-8D78-A37C-7B6F-183948F40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Windows Update was created to secure Windows</a:t>
            </a:r>
          </a:p>
          <a:p>
            <a:pPr>
              <a:lnSpc>
                <a:spcPct val="100000"/>
              </a:lnSpc>
            </a:pPr>
            <a:r>
              <a:rPr lang="en-US"/>
              <a:t>Microsoft Update released in 2005 to secure other Microsoft products (Office, Visual Studio, SQL, etc.)</a:t>
            </a:r>
          </a:p>
          <a:p>
            <a:endParaRPr lang="en-US"/>
          </a:p>
          <a:p>
            <a:r>
              <a:rPr lang="en-US"/>
              <a:t>Okay, but why create a second service?</a:t>
            </a:r>
          </a:p>
          <a:p>
            <a:pPr lvl="1"/>
            <a:r>
              <a:rPr lang="en-US"/>
              <a:t>User consent is required for automatic updates</a:t>
            </a:r>
          </a:p>
          <a:p>
            <a:pPr lvl="2"/>
            <a:r>
              <a:rPr lang="en-US"/>
              <a:t>Windows: user consent is part of the EULA agreed to at install</a:t>
            </a:r>
          </a:p>
          <a:p>
            <a:pPr lvl="2"/>
            <a:r>
              <a:rPr lang="en-US"/>
              <a:t>Non-OS: user consent is obtained during software install (MU opt-in)</a:t>
            </a:r>
          </a:p>
          <a:p>
            <a:pPr lvl="3"/>
            <a:r>
              <a:rPr lang="en-US"/>
              <a:t>Opting in to MU for one product opts the machine in for all MU products.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86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3829-9C46-F151-B5E7-7EA34440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3EA2-40F8-5629-3C0F-0F655BE4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workflow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1202742-FC22-C7D9-B6F5-AB769119F9BB}"/>
              </a:ext>
            </a:extLst>
          </p:cNvPr>
          <p:cNvSpPr/>
          <p:nvPr/>
        </p:nvSpPr>
        <p:spPr>
          <a:xfrm>
            <a:off x="871474" y="3159161"/>
            <a:ext cx="2901156" cy="1160462"/>
          </a:xfrm>
          <a:custGeom>
            <a:avLst/>
            <a:gdLst>
              <a:gd name="csX0" fmla="*/ 0 w 2901156"/>
              <a:gd name="csY0" fmla="*/ 0 h 1160462"/>
              <a:gd name="csX1" fmla="*/ 2320925 w 2901156"/>
              <a:gd name="csY1" fmla="*/ 0 h 1160462"/>
              <a:gd name="csX2" fmla="*/ 2901156 w 2901156"/>
              <a:gd name="csY2" fmla="*/ 580231 h 1160462"/>
              <a:gd name="csX3" fmla="*/ 2320925 w 2901156"/>
              <a:gd name="csY3" fmla="*/ 1160462 h 1160462"/>
              <a:gd name="csX4" fmla="*/ 0 w 2901156"/>
              <a:gd name="csY4" fmla="*/ 1160462 h 1160462"/>
              <a:gd name="csX5" fmla="*/ 580231 w 2901156"/>
              <a:gd name="csY5" fmla="*/ 580231 h 1160462"/>
              <a:gd name="csX6" fmla="*/ 0 w 2901156"/>
              <a:gd name="csY6" fmla="*/ 0 h 1160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1156" h="1160462">
                <a:moveTo>
                  <a:pt x="0" y="0"/>
                </a:moveTo>
                <a:lnTo>
                  <a:pt x="2320925" y="0"/>
                </a:lnTo>
                <a:lnTo>
                  <a:pt x="2901156" y="580231"/>
                </a:lnTo>
                <a:lnTo>
                  <a:pt x="2320925" y="1160462"/>
                </a:lnTo>
                <a:lnTo>
                  <a:pt x="0" y="1160462"/>
                </a:lnTo>
                <a:lnTo>
                  <a:pt x="580231" y="580231"/>
                </a:lnTo>
                <a:lnTo>
                  <a:pt x="0" y="0"/>
                </a:lnTo>
                <a:close/>
              </a:path>
            </a:pathLst>
          </a:custGeom>
          <a:solidFill>
            <a:srgbClr val="2E61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0246" tIns="40005" rIns="620236" bIns="40005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Scan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E05AF3-E747-033C-4C9D-F66DA7DA7CA8}"/>
              </a:ext>
            </a:extLst>
          </p:cNvPr>
          <p:cNvGrpSpPr/>
          <p:nvPr/>
        </p:nvGrpSpPr>
        <p:grpSpPr>
          <a:xfrm>
            <a:off x="3337787" y="3159161"/>
            <a:ext cx="7982738" cy="1160462"/>
            <a:chOff x="3337787" y="3159161"/>
            <a:chExt cx="7982738" cy="116046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1165310-AFE1-90D6-96EC-EABCA647C7E2}"/>
                </a:ext>
              </a:extLst>
            </p:cNvPr>
            <p:cNvSpPr/>
            <p:nvPr/>
          </p:nvSpPr>
          <p:spPr>
            <a:xfrm>
              <a:off x="3337787" y="3159161"/>
              <a:ext cx="3045883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8E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Download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2FAF4F-CD89-D1CA-FAF1-7C36077C656C}"/>
                </a:ext>
              </a:extLst>
            </p:cNvPr>
            <p:cNvSpPr/>
            <p:nvPr/>
          </p:nvSpPr>
          <p:spPr>
            <a:xfrm>
              <a:off x="5948827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46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Install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817D08D-AFFC-73FB-ACBA-69ABBAF4C872}"/>
                </a:ext>
              </a:extLst>
            </p:cNvPr>
            <p:cNvSpPr/>
            <p:nvPr/>
          </p:nvSpPr>
          <p:spPr>
            <a:xfrm>
              <a:off x="8419369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81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05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573D-76D0-6387-61CD-2F7F36B0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C8CA-D102-3C88-1E88-D6FE011E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workflow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870F854-93CD-4330-FF16-13C26B213E0B}"/>
              </a:ext>
            </a:extLst>
          </p:cNvPr>
          <p:cNvSpPr/>
          <p:nvPr/>
        </p:nvSpPr>
        <p:spPr>
          <a:xfrm>
            <a:off x="871474" y="3428999"/>
            <a:ext cx="2226558" cy="890623"/>
          </a:xfrm>
          <a:custGeom>
            <a:avLst/>
            <a:gdLst>
              <a:gd name="csX0" fmla="*/ 0 w 2901156"/>
              <a:gd name="csY0" fmla="*/ 0 h 1160462"/>
              <a:gd name="csX1" fmla="*/ 2320925 w 2901156"/>
              <a:gd name="csY1" fmla="*/ 0 h 1160462"/>
              <a:gd name="csX2" fmla="*/ 2901156 w 2901156"/>
              <a:gd name="csY2" fmla="*/ 580231 h 1160462"/>
              <a:gd name="csX3" fmla="*/ 2320925 w 2901156"/>
              <a:gd name="csY3" fmla="*/ 1160462 h 1160462"/>
              <a:gd name="csX4" fmla="*/ 0 w 2901156"/>
              <a:gd name="csY4" fmla="*/ 1160462 h 1160462"/>
              <a:gd name="csX5" fmla="*/ 580231 w 2901156"/>
              <a:gd name="csY5" fmla="*/ 580231 h 1160462"/>
              <a:gd name="csX6" fmla="*/ 0 w 2901156"/>
              <a:gd name="csY6" fmla="*/ 0 h 1160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1156" h="1160462">
                <a:moveTo>
                  <a:pt x="0" y="0"/>
                </a:moveTo>
                <a:lnTo>
                  <a:pt x="2320925" y="0"/>
                </a:lnTo>
                <a:lnTo>
                  <a:pt x="2901156" y="580231"/>
                </a:lnTo>
                <a:lnTo>
                  <a:pt x="2320925" y="1160462"/>
                </a:lnTo>
                <a:lnTo>
                  <a:pt x="0" y="1160462"/>
                </a:lnTo>
                <a:lnTo>
                  <a:pt x="580231" y="580231"/>
                </a:lnTo>
                <a:lnTo>
                  <a:pt x="0" y="0"/>
                </a:lnTo>
                <a:close/>
              </a:path>
            </a:pathLst>
          </a:custGeom>
          <a:solidFill>
            <a:srgbClr val="2E61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0246" tIns="40005" rIns="620236" bIns="40005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Scan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2F1E46-B6EA-3D21-FC10-83642C8BDDBA}"/>
              </a:ext>
            </a:extLst>
          </p:cNvPr>
          <p:cNvGrpSpPr/>
          <p:nvPr/>
        </p:nvGrpSpPr>
        <p:grpSpPr>
          <a:xfrm>
            <a:off x="2611332" y="3249477"/>
            <a:ext cx="8541851" cy="1241741"/>
            <a:chOff x="3337787" y="3159161"/>
            <a:chExt cx="7982738" cy="116046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DB77BBB-C861-CAD5-45B9-D0F53CB668FF}"/>
                </a:ext>
              </a:extLst>
            </p:cNvPr>
            <p:cNvSpPr/>
            <p:nvPr/>
          </p:nvSpPr>
          <p:spPr>
            <a:xfrm>
              <a:off x="3337787" y="3159161"/>
              <a:ext cx="3045883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8E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Download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54D204-E880-275A-27BB-65DC8441F219}"/>
                </a:ext>
              </a:extLst>
            </p:cNvPr>
            <p:cNvSpPr/>
            <p:nvPr/>
          </p:nvSpPr>
          <p:spPr>
            <a:xfrm>
              <a:off x="5948827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46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Install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4EC42D3-64F0-22C6-B0E0-A7F3562685C0}"/>
                </a:ext>
              </a:extLst>
            </p:cNvPr>
            <p:cNvSpPr/>
            <p:nvPr/>
          </p:nvSpPr>
          <p:spPr>
            <a:xfrm>
              <a:off x="8419369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81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645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7CC6-0DDA-8DD3-3892-C931B49B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B1338B-7CAE-F25C-9D3F-DBAF1197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The Client: WUA, USO, BITS, CBS, DO, UA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8C4E2-FC30-3C88-56BE-67D23B639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talk acronyms!</a:t>
            </a:r>
          </a:p>
        </p:txBody>
      </p:sp>
    </p:spTree>
    <p:extLst>
      <p:ext uri="{BB962C8B-B14F-4D97-AF65-F5344CB8AC3E}">
        <p14:creationId xmlns:p14="http://schemas.microsoft.com/office/powerpoint/2010/main" val="66153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670F88-8823-5A11-45C7-A55E1D87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"/>
            <a:ext cx="12192000" cy="685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2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C82A-D9E5-DC0C-DBB0-83102720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F6D5F-1AEE-1C9A-6D89-25C8DA53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"/>
            <a:ext cx="12192000" cy="685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57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3C8D-12EC-C2A9-8089-1E4B7E3E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72297" cy="792466"/>
          </a:xfrm>
        </p:spPr>
        <p:txBody>
          <a:bodyPr>
            <a:normAutofit fontScale="90000"/>
          </a:bodyPr>
          <a:lstStyle/>
          <a:p>
            <a:r>
              <a:rPr lang="en-US"/>
              <a:t>Windows Update Session Orchestrator (USO)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CC768-226E-DEA9-1B6F-38B5E391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/>
              <a:t>Introduced in Windows 10 to modernize update flow</a:t>
            </a:r>
            <a:r>
              <a:rPr lang="en-US"/>
              <a:t> </a:t>
            </a:r>
          </a:p>
          <a:p>
            <a:endParaRPr lang="en-US" b="1"/>
          </a:p>
          <a:p>
            <a:r>
              <a:rPr lang="en-US"/>
              <a:t>Purpose: High-level orchestration layer over WUA </a:t>
            </a:r>
          </a:p>
          <a:p>
            <a:pPr lvl="1"/>
            <a:r>
              <a:rPr lang="en-US"/>
              <a:t>Scheduling scans/installations </a:t>
            </a:r>
          </a:p>
          <a:p>
            <a:pPr lvl="1"/>
            <a:r>
              <a:rPr lang="en-US"/>
              <a:t>Coordinating reboots and deadlines </a:t>
            </a:r>
          </a:p>
          <a:p>
            <a:pPr lvl="1"/>
            <a:r>
              <a:rPr lang="en-US"/>
              <a:t>Managing user experience and notifications </a:t>
            </a:r>
          </a:p>
          <a:p>
            <a:r>
              <a:rPr lang="en-US"/>
              <a:t>Responsibilities: </a:t>
            </a:r>
          </a:p>
          <a:p>
            <a:pPr lvl="1"/>
            <a:r>
              <a:rPr lang="en-US"/>
              <a:t>Enforce update policies (deadlines, active hours) </a:t>
            </a:r>
          </a:p>
          <a:p>
            <a:pPr lvl="1"/>
            <a:r>
              <a:rPr lang="en-US"/>
              <a:t>Coordinate maintenance windows </a:t>
            </a:r>
          </a:p>
          <a:p>
            <a:pPr lvl="1"/>
            <a:r>
              <a:rPr lang="en-US"/>
              <a:t>Resume interrupted updates </a:t>
            </a:r>
          </a:p>
          <a:p>
            <a:pPr lvl="1"/>
            <a:r>
              <a:rPr lang="en-US"/>
              <a:t>Handle automatic retries and resiliency </a:t>
            </a:r>
          </a:p>
          <a:p>
            <a:r>
              <a:rPr lang="en-US"/>
              <a:t>Used By: </a:t>
            </a:r>
          </a:p>
          <a:p>
            <a:pPr lvl="1"/>
            <a:r>
              <a:rPr lang="en-US"/>
              <a:t>Windows Update for Business / Autopatch</a:t>
            </a:r>
          </a:p>
          <a:p>
            <a:pPr lvl="1"/>
            <a:r>
              <a:rPr lang="en-US"/>
              <a:t>Microsoft Intune</a:t>
            </a:r>
          </a:p>
        </p:txBody>
      </p:sp>
    </p:spTree>
    <p:extLst>
      <p:ext uri="{BB962C8B-B14F-4D97-AF65-F5344CB8AC3E}">
        <p14:creationId xmlns:p14="http://schemas.microsoft.com/office/powerpoint/2010/main" val="54067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5DDC1-C920-3A34-6F7C-33271A8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WUA: Windows Update Agent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AF8B94-F516-35C7-D080-015E9F39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Core component since early Windows Update era (XP)</a:t>
            </a:r>
          </a:p>
          <a:p>
            <a:endParaRPr lang="en-US" dirty="0"/>
          </a:p>
          <a:p>
            <a:r>
              <a:rPr lang="en-US" dirty="0"/>
              <a:t>API enabling programmatic control of updates</a:t>
            </a:r>
          </a:p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Scan for applicable updates</a:t>
            </a:r>
          </a:p>
          <a:p>
            <a:pPr lvl="1"/>
            <a:r>
              <a:rPr lang="en-US" dirty="0"/>
              <a:t>Evaluate applicability rules (supersedence, prerequisites)</a:t>
            </a:r>
          </a:p>
          <a:p>
            <a:pPr lvl="1"/>
            <a:r>
              <a:rPr lang="en-US" dirty="0"/>
              <a:t>Download updates (via DO)</a:t>
            </a:r>
          </a:p>
          <a:p>
            <a:pPr lvl="1"/>
            <a:r>
              <a:rPr lang="en-US" dirty="0"/>
              <a:t>Install updates (via CBS)</a:t>
            </a:r>
          </a:p>
          <a:p>
            <a:r>
              <a:rPr lang="en-US" dirty="0"/>
              <a:t>Used  by:</a:t>
            </a:r>
          </a:p>
          <a:p>
            <a:pPr lvl="1"/>
            <a:r>
              <a:rPr lang="en-US" dirty="0"/>
              <a:t>USO </a:t>
            </a:r>
          </a:p>
          <a:p>
            <a:pPr lvl="1"/>
            <a:r>
              <a:rPr lang="en-US" dirty="0"/>
              <a:t>Configuration Manager</a:t>
            </a:r>
          </a:p>
          <a:p>
            <a:pPr lvl="1"/>
            <a:r>
              <a:rPr lang="en-US" dirty="0"/>
              <a:t>Custom scripts/tools (PowerShell, VBScript, C++)</a:t>
            </a:r>
          </a:p>
        </p:txBody>
      </p:sp>
    </p:spTree>
    <p:extLst>
      <p:ext uri="{BB962C8B-B14F-4D97-AF65-F5344CB8AC3E}">
        <p14:creationId xmlns:p14="http://schemas.microsoft.com/office/powerpoint/2010/main" val="3664159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E821-2C4C-B228-74F6-A3DEA5F0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201400" cy="792466"/>
          </a:xfrm>
        </p:spPr>
        <p:txBody>
          <a:bodyPr>
            <a:normAutofit fontScale="90000"/>
          </a:bodyPr>
          <a:lstStyle/>
          <a:p>
            <a:r>
              <a:rPr lang="en-US"/>
              <a:t>Background Intelligent Transfer Service (BITS)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3FF8-4D5E-BE39-9438-7A496A278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Introduced in Windows XP to protect networks</a:t>
            </a:r>
          </a:p>
          <a:p>
            <a:endParaRPr lang="en-US"/>
          </a:p>
          <a:p>
            <a:r>
              <a:rPr lang="en-US"/>
              <a:t>Purpose: enable efficient, non-disruptive downloads </a:t>
            </a:r>
          </a:p>
          <a:p>
            <a:r>
              <a:rPr lang="en-US"/>
              <a:t>Key capabilities:</a:t>
            </a:r>
          </a:p>
          <a:p>
            <a:pPr lvl="1"/>
            <a:r>
              <a:rPr lang="en-US"/>
              <a:t>Throttled bandwidth usage (respects idle network capacity)</a:t>
            </a:r>
          </a:p>
          <a:p>
            <a:pPr lvl="1"/>
            <a:r>
              <a:rPr lang="en-US"/>
              <a:t>Automatic pause/resume (network drops, reboots)</a:t>
            </a:r>
          </a:p>
          <a:p>
            <a:pPr lvl="1"/>
            <a:r>
              <a:rPr lang="en-US"/>
              <a:t>Checkpointing (resumes partial downloads)</a:t>
            </a:r>
          </a:p>
          <a:p>
            <a:pPr lvl="1"/>
            <a:r>
              <a:rPr lang="en-US"/>
              <a:t>Queue-based job (download/upload)</a:t>
            </a:r>
          </a:p>
          <a:p>
            <a:pPr lvl="1"/>
            <a:r>
              <a:rPr lang="en-US"/>
              <a:t>Supports BranchCache</a:t>
            </a:r>
          </a:p>
          <a:p>
            <a:r>
              <a:rPr lang="en-US"/>
              <a:t>Used by:</a:t>
            </a:r>
          </a:p>
          <a:p>
            <a:pPr lvl="1"/>
            <a:r>
              <a:rPr lang="en-US"/>
              <a:t>WUA to download update content</a:t>
            </a:r>
          </a:p>
          <a:p>
            <a:pPr lvl="1"/>
            <a:r>
              <a:rPr lang="en-US"/>
              <a:t>Other MS services</a:t>
            </a:r>
          </a:p>
          <a:p>
            <a:r>
              <a:rPr lang="en-US"/>
              <a:t>Legacy: Replaced by ...</a:t>
            </a:r>
          </a:p>
        </p:txBody>
      </p:sp>
    </p:spTree>
    <p:extLst>
      <p:ext uri="{BB962C8B-B14F-4D97-AF65-F5344CB8AC3E}">
        <p14:creationId xmlns:p14="http://schemas.microsoft.com/office/powerpoint/2010/main" val="1711481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D6D509-D3D3-BF37-0B51-52581A48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91" y="173078"/>
            <a:ext cx="12095354" cy="885392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/>
              </a:rPr>
              <a:t>DO - Comprehensive solutions to minimize Internet bandwidth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D0F80-84A5-0603-EE62-142249BBEE3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3317" y="1625600"/>
            <a:ext cx="4862513" cy="497681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ea typeface="Calibri"/>
                <a:cs typeface="Calibri"/>
              </a:rPr>
              <a:t>Delivery Optimization Client</a:t>
            </a:r>
            <a:endParaRPr lang="en-US" sz="2400"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i="1">
                <a:ea typeface="Calibri"/>
                <a:cs typeface="Calibri"/>
              </a:rPr>
              <a:t>Distributed</a:t>
            </a:r>
            <a:endParaRPr lang="en-US" sz="2400"/>
          </a:p>
          <a:p>
            <a:pPr marL="284162" indent="-171450">
              <a:lnSpc>
                <a:spcPct val="150000"/>
              </a:lnSpc>
            </a:pPr>
            <a:r>
              <a:rPr lang="en-US" sz="2600"/>
              <a:t>Your own devices contribute to reduce the overall Internet bandwidth</a:t>
            </a:r>
          </a:p>
          <a:p>
            <a:pPr marL="284162" indent="-171450">
              <a:lnSpc>
                <a:spcPct val="150000"/>
              </a:lnSpc>
            </a:pPr>
            <a:r>
              <a:rPr lang="en-US" sz="2600"/>
              <a:t>Download reliably from </a:t>
            </a:r>
            <a:r>
              <a:rPr lang="en-US" sz="2600" i="1"/>
              <a:t>multiple http and peer sources in parallel</a:t>
            </a:r>
          </a:p>
          <a:p>
            <a:pPr marL="284162" indent="-171450">
              <a:lnSpc>
                <a:spcPct val="150000"/>
              </a:lnSpc>
            </a:pPr>
            <a:r>
              <a:rPr lang="en-US" sz="2600"/>
              <a:t>Cloud managed peer discovery to find the best local sources</a:t>
            </a:r>
          </a:p>
          <a:p>
            <a:pPr marL="284162" indent="-171450">
              <a:lnSpc>
                <a:spcPct val="150000"/>
              </a:lnSpc>
            </a:pPr>
            <a:r>
              <a:rPr lang="en-US" sz="2600"/>
              <a:t>Flexible download throttling controls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9DC9F-A134-0F3C-6874-4945A1488905}"/>
              </a:ext>
            </a:extLst>
          </p:cNvPr>
          <p:cNvSpPr txBox="1"/>
          <p:nvPr/>
        </p:nvSpPr>
        <p:spPr>
          <a:xfrm>
            <a:off x="6374567" y="1625600"/>
            <a:ext cx="5527623" cy="45843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indent="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rgbClr val="010101"/>
                </a:solidFill>
                <a:cs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1010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01010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01010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01010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200">
                <a:solidFill>
                  <a:schemeClr val="bg1"/>
                </a:solidFill>
                <a:cs typeface="Calibri"/>
              </a:rPr>
              <a:t>Microsoft Connected Cache</a:t>
            </a:r>
            <a:endParaRPr lang="en-US" sz="2200" b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200" b="0" i="1">
                <a:solidFill>
                  <a:schemeClr val="bg1"/>
                </a:solidFill>
                <a:cs typeface="Calibri"/>
              </a:rPr>
              <a:t>Dedicated</a:t>
            </a:r>
            <a:endParaRPr lang="en-US" sz="2200">
              <a:solidFill>
                <a:schemeClr val="bg1"/>
              </a:solidFill>
              <a:cs typeface="Calibri"/>
            </a:endParaRPr>
          </a:p>
          <a:p>
            <a:pPr marL="283845" indent="-171450">
              <a:buFont typeface="Arial" panose="020B0604020202020204" pitchFamily="34" charset="0"/>
              <a:buChar char="•"/>
            </a:pPr>
            <a:r>
              <a:rPr lang="en-US" sz="2200" b="0">
                <a:solidFill>
                  <a:schemeClr val="bg1"/>
                </a:solidFill>
                <a:cs typeface="+mn-cs"/>
              </a:rPr>
              <a:t>Transparently and dynamically cache content delivered through Delivery Optimization, consumed by devices on your network​</a:t>
            </a:r>
            <a:endParaRPr lang="en-US" sz="2200" b="0">
              <a:solidFill>
                <a:schemeClr val="bg1"/>
              </a:solidFill>
              <a:ea typeface="Calibri"/>
              <a:cs typeface="Calibri"/>
            </a:endParaRPr>
          </a:p>
          <a:p>
            <a:pPr marL="283845" indent="-171450">
              <a:buFont typeface="Arial" panose="020B0604020202020204" pitchFamily="34" charset="0"/>
              <a:buChar char="•"/>
            </a:pPr>
            <a:r>
              <a:rPr lang="en-US" sz="2200" b="0">
                <a:solidFill>
                  <a:schemeClr val="bg1"/>
                </a:solidFill>
                <a:cs typeface="+mn-cs"/>
              </a:rPr>
              <a:t>Better bandwidth reductions in sites with limited access</a:t>
            </a:r>
            <a:endParaRPr lang="en-US" sz="2200" b="0">
              <a:solidFill>
                <a:schemeClr val="bg1"/>
              </a:solidFill>
              <a:ea typeface="Calibri"/>
              <a:cs typeface="Calibri"/>
            </a:endParaRPr>
          </a:p>
          <a:p>
            <a:pPr marL="283845" indent="-171450">
              <a:buFont typeface="Arial" panose="020B0604020202020204" pitchFamily="34" charset="0"/>
              <a:buChar char="•"/>
            </a:pPr>
            <a:r>
              <a:rPr lang="en-US" sz="2200" b="0">
                <a:solidFill>
                  <a:schemeClr val="bg1"/>
                </a:solidFill>
                <a:cs typeface="+mn-cs"/>
              </a:rPr>
              <a:t>Supporting networks where peer-to-peer cannot be used </a:t>
            </a:r>
            <a:br>
              <a:rPr lang="en-US" sz="2200" b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2200" b="0">
                <a:solidFill>
                  <a:schemeClr val="bg1"/>
                </a:solidFill>
                <a:cs typeface="+mn-cs"/>
              </a:rPr>
              <a:t>(ex: all VPN Wi-Fi network)</a:t>
            </a:r>
            <a:endParaRPr lang="en-US" sz="2200" b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1" name="Graphic 10" descr="Badge Follow with solid fill">
            <a:extLst>
              <a:ext uri="{FF2B5EF4-FFF2-40B4-BE49-F238E27FC236}">
                <a16:creationId xmlns:a16="http://schemas.microsoft.com/office/drawing/2014/main" id="{F92B21EF-E7C7-E52C-EED6-0482D3A6C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0234" y="32691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7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1AB0-9D6A-8F00-17C7-0B019AA0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B600-F3DB-4246-CC1F-893433D2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Unified Update Platform (UUP)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7DC2-01F5-273A-F08F-19EEB9A7B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Designed to unify all Windows servicing workflows (flighting/retail, phone/desktop, upgrade/update)</a:t>
            </a:r>
          </a:p>
          <a:p>
            <a:r>
              <a:rPr lang="en-US" dirty="0"/>
              <a:t>Feature Updates switched to UUP in Win10 1703, Quality Updates switched in Win10 1709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Smaller, smarter downloads on each endpoint</a:t>
            </a:r>
          </a:p>
          <a:p>
            <a:pPr lvl="1"/>
            <a:r>
              <a:rPr lang="en-US" dirty="0"/>
              <a:t>Get current in one step with cumulative Quality Updates</a:t>
            </a:r>
          </a:p>
          <a:p>
            <a:pPr lvl="1"/>
            <a:r>
              <a:rPr lang="en-US" dirty="0"/>
              <a:t>Feature Updates land on the latest Quality Update and preserve installed languages and features (FODs)</a:t>
            </a:r>
          </a:p>
        </p:txBody>
      </p:sp>
    </p:spTree>
    <p:extLst>
      <p:ext uri="{BB962C8B-B14F-4D97-AF65-F5344CB8AC3E}">
        <p14:creationId xmlns:p14="http://schemas.microsoft.com/office/powerpoint/2010/main" val="1530403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AE77-30A7-5676-950B-825263A6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79DB-7275-73F6-0E7C-6FA8C048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UUP: Update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3D69-E42C-8DB9-539E-6DC986873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UUP updates contain bootstrap files that are downloaded first:</a:t>
            </a:r>
          </a:p>
          <a:p>
            <a:pPr lvl="1"/>
            <a:r>
              <a:rPr lang="en-US" dirty="0"/>
              <a:t>Metadata files describing the contents of the update</a:t>
            </a:r>
          </a:p>
          <a:p>
            <a:pPr lvl="1"/>
            <a:r>
              <a:rPr lang="en-US" dirty="0"/>
              <a:t>Update Agent, a .</a:t>
            </a:r>
            <a:r>
              <a:rPr lang="en-US" dirty="0" err="1"/>
              <a:t>dll</a:t>
            </a:r>
            <a:r>
              <a:rPr lang="en-US" dirty="0"/>
              <a:t> that determines which update files to download</a:t>
            </a:r>
          </a:p>
          <a:p>
            <a:r>
              <a:rPr lang="en-US" dirty="0"/>
              <a:t>Update Agent parses the metadata files and compares them to what is installed</a:t>
            </a:r>
          </a:p>
          <a:p>
            <a:r>
              <a:rPr lang="en-US" dirty="0"/>
              <a:t>Once files are downloaded, Update Agent hands them to CBS for install</a:t>
            </a:r>
          </a:p>
        </p:txBody>
      </p:sp>
    </p:spTree>
    <p:extLst>
      <p:ext uri="{BB962C8B-B14F-4D97-AF65-F5344CB8AC3E}">
        <p14:creationId xmlns:p14="http://schemas.microsoft.com/office/powerpoint/2010/main" val="240933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64DF5E-5EF9-645F-AF80-C86EE74BB0EE}"/>
              </a:ext>
            </a:extLst>
          </p:cNvPr>
          <p:cNvSpPr/>
          <p:nvPr/>
        </p:nvSpPr>
        <p:spPr>
          <a:xfrm>
            <a:off x="4869234" y="1674065"/>
            <a:ext cx="2510480" cy="4501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solidFill>
                  <a:schemeClr val="accent2"/>
                </a:solidFill>
              </a:rPr>
              <a:t>Update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71B74-6540-247B-0099-F9B2EF8D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UUP client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67CAB-D186-4CC3-F262-76F1AFF9D9AF}"/>
              </a:ext>
            </a:extLst>
          </p:cNvPr>
          <p:cNvSpPr/>
          <p:nvPr/>
        </p:nvSpPr>
        <p:spPr>
          <a:xfrm>
            <a:off x="5313182" y="2309059"/>
            <a:ext cx="1786447" cy="44394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00F37-1ECB-9312-AFBE-6EDB070FC580}"/>
              </a:ext>
            </a:extLst>
          </p:cNvPr>
          <p:cNvSpPr/>
          <p:nvPr/>
        </p:nvSpPr>
        <p:spPr>
          <a:xfrm>
            <a:off x="5313180" y="2940608"/>
            <a:ext cx="1786447" cy="44394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Metadata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DF57B-DB13-3A9B-CADD-21BC72781521}"/>
              </a:ext>
            </a:extLst>
          </p:cNvPr>
          <p:cNvSpPr/>
          <p:nvPr/>
        </p:nvSpPr>
        <p:spPr>
          <a:xfrm>
            <a:off x="5313179" y="3572157"/>
            <a:ext cx="1786447" cy="44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File1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C6C49-465E-633E-A877-A374459164D9}"/>
              </a:ext>
            </a:extLst>
          </p:cNvPr>
          <p:cNvSpPr/>
          <p:nvPr/>
        </p:nvSpPr>
        <p:spPr>
          <a:xfrm>
            <a:off x="5313179" y="4203706"/>
            <a:ext cx="1786447" cy="44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File2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DC469-06C3-4607-56B4-1F587C7202E0}"/>
              </a:ext>
            </a:extLst>
          </p:cNvPr>
          <p:cNvSpPr/>
          <p:nvPr/>
        </p:nvSpPr>
        <p:spPr>
          <a:xfrm>
            <a:off x="5313180" y="5463075"/>
            <a:ext cx="1786447" cy="44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FileN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83352-6E59-3FC8-597E-A46D393AD520}"/>
              </a:ext>
            </a:extLst>
          </p:cNvPr>
          <p:cNvSpPr/>
          <p:nvPr/>
        </p:nvSpPr>
        <p:spPr>
          <a:xfrm>
            <a:off x="5313179" y="4835255"/>
            <a:ext cx="1786447" cy="443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2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E5BD78-6FC0-259B-0EDB-FC159B2B8291}"/>
              </a:ext>
            </a:extLst>
          </p:cNvPr>
          <p:cNvSpPr/>
          <p:nvPr/>
        </p:nvSpPr>
        <p:spPr>
          <a:xfrm>
            <a:off x="1166883" y="1674066"/>
            <a:ext cx="2108774" cy="45014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/>
              <a:t>WUA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678373-5CD2-D280-94DC-178C8D96048F}"/>
              </a:ext>
            </a:extLst>
          </p:cNvPr>
          <p:cNvCxnSpPr>
            <a:cxnSpLocks/>
          </p:cNvCxnSpPr>
          <p:nvPr/>
        </p:nvCxnSpPr>
        <p:spPr>
          <a:xfrm>
            <a:off x="3275657" y="2418456"/>
            <a:ext cx="2037524" cy="131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CBF850-A114-CFF5-C8D7-0C5AE9EAD8C7}"/>
              </a:ext>
            </a:extLst>
          </p:cNvPr>
          <p:cNvCxnSpPr>
            <a:cxnSpLocks/>
          </p:cNvCxnSpPr>
          <p:nvPr/>
        </p:nvCxnSpPr>
        <p:spPr>
          <a:xfrm>
            <a:off x="3275657" y="3155865"/>
            <a:ext cx="199528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05DEB880-DF7C-389C-B8D6-6D43AD640009}"/>
              </a:ext>
            </a:extLst>
          </p:cNvPr>
          <p:cNvSpPr/>
          <p:nvPr/>
        </p:nvSpPr>
        <p:spPr>
          <a:xfrm>
            <a:off x="7170642" y="2438869"/>
            <a:ext cx="478743" cy="83626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3681B685-D801-8549-3EB0-16DADE779F41}"/>
              </a:ext>
            </a:extLst>
          </p:cNvPr>
          <p:cNvSpPr/>
          <p:nvPr/>
        </p:nvSpPr>
        <p:spPr>
          <a:xfrm flipH="1">
            <a:off x="3341919" y="2585658"/>
            <a:ext cx="1921565" cy="2048877"/>
          </a:xfrm>
          <a:prstGeom prst="curvedLeftArrow">
            <a:avLst>
              <a:gd name="adj1" fmla="val 8863"/>
              <a:gd name="adj2" fmla="val 28892"/>
              <a:gd name="adj3" fmla="val 106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97971393-F63E-F698-E5FB-29F40E0244BD}"/>
              </a:ext>
            </a:extLst>
          </p:cNvPr>
          <p:cNvSpPr/>
          <p:nvPr/>
        </p:nvSpPr>
        <p:spPr>
          <a:xfrm flipH="1">
            <a:off x="2760460" y="2585658"/>
            <a:ext cx="2510480" cy="3392588"/>
          </a:xfrm>
          <a:prstGeom prst="curvedLeftArrow">
            <a:avLst>
              <a:gd name="adj1" fmla="val 7404"/>
              <a:gd name="adj2" fmla="val 24843"/>
              <a:gd name="adj3" fmla="val 91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276B01-9411-2F99-03E3-7B283B480FB4}"/>
              </a:ext>
            </a:extLst>
          </p:cNvPr>
          <p:cNvSpPr/>
          <p:nvPr/>
        </p:nvSpPr>
        <p:spPr>
          <a:xfrm>
            <a:off x="3923654" y="1870306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5EBBD8-77E3-60A5-0C09-788CD7CD441E}"/>
              </a:ext>
            </a:extLst>
          </p:cNvPr>
          <p:cNvSpPr/>
          <p:nvPr/>
        </p:nvSpPr>
        <p:spPr>
          <a:xfrm>
            <a:off x="7720398" y="2617121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B016378-C922-28CF-0824-979DB8AECD6F}"/>
              </a:ext>
            </a:extLst>
          </p:cNvPr>
          <p:cNvSpPr/>
          <p:nvPr/>
        </p:nvSpPr>
        <p:spPr>
          <a:xfrm>
            <a:off x="3919380" y="4371792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CA522A5-D07C-0A3F-94AB-ACEDEE1961BF}"/>
              </a:ext>
            </a:extLst>
          </p:cNvPr>
          <p:cNvSpPr/>
          <p:nvPr/>
        </p:nvSpPr>
        <p:spPr>
          <a:xfrm>
            <a:off x="7170642" y="4829176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2300AD8-A506-4142-2211-F4A778E4D0CE}"/>
              </a:ext>
            </a:extLst>
          </p:cNvPr>
          <p:cNvSpPr/>
          <p:nvPr/>
        </p:nvSpPr>
        <p:spPr>
          <a:xfrm>
            <a:off x="8498862" y="2337377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DF64E41-79D5-BEEF-E8C0-244F80BC49B1}"/>
              </a:ext>
            </a:extLst>
          </p:cNvPr>
          <p:cNvSpPr/>
          <p:nvPr/>
        </p:nvSpPr>
        <p:spPr>
          <a:xfrm>
            <a:off x="8498862" y="3095380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902590-22EA-EC0E-A5BB-E4F51090F8B9}"/>
              </a:ext>
            </a:extLst>
          </p:cNvPr>
          <p:cNvSpPr/>
          <p:nvPr/>
        </p:nvSpPr>
        <p:spPr>
          <a:xfrm>
            <a:off x="8498862" y="3853383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348160-AD24-9DC0-3CF3-21DBD4BCEC73}"/>
              </a:ext>
            </a:extLst>
          </p:cNvPr>
          <p:cNvSpPr/>
          <p:nvPr/>
        </p:nvSpPr>
        <p:spPr>
          <a:xfrm>
            <a:off x="8498862" y="4611386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6C12BD-F95D-ECDF-6E43-544567D601D1}"/>
              </a:ext>
            </a:extLst>
          </p:cNvPr>
          <p:cNvSpPr txBox="1"/>
          <p:nvPr/>
        </p:nvSpPr>
        <p:spPr>
          <a:xfrm>
            <a:off x="8950581" y="2407651"/>
            <a:ext cx="2544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WUA downloads bootstrap files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B41473-363C-AD8B-5150-B612D7FC3E61}"/>
              </a:ext>
            </a:extLst>
          </p:cNvPr>
          <p:cNvSpPr txBox="1"/>
          <p:nvPr/>
        </p:nvSpPr>
        <p:spPr>
          <a:xfrm>
            <a:off x="8942811" y="3089273"/>
            <a:ext cx="2888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WUA launches Update Agent (UA) which reads the metadata file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723D43-3F03-802D-19D6-2E72C81FB5EB}"/>
              </a:ext>
            </a:extLst>
          </p:cNvPr>
          <p:cNvSpPr txBox="1"/>
          <p:nvPr/>
        </p:nvSpPr>
        <p:spPr>
          <a:xfrm>
            <a:off x="8950580" y="3928318"/>
            <a:ext cx="2572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UA downloads only needed files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B3F1D2-2E5A-79D7-B1CE-02AB755DB17A}"/>
              </a:ext>
            </a:extLst>
          </p:cNvPr>
          <p:cNvSpPr txBox="1"/>
          <p:nvPr/>
        </p:nvSpPr>
        <p:spPr>
          <a:xfrm>
            <a:off x="8950580" y="4675287"/>
            <a:ext cx="2723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UA triggers install/reboot/commit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A6B3C24-3016-A55D-00D7-280FE18A13BC}"/>
              </a:ext>
            </a:extLst>
          </p:cNvPr>
          <p:cNvSpPr/>
          <p:nvPr/>
        </p:nvSpPr>
        <p:spPr>
          <a:xfrm>
            <a:off x="8492971" y="5369389"/>
            <a:ext cx="443948" cy="45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*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FA7DF1-C18B-9188-47D6-D0EA4C0AEE90}"/>
              </a:ext>
            </a:extLst>
          </p:cNvPr>
          <p:cNvSpPr txBox="1"/>
          <p:nvPr/>
        </p:nvSpPr>
        <p:spPr>
          <a:xfrm>
            <a:off x="8950580" y="5369389"/>
            <a:ext cx="3241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UA interacts w/ WUA to provide progress, </a:t>
            </a:r>
          </a:p>
          <a:p>
            <a:r>
              <a:rPr lang="en-US" sz="1400">
                <a:solidFill>
                  <a:schemeClr val="bg1"/>
                </a:solidFill>
              </a:rPr>
              <a:t>download files, report status, etc.</a:t>
            </a:r>
          </a:p>
        </p:txBody>
      </p:sp>
    </p:spTree>
    <p:extLst>
      <p:ext uri="{BB962C8B-B14F-4D97-AF65-F5344CB8AC3E}">
        <p14:creationId xmlns:p14="http://schemas.microsoft.com/office/powerpoint/2010/main" val="327941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48" grpId="0" animBg="1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6BC3-9048-7F68-40D6-963D3E3D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Component-Based Servicing (CBS)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C7DE-9075-97E7-4D0B-706E8833E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Introduced in Windows Vista, replacing legacy update mechanisms</a:t>
            </a:r>
          </a:p>
          <a:p>
            <a:endParaRPr lang="en-US"/>
          </a:p>
          <a:p>
            <a:r>
              <a:rPr lang="en-US"/>
              <a:t>Purpose: Windows servicing and installation engine</a:t>
            </a:r>
          </a:p>
          <a:p>
            <a:pPr lvl="1"/>
            <a:r>
              <a:rPr lang="en-US"/>
              <a:t>Handles installation of updates, features, and system components</a:t>
            </a:r>
          </a:p>
          <a:p>
            <a:pPr lvl="1"/>
            <a:r>
              <a:rPr lang="en-US"/>
              <a:t>Transaction-based model ensures safe install/uninstall</a:t>
            </a:r>
          </a:p>
          <a:p>
            <a:r>
              <a:rPr lang="en-US"/>
              <a:t>Responsibilities:</a:t>
            </a:r>
          </a:p>
          <a:p>
            <a:pPr lvl="1"/>
            <a:r>
              <a:rPr lang="en-US"/>
              <a:t>Package installation (.</a:t>
            </a:r>
            <a:r>
              <a:rPr lang="en-US" err="1"/>
              <a:t>msu</a:t>
            </a:r>
            <a:r>
              <a:rPr lang="en-US"/>
              <a:t>, .cab)</a:t>
            </a:r>
          </a:p>
          <a:p>
            <a:pPr lvl="1"/>
            <a:r>
              <a:rPr lang="en-US"/>
              <a:t>Dependency resolution and applicability</a:t>
            </a:r>
          </a:p>
          <a:p>
            <a:pPr lvl="1"/>
            <a:r>
              <a:rPr lang="en-US"/>
              <a:t>Component versioning and side-by-side (</a:t>
            </a:r>
            <a:r>
              <a:rPr lang="en-US" err="1"/>
              <a:t>WinSxS</a:t>
            </a:r>
            <a:r>
              <a:rPr lang="en-US"/>
              <a:t>) management</a:t>
            </a:r>
          </a:p>
          <a:p>
            <a:pPr lvl="1"/>
            <a:r>
              <a:rPr lang="en-US"/>
              <a:t>Rollback on failure</a:t>
            </a:r>
          </a:p>
          <a:p>
            <a:r>
              <a:rPr lang="en-US"/>
              <a:t>Used by:</a:t>
            </a:r>
          </a:p>
          <a:p>
            <a:pPr lvl="1"/>
            <a:r>
              <a:rPr lang="en-US"/>
              <a:t>Windows Update Agent</a:t>
            </a:r>
          </a:p>
          <a:p>
            <a:pPr lvl="1"/>
            <a:r>
              <a:rPr lang="en-US"/>
              <a:t>DISM (optional features, language packs)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98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Windows update orchestration and execution diagram">
            <a:extLst>
              <a:ext uri="{FF2B5EF4-FFF2-40B4-BE49-F238E27FC236}">
                <a16:creationId xmlns:a16="http://schemas.microsoft.com/office/drawing/2014/main" id="{40A08FF5-C1CF-B16A-AB04-9FF14A8C20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D883F4-3642-D925-CF7D-741B71396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" y="0"/>
            <a:ext cx="121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33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8B73B-C981-865A-17C5-9FD04919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D6158-3313-EE04-892D-58DD8497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1139021" cy="2852737"/>
          </a:xfrm>
        </p:spPr>
        <p:txBody>
          <a:bodyPr/>
          <a:lstStyle/>
          <a:p>
            <a:r>
              <a:rPr lang="en-US" sz="4800"/>
              <a:t>Widows Update Service: MUv6 vs DCAT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75660-C93D-CC5A-59E5-E57437E25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Enough acronyms, give us the cloud!</a:t>
            </a:r>
          </a:p>
        </p:txBody>
      </p:sp>
    </p:spTree>
    <p:extLst>
      <p:ext uri="{BB962C8B-B14F-4D97-AF65-F5344CB8AC3E}">
        <p14:creationId xmlns:p14="http://schemas.microsoft.com/office/powerpoint/2010/main" val="1679317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5B7A-E60F-CCDD-D698-33BC150A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C6C9-3BE2-2B05-2CE8-C2BEBFE0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workflow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5FC9045-5BF6-0D27-4432-12854AC36DF7}"/>
              </a:ext>
            </a:extLst>
          </p:cNvPr>
          <p:cNvSpPr/>
          <p:nvPr/>
        </p:nvSpPr>
        <p:spPr>
          <a:xfrm>
            <a:off x="871474" y="3159161"/>
            <a:ext cx="2901156" cy="1160462"/>
          </a:xfrm>
          <a:custGeom>
            <a:avLst/>
            <a:gdLst>
              <a:gd name="csX0" fmla="*/ 0 w 2901156"/>
              <a:gd name="csY0" fmla="*/ 0 h 1160462"/>
              <a:gd name="csX1" fmla="*/ 2320925 w 2901156"/>
              <a:gd name="csY1" fmla="*/ 0 h 1160462"/>
              <a:gd name="csX2" fmla="*/ 2901156 w 2901156"/>
              <a:gd name="csY2" fmla="*/ 580231 h 1160462"/>
              <a:gd name="csX3" fmla="*/ 2320925 w 2901156"/>
              <a:gd name="csY3" fmla="*/ 1160462 h 1160462"/>
              <a:gd name="csX4" fmla="*/ 0 w 2901156"/>
              <a:gd name="csY4" fmla="*/ 1160462 h 1160462"/>
              <a:gd name="csX5" fmla="*/ 580231 w 2901156"/>
              <a:gd name="csY5" fmla="*/ 580231 h 1160462"/>
              <a:gd name="csX6" fmla="*/ 0 w 2901156"/>
              <a:gd name="csY6" fmla="*/ 0 h 1160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1156" h="1160462">
                <a:moveTo>
                  <a:pt x="0" y="0"/>
                </a:moveTo>
                <a:lnTo>
                  <a:pt x="2320925" y="0"/>
                </a:lnTo>
                <a:lnTo>
                  <a:pt x="2901156" y="580231"/>
                </a:lnTo>
                <a:lnTo>
                  <a:pt x="2320925" y="1160462"/>
                </a:lnTo>
                <a:lnTo>
                  <a:pt x="0" y="1160462"/>
                </a:lnTo>
                <a:lnTo>
                  <a:pt x="580231" y="580231"/>
                </a:lnTo>
                <a:lnTo>
                  <a:pt x="0" y="0"/>
                </a:lnTo>
                <a:close/>
              </a:path>
            </a:pathLst>
          </a:custGeom>
          <a:solidFill>
            <a:srgbClr val="2E61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0246" tIns="40005" rIns="620236" bIns="40005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Scan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2C81E-AFDC-49B4-F98D-8D70837014E7}"/>
              </a:ext>
            </a:extLst>
          </p:cNvPr>
          <p:cNvGrpSpPr/>
          <p:nvPr/>
        </p:nvGrpSpPr>
        <p:grpSpPr>
          <a:xfrm>
            <a:off x="3337787" y="3159161"/>
            <a:ext cx="7982738" cy="1160462"/>
            <a:chOff x="3337787" y="3159161"/>
            <a:chExt cx="7982738" cy="116046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F189205-82E1-575E-F37F-AE92B09688C7}"/>
                </a:ext>
              </a:extLst>
            </p:cNvPr>
            <p:cNvSpPr/>
            <p:nvPr/>
          </p:nvSpPr>
          <p:spPr>
            <a:xfrm>
              <a:off x="3337787" y="3159161"/>
              <a:ext cx="3045883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8E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Download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2311D29-D728-B1E0-968C-2F4D4D944837}"/>
                </a:ext>
              </a:extLst>
            </p:cNvPr>
            <p:cNvSpPr/>
            <p:nvPr/>
          </p:nvSpPr>
          <p:spPr>
            <a:xfrm>
              <a:off x="5948827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46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Install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977A15-EE7D-CC2B-6E18-2896C795286F}"/>
                </a:ext>
              </a:extLst>
            </p:cNvPr>
            <p:cNvSpPr/>
            <p:nvPr/>
          </p:nvSpPr>
          <p:spPr>
            <a:xfrm>
              <a:off x="8419369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81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19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11FC-ECCD-547D-32B2-5E374BD7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70A0-3A63-DAA4-C9BA-C7205700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workflow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98EEEC6-188B-6266-3640-FA0D2184CCDF}"/>
              </a:ext>
            </a:extLst>
          </p:cNvPr>
          <p:cNvSpPr/>
          <p:nvPr/>
        </p:nvSpPr>
        <p:spPr>
          <a:xfrm>
            <a:off x="190161" y="3030070"/>
            <a:ext cx="3582471" cy="1432988"/>
          </a:xfrm>
          <a:custGeom>
            <a:avLst/>
            <a:gdLst>
              <a:gd name="csX0" fmla="*/ 0 w 2901156"/>
              <a:gd name="csY0" fmla="*/ 0 h 1160462"/>
              <a:gd name="csX1" fmla="*/ 2320925 w 2901156"/>
              <a:gd name="csY1" fmla="*/ 0 h 1160462"/>
              <a:gd name="csX2" fmla="*/ 2901156 w 2901156"/>
              <a:gd name="csY2" fmla="*/ 580231 h 1160462"/>
              <a:gd name="csX3" fmla="*/ 2320925 w 2901156"/>
              <a:gd name="csY3" fmla="*/ 1160462 h 1160462"/>
              <a:gd name="csX4" fmla="*/ 0 w 2901156"/>
              <a:gd name="csY4" fmla="*/ 1160462 h 1160462"/>
              <a:gd name="csX5" fmla="*/ 580231 w 2901156"/>
              <a:gd name="csY5" fmla="*/ 580231 h 1160462"/>
              <a:gd name="csX6" fmla="*/ 0 w 2901156"/>
              <a:gd name="csY6" fmla="*/ 0 h 1160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1156" h="1160462">
                <a:moveTo>
                  <a:pt x="0" y="0"/>
                </a:moveTo>
                <a:lnTo>
                  <a:pt x="2320925" y="0"/>
                </a:lnTo>
                <a:lnTo>
                  <a:pt x="2901156" y="580231"/>
                </a:lnTo>
                <a:lnTo>
                  <a:pt x="2320925" y="1160462"/>
                </a:lnTo>
                <a:lnTo>
                  <a:pt x="0" y="1160462"/>
                </a:lnTo>
                <a:lnTo>
                  <a:pt x="580231" y="580231"/>
                </a:lnTo>
                <a:lnTo>
                  <a:pt x="0" y="0"/>
                </a:lnTo>
                <a:close/>
              </a:path>
            </a:pathLst>
          </a:custGeom>
          <a:solidFill>
            <a:srgbClr val="2E61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0246" tIns="40005" rIns="620236" bIns="40005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Scan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FF6058-82D8-9A5A-DE44-F251F7CC629A}"/>
              </a:ext>
            </a:extLst>
          </p:cNvPr>
          <p:cNvGrpSpPr/>
          <p:nvPr/>
        </p:nvGrpSpPr>
        <p:grpSpPr>
          <a:xfrm>
            <a:off x="3337787" y="3159161"/>
            <a:ext cx="7982738" cy="1160462"/>
            <a:chOff x="3337787" y="3159161"/>
            <a:chExt cx="7982738" cy="116046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ED53D79-3C68-1F5F-D9E4-C5D93C4906E5}"/>
                </a:ext>
              </a:extLst>
            </p:cNvPr>
            <p:cNvSpPr/>
            <p:nvPr/>
          </p:nvSpPr>
          <p:spPr>
            <a:xfrm>
              <a:off x="3337787" y="3159161"/>
              <a:ext cx="3045883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8E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Download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9AB0C1E-C904-FED7-88A0-E83311876EDE}"/>
                </a:ext>
              </a:extLst>
            </p:cNvPr>
            <p:cNvSpPr/>
            <p:nvPr/>
          </p:nvSpPr>
          <p:spPr>
            <a:xfrm>
              <a:off x="5948827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46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Install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B8ED6C-EF69-81F9-2EA3-1BBB887C6C61}"/>
                </a:ext>
              </a:extLst>
            </p:cNvPr>
            <p:cNvSpPr/>
            <p:nvPr/>
          </p:nvSpPr>
          <p:spPr>
            <a:xfrm>
              <a:off x="8419369" y="3159161"/>
              <a:ext cx="2901156" cy="1160462"/>
            </a:xfrm>
            <a:custGeom>
              <a:avLst/>
              <a:gdLst>
                <a:gd name="csX0" fmla="*/ 0 w 2901156"/>
                <a:gd name="csY0" fmla="*/ 0 h 1160462"/>
                <a:gd name="csX1" fmla="*/ 2320925 w 2901156"/>
                <a:gd name="csY1" fmla="*/ 0 h 1160462"/>
                <a:gd name="csX2" fmla="*/ 2901156 w 2901156"/>
                <a:gd name="csY2" fmla="*/ 580231 h 1160462"/>
                <a:gd name="csX3" fmla="*/ 2320925 w 2901156"/>
                <a:gd name="csY3" fmla="*/ 1160462 h 1160462"/>
                <a:gd name="csX4" fmla="*/ 0 w 2901156"/>
                <a:gd name="csY4" fmla="*/ 1160462 h 1160462"/>
                <a:gd name="csX5" fmla="*/ 580231 w 2901156"/>
                <a:gd name="csY5" fmla="*/ 580231 h 1160462"/>
                <a:gd name="csX6" fmla="*/ 0 w 2901156"/>
                <a:gd name="csY6" fmla="*/ 0 h 1160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81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00246" tIns="40005" rIns="620236" bIns="40005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/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6523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6689-A224-BE29-04F4-E2E6AC17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It Work: MUv6 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48996-AB43-7DE8-50F1-50AAD41E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/>
              <a:t>Client evaluates applicability locally (rules engine) </a:t>
            </a:r>
          </a:p>
          <a:p>
            <a:pPr fontAlgn="t"/>
            <a:r>
              <a:rPr lang="en-US"/>
              <a:t>MUv6 pruning model</a:t>
            </a:r>
          </a:p>
          <a:p>
            <a:pPr lvl="1" fontAlgn="t"/>
            <a:r>
              <a:rPr lang="en-US"/>
              <a:t>Product Category scoping limits initial graph roots</a:t>
            </a:r>
          </a:p>
          <a:p>
            <a:pPr lvl="1" fontAlgn="t"/>
            <a:r>
              <a:rPr lang="en-US" err="1"/>
              <a:t>Detectoids</a:t>
            </a:r>
            <a:r>
              <a:rPr lang="en-US"/>
              <a:t> prune the branches</a:t>
            </a:r>
          </a:p>
          <a:p>
            <a:pPr lvl="1" fontAlgn="t"/>
            <a:r>
              <a:rPr lang="en-US"/>
              <a:t>Server returns only reachable + changed nodes (revision-cookie delta)</a:t>
            </a:r>
          </a:p>
          <a:p>
            <a:pPr lvl="1" fontAlgn="t"/>
            <a:r>
              <a:rPr lang="en-US"/>
              <a:t>Supersedence collapses graph paths (older nodes become unreachable)</a:t>
            </a:r>
          </a:p>
          <a:p>
            <a:pPr lvl="1" fontAlgn="t"/>
            <a:r>
              <a:rPr lang="en-US"/>
              <a:t>Client evaluates applicability over reduced working set</a:t>
            </a:r>
          </a:p>
          <a:p>
            <a:pPr fontAlgn="t"/>
            <a:r>
              <a:rPr lang="en-US"/>
              <a:t>WSUS uses this same protocol</a:t>
            </a:r>
          </a:p>
        </p:txBody>
      </p:sp>
    </p:spTree>
    <p:extLst>
      <p:ext uri="{BB962C8B-B14F-4D97-AF65-F5344CB8AC3E}">
        <p14:creationId xmlns:p14="http://schemas.microsoft.com/office/powerpoint/2010/main" val="2627542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D26409-2B8B-1E7E-53ED-762F291B8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89233"/>
            <a:ext cx="12181411" cy="544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77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682626-0457-8D70-742D-8221045EFDA1}"/>
              </a:ext>
            </a:extLst>
          </p:cNvPr>
          <p:cNvGrpSpPr/>
          <p:nvPr/>
        </p:nvGrpSpPr>
        <p:grpSpPr>
          <a:xfrm>
            <a:off x="0" y="710553"/>
            <a:ext cx="12197787" cy="5591361"/>
            <a:chOff x="1978101" y="1773563"/>
            <a:chExt cx="8315931" cy="343900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F32C4F-AEBB-C96A-5712-2106FCFBD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8101" y="1773563"/>
              <a:ext cx="3972479" cy="34390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536973-D236-F9F6-66DC-BFC9AF716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0579" y="1773563"/>
              <a:ext cx="4343453" cy="3439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5175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992B9-B493-8600-94DB-DA3785E54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88" y="995939"/>
            <a:ext cx="12158488" cy="48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20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8538-2F36-088E-DDD3-CF5C9C467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2DE1-07B2-6AEB-EB08-DADB2C44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MUv6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0508-8711-2992-278E-AFA61596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/>
            <a:r>
              <a:rPr lang="en-US"/>
              <a:t>Client performance + scale issues</a:t>
            </a:r>
          </a:p>
          <a:p>
            <a:pPr fontAlgn="t"/>
            <a:r>
              <a:rPr lang="en-US"/>
              <a:t>Inefficient, chatty protocol</a:t>
            </a:r>
          </a:p>
          <a:p>
            <a:pPr lvl="1" fontAlgn="t"/>
            <a:r>
              <a:rPr lang="en-US"/>
              <a:t>It’s a choose your own adventure game</a:t>
            </a:r>
          </a:p>
          <a:p>
            <a:pPr fontAlgn="t"/>
            <a:r>
              <a:rPr lang="en-US"/>
              <a:t>Too much logic in the client (limits agility)</a:t>
            </a:r>
          </a:p>
        </p:txBody>
      </p:sp>
    </p:spTree>
    <p:extLst>
      <p:ext uri="{BB962C8B-B14F-4D97-AF65-F5344CB8AC3E}">
        <p14:creationId xmlns:p14="http://schemas.microsoft.com/office/powerpoint/2010/main" val="4061571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25BA-08C9-0C5B-F604-819360B4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6637-67E2-95C0-D306-6DDDFF66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WSUS deprecation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524FB-C6EA-330A-9083-1793A1120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WSUS remains a supported role in Windows Server 2025</a:t>
            </a:r>
          </a:p>
          <a:p>
            <a:r>
              <a:rPr lang="en-US" dirty="0"/>
              <a:t>Server 2025 is in support until 2035</a:t>
            </a:r>
          </a:p>
          <a:p>
            <a:pPr lvl="1"/>
            <a:r>
              <a:rPr lang="en-US" dirty="0"/>
              <a:t>Paid extended support likely for some period beyond 2035</a:t>
            </a:r>
          </a:p>
          <a:p>
            <a:r>
              <a:rPr lang="en-US" dirty="0"/>
              <a:t>WSUS in Server 2025 continues to support patching of all supported versions of Windows client and Windows Server</a:t>
            </a:r>
          </a:p>
          <a:p>
            <a:r>
              <a:rPr lang="en-US" dirty="0"/>
              <a:t>This provides at least a 10-year runway for another solution</a:t>
            </a:r>
          </a:p>
          <a:p>
            <a:pPr fontAlgn="t"/>
            <a:r>
              <a:rPr lang="en-US" dirty="0"/>
              <a:t>We know a solution for airgap is needed</a:t>
            </a:r>
          </a:p>
        </p:txBody>
      </p:sp>
    </p:spTree>
    <p:extLst>
      <p:ext uri="{BB962C8B-B14F-4D97-AF65-F5344CB8AC3E}">
        <p14:creationId xmlns:p14="http://schemas.microsoft.com/office/powerpoint/2010/main" val="2107676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9936-A266-A13F-1947-DED62BC6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it Work: DCAT 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AAAE8-D2D1-53E8-3FD3-7C1B0C22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Client sends products and attribute info to DCAT:</a:t>
            </a:r>
          </a:p>
          <a:p>
            <a:pPr lvl="1"/>
            <a:r>
              <a:rPr lang="en-US"/>
              <a:t>Installed products (e.g., Windows, Defender, etc.) &amp; versions</a:t>
            </a:r>
          </a:p>
          <a:p>
            <a:pPr lvl="1"/>
            <a:r>
              <a:rPr lang="en-US"/>
              <a:t>Device attributes (arch, OS version, policy values, etc.)</a:t>
            </a:r>
          </a:p>
          <a:p>
            <a:r>
              <a:rPr lang="en-US"/>
              <a:t>DCAT identifies the latest applicable version for each product</a:t>
            </a:r>
          </a:p>
          <a:p>
            <a:pPr lvl="1"/>
            <a:r>
              <a:rPr lang="en-US"/>
              <a:t>Drivers and Quality Updates have targeting logic based on device attributes (i.e., expressions)</a:t>
            </a:r>
          </a:p>
          <a:p>
            <a:pPr lvl="1"/>
            <a:r>
              <a:rPr lang="en-US"/>
              <a:t>Some updates (e.g., Feature Updates, WIP) use “list-based” targeting, and can target on authenticated identities (MSA, Entra) or device IDs.</a:t>
            </a:r>
          </a:p>
          <a:p>
            <a:r>
              <a:rPr lang="en-US"/>
              <a:t>DCAT offers the latest applicable version if higher than the installed version.</a:t>
            </a:r>
          </a:p>
        </p:txBody>
      </p:sp>
    </p:spTree>
    <p:extLst>
      <p:ext uri="{BB962C8B-B14F-4D97-AF65-F5344CB8AC3E}">
        <p14:creationId xmlns:p14="http://schemas.microsoft.com/office/powerpoint/2010/main" val="1169765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BDC11C-B728-7407-EF67-0D857E6AC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" y="1252204"/>
            <a:ext cx="12203509" cy="44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63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8991-43C3-9FCE-4839-3446DCDC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DCAT: Device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AEC57-36EA-8E74-6A19-E3C1FAEF9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Common Targeting Attribute Client (CTAC)</a:t>
            </a:r>
          </a:p>
          <a:p>
            <a:r>
              <a:rPr lang="en-US"/>
              <a:t>New CTAC attributes are defined in the cloud, then pushed to devices via a configuration service</a:t>
            </a:r>
          </a:p>
          <a:p>
            <a:pPr lvl="1"/>
            <a:r>
              <a:rPr lang="en-US"/>
              <a:t>Typically set by the system or registry keys</a:t>
            </a:r>
          </a:p>
          <a:p>
            <a:r>
              <a:rPr lang="en-US"/>
              <a:t>The WU Client includes CTAC attributes in its scan</a:t>
            </a:r>
          </a:p>
          <a:p>
            <a:pPr lvl="1"/>
            <a:r>
              <a:rPr lang="en-US"/>
              <a:t>OS version, architecture, policies, etc.</a:t>
            </a:r>
          </a:p>
          <a:p>
            <a:r>
              <a:rPr lang="en-US"/>
              <a:t>You can see the list of CTAC attributes in a Windows Update log</a:t>
            </a:r>
          </a:p>
        </p:txBody>
      </p:sp>
    </p:spTree>
    <p:extLst>
      <p:ext uri="{BB962C8B-B14F-4D97-AF65-F5344CB8AC3E}">
        <p14:creationId xmlns:p14="http://schemas.microsoft.com/office/powerpoint/2010/main" val="1170053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9A6B5-97F9-F9F6-7769-8C128FBB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1BE5-4655-263B-AC59-358CE51B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Demo:  Where’s my update?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9004-DAF9-F11C-F6B5-3EB29D58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Toaster device with HWID: DSSTest3HWID1</a:t>
            </a:r>
          </a:p>
          <a:p>
            <a:r>
              <a:rPr lang="en-US"/>
              <a:t>Initial version: 1.0.0.0</a:t>
            </a:r>
          </a:p>
          <a:p>
            <a:r>
              <a:rPr lang="en-US"/>
              <a:t>Two versions on WU:</a:t>
            </a:r>
          </a:p>
          <a:p>
            <a:pPr lvl="1"/>
            <a:r>
              <a:rPr lang="en-US"/>
              <a:t>1.0.0.1 (</a:t>
            </a:r>
            <a:r>
              <a:rPr lang="en-US" err="1"/>
              <a:t>UpdateId</a:t>
            </a:r>
            <a:r>
              <a:rPr lang="en-US"/>
              <a:t>: EC2B044A-A8B4-4BC2-AA27-197560963941)</a:t>
            </a:r>
          </a:p>
          <a:p>
            <a:pPr lvl="1"/>
            <a:r>
              <a:rPr lang="en-US"/>
              <a:t>1.0.0.2 (</a:t>
            </a:r>
            <a:r>
              <a:rPr lang="en-US" err="1"/>
              <a:t>UpdateId</a:t>
            </a:r>
            <a:r>
              <a:rPr lang="en-US"/>
              <a:t>: D4FA4026-D81B-4FA4-847A-812E8689DF97)</a:t>
            </a:r>
          </a:p>
          <a:p>
            <a:r>
              <a:rPr lang="en-US"/>
              <a:t>Why isn’t 1.0.0.2 offered?</a:t>
            </a:r>
          </a:p>
        </p:txBody>
      </p:sp>
    </p:spTree>
    <p:extLst>
      <p:ext uri="{BB962C8B-B14F-4D97-AF65-F5344CB8AC3E}">
        <p14:creationId xmlns:p14="http://schemas.microsoft.com/office/powerpoint/2010/main" val="950806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F7C7-F2B9-5899-CF32-68AFDC1F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7A6F-1410-B72F-6473-122D59E2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investigate missing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B88B5-BE30-B6D7-7B74-4DDC01902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Collect WU log .ETL files (%</a:t>
            </a:r>
            <a:r>
              <a:rPr lang="en-US" err="1"/>
              <a:t>windir</a:t>
            </a:r>
            <a:r>
              <a:rPr lang="en-US"/>
              <a:t>%\Logs\</a:t>
            </a:r>
            <a:r>
              <a:rPr lang="en-US" err="1"/>
              <a:t>WindowsUpdate</a:t>
            </a:r>
            <a:r>
              <a:rPr lang="en-US"/>
              <a:t>)</a:t>
            </a:r>
          </a:p>
          <a:p>
            <a:r>
              <a:rPr lang="en-US"/>
              <a:t>Decode the .ETL files in PS using Get-</a:t>
            </a:r>
            <a:r>
              <a:rPr lang="en-US" err="1"/>
              <a:t>WindowsUpdateLog</a:t>
            </a:r>
            <a:endParaRPr lang="en-US"/>
          </a:p>
          <a:p>
            <a:r>
              <a:rPr lang="en-US"/>
              <a:t>Search for “</a:t>
            </a:r>
            <a:r>
              <a:rPr lang="en-US" err="1"/>
              <a:t>DeviceAttributes</a:t>
            </a:r>
            <a:r>
              <a:rPr lang="en-US"/>
              <a:t> (CTAC)”</a:t>
            </a:r>
          </a:p>
          <a:p>
            <a:r>
              <a:rPr lang="en-US"/>
              <a:t>Compare with a different machine getting the update</a:t>
            </a:r>
          </a:p>
        </p:txBody>
      </p:sp>
    </p:spTree>
    <p:extLst>
      <p:ext uri="{BB962C8B-B14F-4D97-AF65-F5344CB8AC3E}">
        <p14:creationId xmlns:p14="http://schemas.microsoft.com/office/powerpoint/2010/main" val="4279219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AD6C31-79D6-FC95-F251-F6623E0D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Scan Source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B1408-EEEB-56B6-A18A-5065ECE1C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this madness?</a:t>
            </a:r>
          </a:p>
        </p:txBody>
      </p:sp>
    </p:spTree>
    <p:extLst>
      <p:ext uri="{BB962C8B-B14F-4D97-AF65-F5344CB8AC3E}">
        <p14:creationId xmlns:p14="http://schemas.microsoft.com/office/powerpoint/2010/main" val="1709897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2B95-2AFE-AEC2-29A6-480A5827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8AFC-60E6-B499-79D8-FDEB5035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Scan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66EFE-4B61-D52C-0FB8-F0EBF0B8B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Evolution of Dual Scan, introduced surreptitiously in Windows 10</a:t>
            </a:r>
          </a:p>
          <a:p>
            <a:endParaRPr lang="en-US"/>
          </a:p>
          <a:p>
            <a:r>
              <a:rPr lang="en-US"/>
              <a:t>Allows administrators to select the source of updates by type</a:t>
            </a:r>
          </a:p>
          <a:p>
            <a:pPr lvl="1"/>
            <a:r>
              <a:rPr lang="en-US"/>
              <a:t>Feature Update, Quality Updates, Driver Update, Other (MS) Updates</a:t>
            </a:r>
          </a:p>
          <a:p>
            <a:pPr lvl="1"/>
            <a:r>
              <a:rPr lang="en-US"/>
              <a:t>If enabled: third-party updates always come from WSUS, if specified</a:t>
            </a:r>
          </a:p>
          <a:p>
            <a:r>
              <a:rPr lang="en-US"/>
              <a:t>Ex: Drivers from WU/MU but FUs from WSUS/ConfigMgr</a:t>
            </a:r>
          </a:p>
          <a:p>
            <a:r>
              <a:rPr lang="en-US"/>
              <a:t>Scans both WU/MU and WSUS and filters the results</a:t>
            </a:r>
          </a:p>
          <a:p>
            <a:r>
              <a:rPr lang="en-US"/>
              <a:t>Blog: </a:t>
            </a:r>
            <a:r>
              <a:rPr lang="en-US" sz="2400">
                <a:hlinkClick r:id="rId2"/>
              </a:rPr>
              <a:t>SCCM Co-management – Dual Scan and Scan Source Demystified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13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9016-D452-B920-2398-D307907B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Scan Source: Know They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7ABCD-FBD6-9ECA-2068-1511DC8D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22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Filter the log for “</a:t>
            </a:r>
            <a:r>
              <a:rPr lang="en-US" i="1" err="1"/>
              <a:t>ProtocolTalker</a:t>
            </a:r>
            <a:r>
              <a:rPr lang="en-US" i="1"/>
              <a:t> </a:t>
            </a:r>
            <a:r>
              <a:rPr lang="en-US" i="1" err="1"/>
              <a:t>ServiceId</a:t>
            </a:r>
            <a:r>
              <a:rPr lang="en-US" i="1"/>
              <a:t> =‘</a:t>
            </a:r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315068-41C6-EBDB-2CA3-208682A36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96" y="2015066"/>
            <a:ext cx="10506670" cy="471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709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4B4C-8116-BF27-0B67-212A2FED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Scan Source: Know They 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A01513-444B-93F0-7C10-5EA395B4A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867826"/>
              </p:ext>
            </p:extLst>
          </p:nvPr>
        </p:nvGraphicFramePr>
        <p:xfrm>
          <a:off x="1447800" y="2068611"/>
          <a:ext cx="9296399" cy="3591603"/>
        </p:xfrm>
        <a:graphic>
          <a:graphicData uri="http://schemas.openxmlformats.org/drawingml/2006/table">
            <a:tbl>
              <a:tblPr/>
              <a:tblGrid>
                <a:gridCol w="3279297">
                  <a:extLst>
                    <a:ext uri="{9D8B030D-6E8A-4147-A177-3AD203B41FA5}">
                      <a16:colId xmlns:a16="http://schemas.microsoft.com/office/drawing/2014/main" val="3820280161"/>
                    </a:ext>
                  </a:extLst>
                </a:gridCol>
                <a:gridCol w="6017102">
                  <a:extLst>
                    <a:ext uri="{9D8B030D-6E8A-4147-A177-3AD203B41FA5}">
                      <a16:colId xmlns:a16="http://schemas.microsoft.com/office/drawing/2014/main" val="1833705307"/>
                    </a:ext>
                  </a:extLst>
                </a:gridCol>
              </a:tblGrid>
              <a:tr h="8185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Unspecified / Default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Windows Update, Microsoft Update, or WSUS</a:t>
                      </a:r>
                      <a:b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00000000-0000-0000-0000-000000000000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227019"/>
                  </a:ext>
                </a:extLst>
              </a:tr>
              <a:tr h="4369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Windows Update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9482F4B4-E343-43B6-B170-9A65BC822C77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7950"/>
                  </a:ext>
                </a:extLst>
              </a:tr>
              <a:tr h="4369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Microsoft Update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7971f918-a847-4430-9279-4a52d1efe18d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006524"/>
                  </a:ext>
                </a:extLst>
              </a:tr>
              <a:tr h="4369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Store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855E8A7C-ECB4-4CA3-B045-1DFA50104289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814918"/>
                  </a:ext>
                </a:extLst>
              </a:tr>
              <a:tr h="4369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OS Flighting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8B24B027-1DEE-BABB-9A95-3517DFB9C552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883532"/>
                  </a:ext>
                </a:extLst>
              </a:tr>
              <a:tr h="9987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WSUS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Configuration Manager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effectLst/>
                        </a:rPr>
                        <a:t>3DA21691-E39D-4da6-8A4B-B43877BCB1B7</a:t>
                      </a:r>
                    </a:p>
                  </a:txBody>
                  <a:tcPr marL="77814" marR="77814" marT="38907" marB="38907">
                    <a:lnL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003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7040-8EE3-68E1-8F74-3C43CD16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Scan Source: The Logs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38656-916B-BCA7-2599-5DA9B615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660"/>
            <a:ext cx="12192000" cy="406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71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48F0-CC9A-C43E-0BDD-04C6AF51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A2547A-B251-FD84-B1E6-F74F5950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934580" cy="2852737"/>
          </a:xfrm>
        </p:spPr>
        <p:txBody>
          <a:bodyPr/>
          <a:lstStyle/>
          <a:p>
            <a:r>
              <a:rPr lang="en-US" sz="4800"/>
              <a:t>What If The Cloud Service Had An API?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B0AA9-DFED-0A45-038A-B10767DF8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Oh the fun we could have</a:t>
            </a:r>
          </a:p>
        </p:txBody>
      </p:sp>
    </p:spTree>
    <p:extLst>
      <p:ext uri="{BB962C8B-B14F-4D97-AF65-F5344CB8AC3E}">
        <p14:creationId xmlns:p14="http://schemas.microsoft.com/office/powerpoint/2010/main" val="3224556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7BE6-EAA5-4D8B-BC4E-67C51F57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50671B-F147-E960-D7C0-9E2EA22CDCAA}"/>
              </a:ext>
            </a:extLst>
          </p:cNvPr>
          <p:cNvGrpSpPr/>
          <p:nvPr/>
        </p:nvGrpSpPr>
        <p:grpSpPr>
          <a:xfrm>
            <a:off x="3206151" y="1786399"/>
            <a:ext cx="5860092" cy="4635967"/>
            <a:chOff x="609600" y="2196154"/>
            <a:chExt cx="4056617" cy="320922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224AF6F-01B3-E3FE-2CBB-F0CBFEC11803}"/>
                </a:ext>
              </a:extLst>
            </p:cNvPr>
            <p:cNvSpPr/>
            <p:nvPr/>
          </p:nvSpPr>
          <p:spPr bwMode="auto">
            <a:xfrm>
              <a:off x="609600" y="2196154"/>
              <a:ext cx="4056617" cy="3209223"/>
            </a:xfrm>
            <a:prstGeom prst="roundRect">
              <a:avLst>
                <a:gd name="adj" fmla="val 3066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 defTabSz="932472" fontAlgn="base">
                <a:spcBef>
                  <a:spcPct val="0"/>
                </a:spcBef>
                <a:spcAft>
                  <a:spcPts val="1500"/>
                </a:spcAft>
                <a:buFont typeface="Arial" panose="020B0604020202020204" pitchFamily="34" charset="0"/>
                <a:buChar char="•"/>
              </a:pPr>
              <a:endParaRPr lang="en-US" sz="1600" b="1">
                <a:solidFill>
                  <a:schemeClr val="bg1"/>
                </a:solidFill>
                <a:ea typeface="Segoe UI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5EF228DA-6278-46D0-BD3F-BF558AE86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317" y="2385935"/>
              <a:ext cx="3801180" cy="29337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048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A4813-4315-E2C8-BADC-A667E0A9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E4ED-9CBD-CABE-9F6F-C7A52CC7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Solution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8CDB11-81CF-E251-1A03-6CBA2B3FE422}"/>
              </a:ext>
            </a:extLst>
          </p:cNvPr>
          <p:cNvGrpSpPr/>
          <p:nvPr/>
        </p:nvGrpSpPr>
        <p:grpSpPr>
          <a:xfrm>
            <a:off x="2274856" y="1682881"/>
            <a:ext cx="7642287" cy="4635967"/>
            <a:chOff x="6467876" y="2196154"/>
            <a:chExt cx="5290332" cy="320922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14A64DF-D1B4-D6CC-3FF4-9C6B0D04D0DC}"/>
                </a:ext>
              </a:extLst>
            </p:cNvPr>
            <p:cNvSpPr/>
            <p:nvPr/>
          </p:nvSpPr>
          <p:spPr bwMode="auto">
            <a:xfrm>
              <a:off x="6467876" y="2196154"/>
              <a:ext cx="5290332" cy="3209223"/>
            </a:xfrm>
            <a:prstGeom prst="roundRect">
              <a:avLst>
                <a:gd name="adj" fmla="val 3066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 defTabSz="932472" fontAlgn="base">
                <a:spcBef>
                  <a:spcPct val="0"/>
                </a:spcBef>
                <a:spcAft>
                  <a:spcPts val="1500"/>
                </a:spcAft>
                <a:buFont typeface="Arial" panose="020B0604020202020204" pitchFamily="34" charset="0"/>
                <a:buChar char="•"/>
              </a:pPr>
              <a:endParaRPr lang="en-US" sz="1600" b="1">
                <a:solidFill>
                  <a:schemeClr val="bg1"/>
                </a:solidFill>
                <a:ea typeface="Segoe UI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0BD63A9D-29B5-9F56-626F-75268C431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8191" y="2333910"/>
              <a:ext cx="5089704" cy="29337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485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2FE6-79C7-AFE8-7359-CD4BC965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Autopatch Deployment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9778-74DA-B765-6B79-0F8664A7A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API around the Windows Update cloud service</a:t>
            </a:r>
          </a:p>
          <a:p>
            <a:endParaRPr lang="en-US"/>
          </a:p>
          <a:p>
            <a:r>
              <a:rPr lang="en-US"/>
              <a:t>Fully programmable via the Graph API</a:t>
            </a:r>
          </a:p>
          <a:p>
            <a:pPr lvl="1"/>
            <a:r>
              <a:rPr lang="en-US"/>
              <a:t>Intune is a premier consumer but open to all</a:t>
            </a:r>
          </a:p>
          <a:p>
            <a:endParaRPr lang="en-US"/>
          </a:p>
          <a:p>
            <a:r>
              <a:rPr lang="en-US"/>
              <a:t>Key Features</a:t>
            </a:r>
          </a:p>
          <a:p>
            <a:pPr lvl="1"/>
            <a:r>
              <a:rPr lang="en-US"/>
              <a:t>Feature Update Policies</a:t>
            </a:r>
          </a:p>
          <a:p>
            <a:pPr lvl="1"/>
            <a:r>
              <a:rPr lang="en-US"/>
              <a:t>Quality Update Policies (Expedite)</a:t>
            </a:r>
          </a:p>
          <a:p>
            <a:pPr lvl="1"/>
            <a:r>
              <a:rPr lang="en-US"/>
              <a:t>Driver Management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17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11AA215-475E-4304-B0FC-EDBC96B93861}"/>
              </a:ext>
            </a:extLst>
          </p:cNvPr>
          <p:cNvGrpSpPr/>
          <p:nvPr/>
        </p:nvGrpSpPr>
        <p:grpSpPr>
          <a:xfrm>
            <a:off x="532215" y="2673788"/>
            <a:ext cx="11424732" cy="2477492"/>
            <a:chOff x="383634" y="2281902"/>
            <a:chExt cx="11424732" cy="247749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C93552A-DBA2-46AF-AE59-B81C7FB37B0D}"/>
                </a:ext>
              </a:extLst>
            </p:cNvPr>
            <p:cNvGrpSpPr/>
            <p:nvPr/>
          </p:nvGrpSpPr>
          <p:grpSpPr>
            <a:xfrm>
              <a:off x="383634" y="3018463"/>
              <a:ext cx="11424732" cy="920750"/>
              <a:chOff x="383634" y="1095241"/>
              <a:chExt cx="11424732" cy="920750"/>
            </a:xfrm>
          </p:grpSpPr>
          <p:pic>
            <p:nvPicPr>
              <p:cNvPr id="5" name="Graphic 4" descr="User">
                <a:extLst>
                  <a:ext uri="{FF2B5EF4-FFF2-40B4-BE49-F238E27FC236}">
                    <a16:creationId xmlns:a16="http://schemas.microsoft.com/office/drawing/2014/main" id="{EFA59AF8-7C26-4A4D-AC14-3E0ABA08E9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893966" y="110159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7" name="Graphic 6" descr="Database">
                <a:extLst>
                  <a:ext uri="{FF2B5EF4-FFF2-40B4-BE49-F238E27FC236}">
                    <a16:creationId xmlns:a16="http://schemas.microsoft.com/office/drawing/2014/main" id="{5FC988A3-94BA-4AF0-99E6-B283F7FBA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41434" y="110159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" name="Graphic 8" descr="Syncing cloud">
                <a:extLst>
                  <a:ext uri="{FF2B5EF4-FFF2-40B4-BE49-F238E27FC236}">
                    <a16:creationId xmlns:a16="http://schemas.microsoft.com/office/drawing/2014/main" id="{E6BDA9F5-B307-4D33-8F14-6D63AB4D9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009900" y="110159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9B001A6F-90E3-42CA-A391-D4C755515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261352" y="1177051"/>
                <a:ext cx="914400" cy="76199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13" name="Graphic 12" descr="Laptop">
                <a:extLst>
                  <a:ext uri="{FF2B5EF4-FFF2-40B4-BE49-F238E27FC236}">
                    <a16:creationId xmlns:a16="http://schemas.microsoft.com/office/drawing/2014/main" id="{564814CF-062C-4B00-8084-CC6C5C329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83634" y="110159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30" name="Connector: Elbow 29">
                <a:extLst>
                  <a:ext uri="{FF2B5EF4-FFF2-40B4-BE49-F238E27FC236}">
                    <a16:creationId xmlns:a16="http://schemas.microsoft.com/office/drawing/2014/main" id="{D3E9E3EA-B50E-47D2-8821-D689D17C62AD}"/>
                  </a:ext>
                </a:extLst>
              </p:cNvPr>
              <p:cNvCxnSpPr>
                <a:cxnSpLocks/>
                <a:stCxn id="13" idx="0"/>
                <a:endCxn id="9" idx="0"/>
              </p:cNvCxnSpPr>
              <p:nvPr/>
            </p:nvCxnSpPr>
            <p:spPr>
              <a:xfrm rot="5400000" flipH="1" flipV="1">
                <a:off x="2153967" y="-211542"/>
                <a:ext cx="12700" cy="2626266"/>
              </a:xfrm>
              <a:prstGeom prst="bentConnector3">
                <a:avLst>
                  <a:gd name="adj1" fmla="val 180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Connector: Elbow 33">
                <a:extLst>
                  <a:ext uri="{FF2B5EF4-FFF2-40B4-BE49-F238E27FC236}">
                    <a16:creationId xmlns:a16="http://schemas.microsoft.com/office/drawing/2014/main" id="{FD060ED2-3F3C-4403-AE49-E93BC2C9E674}"/>
                  </a:ext>
                </a:extLst>
              </p:cNvPr>
              <p:cNvCxnSpPr>
                <a:stCxn id="9" idx="3"/>
                <a:endCxn id="7" idx="0"/>
              </p:cNvCxnSpPr>
              <p:nvPr/>
            </p:nvCxnSpPr>
            <p:spPr>
              <a:xfrm flipV="1">
                <a:off x="3924300" y="1101591"/>
                <a:ext cx="2174334" cy="457200"/>
              </a:xfrm>
              <a:prstGeom prst="bentConnector4">
                <a:avLst>
                  <a:gd name="adj1" fmla="val 6385"/>
                  <a:gd name="adj2" fmla="val 150000"/>
                </a:avLst>
              </a:prstGeom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1D62387E-AA1D-47F9-AA41-99DD14FBE971}"/>
                  </a:ext>
                </a:extLst>
              </p:cNvPr>
              <p:cNvCxnSpPr>
                <a:stCxn id="11" idx="3"/>
                <a:endCxn id="5" idx="0"/>
              </p:cNvCxnSpPr>
              <p:nvPr/>
            </p:nvCxnSpPr>
            <p:spPr>
              <a:xfrm flipV="1">
                <a:off x="9175752" y="1101591"/>
                <a:ext cx="2175414" cy="456460"/>
              </a:xfrm>
              <a:prstGeom prst="bentConnector4">
                <a:avLst>
                  <a:gd name="adj1" fmla="val 39492"/>
                  <a:gd name="adj2" fmla="val 150243"/>
                </a:avLst>
              </a:prstGeom>
              <a:ln w="9525" cap="flat" cmpd="sng" algn="ctr">
                <a:solidFill>
                  <a:schemeClr val="tx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" name="Connector: Elbow 39">
                <a:extLst>
                  <a:ext uri="{FF2B5EF4-FFF2-40B4-BE49-F238E27FC236}">
                    <a16:creationId xmlns:a16="http://schemas.microsoft.com/office/drawing/2014/main" id="{BCB0716A-368D-49DB-9914-6101B004CFF7}"/>
                  </a:ext>
                </a:extLst>
              </p:cNvPr>
              <p:cNvCxnSpPr>
                <a:cxnSpLocks/>
                <a:stCxn id="5" idx="2"/>
                <a:endCxn id="11" idx="3"/>
              </p:cNvCxnSpPr>
              <p:nvPr/>
            </p:nvCxnSpPr>
            <p:spPr>
              <a:xfrm rot="5400000" flipH="1">
                <a:off x="10034489" y="699314"/>
                <a:ext cx="457940" cy="2175414"/>
              </a:xfrm>
              <a:prstGeom prst="bentConnector4">
                <a:avLst>
                  <a:gd name="adj1" fmla="val -49919"/>
                  <a:gd name="adj2" fmla="val 60508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Connector: Elbow 41">
                <a:extLst>
                  <a:ext uri="{FF2B5EF4-FFF2-40B4-BE49-F238E27FC236}">
                    <a16:creationId xmlns:a16="http://schemas.microsoft.com/office/drawing/2014/main" id="{7026ABB1-8B7A-480B-9EBE-77A6544E17F7}"/>
                  </a:ext>
                </a:extLst>
              </p:cNvPr>
              <p:cNvCxnSpPr>
                <a:cxnSpLocks/>
                <a:stCxn id="11" idx="1"/>
                <a:endCxn id="7" idx="2"/>
              </p:cNvCxnSpPr>
              <p:nvPr/>
            </p:nvCxnSpPr>
            <p:spPr>
              <a:xfrm rot="10800000" flipV="1">
                <a:off x="6098634" y="1558051"/>
                <a:ext cx="2162718" cy="457940"/>
              </a:xfrm>
              <a:prstGeom prst="bentConnector4">
                <a:avLst>
                  <a:gd name="adj1" fmla="val 39430"/>
                  <a:gd name="adj2" fmla="val 14991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Connector: Elbow 43">
                <a:extLst>
                  <a:ext uri="{FF2B5EF4-FFF2-40B4-BE49-F238E27FC236}">
                    <a16:creationId xmlns:a16="http://schemas.microsoft.com/office/drawing/2014/main" id="{9BDF20E6-65E4-48AF-BC93-853CC924FE4A}"/>
                  </a:ext>
                </a:extLst>
              </p:cNvPr>
              <p:cNvCxnSpPr>
                <a:stCxn id="7" idx="1"/>
                <a:endCxn id="9" idx="2"/>
              </p:cNvCxnSpPr>
              <p:nvPr/>
            </p:nvCxnSpPr>
            <p:spPr>
              <a:xfrm rot="10800000" flipV="1">
                <a:off x="3467100" y="1558791"/>
                <a:ext cx="2174334" cy="457200"/>
              </a:xfrm>
              <a:prstGeom prst="bentConnector4">
                <a:avLst>
                  <a:gd name="adj1" fmla="val 6657"/>
                  <a:gd name="adj2" fmla="val 161613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112E33A6-AB0C-4FC9-A3D4-C647ECDED700}"/>
                  </a:ext>
                </a:extLst>
              </p:cNvPr>
              <p:cNvCxnSpPr>
                <a:cxnSpLocks/>
                <a:stCxn id="9" idx="1"/>
                <a:endCxn id="13" idx="2"/>
              </p:cNvCxnSpPr>
              <p:nvPr/>
            </p:nvCxnSpPr>
            <p:spPr>
              <a:xfrm rot="10800000" flipV="1">
                <a:off x="840834" y="1558791"/>
                <a:ext cx="2169066" cy="457200"/>
              </a:xfrm>
              <a:prstGeom prst="bentConnector4">
                <a:avLst>
                  <a:gd name="adj1" fmla="val 10359"/>
                  <a:gd name="adj2" fmla="val 155161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1" name="Connector: Elbow 100">
                <a:extLst>
                  <a:ext uri="{FF2B5EF4-FFF2-40B4-BE49-F238E27FC236}">
                    <a16:creationId xmlns:a16="http://schemas.microsoft.com/office/drawing/2014/main" id="{7C299AF2-02F8-45BB-9DEC-968EFF76CF0F}"/>
                  </a:ext>
                </a:extLst>
              </p:cNvPr>
              <p:cNvCxnSpPr>
                <a:cxnSpLocks/>
                <a:stCxn id="7" idx="3"/>
                <a:endCxn id="11" idx="1"/>
              </p:cNvCxnSpPr>
              <p:nvPr/>
            </p:nvCxnSpPr>
            <p:spPr>
              <a:xfrm flipV="1">
                <a:off x="6555834" y="1558051"/>
                <a:ext cx="1705518" cy="740"/>
              </a:xfrm>
              <a:prstGeom prst="bentConnector3">
                <a:avLst>
                  <a:gd name="adj1" fmla="val 50000"/>
                </a:avLst>
              </a:prstGeom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4231A4-0364-4EFA-B590-8C0C4F0E25AD}"/>
                </a:ext>
              </a:extLst>
            </p:cNvPr>
            <p:cNvSpPr txBox="1"/>
            <p:nvPr/>
          </p:nvSpPr>
          <p:spPr>
            <a:xfrm>
              <a:off x="843628" y="2283654"/>
              <a:ext cx="21634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AAD domain-joined device 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scans WU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1255A20-BE26-4BD3-AE1A-70A36EA9E7EF}"/>
                </a:ext>
              </a:extLst>
            </p:cNvPr>
            <p:cNvSpPr txBox="1"/>
            <p:nvPr/>
          </p:nvSpPr>
          <p:spPr>
            <a:xfrm>
              <a:off x="4064644" y="2281902"/>
              <a:ext cx="16472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WU consults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Deployment Service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9FEC35-8B3E-4861-B60F-324760F2A0FD}"/>
                </a:ext>
              </a:extLst>
            </p:cNvPr>
            <p:cNvSpPr txBox="1"/>
            <p:nvPr/>
          </p:nvSpPr>
          <p:spPr>
            <a:xfrm>
              <a:off x="7044625" y="2728917"/>
              <a:ext cx="97026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Browse 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applicable 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content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D09956-37AC-4B59-AB28-51CDE1C98720}"/>
                </a:ext>
              </a:extLst>
            </p:cNvPr>
            <p:cNvSpPr txBox="1"/>
            <p:nvPr/>
          </p:nvSpPr>
          <p:spPr>
            <a:xfrm>
              <a:off x="10028410" y="3176122"/>
              <a:ext cx="130995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IT admin approval, scheduling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&amp; monitoring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FC175C-15EE-4814-8098-A89790747B4F}"/>
                </a:ext>
              </a:extLst>
            </p:cNvPr>
            <p:cNvSpPr txBox="1"/>
            <p:nvPr/>
          </p:nvSpPr>
          <p:spPr>
            <a:xfrm>
              <a:off x="6052205" y="4212247"/>
              <a:ext cx="14052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Approve content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BC8C4-3878-45FC-9D1B-454A1C7CB40A}"/>
                </a:ext>
              </a:extLst>
            </p:cNvPr>
            <p:cNvSpPr txBox="1"/>
            <p:nvPr/>
          </p:nvSpPr>
          <p:spPr>
            <a:xfrm>
              <a:off x="3404244" y="4236174"/>
              <a:ext cx="18614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Deployment Service 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sends approvals to WU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861658-9AD0-40A8-8983-1F802E57BF85}"/>
                </a:ext>
              </a:extLst>
            </p:cNvPr>
            <p:cNvSpPr txBox="1"/>
            <p:nvPr/>
          </p:nvSpPr>
          <p:spPr>
            <a:xfrm>
              <a:off x="797762" y="4236174"/>
              <a:ext cx="14680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Only IT approved 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content offered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F8B75A-51D2-4EC8-B440-D92066233300}"/>
              </a:ext>
            </a:extLst>
          </p:cNvPr>
          <p:cNvGrpSpPr/>
          <p:nvPr/>
        </p:nvGrpSpPr>
        <p:grpSpPr>
          <a:xfrm>
            <a:off x="5860471" y="1685101"/>
            <a:ext cx="6077286" cy="3964950"/>
            <a:chOff x="5863143" y="1293215"/>
            <a:chExt cx="5926033" cy="396495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5D350CF-5962-409C-8BF7-33196D96D9DE}"/>
                </a:ext>
              </a:extLst>
            </p:cNvPr>
            <p:cNvSpPr/>
            <p:nvPr/>
          </p:nvSpPr>
          <p:spPr>
            <a:xfrm>
              <a:off x="5863143" y="1704378"/>
              <a:ext cx="5926033" cy="3553787"/>
            </a:xfrm>
            <a:prstGeom prst="round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03A2FE-BFA1-4630-BD4D-1B1B80A42D4A}"/>
                </a:ext>
              </a:extLst>
            </p:cNvPr>
            <p:cNvSpPr txBox="1"/>
            <p:nvPr/>
          </p:nvSpPr>
          <p:spPr>
            <a:xfrm>
              <a:off x="6269688" y="1293215"/>
              <a:ext cx="1649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IT Management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0AE10C4-2029-9E4A-8A4C-3B0869092E27}"/>
              </a:ext>
            </a:extLst>
          </p:cNvPr>
          <p:cNvSpPr txBox="1"/>
          <p:nvPr/>
        </p:nvSpPr>
        <p:spPr>
          <a:xfrm>
            <a:off x="7929411" y="4418226"/>
            <a:ext cx="1916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 Graph calling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applications, like Intune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EE91EA-7D97-5211-E12E-8BD1370C1674}"/>
              </a:ext>
            </a:extLst>
          </p:cNvPr>
          <p:cNvGrpSpPr/>
          <p:nvPr/>
        </p:nvGrpSpPr>
        <p:grpSpPr>
          <a:xfrm>
            <a:off x="427980" y="1685101"/>
            <a:ext cx="5431831" cy="3964950"/>
            <a:chOff x="5863143" y="1293215"/>
            <a:chExt cx="5926033" cy="396495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C646A77-21F3-8D03-9792-8814E7C0E84E}"/>
                </a:ext>
              </a:extLst>
            </p:cNvPr>
            <p:cNvSpPr/>
            <p:nvPr/>
          </p:nvSpPr>
          <p:spPr>
            <a:xfrm>
              <a:off x="5863143" y="1704378"/>
              <a:ext cx="5926033" cy="3553787"/>
            </a:xfrm>
            <a:prstGeom prst="round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717E43-2BCC-14AD-3C46-4CDDB8C8F20B}"/>
                </a:ext>
              </a:extLst>
            </p:cNvPr>
            <p:cNvSpPr txBox="1"/>
            <p:nvPr/>
          </p:nvSpPr>
          <p:spPr>
            <a:xfrm>
              <a:off x="6269688" y="1293215"/>
              <a:ext cx="2813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Device: Native WU</a:t>
              </a:r>
            </a:p>
          </p:txBody>
        </p:sp>
      </p:grp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3E585A82-444B-A0C0-88EF-978C85793C5E}"/>
              </a:ext>
            </a:extLst>
          </p:cNvPr>
          <p:cNvSpPr/>
          <p:nvPr/>
        </p:nvSpPr>
        <p:spPr>
          <a:xfrm>
            <a:off x="6998524" y="5102926"/>
            <a:ext cx="3801180" cy="465607"/>
          </a:xfrm>
          <a:prstGeom prst="wedgeRoundRectCallout">
            <a:avLst>
              <a:gd name="adj1" fmla="val -4504"/>
              <a:gd name="adj2" fmla="val -9091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https://graph.microsoft.com/beta/admin/windows/updates/*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5F305E66-4225-0226-D5F0-2B95FC89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9557" cy="792466"/>
          </a:xfrm>
        </p:spPr>
        <p:txBody>
          <a:bodyPr>
            <a:normAutofit/>
          </a:bodyPr>
          <a:lstStyle/>
          <a:p>
            <a:r>
              <a:rPr kumimoji="0" lang="en-US" sz="4400" b="1" i="0" u="none" strike="noStrike" kern="1200" cap="none" spc="-147" normalizeH="0" baseline="0" noProof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Segoe UI" pitchFamily="34" charset="0"/>
              </a:rPr>
              <a:t>Mid-altitude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43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39C87C-3529-A0C4-8D99-69B33474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96"/>
            <a:ext cx="12192000" cy="670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070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Wednesday 8-10 AM</a:t>
            </a:r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"/>
</p:tagLst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78E12DACC1B4B9B6B3689C6ED51D3" ma:contentTypeVersion="18" ma:contentTypeDescription="Create a new document." ma:contentTypeScope="" ma:versionID="7151a93d04ca7ebcc202a17686b027ee">
  <xsd:schema xmlns:xsd="http://www.w3.org/2001/XMLSchema" xmlns:xs="http://www.w3.org/2001/XMLSchema" xmlns:p="http://schemas.microsoft.com/office/2006/metadata/properties" xmlns:ns2="183d0c94-dc66-4d15-bb81-79881b75604f" xmlns:ns3="7bc2de37-ba01-43a0-9f03-df9957dd35f0" targetNamespace="http://schemas.microsoft.com/office/2006/metadata/properties" ma:root="true" ma:fieldsID="10176b98827a1b120181efafd1f6554b" ns2:_="" ns3:_="">
    <xsd:import namespace="183d0c94-dc66-4d15-bb81-79881b75604f"/>
    <xsd:import namespace="7bc2de37-ba01-43a0-9f03-df9957dd35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3d0c94-dc66-4d15-bb81-79881b7560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e26010e-d715-48ad-87d6-bf0469dee1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2de37-ba01-43a0-9f03-df9957dd35f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97041df-4678-48af-b5a7-9d8a250b2dc3}" ma:internalName="TaxCatchAll" ma:showField="CatchAllData" ma:web="7bc2de37-ba01-43a0-9f03-df9957dd35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3d0c94-dc66-4d15-bb81-79881b75604f">
      <Terms xmlns="http://schemas.microsoft.com/office/infopath/2007/PartnerControls"/>
    </lcf76f155ced4ddcb4097134ff3c332f>
    <TaxCatchAll xmlns="7bc2de37-ba01-43a0-9f03-df9957dd35f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81F751-09F0-445B-BFD3-2BE348E193D1}">
  <ds:schemaRefs>
    <ds:schemaRef ds:uri="183d0c94-dc66-4d15-bb81-79881b75604f"/>
    <ds:schemaRef ds:uri="7bc2de37-ba01-43a0-9f03-df9957dd35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69C084D-B34C-4C50-A6B4-9BDCB506C290}">
  <ds:schemaRefs>
    <ds:schemaRef ds:uri="http://purl.org/dc/elements/1.1/"/>
    <ds:schemaRef ds:uri="http://schemas.microsoft.com/office/2006/documentManagement/types"/>
    <ds:schemaRef ds:uri="183d0c94-dc66-4d15-bb81-79881b75604f"/>
    <ds:schemaRef ds:uri="7bc2de37-ba01-43a0-9f03-df9957dd35f0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374a7cf-2ee3-4011-85eb-c317a5e162bd}" enabled="1" method="Privileged" siteId="{b79783df-131e-4d00-8303-6f66c0fa4bfb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2053</Words>
  <Application>Microsoft Office PowerPoint</Application>
  <PresentationFormat>Widescreen</PresentationFormat>
  <Paragraphs>391</Paragraphs>
  <Slides>51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Segoe UI</vt:lpstr>
      <vt:lpstr>Wingdings</vt:lpstr>
      <vt:lpstr>Dark Mode</vt:lpstr>
      <vt:lpstr>Windows Update Internals</vt:lpstr>
      <vt:lpstr>Attention</vt:lpstr>
      <vt:lpstr>PowerPoint Presentation</vt:lpstr>
      <vt:lpstr>Listen Folks, We’re Gonna Get Nerdy</vt:lpstr>
      <vt:lpstr>Agenda</vt:lpstr>
      <vt:lpstr>The Before Times</vt:lpstr>
      <vt:lpstr>Windows Update Was Cloud Before It Was Cool</vt:lpstr>
      <vt:lpstr>Windows Update Architecture</vt:lpstr>
      <vt:lpstr>Why is there Windows And Microsoft Update?</vt:lpstr>
      <vt:lpstr>High level workflow</vt:lpstr>
      <vt:lpstr>High level workflow</vt:lpstr>
      <vt:lpstr>The Client: WUA, USO, BITS, CBS, DO, UA</vt:lpstr>
      <vt:lpstr>PowerPoint Presentation</vt:lpstr>
      <vt:lpstr>PowerPoint Presentation</vt:lpstr>
      <vt:lpstr>Windows Update Session Orchestrator (USO)</vt:lpstr>
      <vt:lpstr>WUA: Windows Update Agent</vt:lpstr>
      <vt:lpstr>Background Intelligent Transfer Service (BITS)</vt:lpstr>
      <vt:lpstr>DO - Comprehensive solutions to minimize Internet bandwidth</vt:lpstr>
      <vt:lpstr>Unified Update Platform (UUP)</vt:lpstr>
      <vt:lpstr>UUP: Update Agent</vt:lpstr>
      <vt:lpstr>UUP client workflow</vt:lpstr>
      <vt:lpstr>Component-Based Servicing (CBS)</vt:lpstr>
      <vt:lpstr>PowerPoint Presentation</vt:lpstr>
      <vt:lpstr>Widows Update Service: MUv6 vs DCAT</vt:lpstr>
      <vt:lpstr>High level workflow</vt:lpstr>
      <vt:lpstr>High level workflow</vt:lpstr>
      <vt:lpstr>How Does It Work: MUv6 Scan</vt:lpstr>
      <vt:lpstr>PowerPoint Presentation</vt:lpstr>
      <vt:lpstr>PowerPoint Presentation</vt:lpstr>
      <vt:lpstr>PowerPoint Presentation</vt:lpstr>
      <vt:lpstr>MUv6 challenges</vt:lpstr>
      <vt:lpstr>A note on WSUS deprecation</vt:lpstr>
      <vt:lpstr>How Does it Work: DCAT Scan</vt:lpstr>
      <vt:lpstr>PowerPoint Presentation</vt:lpstr>
      <vt:lpstr>DCAT: Device Attributes</vt:lpstr>
      <vt:lpstr>Demo:  Where’s my update?</vt:lpstr>
      <vt:lpstr>How to investigate missing updates</vt:lpstr>
      <vt:lpstr>Scan Source</vt:lpstr>
      <vt:lpstr>Scan Source</vt:lpstr>
      <vt:lpstr>Scan Source: Know They Sources</vt:lpstr>
      <vt:lpstr>Scan Source: Know They Sources</vt:lpstr>
      <vt:lpstr>Scan Source: The Logs</vt:lpstr>
      <vt:lpstr>What If The Cloud Service Had An API?</vt:lpstr>
      <vt:lpstr>The Problem</vt:lpstr>
      <vt:lpstr>The Solution</vt:lpstr>
      <vt:lpstr>The Autopatch Deployment Service</vt:lpstr>
      <vt:lpstr>Mid-altitude</vt:lpstr>
      <vt:lpstr>PowerPoint Presentation</vt:lpstr>
      <vt:lpstr>PowerPoint Presentation</vt:lpstr>
      <vt:lpstr>PowerPoint Presentation</vt:lpstr>
      <vt:lpstr>PowerPoint Presentation</vt:lpstr>
    </vt:vector>
  </TitlesOfParts>
  <Company>CloudWay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 Zeng</dc:creator>
  <cp:lastModifiedBy>Bryan Dam</cp:lastModifiedBy>
  <cp:revision>2</cp:revision>
  <cp:lastPrinted>2025-04-01T20:35:05Z</cp:lastPrinted>
  <dcterms:created xsi:type="dcterms:W3CDTF">2024-08-13T11:43:25Z</dcterms:created>
  <dcterms:modified xsi:type="dcterms:W3CDTF">2026-05-06T13:07:49Z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0x01010005A549ACD445D24C8F06A08193AED6AD</vt:lpwstr>
  </property>
  <property fmtid="{D5CDD505-2E9C-101B-9397-08002B2CF9AE}" pid="3" name="MediaServiceImageTags">
    <vt:lpwstr/>
  </property>
  <property fmtid="{D5CDD505-2E9C-101B-9397-08002B2CF9AE}" pid="4" name="MSIP_Label_d5feb571-95f7-4f6f-9c4e-354da1dd3027_Enabled">
    <vt:lpwstr>true</vt:lpwstr>
  </property>
  <property fmtid="{D5CDD505-2E9C-101B-9397-08002B2CF9AE}" pid="5" name="MSIP_Label_d5feb571-95f7-4f6f-9c4e-354da1dd3027_SetDate">
    <vt:lpwstr>2024-08-13T11:44:14Z</vt:lpwstr>
  </property>
  <property fmtid="{D5CDD505-2E9C-101B-9397-08002B2CF9AE}" pid="6" name="MSIP_Label_d5feb571-95f7-4f6f-9c4e-354da1dd3027_Method">
    <vt:lpwstr>Standard</vt:lpwstr>
  </property>
  <property fmtid="{D5CDD505-2E9C-101B-9397-08002B2CF9AE}" pid="7" name="MSIP_Label_d5feb571-95f7-4f6f-9c4e-354da1dd3027_Name">
    <vt:lpwstr>Internal</vt:lpwstr>
  </property>
  <property fmtid="{D5CDD505-2E9C-101B-9397-08002B2CF9AE}" pid="8" name="MSIP_Label_d5feb571-95f7-4f6f-9c4e-354da1dd3027_SiteId">
    <vt:lpwstr>d99c3e0a-5a04-4bda-95a1-da0c24b731ee</vt:lpwstr>
  </property>
  <property fmtid="{D5CDD505-2E9C-101B-9397-08002B2CF9AE}" pid="9" name="MSIP_Label_d5feb571-95f7-4f6f-9c4e-354da1dd3027_ActionId">
    <vt:lpwstr>20e1d06a-4822-4ab7-9abb-4f2fa2dc6af4</vt:lpwstr>
  </property>
  <property fmtid="{D5CDD505-2E9C-101B-9397-08002B2CF9AE}" pid="10" name="MSIP_Label_d5feb571-95f7-4f6f-9c4e-354da1dd3027_ContentBits">
    <vt:lpwstr>0</vt:lpwstr>
  </property>
  <property fmtid="{D5CDD505-2E9C-101B-9397-08002B2CF9AE}" pid="11" name="MSIP_Label_1374a7cf-2ee3-4011-85eb-c317a5e162bd_Enabled">
    <vt:lpwstr>true</vt:lpwstr>
  </property>
  <property fmtid="{D5CDD505-2E9C-101B-9397-08002B2CF9AE}" pid="12" name="MSIP_Label_1374a7cf-2ee3-4011-85eb-c317a5e162bd_SetDate">
    <vt:lpwstr>2025-03-31T15:10:26Z</vt:lpwstr>
  </property>
  <property fmtid="{D5CDD505-2E9C-101B-9397-08002B2CF9AE}" pid="13" name="MSIP_Label_1374a7cf-2ee3-4011-85eb-c317a5e162bd_Method">
    <vt:lpwstr>Privileged</vt:lpwstr>
  </property>
  <property fmtid="{D5CDD505-2E9C-101B-9397-08002B2CF9AE}" pid="14" name="MSIP_Label_1374a7cf-2ee3-4011-85eb-c317a5e162bd_Name">
    <vt:lpwstr>Public</vt:lpwstr>
  </property>
  <property fmtid="{D5CDD505-2E9C-101B-9397-08002B2CF9AE}" pid="15" name="MSIP_Label_1374a7cf-2ee3-4011-85eb-c317a5e162bd_SiteId">
    <vt:lpwstr>b79783df-131e-4d00-8303-6f66c0fa4bfb</vt:lpwstr>
  </property>
  <property fmtid="{D5CDD505-2E9C-101B-9397-08002B2CF9AE}" pid="16" name="MSIP_Label_1374a7cf-2ee3-4011-85eb-c317a5e162bd_ActionId">
    <vt:lpwstr>e0770663-e8f2-4254-b689-0bc4cf546c04</vt:lpwstr>
  </property>
  <property fmtid="{D5CDD505-2E9C-101B-9397-08002B2CF9AE}" pid="17" name="MSIP_Label_1374a7cf-2ee3-4011-85eb-c317a5e162bd_ContentBits">
    <vt:lpwstr>0</vt:lpwstr>
  </property>
  <property fmtid="{D5CDD505-2E9C-101B-9397-08002B2CF9AE}" pid="18" name="MSIP_Label_1374a7cf-2ee3-4011-85eb-c317a5e162bd_Tag">
    <vt:lpwstr>10, 0, 1, 1</vt:lpwstr>
  </property>
</Properties>
</file>