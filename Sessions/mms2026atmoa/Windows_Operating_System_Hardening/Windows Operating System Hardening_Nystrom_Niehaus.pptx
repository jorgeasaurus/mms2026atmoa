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74" r:id="rId5"/>
  </p:sldMasterIdLst>
  <p:notesMasterIdLst>
    <p:notesMasterId r:id="rId61"/>
  </p:notesMasterIdLst>
  <p:handoutMasterIdLst>
    <p:handoutMasterId r:id="rId62"/>
  </p:handoutMasterIdLst>
  <p:sldIdLst>
    <p:sldId id="256" r:id="rId6"/>
    <p:sldId id="264" r:id="rId7"/>
    <p:sldId id="260" r:id="rId8"/>
    <p:sldId id="258" r:id="rId9"/>
    <p:sldId id="267" r:id="rId10"/>
    <p:sldId id="268" r:id="rId11"/>
    <p:sldId id="269" r:id="rId12"/>
    <p:sldId id="270" r:id="rId13"/>
    <p:sldId id="312" r:id="rId14"/>
    <p:sldId id="261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313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311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14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263" r:id="rId59"/>
    <p:sldId id="265" r:id="rId6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547C90A1-52DE-4C0C-9748-AA4C35CE60DF}">
          <p14:sldIdLst>
            <p14:sldId id="256"/>
            <p14:sldId id="264"/>
            <p14:sldId id="260"/>
          </p14:sldIdLst>
        </p14:section>
        <p14:section name="Presentation" id="{88398753-748C-4CE7-B81D-D95829EA2652}">
          <p14:sldIdLst>
            <p14:sldId id="258"/>
            <p14:sldId id="267"/>
            <p14:sldId id="268"/>
            <p14:sldId id="269"/>
            <p14:sldId id="270"/>
            <p14:sldId id="312"/>
            <p14:sldId id="261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313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311"/>
            <p14:sldId id="294"/>
            <p14:sldId id="295"/>
            <p14:sldId id="296"/>
            <p14:sldId id="297"/>
            <p14:sldId id="298"/>
            <p14:sldId id="299"/>
            <p14:sldId id="300"/>
            <p14:sldId id="314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</p14:sldIdLst>
        </p14:section>
        <p14:section name="Closing" id="{35F0DD0F-C871-4339-9D6B-25AB6010E816}">
          <p14:sldIdLst>
            <p14:sldId id="263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1C24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7" autoAdjust="0"/>
    <p:restoredTop sz="94692" autoAdjust="0"/>
  </p:normalViewPr>
  <p:slideViewPr>
    <p:cSldViewPr snapToGrid="0">
      <p:cViewPr varScale="1">
        <p:scale>
          <a:sx n="102" d="100"/>
          <a:sy n="102" d="100"/>
        </p:scale>
        <p:origin x="948" y="31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4148" y="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63" Type="http://schemas.openxmlformats.org/officeDocument/2006/relationships/presProps" Target="presProp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66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viewProps" Target="viewProp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E479DD7-BEB9-FB69-F785-68848A40996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1EC562-ED04-0689-F45A-C2EBCD3AFE6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59BDEA-31B7-4DB6-C40F-9DED321F51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ADBB9A-3F38-44C9-81C4-CD9EE35AF0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3142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CD1B2E-4A29-44BA-927B-DD73980A9567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F1CFCC-7C5A-4281-B435-AC7E332421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8906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Tell them: you’ll leave with a prioritized checklist and references (GPO/Intune/WDAC).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Timebox. Park deep questions for appendix/Q&amp;A if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Assume creds get stolen. OS hardening reduces what stolen creds can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Assume creds get stolen. OS hardening reduces what stolen creds can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8786506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model maps to everything that follows.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Narrate the attack chain end-to-end in ~60 seconds. Use callout boxes to explain where each control breaks the chain.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representative: tools change, the path stays consistent.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LOLBins and signed binaries are common.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Emphasize rollout: ASR audit first; WDAC audit ring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Local admin reuse is still a top enabler.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Prioritize LAPS + Credential Guard.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Management servers are crown-jewel adjacent.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Network reachability controls are cheap wins.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Keep focus OS-level: interactive logon restrictions and credential hygiene on servers.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Transition into Top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Call out biggest ROI: 1,2,4,6.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Frame: you’re shrinking the attack graph and increasing attacker effort.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Endpoint folks: this is your starting point. Server folks: clients are your entry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Prefer GPO/Intune over one-off scripts. Validate cached logon count impact for offline scenarios.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mapping: GPO common on servers; Intune common on clients.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Workflow &gt; GUID memorization.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Avoid breaking dev workflows: use rings and exceptions.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These changes kill common relay/lateral paths.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Validate if any legacy segments rely on multicast name resolution.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Decision: if modernizing, go WDAC.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Servers accelerate lateral movement when not hardened.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Backup is a top ransomware target.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Servers should not be used as workstations.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Tie back to walkthrough Step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Do NTLM restriction as a program. Start with auditing.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Pick high-value server roles first for enforce mode.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Hardening without verification is just hope.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plan to start Monday.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Motivate: some wins are immediate, others are journeys.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patterns: unusual type 3/10, 4648 spikes, 4672 on endpoints, 4776 to find NTLM fallbacks.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Tie to techniques: service install, scheduled tasks, admin share usage.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These are escalation/hiding signals. Alert on 1102.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IDs can vary by OS build; channels are authoritative for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with these five as the highest ROI hardening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25.png"/><Relationship Id="rId18" Type="http://schemas.openxmlformats.org/officeDocument/2006/relationships/image" Target="../media/image29.png"/><Relationship Id="rId3" Type="http://schemas.openxmlformats.org/officeDocument/2006/relationships/image" Target="../media/image8.pn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17" Type="http://schemas.openxmlformats.org/officeDocument/2006/relationships/image" Target="../media/image28.png"/><Relationship Id="rId2" Type="http://schemas.openxmlformats.org/officeDocument/2006/relationships/image" Target="../media/image15.svg"/><Relationship Id="rId16" Type="http://schemas.openxmlformats.org/officeDocument/2006/relationships/image" Target="../media/image2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microsoft.com/office/2007/relationships/hdphoto" Target="../media/hdphoto1.wdp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0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2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sv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sv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33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25.png"/><Relationship Id="rId18" Type="http://schemas.openxmlformats.org/officeDocument/2006/relationships/image" Target="../media/image29.png"/><Relationship Id="rId3" Type="http://schemas.openxmlformats.org/officeDocument/2006/relationships/image" Target="../media/image8.pn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17" Type="http://schemas.openxmlformats.org/officeDocument/2006/relationships/image" Target="../media/image28.png"/><Relationship Id="rId2" Type="http://schemas.openxmlformats.org/officeDocument/2006/relationships/image" Target="../media/image15.svg"/><Relationship Id="rId16" Type="http://schemas.openxmlformats.org/officeDocument/2006/relationships/image" Target="../media/image2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microsoft.com/office/2007/relationships/hdphoto" Target="../media/hdphoto1.wdp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8B2AB-1AF2-C3EC-A0DA-7900482B48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682"/>
            <a:ext cx="9144000" cy="2306637"/>
          </a:xfrm>
        </p:spPr>
        <p:txBody>
          <a:bodyPr anchor="b"/>
          <a:lstStyle>
            <a:lvl1pPr algn="ctr">
              <a:defRPr sz="6000">
                <a:latin typeface="Aptos Display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AC045E-7E31-838B-3E84-BF7CAB2CBC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90281"/>
            <a:ext cx="9144000" cy="1420237"/>
          </a:xfrm>
        </p:spPr>
        <p:txBody>
          <a:bodyPr/>
          <a:lstStyle>
            <a:lvl1pPr marL="0" indent="0" algn="ctr">
              <a:buNone/>
              <a:defRPr sz="2400">
                <a:latin typeface="Aptos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1C6F0CE-A001-978A-D698-EB6C97BB9B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5720" y="2310319"/>
            <a:ext cx="12298680" cy="734379"/>
          </a:xfrm>
          <a:prstGeom prst="rect">
            <a:avLst/>
          </a:prstGeom>
        </p:spPr>
      </p:pic>
      <p:pic>
        <p:nvPicPr>
          <p:cNvPr id="11" name="Picture 10" descr="A red and black logo&#10;&#10;Description automatically generated">
            <a:extLst>
              <a:ext uri="{FF2B5EF4-FFF2-40B4-BE49-F238E27FC236}">
                <a16:creationId xmlns:a16="http://schemas.microsoft.com/office/drawing/2014/main" id="{29BE2BE2-9E00-CB03-72C1-FF931FB7228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81552" y="3910518"/>
            <a:ext cx="4998416" cy="2858572"/>
          </a:xfrm>
          <a:prstGeom prst="rect">
            <a:avLst/>
          </a:prstGeom>
          <a:noFill/>
          <a:effectLst>
            <a:glow rad="406400">
              <a:schemeClr val="tx1">
                <a:alpha val="43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891636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0F2FDBB-FB45-8FD2-5F71-DB342D5975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396859" y="1581880"/>
            <a:ext cx="2703513" cy="253841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B765F7A9-F279-484D-0F3B-4BB46B514D6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14594" y="1579653"/>
            <a:ext cx="2703513" cy="253841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6FE98B-7FAF-CBE0-DE78-7629C4DAC585}"/>
              </a:ext>
            </a:extLst>
          </p:cNvPr>
          <p:cNvSpPr/>
          <p:nvPr userDrawn="1"/>
        </p:nvSpPr>
        <p:spPr>
          <a:xfrm>
            <a:off x="4047202" y="195263"/>
            <a:ext cx="4097597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Speakers</a:t>
            </a:r>
          </a:p>
        </p:txBody>
      </p:sp>
      <p:pic>
        <p:nvPicPr>
          <p:cNvPr id="11" name="Graphic 10" descr="Radio microphone with solid fill">
            <a:extLst>
              <a:ext uri="{FF2B5EF4-FFF2-40B4-BE49-F238E27FC236}">
                <a16:creationId xmlns:a16="http://schemas.microsoft.com/office/drawing/2014/main" id="{081F717A-90EF-F96A-D83B-54E6307A31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59804" y="338227"/>
            <a:ext cx="914400" cy="914400"/>
          </a:xfrm>
          <a:prstGeom prst="rect">
            <a:avLst/>
          </a:prstGeom>
        </p:spPr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E8946D3-04F0-0641-9424-10E785AD73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39693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Name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E852539-A3B0-BF16-FE8E-4CC8EFF8AC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68867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Name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F8B8F0D3-A682-04D8-7E0B-F26D56163F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39693" y="5303520"/>
            <a:ext cx="4572000" cy="9144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contact info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A3D27F1E-071E-F20C-9FA4-6FF3260A11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0307" y="5303520"/>
            <a:ext cx="4572000" cy="914400"/>
          </a:xfrm>
        </p:spPr>
        <p:txBody>
          <a:bodyPr/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contact info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725C257A-1E0B-90CB-FDAB-F164B5FB84B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39693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info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F028274B-3D73-8DB7-57F5-8758A576159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0350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info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3E2B6C-976C-B840-C89F-B4F3065660F9}"/>
              </a:ext>
            </a:extLst>
          </p:cNvPr>
          <p:cNvSpPr/>
          <p:nvPr userDrawn="1"/>
        </p:nvSpPr>
        <p:spPr>
          <a:xfrm>
            <a:off x="2286669" y="6401767"/>
            <a:ext cx="7618661" cy="25938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Can’t see our slides? Can’t hear? Need to repeat the question? Call us out!</a:t>
            </a:r>
          </a:p>
        </p:txBody>
      </p:sp>
      <p:pic>
        <p:nvPicPr>
          <p:cNvPr id="7" name="MMS" descr="A red and black logo&#10;&#10;Description automatically generated">
            <a:extLst>
              <a:ext uri="{FF2B5EF4-FFF2-40B4-BE49-F238E27FC236}">
                <a16:creationId xmlns:a16="http://schemas.microsoft.com/office/drawing/2014/main" id="{043E37BF-9604-7220-A931-A7BC5D053E6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6245352"/>
            <a:ext cx="1071259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939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F2B3F-34C9-5D81-3C0A-03B2A2A13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A0340-D9A2-712E-B180-063953253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MMS" descr="MMS Logo">
            <a:extLst>
              <a:ext uri="{FF2B5EF4-FFF2-40B4-BE49-F238E27FC236}">
                <a16:creationId xmlns:a16="http://schemas.microsoft.com/office/drawing/2014/main" id="{B20E1BA0-F24A-EC19-2D43-C2AEF38D6F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6220684"/>
            <a:ext cx="1069571" cy="612648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13F5F04C-5E3E-333C-217E-CEBF980C8D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4669" y="1258200"/>
            <a:ext cx="12264227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940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245352"/>
            <a:ext cx="1069571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19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mo Heade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4408" y="1700011"/>
            <a:ext cx="7933041" cy="2852737"/>
          </a:xfrm>
        </p:spPr>
        <p:txBody>
          <a:bodyPr anchor="b"/>
          <a:lstStyle>
            <a:lvl1pPr>
              <a:defRPr sz="60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14408" y="4579736"/>
            <a:ext cx="793304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829" y="5943600"/>
            <a:ext cx="1596375" cy="9144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EF6BDD6-65D1-E9C5-ACC8-28AEF699CDAA}"/>
              </a:ext>
            </a:extLst>
          </p:cNvPr>
          <p:cNvSpPr/>
          <p:nvPr userDrawn="1"/>
        </p:nvSpPr>
        <p:spPr>
          <a:xfrm>
            <a:off x="1173627" y="1986560"/>
            <a:ext cx="1661993" cy="3585277"/>
          </a:xfrm>
          <a:prstGeom prst="rect">
            <a:avLst/>
          </a:prstGeom>
          <a:noFill/>
        </p:spPr>
        <p:txBody>
          <a:bodyPr vert="vert270" wrap="none" lIns="91440" tIns="45720" rIns="91440" bIns="45720">
            <a:spAutoFit/>
          </a:bodyPr>
          <a:lstStyle/>
          <a:p>
            <a:pPr algn="ctr"/>
            <a:r>
              <a:rPr lang="en-US" sz="9600" b="1" u="none" cap="none" spc="0" baseline="0" dirty="0">
                <a:ln w="0"/>
                <a:solidFill>
                  <a:schemeClr val="bg1">
                    <a:lumMod val="85000"/>
                    <a:alpha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60278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2CA98-158E-037A-C94E-E38DC5348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AACDB-B0A5-F82A-E06F-F66C4B0C2D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98060"/>
            <a:ext cx="5181600" cy="467890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BF707E-1F23-C8BE-85CC-91A13D768C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98060"/>
            <a:ext cx="5181600" cy="467890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2A1EA3AB-2287-A909-3F79-BFFF9117BFC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012" y="5943600"/>
            <a:ext cx="1596375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004620A-8B56-621C-CE78-C55792A93B3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556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881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43FC6-9D49-7EE7-65B3-940E59809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795528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8AD4CF-A6B7-AD69-E2EF-D5CF1E53C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515787"/>
            <a:ext cx="5157787" cy="485239"/>
          </a:xfrm>
        </p:spPr>
        <p:txBody>
          <a:bodyPr anchor="b"/>
          <a:lstStyle>
            <a:lvl1pPr marL="0" indent="0">
              <a:buNone/>
              <a:defRPr sz="2400" b="1">
                <a:latin typeface="Aptos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D8C1A2-5CFB-9DDA-598C-3D6E4DB535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091448"/>
            <a:ext cx="5157787" cy="4098216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D7FFAF-6DE1-D7D2-9D0C-7DA4C93200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515787"/>
            <a:ext cx="5183188" cy="485239"/>
          </a:xfrm>
        </p:spPr>
        <p:txBody>
          <a:bodyPr anchor="b"/>
          <a:lstStyle>
            <a:lvl1pPr marL="0" indent="0">
              <a:buNone/>
              <a:defRPr sz="2400" b="1">
                <a:latin typeface="Aptos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2BCB2A-881F-6F25-A415-DE218744AF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091448"/>
            <a:ext cx="5183188" cy="4098216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 descr="MMS Logo">
            <a:extLst>
              <a:ext uri="{FF2B5EF4-FFF2-40B4-BE49-F238E27FC236}">
                <a16:creationId xmlns:a16="http://schemas.microsoft.com/office/drawing/2014/main" id="{A3D86560-F6A7-2176-B497-5661E33D251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1359E03-5C70-33E3-CD0F-EA5EAB2271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5560" y="1258200"/>
            <a:ext cx="1226820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888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19ACD-72B3-1EDF-3267-2C3F86B84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5" descr="MMS Logo">
            <a:extLst>
              <a:ext uri="{FF2B5EF4-FFF2-40B4-BE49-F238E27FC236}">
                <a16:creationId xmlns:a16="http://schemas.microsoft.com/office/drawing/2014/main" id="{58B90811-A51E-65F2-5CD6-98D6CF9811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42E1CD3F-6E26-737A-C882-D9F7FE0E9F3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661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874FAA7-EB4D-5A79-909E-CB927AFCC6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621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B3096-6483-1CC6-4263-E4B2B2BA6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1DBF5-0D97-AF7D-8580-655BDCEA9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Aptos" panose="020B0004020202020204" pitchFamily="34" charset="0"/>
              </a:defRPr>
            </a:lvl1pPr>
            <a:lvl2pPr>
              <a:defRPr sz="2800">
                <a:latin typeface="Aptos" panose="020B0004020202020204" pitchFamily="34" charset="0"/>
              </a:defRPr>
            </a:lvl2pPr>
            <a:lvl3pPr>
              <a:defRPr sz="2400">
                <a:latin typeface="Aptos" panose="020B0004020202020204" pitchFamily="34" charset="0"/>
              </a:defRPr>
            </a:lvl3pPr>
            <a:lvl4pPr>
              <a:defRPr sz="2000">
                <a:latin typeface="Aptos" panose="020B0004020202020204" pitchFamily="34" charset="0"/>
              </a:defRPr>
            </a:lvl4pPr>
            <a:lvl5pPr>
              <a:defRPr sz="2000">
                <a:latin typeface="Aptos" panose="020B00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CF4BF5-B720-F392-649B-33EED0985E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Aptos" panose="020B00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871BDB1C-D88C-7CC2-5D66-47039F15389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8391" y="595851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704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4D4F0-46DF-66A6-26A5-6711090CE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114DA3-16F3-B40E-F37B-43106F3CF9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latin typeface="Aptos" panose="020B00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123AD4-4C10-E69E-AE5E-B65F2FA789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Aptos" panose="020B00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BEAC8699-2117-4549-6791-6D861DDBC8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0128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shing Session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DE2D7D29-7C84-65CA-6C03-C23E75B3244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A8AAFD-A5FA-28E3-45D7-D91548749E63}"/>
              </a:ext>
            </a:extLst>
          </p:cNvPr>
          <p:cNvSpPr txBox="1"/>
          <p:nvPr userDrawn="1"/>
        </p:nvSpPr>
        <p:spPr>
          <a:xfrm>
            <a:off x="838200" y="1573109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Be sure to find Wally and sign up for 1:1 time with a speaker</a:t>
            </a:r>
          </a:p>
          <a:p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If you'd like to "catch" us for a session, we are scheduled as follows:</a:t>
            </a:r>
            <a:endParaRPr 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73C569-B7C9-FDB7-19D5-EC55A66F5A3E}"/>
              </a:ext>
            </a:extLst>
          </p:cNvPr>
          <p:cNvSpPr txBox="1"/>
          <p:nvPr userDrawn="1"/>
        </p:nvSpPr>
        <p:spPr>
          <a:xfrm>
            <a:off x="838200" y="6063492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Don't forget to leave feedback for your speakers!</a:t>
            </a:r>
          </a:p>
        </p:txBody>
      </p:sp>
      <p:pic>
        <p:nvPicPr>
          <p:cNvPr id="7" name="Picture 6" descr="MMS Logo">
            <a:extLst>
              <a:ext uri="{FF2B5EF4-FFF2-40B4-BE49-F238E27FC236}">
                <a16:creationId xmlns:a16="http://schemas.microsoft.com/office/drawing/2014/main" id="{BC9A6E22-95AA-8F42-08D4-0DFD93E2EF5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7802D0-972C-1B48-9997-0F792E49CA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2514827"/>
            <a:ext cx="6278563" cy="325755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Enter Session Times Here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15EFDD-BD4E-7F02-7FFC-7ADB7A8A9F2B}"/>
              </a:ext>
            </a:extLst>
          </p:cNvPr>
          <p:cNvSpPr txBox="1"/>
          <p:nvPr userDrawn="1"/>
        </p:nvSpPr>
        <p:spPr>
          <a:xfrm>
            <a:off x="838199" y="244262"/>
            <a:ext cx="105156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Aptos" panose="020B0004020202020204" pitchFamily="34" charset="0"/>
              </a:rPr>
              <a:t>Fishing Sessions</a:t>
            </a:r>
          </a:p>
        </p:txBody>
      </p:sp>
    </p:spTree>
    <p:extLst>
      <p:ext uri="{BB962C8B-B14F-4D97-AF65-F5344CB8AC3E}">
        <p14:creationId xmlns:p14="http://schemas.microsoft.com/office/powerpoint/2010/main" val="7894247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ve the Date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MMS MOA">
            <a:extLst>
              <a:ext uri="{FF2B5EF4-FFF2-40B4-BE49-F238E27FC236}">
                <a16:creationId xmlns:a16="http://schemas.microsoft.com/office/drawing/2014/main" id="{9CE8F994-3F43-B6B2-27DC-2BA65CDAD3E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6424" y="2075955"/>
            <a:ext cx="2971800" cy="2980355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828A95-6D43-E388-3D4E-E5117E2A09F8}"/>
              </a:ext>
            </a:extLst>
          </p:cNvPr>
          <p:cNvSpPr txBox="1"/>
          <p:nvPr userDrawn="1"/>
        </p:nvSpPr>
        <p:spPr>
          <a:xfrm>
            <a:off x="402199" y="1431135"/>
            <a:ext cx="29732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Oct 25-28,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F11CDB-CD01-841A-69AB-B3D3A5872802}"/>
              </a:ext>
            </a:extLst>
          </p:cNvPr>
          <p:cNvSpPr txBox="1"/>
          <p:nvPr userDrawn="1"/>
        </p:nvSpPr>
        <p:spPr>
          <a:xfrm>
            <a:off x="8849846" y="1431135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Oct 10-13, 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699D8C-C70E-FE1E-2A0F-D2D47884EE8D}"/>
              </a:ext>
            </a:extLst>
          </p:cNvPr>
          <p:cNvSpPr/>
          <p:nvPr userDrawn="1"/>
        </p:nvSpPr>
        <p:spPr>
          <a:xfrm>
            <a:off x="2535992" y="230806"/>
            <a:ext cx="7120026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SAVE THE DATES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07CC49-AA2C-0E73-1A86-E77BA5C7526E}"/>
              </a:ext>
            </a:extLst>
          </p:cNvPr>
          <p:cNvSpPr txBox="1"/>
          <p:nvPr userDrawn="1"/>
        </p:nvSpPr>
        <p:spPr>
          <a:xfrm>
            <a:off x="4636424" y="1431135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May 2-6, 2027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2C30B63-D045-B0E6-1A84-9D5B143DDE3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0674" y="2091583"/>
            <a:ext cx="2964728" cy="2964728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pic>
        <p:nvPicPr>
          <p:cNvPr id="13" name="Picture 12" descr="A black guitar with red text&#10;&#10;AI-generated content may be incorrect.">
            <a:extLst>
              <a:ext uri="{FF2B5EF4-FFF2-40B4-BE49-F238E27FC236}">
                <a16:creationId xmlns:a16="http://schemas.microsoft.com/office/drawing/2014/main" id="{424A81D4-437A-CD95-6B7C-A4349A47DD2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9247" y="2075956"/>
            <a:ext cx="2980355" cy="2980355"/>
          </a:xfrm>
          <a:prstGeom prst="rect">
            <a:avLst/>
          </a:prstGeom>
          <a:ln w="28575">
            <a:solidFill>
              <a:schemeClr val="bg1">
                <a:lumMod val="9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1265928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Q&amp;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874FAA7-EB4D-5A79-909E-CB927AFCC6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93937" y="1390152"/>
            <a:ext cx="2743200" cy="157129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0141027-F066-B9AE-93FD-9C9448960CDB}"/>
              </a:ext>
            </a:extLst>
          </p:cNvPr>
          <p:cNvSpPr/>
          <p:nvPr userDrawn="1"/>
        </p:nvSpPr>
        <p:spPr>
          <a:xfrm>
            <a:off x="3062605" y="212625"/>
            <a:ext cx="6205866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Extended Q&amp;A</a:t>
            </a:r>
          </a:p>
        </p:txBody>
      </p:sp>
      <p:pic>
        <p:nvPicPr>
          <p:cNvPr id="11" name="Picture 10" descr="Patch My PC">
            <a:extLst>
              <a:ext uri="{FF2B5EF4-FFF2-40B4-BE49-F238E27FC236}">
                <a16:creationId xmlns:a16="http://schemas.microsoft.com/office/drawing/2014/main" id="{F837D305-2B1E-D93E-4951-99C287BF88B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7628" y="4135460"/>
            <a:ext cx="1258699" cy="914400"/>
          </a:xfrm>
          <a:prstGeom prst="rect">
            <a:avLst/>
          </a:prstGeom>
        </p:spPr>
      </p:pic>
      <p:pic>
        <p:nvPicPr>
          <p:cNvPr id="9" name="Picture 8" descr="A black and white logo&#10;&#10;Description automatically generated with low confidence">
            <a:extLst>
              <a:ext uri="{FF2B5EF4-FFF2-40B4-BE49-F238E27FC236}">
                <a16:creationId xmlns:a16="http://schemas.microsoft.com/office/drawing/2014/main" id="{9152F94A-4D91-121D-CEB4-524094EE7D9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64852" y="4226900"/>
            <a:ext cx="731520" cy="731520"/>
          </a:xfrm>
          <a:prstGeom prst="rect">
            <a:avLst/>
          </a:prstGeom>
        </p:spPr>
      </p:pic>
      <p:pic>
        <p:nvPicPr>
          <p:cNvPr id="13" name="Picture 12" descr="A grey rectangle with white and blue text&#10;&#10;Description automatically generated">
            <a:extLst>
              <a:ext uri="{FF2B5EF4-FFF2-40B4-BE49-F238E27FC236}">
                <a16:creationId xmlns:a16="http://schemas.microsoft.com/office/drawing/2014/main" id="{27436F92-854C-BEE9-ECD2-98D939DF1B93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5176" y="5249533"/>
            <a:ext cx="1188721" cy="457200"/>
          </a:xfrm>
          <a:prstGeom prst="rect">
            <a:avLst/>
          </a:prstGeom>
        </p:spPr>
      </p:pic>
      <p:pic>
        <p:nvPicPr>
          <p:cNvPr id="29" name="Picture 28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75392E0A-C0E2-C291-444E-C2565C6FA049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6251" y="6167385"/>
            <a:ext cx="901452" cy="410211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FFA7C4B9-2FE7-03A8-4C46-F9FB648245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08004" y="6348996"/>
            <a:ext cx="1503922" cy="228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04D6873-2AA5-65D0-992F-5D0CA23B99B8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2255" y="6368384"/>
            <a:ext cx="1554480" cy="2092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CB20B0E-D4F5-70E8-7B88-CD98C80D632A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0909" y="4306910"/>
            <a:ext cx="1554480" cy="60523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697EBA7-C89E-96EE-4748-7F907F81D9A5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7703" y="5355030"/>
            <a:ext cx="1554480" cy="270344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20F4E334-22B5-F189-E4F0-E59467F9F9B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060619" y="4384263"/>
            <a:ext cx="1554480" cy="38862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E5F552A-9761-3A6C-8290-61044C88A9C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5502" y="4409266"/>
            <a:ext cx="1554480" cy="366787"/>
          </a:xfrm>
          <a:prstGeom prst="rect">
            <a:avLst/>
          </a:prstGeom>
        </p:spPr>
      </p:pic>
      <p:pic>
        <p:nvPicPr>
          <p:cNvPr id="25" name="Picture 24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059AA4FF-6CFA-B105-B54C-8D9B21CA931B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aturation sat="0"/>
                    </a14:imgEffect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06890" y="5315255"/>
            <a:ext cx="1554480" cy="310119"/>
          </a:xfrm>
          <a:prstGeom prst="rect">
            <a:avLst/>
          </a:prstGeom>
        </p:spPr>
      </p:pic>
      <p:pic>
        <p:nvPicPr>
          <p:cNvPr id="26" name="Picture 25" descr="A white letters on a black background&#10;&#10;AI-generated content may be incorrect.">
            <a:extLst>
              <a:ext uri="{FF2B5EF4-FFF2-40B4-BE49-F238E27FC236}">
                <a16:creationId xmlns:a16="http://schemas.microsoft.com/office/drawing/2014/main" id="{22BA2D5A-399C-36FF-E065-28AF7C39D808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8964363" y="5326622"/>
            <a:ext cx="1554480" cy="32125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2CA8F16-E2DC-59EF-D489-4FC3AB2CC38D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8972" y="5846076"/>
            <a:ext cx="532014" cy="73152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CDA09CD3-5E5E-7480-F81F-B86933B9DC69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3196" y="6163652"/>
            <a:ext cx="1463040" cy="413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0197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8B2AB-1AF2-C3EC-A0DA-7900482B48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682"/>
            <a:ext cx="9144000" cy="2306637"/>
          </a:xfrm>
        </p:spPr>
        <p:txBody>
          <a:bodyPr anchor="b"/>
          <a:lstStyle>
            <a:lvl1pPr algn="ctr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AC045E-7E31-838B-3E84-BF7CAB2CBC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90281"/>
            <a:ext cx="9144000" cy="142023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1C6F0CE-A001-978A-D698-EB6C97BB9B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5720" y="2310319"/>
            <a:ext cx="12298680" cy="734379"/>
          </a:xfrm>
          <a:prstGeom prst="rect">
            <a:avLst/>
          </a:prstGeom>
        </p:spPr>
      </p:pic>
      <p:pic>
        <p:nvPicPr>
          <p:cNvPr id="11" name="Picture 10" descr="A red and black logo&#10;&#10;Description automatically generated">
            <a:extLst>
              <a:ext uri="{FF2B5EF4-FFF2-40B4-BE49-F238E27FC236}">
                <a16:creationId xmlns:a16="http://schemas.microsoft.com/office/drawing/2014/main" id="{29BE2BE2-9E00-CB03-72C1-FF931FB7228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81552" y="3910518"/>
            <a:ext cx="4998416" cy="2858572"/>
          </a:xfrm>
          <a:prstGeom prst="rect">
            <a:avLst/>
          </a:prstGeom>
          <a:noFill/>
          <a:effectLst>
            <a:glow rad="406400">
              <a:schemeClr val="tx1">
                <a:alpha val="43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40663052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0F2FDBB-FB45-8FD2-5F71-DB342D5975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396859" y="1581880"/>
            <a:ext cx="2703513" cy="253841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B765F7A9-F279-484D-0F3B-4BB46B514D6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14594" y="1579653"/>
            <a:ext cx="2703513" cy="253841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6FE98B-7FAF-CBE0-DE78-7629C4DAC585}"/>
              </a:ext>
            </a:extLst>
          </p:cNvPr>
          <p:cNvSpPr/>
          <p:nvPr userDrawn="1"/>
        </p:nvSpPr>
        <p:spPr>
          <a:xfrm>
            <a:off x="4047202" y="195263"/>
            <a:ext cx="4097597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Speakers</a:t>
            </a:r>
          </a:p>
        </p:txBody>
      </p:sp>
      <p:pic>
        <p:nvPicPr>
          <p:cNvPr id="11" name="Graphic 10" descr="Radio microphone with solid fill">
            <a:extLst>
              <a:ext uri="{FF2B5EF4-FFF2-40B4-BE49-F238E27FC236}">
                <a16:creationId xmlns:a16="http://schemas.microsoft.com/office/drawing/2014/main" id="{081F717A-90EF-F96A-D83B-54E6307A31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59804" y="338227"/>
            <a:ext cx="914400" cy="914400"/>
          </a:xfrm>
          <a:prstGeom prst="rect">
            <a:avLst/>
          </a:prstGeom>
        </p:spPr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E8946D3-04F0-0641-9424-10E785AD73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39693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Name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E852539-A3B0-BF16-FE8E-4CC8EFF8AC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68867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Name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F8B8F0D3-A682-04D8-7E0B-F26D56163F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39693" y="5303520"/>
            <a:ext cx="4572000" cy="9144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contact info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A3D27F1E-071E-F20C-9FA4-6FF3260A11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0307" y="5303520"/>
            <a:ext cx="4572000" cy="914400"/>
          </a:xfrm>
        </p:spPr>
        <p:txBody>
          <a:bodyPr/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contact info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725C257A-1E0B-90CB-FDAB-F164B5FB84B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39693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info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F028274B-3D73-8DB7-57F5-8758A576159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0350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info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3E2B6C-976C-B840-C89F-B4F3065660F9}"/>
              </a:ext>
            </a:extLst>
          </p:cNvPr>
          <p:cNvSpPr/>
          <p:nvPr userDrawn="1"/>
        </p:nvSpPr>
        <p:spPr>
          <a:xfrm>
            <a:off x="2286669" y="6401767"/>
            <a:ext cx="7618661" cy="25938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Can’t see our slides? Can’t hear? Need to repeat the question? Call us out!</a:t>
            </a:r>
          </a:p>
        </p:txBody>
      </p:sp>
      <p:pic>
        <p:nvPicPr>
          <p:cNvPr id="7" name="MMS" descr="A red and black logo&#10;&#10;Description automatically generated">
            <a:extLst>
              <a:ext uri="{FF2B5EF4-FFF2-40B4-BE49-F238E27FC236}">
                <a16:creationId xmlns:a16="http://schemas.microsoft.com/office/drawing/2014/main" id="{043E37BF-9604-7220-A931-A7BC5D053E6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6245352"/>
            <a:ext cx="1071259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1858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F2B3F-34C9-5D81-3C0A-03B2A2A13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A0340-D9A2-712E-B180-063953253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13F5F04C-5E3E-333C-217E-CEBF980C8D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0336" y="1258200"/>
            <a:ext cx="12264228" cy="645279"/>
          </a:xfrm>
          <a:prstGeom prst="rect">
            <a:avLst/>
          </a:prstGeom>
        </p:spPr>
      </p:pic>
      <p:pic>
        <p:nvPicPr>
          <p:cNvPr id="9" name="Picture 8" descr="A red and black logo&#10;&#10;Description automatically generated">
            <a:extLst>
              <a:ext uri="{FF2B5EF4-FFF2-40B4-BE49-F238E27FC236}">
                <a16:creationId xmlns:a16="http://schemas.microsoft.com/office/drawing/2014/main" id="{858ADF9C-553E-D4C9-65AD-8E508EBA9E1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241528"/>
            <a:ext cx="1077946" cy="616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87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245352"/>
            <a:ext cx="1069571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4979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mo Heade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4408" y="1700011"/>
            <a:ext cx="7933041" cy="2852737"/>
          </a:xfrm>
        </p:spPr>
        <p:txBody>
          <a:bodyPr anchor="b"/>
          <a:lstStyle>
            <a:lvl1pPr>
              <a:defRPr sz="60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14408" y="4579736"/>
            <a:ext cx="793304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829" y="5943600"/>
            <a:ext cx="1596375" cy="9144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EF6BDD6-65D1-E9C5-ACC8-28AEF699CDAA}"/>
              </a:ext>
            </a:extLst>
          </p:cNvPr>
          <p:cNvSpPr/>
          <p:nvPr userDrawn="1"/>
        </p:nvSpPr>
        <p:spPr>
          <a:xfrm>
            <a:off x="1173627" y="1986560"/>
            <a:ext cx="1661993" cy="3585277"/>
          </a:xfrm>
          <a:prstGeom prst="rect">
            <a:avLst/>
          </a:prstGeom>
          <a:noFill/>
        </p:spPr>
        <p:txBody>
          <a:bodyPr vert="vert270" wrap="none" lIns="91440" tIns="45720" rIns="91440" bIns="45720">
            <a:spAutoFit/>
          </a:bodyPr>
          <a:lstStyle/>
          <a:p>
            <a:pPr algn="ctr"/>
            <a:r>
              <a:rPr lang="en-US" sz="9600" b="1" u="none" cap="none" spc="0" baseline="0" dirty="0">
                <a:ln w="0"/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4515838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2CA98-158E-037A-C94E-E38DC5348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AACDB-B0A5-F82A-E06F-F66C4B0C2D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98060"/>
            <a:ext cx="5181600" cy="4678903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BF707E-1F23-C8BE-85CC-91A13D768C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98060"/>
            <a:ext cx="5181600" cy="4678903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2A1EA3AB-2287-A909-3F79-BFFF9117BFC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012" y="5943600"/>
            <a:ext cx="1596375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004620A-8B56-621C-CE78-C55792A93B3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556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7731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43FC6-9D49-7EE7-65B3-940E59809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7955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8AD4CF-A6B7-AD69-E2EF-D5CF1E53C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515787"/>
            <a:ext cx="5157787" cy="485239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D8C1A2-5CFB-9DDA-598C-3D6E4DB535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091448"/>
            <a:ext cx="5157787" cy="4098216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D7FFAF-6DE1-D7D2-9D0C-7DA4C93200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515787"/>
            <a:ext cx="5183188" cy="485239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2BCB2A-881F-6F25-A415-DE218744AF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091448"/>
            <a:ext cx="5183188" cy="4098216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 descr="MMS Logo">
            <a:extLst>
              <a:ext uri="{FF2B5EF4-FFF2-40B4-BE49-F238E27FC236}">
                <a16:creationId xmlns:a16="http://schemas.microsoft.com/office/drawing/2014/main" id="{A3D86560-F6A7-2176-B497-5661E33D251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1359E03-5C70-33E3-CD0F-EA5EAB2271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5560" y="1258200"/>
            <a:ext cx="1226820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9536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19ACD-72B3-1EDF-3267-2C3F86B84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5" descr="MMS Logo">
            <a:extLst>
              <a:ext uri="{FF2B5EF4-FFF2-40B4-BE49-F238E27FC236}">
                <a16:creationId xmlns:a16="http://schemas.microsoft.com/office/drawing/2014/main" id="{58B90811-A51E-65F2-5CD6-98D6CF9811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42E1CD3F-6E26-737A-C882-D9F7FE0E9F3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5194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874FAA7-EB4D-5A79-909E-CB927AFCC6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62658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B3096-6483-1CC6-4263-E4B2B2BA6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1DBF5-0D97-AF7D-8580-655BDCEA9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+mn-lt"/>
              </a:defRPr>
            </a:lvl1pPr>
            <a:lvl2pPr>
              <a:defRPr sz="2800">
                <a:solidFill>
                  <a:schemeClr val="tx1"/>
                </a:solidFill>
                <a:latin typeface="+mn-lt"/>
              </a:defRPr>
            </a:lvl2pPr>
            <a:lvl3pPr>
              <a:defRPr sz="2400">
                <a:solidFill>
                  <a:schemeClr val="tx1"/>
                </a:solidFill>
                <a:latin typeface="+mn-lt"/>
              </a:defRPr>
            </a:lvl3pPr>
            <a:lvl4pPr>
              <a:defRPr sz="2000">
                <a:solidFill>
                  <a:schemeClr val="tx1"/>
                </a:solidFill>
                <a:latin typeface="+mn-lt"/>
              </a:defRPr>
            </a:lvl4pPr>
            <a:lvl5pPr>
              <a:defRPr sz="2000">
                <a:solidFill>
                  <a:schemeClr val="tx1"/>
                </a:solidFill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CF4BF5-B720-F392-649B-33EED0985E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871BDB1C-D88C-7CC2-5D66-47039F15389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8391" y="595851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32607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4D4F0-46DF-66A6-26A5-6711090CE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114DA3-16F3-B40E-F37B-43106F3CF9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123AD4-4C10-E69E-AE5E-B65F2FA789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BEAC8699-2117-4549-6791-6D861DDBC8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02188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shing Session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DE2D7D29-7C84-65CA-6C03-C23E75B3244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A8AAFD-A5FA-28E3-45D7-D91548749E63}"/>
              </a:ext>
            </a:extLst>
          </p:cNvPr>
          <p:cNvSpPr txBox="1"/>
          <p:nvPr userDrawn="1"/>
        </p:nvSpPr>
        <p:spPr>
          <a:xfrm>
            <a:off x="838200" y="1573109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Aptos" panose="020B0004020202020204" pitchFamily="34" charset="0"/>
              </a:rPr>
              <a:t>Be sure to find Wally and sign up for 1:1 time with a speaker</a:t>
            </a:r>
          </a:p>
          <a:p>
            <a:r>
              <a:rPr lang="en-US" sz="2400" b="1" dirty="0">
                <a:solidFill>
                  <a:schemeClr val="tx1"/>
                </a:solidFill>
                <a:latin typeface="Aptos" panose="020B0004020202020204" pitchFamily="34" charset="0"/>
              </a:rPr>
              <a:t>If you'd like to "catch" us for a session, we are scheduled as follows:</a:t>
            </a:r>
            <a:endParaRPr lang="en-US" b="1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73C569-B7C9-FDB7-19D5-EC55A66F5A3E}"/>
              </a:ext>
            </a:extLst>
          </p:cNvPr>
          <p:cNvSpPr txBox="1"/>
          <p:nvPr userDrawn="1"/>
        </p:nvSpPr>
        <p:spPr>
          <a:xfrm>
            <a:off x="838200" y="6063492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solidFill>
                  <a:schemeClr val="tx1"/>
                </a:solidFill>
                <a:latin typeface="Aptos" panose="020B0004020202020204" pitchFamily="34" charset="0"/>
              </a:rPr>
              <a:t>Don't forget to leave feedback for your speakers!</a:t>
            </a:r>
          </a:p>
        </p:txBody>
      </p:sp>
      <p:pic>
        <p:nvPicPr>
          <p:cNvPr id="7" name="Picture 6" descr="MMS Logo">
            <a:extLst>
              <a:ext uri="{FF2B5EF4-FFF2-40B4-BE49-F238E27FC236}">
                <a16:creationId xmlns:a16="http://schemas.microsoft.com/office/drawing/2014/main" id="{BC9A6E22-95AA-8F42-08D4-0DFD93E2EF5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7802D0-972C-1B48-9997-0F792E49CA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2514827"/>
            <a:ext cx="6278563" cy="325755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Enter Session Times Here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15EFDD-BD4E-7F02-7FFC-7ADB7A8A9F2B}"/>
              </a:ext>
            </a:extLst>
          </p:cNvPr>
          <p:cNvSpPr txBox="1"/>
          <p:nvPr userDrawn="1"/>
        </p:nvSpPr>
        <p:spPr>
          <a:xfrm>
            <a:off x="838199" y="244262"/>
            <a:ext cx="105156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tx1"/>
                </a:solidFill>
                <a:latin typeface="Aptos" panose="020B0004020202020204" pitchFamily="34" charset="0"/>
              </a:rPr>
              <a:t>Fishing Sessions</a:t>
            </a:r>
          </a:p>
        </p:txBody>
      </p:sp>
    </p:spTree>
    <p:extLst>
      <p:ext uri="{BB962C8B-B14F-4D97-AF65-F5344CB8AC3E}">
        <p14:creationId xmlns:p14="http://schemas.microsoft.com/office/powerpoint/2010/main" val="252816199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ave the Date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MMS MOA">
            <a:extLst>
              <a:ext uri="{FF2B5EF4-FFF2-40B4-BE49-F238E27FC236}">
                <a16:creationId xmlns:a16="http://schemas.microsoft.com/office/drawing/2014/main" id="{9CE8F994-3F43-B6B2-27DC-2BA65CDAD3E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6424" y="2075955"/>
            <a:ext cx="2971800" cy="2980355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828A95-6D43-E388-3D4E-E5117E2A09F8}"/>
              </a:ext>
            </a:extLst>
          </p:cNvPr>
          <p:cNvSpPr txBox="1"/>
          <p:nvPr userDrawn="1"/>
        </p:nvSpPr>
        <p:spPr>
          <a:xfrm>
            <a:off x="402199" y="1431135"/>
            <a:ext cx="29732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Oct 25-28,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F11CDB-CD01-841A-69AB-B3D3A5872802}"/>
              </a:ext>
            </a:extLst>
          </p:cNvPr>
          <p:cNvSpPr txBox="1"/>
          <p:nvPr userDrawn="1"/>
        </p:nvSpPr>
        <p:spPr>
          <a:xfrm>
            <a:off x="8849846" y="1431135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Oct 10-13, 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699D8C-C70E-FE1E-2A0F-D2D47884EE8D}"/>
              </a:ext>
            </a:extLst>
          </p:cNvPr>
          <p:cNvSpPr/>
          <p:nvPr userDrawn="1"/>
        </p:nvSpPr>
        <p:spPr>
          <a:xfrm>
            <a:off x="2535992" y="230806"/>
            <a:ext cx="7120026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SAVE THE DATES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07CC49-AA2C-0E73-1A86-E77BA5C7526E}"/>
              </a:ext>
            </a:extLst>
          </p:cNvPr>
          <p:cNvSpPr txBox="1"/>
          <p:nvPr userDrawn="1"/>
        </p:nvSpPr>
        <p:spPr>
          <a:xfrm>
            <a:off x="4636424" y="1431135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May 2-6, 2027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2C30B63-D045-B0E6-1A84-9D5B143DDE3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0674" y="2091583"/>
            <a:ext cx="2964728" cy="2964728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pic>
        <p:nvPicPr>
          <p:cNvPr id="13" name="Picture 12" descr="A black guitar with red text&#10;&#10;AI-generated content may be incorrect.">
            <a:extLst>
              <a:ext uri="{FF2B5EF4-FFF2-40B4-BE49-F238E27FC236}">
                <a16:creationId xmlns:a16="http://schemas.microsoft.com/office/drawing/2014/main" id="{424A81D4-437A-CD95-6B7C-A4349A47DD2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9247" y="2075956"/>
            <a:ext cx="2980355" cy="2980355"/>
          </a:xfrm>
          <a:prstGeom prst="rect">
            <a:avLst/>
          </a:prstGeom>
          <a:ln w="28575">
            <a:solidFill>
              <a:schemeClr val="bg1">
                <a:lumMod val="9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2604770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Q&amp;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MMS Logo">
            <a:extLst>
              <a:ext uri="{FF2B5EF4-FFF2-40B4-BE49-F238E27FC236}">
                <a16:creationId xmlns:a16="http://schemas.microsoft.com/office/drawing/2014/main" id="{46EAA7A9-8D45-D916-28B6-4E361AADC78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93937" y="1390152"/>
            <a:ext cx="2743200" cy="157129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6CEB9E9-6A9D-3D7F-1D7E-64C798429A2C}"/>
              </a:ext>
            </a:extLst>
          </p:cNvPr>
          <p:cNvSpPr/>
          <p:nvPr userDrawn="1"/>
        </p:nvSpPr>
        <p:spPr>
          <a:xfrm>
            <a:off x="3062605" y="212625"/>
            <a:ext cx="6205866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Extended Q&amp;A</a:t>
            </a:r>
          </a:p>
        </p:txBody>
      </p:sp>
      <p:pic>
        <p:nvPicPr>
          <p:cNvPr id="15" name="Picture 14" descr="Patch My PC">
            <a:extLst>
              <a:ext uri="{FF2B5EF4-FFF2-40B4-BE49-F238E27FC236}">
                <a16:creationId xmlns:a16="http://schemas.microsoft.com/office/drawing/2014/main" id="{8A4E9904-CB45-3E0E-696F-D3FD79268A7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7628" y="4135460"/>
            <a:ext cx="1258699" cy="914400"/>
          </a:xfrm>
          <a:prstGeom prst="rect">
            <a:avLst/>
          </a:prstGeom>
        </p:spPr>
      </p:pic>
      <p:pic>
        <p:nvPicPr>
          <p:cNvPr id="16" name="Picture 15" descr="A black and white logo&#10;&#10;Description automatically generated with low confidence">
            <a:extLst>
              <a:ext uri="{FF2B5EF4-FFF2-40B4-BE49-F238E27FC236}">
                <a16:creationId xmlns:a16="http://schemas.microsoft.com/office/drawing/2014/main" id="{43C261DF-C273-8B85-7BEA-3CB1DD08C69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64852" y="4226900"/>
            <a:ext cx="731520" cy="731520"/>
          </a:xfrm>
          <a:prstGeom prst="rect">
            <a:avLst/>
          </a:prstGeom>
        </p:spPr>
      </p:pic>
      <p:pic>
        <p:nvPicPr>
          <p:cNvPr id="18" name="Picture 17" descr="A grey rectangle with white and blue text&#10;&#10;Description automatically generated">
            <a:extLst>
              <a:ext uri="{FF2B5EF4-FFF2-40B4-BE49-F238E27FC236}">
                <a16:creationId xmlns:a16="http://schemas.microsoft.com/office/drawing/2014/main" id="{F8C63FAC-ABFA-70CE-8D89-D47ABA5CC266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5176" y="5249533"/>
            <a:ext cx="1188721" cy="457200"/>
          </a:xfrm>
          <a:prstGeom prst="rect">
            <a:avLst/>
          </a:prstGeom>
        </p:spPr>
      </p:pic>
      <p:pic>
        <p:nvPicPr>
          <p:cNvPr id="21" name="Picture 20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79FF2E51-F7AB-D3B9-AABE-FB46DCC3885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6251" y="6167385"/>
            <a:ext cx="901452" cy="410211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0A3AC7F1-3D93-C770-1878-626E2600894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08004" y="6348996"/>
            <a:ext cx="1503922" cy="2286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C9F9C7F-8CDE-12F1-8DD9-E08040FCF1BA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2255" y="6368384"/>
            <a:ext cx="1554480" cy="20921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F6F3F9D-B490-FA74-DF0D-405DAA79C43F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0909" y="4306910"/>
            <a:ext cx="1554480" cy="60523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8CCDFE6E-1CB9-DA2B-8122-2426251CA449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7703" y="5355030"/>
            <a:ext cx="1554480" cy="270344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E662A5E5-BEDF-2923-981A-FFD254ABA47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060619" y="4384263"/>
            <a:ext cx="1554480" cy="38862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8F655CF-14A9-3C76-FB5B-5E772726C55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5502" y="4409266"/>
            <a:ext cx="1554480" cy="366787"/>
          </a:xfrm>
          <a:prstGeom prst="rect">
            <a:avLst/>
          </a:prstGeom>
        </p:spPr>
      </p:pic>
      <p:pic>
        <p:nvPicPr>
          <p:cNvPr id="30" name="Picture 29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7E42350D-8F9C-893D-D40A-C58551699BA9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aturation sat="0"/>
                    </a14:imgEffect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06890" y="5315255"/>
            <a:ext cx="1554480" cy="310119"/>
          </a:xfrm>
          <a:prstGeom prst="rect">
            <a:avLst/>
          </a:prstGeom>
        </p:spPr>
      </p:pic>
      <p:pic>
        <p:nvPicPr>
          <p:cNvPr id="31" name="Picture 30" descr="A white letters on a black background&#10;&#10;AI-generated content may be incorrect.">
            <a:extLst>
              <a:ext uri="{FF2B5EF4-FFF2-40B4-BE49-F238E27FC236}">
                <a16:creationId xmlns:a16="http://schemas.microsoft.com/office/drawing/2014/main" id="{9801BAC5-50DF-BA7A-DFD6-870E7DCE4D74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8964363" y="5326622"/>
            <a:ext cx="1554480" cy="32125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91DEC2DB-BCA7-3FE2-CB57-AB1B821F323F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8972" y="5846076"/>
            <a:ext cx="532014" cy="73152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52321056-273F-E68B-19D1-57AF101821FE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3196" y="6163652"/>
            <a:ext cx="1463040" cy="413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132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365651-282E-586C-B06B-5DB5D9944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913A01-90A4-D2D1-24E8-69DD5F5347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07787"/>
            <a:ext cx="10515600" cy="46691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2125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9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73" r:id="rId12"/>
    <p:sldLayoutId id="2147483663" r:id="rId13"/>
    <p:sldLayoutId id="2147483664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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0B1B4-6987-442E-8B11-D82B4992D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265E00-A27D-612F-8389-A5568AC246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61DDB-CC2B-D54B-7517-E715290C3E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B7999B-38B3-40EF-826B-655A64799C1B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F5C2E2-4322-B373-CCC7-8621FF671F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4BCAAE-4B09-81E1-1FAE-84D1734873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51C39E-9AC5-4998-B89E-D6011DDB7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271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62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90" r:id="rId12"/>
    <p:sldLayoutId id="2147483691" r:id="rId13"/>
    <p:sldLayoutId id="2147483689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3B669-2341-DF39-C682-5CB4698790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Windows Operating System Hardening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806C1F-6D02-FA11-F860-B05CFAC0C1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Defending clients and servers against modern attacks</a:t>
            </a:r>
          </a:p>
        </p:txBody>
      </p:sp>
    </p:spTree>
    <p:extLst>
      <p:ext uri="{BB962C8B-B14F-4D97-AF65-F5344CB8AC3E}">
        <p14:creationId xmlns:p14="http://schemas.microsoft.com/office/powerpoint/2010/main" val="4018952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AA5B3-89D5-147C-A57E-6754B8093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5F291-B9CB-60BF-7307-F3FFC90C9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MMS sessions are 60-75 minutes followed by LONG Q&amp;A</a:t>
            </a:r>
          </a:p>
          <a:p>
            <a:r>
              <a:rPr lang="en-US" sz="2800" dirty="0"/>
              <a:t>Please hold detailed questions until that Q&amp;A starts</a:t>
            </a:r>
          </a:p>
          <a:p>
            <a:r>
              <a:rPr lang="en-US" sz="2800" dirty="0"/>
              <a:t>Feel free to ask clarification questions</a:t>
            </a:r>
          </a:p>
          <a:p>
            <a:r>
              <a:rPr lang="en-US" sz="2800" dirty="0"/>
              <a:t>Remind the speakers to use Zoom It when you can’t see</a:t>
            </a:r>
          </a:p>
        </p:txBody>
      </p:sp>
    </p:spTree>
    <p:extLst>
      <p:ext uri="{BB962C8B-B14F-4D97-AF65-F5344CB8AC3E}">
        <p14:creationId xmlns:p14="http://schemas.microsoft.com/office/powerpoint/2010/main" val="3743149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FB68CD-CB12-32EF-1CFE-54C294C3E9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23999" y="4206239"/>
            <a:ext cx="4572000" cy="457200"/>
          </a:xfrm>
        </p:spPr>
        <p:txBody>
          <a:bodyPr>
            <a:normAutofit/>
          </a:bodyPr>
          <a:lstStyle/>
          <a:p>
            <a:r>
              <a:rPr lang="en-US" dirty="0"/>
              <a:t>Michael Niehaus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1E5CAD-23FE-A4D7-B096-3334A7D79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5999" y="4200723"/>
            <a:ext cx="4572000" cy="457200"/>
          </a:xfrm>
        </p:spPr>
        <p:txBody>
          <a:bodyPr>
            <a:normAutofit/>
          </a:bodyPr>
          <a:lstStyle/>
          <a:p>
            <a:r>
              <a:rPr lang="en-SE" dirty="0"/>
              <a:t>Mikael Nystrom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6485DDC-10A4-A946-6EE8-700508002C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23999" y="5303520"/>
            <a:ext cx="4572000" cy="914400"/>
          </a:xfrm>
        </p:spPr>
        <p:txBody>
          <a:bodyPr/>
          <a:lstStyle/>
          <a:p>
            <a:r>
              <a:rPr lang="en-SE" dirty="0"/>
              <a:t>michael.niehaus@2pint.com</a:t>
            </a:r>
          </a:p>
          <a:p>
            <a:r>
              <a:rPr lang="en-SE" dirty="0"/>
              <a:t>@mniehaus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FC71F19-CB0D-6056-8B2E-7670D5A913D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71859" y="5261408"/>
            <a:ext cx="5469308" cy="914400"/>
          </a:xfrm>
        </p:spPr>
        <p:txBody>
          <a:bodyPr/>
          <a:lstStyle/>
          <a:p>
            <a:r>
              <a:rPr lang="en-SE" dirty="0"/>
              <a:t>deploymentbunny@outlook.com</a:t>
            </a:r>
            <a:endParaRPr lang="en-US" dirty="0"/>
          </a:p>
          <a:p>
            <a:r>
              <a:rPr lang="en-US" dirty="0"/>
              <a:t>   @</a:t>
            </a:r>
            <a:r>
              <a:rPr lang="en-SE" dirty="0" err="1"/>
              <a:t>mikael_nystrom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0280E57-51A9-979B-C838-5F016A209FD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523999" y="4760396"/>
            <a:ext cx="4572000" cy="457200"/>
          </a:xfrm>
        </p:spPr>
        <p:txBody>
          <a:bodyPr>
            <a:normAutofit fontScale="77500" lnSpcReduction="20000"/>
          </a:bodyPr>
          <a:lstStyle/>
          <a:p>
            <a:r>
              <a:rPr lang="en-US" dirty="0" err="1"/>
              <a:t>Programme</a:t>
            </a:r>
            <a:r>
              <a:rPr lang="en-US" dirty="0"/>
              <a:t> Director and Master Inventor,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7177573-C298-FAF8-2140-0326B263D0A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5999" y="4754880"/>
            <a:ext cx="4572000" cy="457200"/>
          </a:xfrm>
        </p:spPr>
        <p:txBody>
          <a:bodyPr/>
          <a:lstStyle/>
          <a:p>
            <a:r>
              <a:rPr lang="en-SE" dirty="0"/>
              <a:t>Microsoft MVP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4C7F4F2-0A36-BA27-8151-0351BB2B30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2365" y="1579653"/>
            <a:ext cx="2455042" cy="2455042"/>
          </a:xfrm>
          <a:prstGeom prst="rect">
            <a:avLst/>
          </a:prstGeom>
        </p:spPr>
      </p:pic>
      <p:pic>
        <p:nvPicPr>
          <p:cNvPr id="1026" name="Picture 2" descr="avatar for Mikael Nystrom">
            <a:extLst>
              <a:ext uri="{FF2B5EF4-FFF2-40B4-BE49-F238E27FC236}">
                <a16:creationId xmlns:a16="http://schemas.microsoft.com/office/drawing/2014/main" id="{0FA18AE8-9600-7835-670D-2C553A0D01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8792" y="1600664"/>
            <a:ext cx="2519629" cy="2519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9782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FD73D28-962F-8E43-5907-544A140D2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So, let us begin..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30A130-0D00-7790-26E9-044787E643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/>
              <a:t>T</a:t>
            </a:r>
            <a:r>
              <a:rPr lang="en-SE" dirty="0"/>
              <a:t>here is no turning back...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9942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sv-SE" dirty="0"/>
              <a:t>W</a:t>
            </a:r>
            <a:r>
              <a:rPr lang="en-SE" dirty="0"/>
              <a:t>hat we hope you will understand</a:t>
            </a:r>
            <a:endParaRPr lang="sv-S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/>
          <a:lstStyle/>
          <a:p>
            <a:r>
              <a:rPr lang="sv-SE"/>
              <a:t>Essential OS-level hardening steps for every environment</a:t>
            </a:r>
          </a:p>
          <a:p>
            <a:r>
              <a:rPr lang="sv-SE"/>
              <a:t>Modern local + remote attack vectors and how to block them</a:t>
            </a:r>
          </a:p>
          <a:p>
            <a:r>
              <a:rPr lang="sv-SE"/>
              <a:t>Workstation surface reduction: browser, services, networking, credentials</a:t>
            </a:r>
          </a:p>
          <a:p>
            <a:r>
              <a:rPr lang="sv-SE"/>
              <a:t>Server hardening patterns for commonly overlooked roles</a:t>
            </a:r>
          </a:p>
          <a:p>
            <a:r>
              <a:rPr lang="sv-SE"/>
              <a:t>Rollout approach: baselines → exceptions → verification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sv-SE" dirty="0"/>
              <a:t>W</a:t>
            </a:r>
            <a:r>
              <a:rPr lang="en-SE" dirty="0"/>
              <a:t>hat we will cover</a:t>
            </a:r>
            <a:endParaRPr lang="sv-S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/>
          <a:lstStyle/>
          <a:p>
            <a:r>
              <a:rPr lang="sv-SE" dirty="0" err="1"/>
              <a:t>Threat</a:t>
            </a:r>
            <a:r>
              <a:rPr lang="sv-SE" dirty="0"/>
              <a:t> </a:t>
            </a:r>
            <a:r>
              <a:rPr lang="sv-SE" dirty="0" err="1"/>
              <a:t>model</a:t>
            </a:r>
            <a:r>
              <a:rPr lang="sv-SE" dirty="0"/>
              <a:t>: </a:t>
            </a:r>
            <a:r>
              <a:rPr lang="sv-SE" dirty="0" err="1"/>
              <a:t>how</a:t>
            </a:r>
            <a:r>
              <a:rPr lang="sv-SE" dirty="0"/>
              <a:t> Windows </a:t>
            </a:r>
            <a:r>
              <a:rPr lang="sv-SE" dirty="0" err="1"/>
              <a:t>environments</a:t>
            </a:r>
            <a:r>
              <a:rPr lang="sv-SE" dirty="0"/>
              <a:t> </a:t>
            </a:r>
            <a:r>
              <a:rPr lang="sv-SE" dirty="0" err="1"/>
              <a:t>are</a:t>
            </a:r>
            <a:r>
              <a:rPr lang="sv-SE" dirty="0"/>
              <a:t> </a:t>
            </a:r>
            <a:r>
              <a:rPr lang="sv-SE" dirty="0" err="1"/>
              <a:t>actually</a:t>
            </a:r>
            <a:r>
              <a:rPr lang="sv-SE" dirty="0"/>
              <a:t> </a:t>
            </a:r>
            <a:r>
              <a:rPr lang="sv-SE" dirty="0" err="1"/>
              <a:t>compromised</a:t>
            </a:r>
            <a:endParaRPr lang="sv-SE" dirty="0"/>
          </a:p>
          <a:p>
            <a:r>
              <a:rPr lang="sv-SE" dirty="0"/>
              <a:t>Attack </a:t>
            </a:r>
            <a:r>
              <a:rPr lang="sv-SE" dirty="0" err="1"/>
              <a:t>walkthrough</a:t>
            </a:r>
            <a:r>
              <a:rPr lang="sv-SE" dirty="0"/>
              <a:t>: </a:t>
            </a:r>
            <a:r>
              <a:rPr lang="sv-SE" dirty="0" err="1"/>
              <a:t>credential</a:t>
            </a:r>
            <a:r>
              <a:rPr lang="sv-SE" dirty="0"/>
              <a:t> </a:t>
            </a:r>
            <a:r>
              <a:rPr lang="sv-SE" dirty="0" err="1"/>
              <a:t>theft</a:t>
            </a:r>
            <a:r>
              <a:rPr lang="sv-SE" dirty="0"/>
              <a:t> → lateral </a:t>
            </a:r>
            <a:r>
              <a:rPr lang="sv-SE" dirty="0" err="1"/>
              <a:t>movement</a:t>
            </a:r>
            <a:r>
              <a:rPr lang="sv-SE" dirty="0"/>
              <a:t> → </a:t>
            </a:r>
            <a:r>
              <a:rPr lang="sv-SE" dirty="0" err="1"/>
              <a:t>impact</a:t>
            </a:r>
            <a:endParaRPr lang="sv-SE" dirty="0"/>
          </a:p>
          <a:p>
            <a:r>
              <a:rPr lang="sv-SE" dirty="0" err="1"/>
              <a:t>Top</a:t>
            </a:r>
            <a:r>
              <a:rPr lang="sv-SE" dirty="0"/>
              <a:t> 10 </a:t>
            </a:r>
            <a:r>
              <a:rPr lang="sv-SE" dirty="0" err="1"/>
              <a:t>hardening</a:t>
            </a:r>
            <a:r>
              <a:rPr lang="sv-SE" dirty="0"/>
              <a:t> </a:t>
            </a:r>
            <a:r>
              <a:rPr lang="sv-SE" dirty="0" err="1"/>
              <a:t>controls</a:t>
            </a:r>
            <a:r>
              <a:rPr lang="sv-SE" dirty="0"/>
              <a:t> </a:t>
            </a:r>
            <a:r>
              <a:rPr lang="sv-SE" dirty="0" err="1"/>
              <a:t>that</a:t>
            </a:r>
            <a:r>
              <a:rPr lang="sv-SE" dirty="0"/>
              <a:t> </a:t>
            </a:r>
            <a:r>
              <a:rPr lang="sv-SE" dirty="0" err="1"/>
              <a:t>actually</a:t>
            </a:r>
            <a:r>
              <a:rPr lang="sv-SE" dirty="0"/>
              <a:t> </a:t>
            </a:r>
            <a:r>
              <a:rPr lang="sv-SE" dirty="0" err="1"/>
              <a:t>matter</a:t>
            </a:r>
            <a:r>
              <a:rPr lang="sv-SE" dirty="0"/>
              <a:t> </a:t>
            </a:r>
          </a:p>
          <a:p>
            <a:r>
              <a:rPr lang="sv-SE" dirty="0" err="1"/>
              <a:t>Client</a:t>
            </a:r>
            <a:r>
              <a:rPr lang="sv-SE" dirty="0"/>
              <a:t> </a:t>
            </a:r>
            <a:r>
              <a:rPr lang="sv-SE" dirty="0" err="1"/>
              <a:t>hardening</a:t>
            </a:r>
            <a:r>
              <a:rPr lang="sv-SE" dirty="0"/>
              <a:t> </a:t>
            </a:r>
            <a:r>
              <a:rPr lang="sv-SE" dirty="0" err="1"/>
              <a:t>playbook</a:t>
            </a:r>
            <a:r>
              <a:rPr lang="sv-SE" dirty="0"/>
              <a:t> + </a:t>
            </a:r>
            <a:r>
              <a:rPr lang="sv-SE" dirty="0" err="1"/>
              <a:t>examples</a:t>
            </a:r>
            <a:endParaRPr lang="sv-SE" dirty="0"/>
          </a:p>
          <a:p>
            <a:r>
              <a:rPr lang="sv-SE" dirty="0"/>
              <a:t>Server </a:t>
            </a:r>
            <a:r>
              <a:rPr lang="sv-SE" dirty="0" err="1"/>
              <a:t>hardening</a:t>
            </a:r>
            <a:r>
              <a:rPr lang="sv-SE" dirty="0"/>
              <a:t> </a:t>
            </a:r>
            <a:r>
              <a:rPr lang="sv-SE" dirty="0" err="1"/>
              <a:t>playbook</a:t>
            </a:r>
            <a:r>
              <a:rPr lang="sv-SE" dirty="0"/>
              <a:t> + </a:t>
            </a:r>
            <a:r>
              <a:rPr lang="sv-SE" dirty="0" err="1"/>
              <a:t>examples</a:t>
            </a:r>
            <a:endParaRPr lang="sv-SE" dirty="0"/>
          </a:p>
          <a:p>
            <a:r>
              <a:rPr lang="sv-SE" dirty="0" err="1"/>
              <a:t>Verification</a:t>
            </a:r>
            <a:r>
              <a:rPr lang="sv-SE" dirty="0"/>
              <a:t> + </a:t>
            </a:r>
            <a:r>
              <a:rPr lang="sv-SE" dirty="0" err="1"/>
              <a:t>rollout</a:t>
            </a:r>
            <a:r>
              <a:rPr lang="sv-SE" dirty="0"/>
              <a:t> </a:t>
            </a:r>
            <a:r>
              <a:rPr lang="sv-SE" dirty="0" err="1"/>
              <a:t>strategy</a:t>
            </a:r>
            <a:endParaRPr lang="sv-SE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2103120"/>
            <a:ext cx="4383251" cy="12926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>
                <a:solidFill>
                  <a:srgbClr val="FFFFFF"/>
                </a:solidFill>
                <a:latin typeface="Segoe UI Semibold"/>
              </a:defRPr>
            </a:pPr>
            <a:r>
              <a:rPr dirty="0"/>
              <a:t>Threat model</a:t>
            </a:r>
          </a:p>
          <a:p>
            <a:pPr>
              <a:defRPr sz="2400">
                <a:solidFill>
                  <a:srgbClr val="E5E7EB"/>
                </a:solidFill>
                <a:latin typeface="Segoe UI"/>
              </a:defRPr>
            </a:pPr>
            <a:r>
              <a:rPr dirty="0"/>
              <a:t>What attackers do in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>
            <a:normAutofit fontScale="90000"/>
          </a:bodyPr>
          <a:lstStyle/>
          <a:p>
            <a:r>
              <a:rPr lang="en-US"/>
              <a:t>Modern reality: fewer exploits, more abuse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/>
          <a:lstStyle/>
          <a:p>
            <a:r>
              <a:rPr lang="sv-SE" dirty="0"/>
              <a:t>Initial access: </a:t>
            </a:r>
            <a:endParaRPr lang="en-SE" dirty="0"/>
          </a:p>
          <a:p>
            <a:pPr lvl="1"/>
            <a:r>
              <a:rPr lang="sv-SE" dirty="0" err="1"/>
              <a:t>phishing</a:t>
            </a:r>
            <a:r>
              <a:rPr lang="sv-SE" dirty="0"/>
              <a:t>, token </a:t>
            </a:r>
            <a:r>
              <a:rPr lang="sv-SE" dirty="0" err="1"/>
              <a:t>theft</a:t>
            </a:r>
            <a:r>
              <a:rPr lang="sv-SE" dirty="0"/>
              <a:t>, </a:t>
            </a:r>
            <a:r>
              <a:rPr lang="sv-SE" dirty="0" err="1"/>
              <a:t>exposed</a:t>
            </a:r>
            <a:r>
              <a:rPr lang="sv-SE" dirty="0"/>
              <a:t> services</a:t>
            </a:r>
            <a:r>
              <a:rPr lang="en-SE" dirty="0"/>
              <a:t>,</a:t>
            </a:r>
            <a:r>
              <a:rPr lang="sv-SE" dirty="0"/>
              <a:t> social </a:t>
            </a:r>
            <a:r>
              <a:rPr lang="sv-SE" dirty="0" err="1"/>
              <a:t>engineering</a:t>
            </a:r>
            <a:endParaRPr lang="sv-SE" dirty="0"/>
          </a:p>
          <a:p>
            <a:r>
              <a:rPr lang="sv-SE" dirty="0" err="1"/>
              <a:t>Privilege</a:t>
            </a:r>
            <a:r>
              <a:rPr lang="sv-SE" dirty="0"/>
              <a:t>: </a:t>
            </a:r>
            <a:endParaRPr lang="en-SE" dirty="0"/>
          </a:p>
          <a:p>
            <a:pPr lvl="1"/>
            <a:r>
              <a:rPr lang="sv-SE" dirty="0" err="1"/>
              <a:t>local</a:t>
            </a:r>
            <a:r>
              <a:rPr lang="sv-SE" dirty="0"/>
              <a:t> </a:t>
            </a:r>
            <a:r>
              <a:rPr lang="sv-SE" dirty="0" err="1"/>
              <a:t>admin</a:t>
            </a:r>
            <a:r>
              <a:rPr lang="sv-SE" dirty="0"/>
              <a:t> </a:t>
            </a:r>
            <a:r>
              <a:rPr lang="sv-SE" dirty="0" err="1"/>
              <a:t>sprawl</a:t>
            </a:r>
            <a:r>
              <a:rPr lang="sv-SE" dirty="0"/>
              <a:t>, </a:t>
            </a:r>
            <a:r>
              <a:rPr lang="sv-SE" dirty="0" err="1"/>
              <a:t>misconfigurations</a:t>
            </a:r>
            <a:r>
              <a:rPr lang="sv-SE" dirty="0"/>
              <a:t>, </a:t>
            </a:r>
            <a:r>
              <a:rPr lang="sv-SE" dirty="0" err="1"/>
              <a:t>delegated</a:t>
            </a:r>
            <a:r>
              <a:rPr lang="sv-SE" dirty="0"/>
              <a:t> </a:t>
            </a:r>
            <a:r>
              <a:rPr lang="sv-SE" dirty="0" err="1"/>
              <a:t>rights</a:t>
            </a:r>
            <a:endParaRPr lang="sv-SE" dirty="0"/>
          </a:p>
          <a:p>
            <a:r>
              <a:rPr lang="sv-SE" dirty="0"/>
              <a:t>Lateral </a:t>
            </a:r>
            <a:r>
              <a:rPr lang="sv-SE" dirty="0" err="1"/>
              <a:t>movement</a:t>
            </a:r>
            <a:r>
              <a:rPr lang="sv-SE" dirty="0"/>
              <a:t>: </a:t>
            </a:r>
            <a:endParaRPr lang="en-SE" dirty="0"/>
          </a:p>
          <a:p>
            <a:pPr lvl="1"/>
            <a:r>
              <a:rPr lang="sv-SE" dirty="0"/>
              <a:t>SMB/RPC, RDP, </a:t>
            </a:r>
            <a:r>
              <a:rPr lang="sv-SE" dirty="0" err="1"/>
              <a:t>WinRM</a:t>
            </a:r>
            <a:r>
              <a:rPr lang="sv-SE" dirty="0"/>
              <a:t>, </a:t>
            </a:r>
            <a:r>
              <a:rPr lang="sv-SE" dirty="0" err="1"/>
              <a:t>scheduled</a:t>
            </a:r>
            <a:r>
              <a:rPr lang="sv-SE" dirty="0"/>
              <a:t> tasks</a:t>
            </a:r>
          </a:p>
          <a:p>
            <a:r>
              <a:rPr lang="sv-SE" dirty="0" err="1"/>
              <a:t>Impact</a:t>
            </a:r>
            <a:r>
              <a:rPr lang="sv-SE" dirty="0"/>
              <a:t>: </a:t>
            </a:r>
            <a:endParaRPr lang="en-SE" dirty="0"/>
          </a:p>
          <a:p>
            <a:pPr lvl="1"/>
            <a:r>
              <a:rPr lang="sv-SE" dirty="0" err="1"/>
              <a:t>ransomware</a:t>
            </a:r>
            <a:r>
              <a:rPr lang="sv-SE" dirty="0"/>
              <a:t>, data </a:t>
            </a:r>
            <a:r>
              <a:rPr lang="sv-SE" dirty="0" err="1"/>
              <a:t>theft</a:t>
            </a:r>
            <a:r>
              <a:rPr lang="sv-SE" dirty="0"/>
              <a:t>, business </a:t>
            </a:r>
            <a:r>
              <a:rPr lang="sv-SE" dirty="0" err="1"/>
              <a:t>disruption</a:t>
            </a:r>
            <a:endParaRPr lang="sv-SE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>
            <a:normAutofit fontScale="90000"/>
          </a:bodyPr>
          <a:lstStyle/>
          <a:p>
            <a:r>
              <a:rPr lang="en-US"/>
              <a:t>Modern reality: fewer exploits, more abuse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/>
          <a:lstStyle/>
          <a:p>
            <a:r>
              <a:rPr lang="sv-SE" dirty="0" err="1"/>
              <a:t>Hardening</a:t>
            </a:r>
            <a:r>
              <a:rPr lang="sv-SE" dirty="0"/>
              <a:t> </a:t>
            </a:r>
            <a:r>
              <a:rPr lang="sv-SE" dirty="0" err="1"/>
              <a:t>wins</a:t>
            </a:r>
            <a:r>
              <a:rPr lang="sv-SE" dirty="0"/>
              <a:t> </a:t>
            </a:r>
            <a:r>
              <a:rPr lang="sv-SE" dirty="0" err="1"/>
              <a:t>when</a:t>
            </a:r>
            <a:r>
              <a:rPr lang="sv-SE" dirty="0"/>
              <a:t> </a:t>
            </a:r>
            <a:endParaRPr lang="en-SE" dirty="0"/>
          </a:p>
          <a:p>
            <a:pPr lvl="1"/>
            <a:r>
              <a:rPr lang="sv-SE" dirty="0"/>
              <a:t>it </a:t>
            </a:r>
            <a:r>
              <a:rPr lang="sv-SE" dirty="0" err="1"/>
              <a:t>removes</a:t>
            </a:r>
            <a:r>
              <a:rPr lang="sv-SE" dirty="0"/>
              <a:t> </a:t>
            </a:r>
            <a:r>
              <a:rPr lang="sv-SE" dirty="0" err="1"/>
              <a:t>paths</a:t>
            </a:r>
            <a:r>
              <a:rPr lang="sv-SE" dirty="0"/>
              <a:t> and </a:t>
            </a:r>
            <a:r>
              <a:rPr lang="sv-SE" dirty="0" err="1"/>
              <a:t>reduces</a:t>
            </a:r>
            <a:r>
              <a:rPr lang="sv-SE" dirty="0"/>
              <a:t> blast </a:t>
            </a:r>
            <a:r>
              <a:rPr lang="sv-SE" dirty="0" err="1"/>
              <a:t>radius</a:t>
            </a:r>
            <a:endParaRPr lang="en-SE" dirty="0"/>
          </a:p>
          <a:p>
            <a:pPr lvl="2"/>
            <a:r>
              <a:rPr lang="sv-SE" dirty="0"/>
              <a:t>I</a:t>
            </a:r>
            <a:r>
              <a:rPr lang="en-SE" dirty="0"/>
              <a:t>t slows the attack down</a:t>
            </a:r>
          </a:p>
          <a:p>
            <a:pPr lvl="1"/>
            <a:r>
              <a:rPr lang="sv-SE" dirty="0"/>
              <a:t>I</a:t>
            </a:r>
            <a:r>
              <a:rPr lang="en-SE" dirty="0"/>
              <a:t>t give you the chance to fight back</a:t>
            </a:r>
          </a:p>
          <a:p>
            <a:pPr lvl="2"/>
            <a:r>
              <a:rPr lang="sv-SE" dirty="0"/>
              <a:t>E</a:t>
            </a:r>
            <a:r>
              <a:rPr lang="en-SE" dirty="0"/>
              <a:t>dr/</a:t>
            </a:r>
            <a:r>
              <a:rPr lang="en-SE" dirty="0" err="1"/>
              <a:t>Xdr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2285829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sv-SE"/>
              <a:t>Principles of effective hardening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/>
          <a:lstStyle/>
          <a:p>
            <a:r>
              <a:rPr lang="sv-SE"/>
              <a:t>Reduce attack surface (disable/remove what you don’t need)</a:t>
            </a:r>
          </a:p>
          <a:p>
            <a:r>
              <a:rPr lang="sv-SE"/>
              <a:t>Reduce privilege (least privilege, no standing admin)</a:t>
            </a:r>
          </a:p>
          <a:p>
            <a:r>
              <a:rPr lang="sv-SE"/>
              <a:t>Reduce credential exposure (protect secrets, isolate, limit delegation)</a:t>
            </a:r>
          </a:p>
          <a:p>
            <a:r>
              <a:rPr lang="sv-SE"/>
              <a:t>Constrain execution (application control + script controls)</a:t>
            </a:r>
          </a:p>
          <a:p>
            <a:r>
              <a:rPr lang="sv-SE"/>
              <a:t>Instrument and verify (logs, alerts, drift control)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2103120"/>
            <a:ext cx="7017177" cy="12926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>
                <a:solidFill>
                  <a:srgbClr val="FFFFFF"/>
                </a:solidFill>
                <a:latin typeface="Segoe UI Semibold"/>
              </a:defRPr>
            </a:pPr>
            <a:r>
              <a:rPr dirty="0"/>
              <a:t>Attack walkthrough</a:t>
            </a:r>
          </a:p>
          <a:p>
            <a:pPr>
              <a:defRPr sz="2400">
                <a:solidFill>
                  <a:srgbClr val="E5E7EB"/>
                </a:solidFill>
                <a:latin typeface="Segoe UI"/>
              </a:defRPr>
            </a:pPr>
            <a:r>
              <a:rPr dirty="0"/>
              <a:t>Credential theft → Lateral movement → Mitigation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967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Segoe UI"/>
              </a:defRPr>
            </a:pPr>
            <a:r>
              <a:t>MMSMOA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>
            <a:normAutofit fontScale="90000"/>
          </a:bodyPr>
          <a:lstStyle/>
          <a:p>
            <a:r>
              <a:rPr lang="en-US"/>
              <a:t>Attack path: from initial access to domain impact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3200400"/>
            <a:ext cx="10911535" cy="73152"/>
          </a:xfrm>
          <a:prstGeom prst="rect">
            <a:avLst/>
          </a:prstGeom>
          <a:solidFill>
            <a:srgbClr val="D1D5DB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08660" y="1828800"/>
            <a:ext cx="1681429" cy="105156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5820" y="1920240"/>
            <a:ext cx="140710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4F9F"/>
                </a:solidFill>
                <a:latin typeface="Segoe UI Semibold"/>
              </a:defRPr>
            </a:pPr>
            <a:r>
              <a:t>Initial access</a:t>
            </a:r>
          </a:p>
          <a:p>
            <a:pPr>
              <a:defRPr sz="1300">
                <a:solidFill>
                  <a:srgbClr val="111827"/>
                </a:solidFill>
                <a:latin typeface="Segoe UI"/>
              </a:defRPr>
            </a:pPr>
            <a:r>
              <a:t>Phish / drive-by</a:t>
            </a:r>
            <a:br/>
            <a:r>
              <a:t>trusted app abuse</a:t>
            </a:r>
          </a:p>
        </p:txBody>
      </p:sp>
      <p:sp>
        <p:nvSpPr>
          <p:cNvPr id="6" name="Oval 5"/>
          <p:cNvSpPr/>
          <p:nvPr/>
        </p:nvSpPr>
        <p:spPr>
          <a:xfrm>
            <a:off x="1439646" y="3127248"/>
            <a:ext cx="219456" cy="219456"/>
          </a:xfrm>
          <a:prstGeom prst="ellipse">
            <a:avLst/>
          </a:prstGeom>
          <a:solidFill>
            <a:srgbClr val="004F9F"/>
          </a:solidFill>
          <a:ln>
            <a:solidFill>
              <a:srgbClr val="004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527249" y="1828800"/>
            <a:ext cx="1681429" cy="105156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664409" y="1920240"/>
            <a:ext cx="140710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4F9F"/>
                </a:solidFill>
                <a:latin typeface="Segoe UI Semibold"/>
              </a:defRPr>
            </a:pPr>
            <a:r>
              <a:t>Foothold</a:t>
            </a:r>
          </a:p>
          <a:p>
            <a:pPr>
              <a:defRPr sz="1300">
                <a:solidFill>
                  <a:srgbClr val="111827"/>
                </a:solidFill>
                <a:latin typeface="Segoe UI"/>
              </a:defRPr>
            </a:pPr>
            <a:r>
              <a:t>LOLBins</a:t>
            </a:r>
            <a:br/>
            <a:r>
              <a:t>PowerShell/WMI</a:t>
            </a:r>
          </a:p>
        </p:txBody>
      </p:sp>
      <p:sp>
        <p:nvSpPr>
          <p:cNvPr id="9" name="Oval 8"/>
          <p:cNvSpPr/>
          <p:nvPr/>
        </p:nvSpPr>
        <p:spPr>
          <a:xfrm>
            <a:off x="3258235" y="3127248"/>
            <a:ext cx="219456" cy="219456"/>
          </a:xfrm>
          <a:prstGeom prst="ellipse">
            <a:avLst/>
          </a:prstGeom>
          <a:solidFill>
            <a:srgbClr val="004F9F"/>
          </a:solidFill>
          <a:ln>
            <a:solidFill>
              <a:srgbClr val="004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345838" y="1828800"/>
            <a:ext cx="1681429" cy="105156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2998" y="1920240"/>
            <a:ext cx="140710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4F9F"/>
                </a:solidFill>
                <a:latin typeface="Segoe UI Semibold"/>
              </a:defRPr>
            </a:pPr>
            <a:r>
              <a:t>Credential theft</a:t>
            </a:r>
          </a:p>
          <a:p>
            <a:pPr>
              <a:defRPr sz="1300">
                <a:solidFill>
                  <a:srgbClr val="111827"/>
                </a:solidFill>
                <a:latin typeface="Segoe UI"/>
              </a:defRPr>
            </a:pPr>
            <a:r>
              <a:t>Tokens/LSASS</a:t>
            </a:r>
            <a:br/>
            <a:r>
              <a:t>Saved creds</a:t>
            </a:r>
          </a:p>
        </p:txBody>
      </p:sp>
      <p:sp>
        <p:nvSpPr>
          <p:cNvPr id="12" name="Oval 11"/>
          <p:cNvSpPr/>
          <p:nvPr/>
        </p:nvSpPr>
        <p:spPr>
          <a:xfrm>
            <a:off x="5076824" y="3127248"/>
            <a:ext cx="219456" cy="219456"/>
          </a:xfrm>
          <a:prstGeom prst="ellipse">
            <a:avLst/>
          </a:prstGeom>
          <a:solidFill>
            <a:srgbClr val="004F9F"/>
          </a:solidFill>
          <a:ln>
            <a:solidFill>
              <a:srgbClr val="004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164427" y="1828800"/>
            <a:ext cx="1681429" cy="105156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1587" y="1920240"/>
            <a:ext cx="140710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4F9F"/>
                </a:solidFill>
                <a:latin typeface="Segoe UI Semibold"/>
              </a:defRPr>
            </a:pPr>
            <a:r>
              <a:t>Lateral movement</a:t>
            </a:r>
          </a:p>
          <a:p>
            <a:pPr>
              <a:defRPr sz="1300">
                <a:solidFill>
                  <a:srgbClr val="111827"/>
                </a:solidFill>
                <a:latin typeface="Segoe UI"/>
              </a:defRPr>
            </a:pPr>
            <a:r>
              <a:t>SMB/RPC</a:t>
            </a:r>
            <a:br/>
            <a:r>
              <a:t>RDP/WinRM</a:t>
            </a:r>
          </a:p>
        </p:txBody>
      </p:sp>
      <p:sp>
        <p:nvSpPr>
          <p:cNvPr id="15" name="Oval 14"/>
          <p:cNvSpPr/>
          <p:nvPr/>
        </p:nvSpPr>
        <p:spPr>
          <a:xfrm>
            <a:off x="6895414" y="3127248"/>
            <a:ext cx="219456" cy="219456"/>
          </a:xfrm>
          <a:prstGeom prst="ellipse">
            <a:avLst/>
          </a:prstGeom>
          <a:solidFill>
            <a:srgbClr val="004F9F"/>
          </a:solidFill>
          <a:ln>
            <a:solidFill>
              <a:srgbClr val="004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983016" y="1828800"/>
            <a:ext cx="1681429" cy="105156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20176" y="1920240"/>
            <a:ext cx="140710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4F9F"/>
                </a:solidFill>
                <a:latin typeface="Segoe UI Semibold"/>
              </a:defRPr>
            </a:pPr>
            <a:r>
              <a:t>Privilege escalation</a:t>
            </a:r>
          </a:p>
          <a:p>
            <a:pPr>
              <a:defRPr sz="1300">
                <a:solidFill>
                  <a:srgbClr val="111827"/>
                </a:solidFill>
                <a:latin typeface="Segoe UI"/>
              </a:defRPr>
            </a:pPr>
            <a:r>
              <a:t>Service creds</a:t>
            </a:r>
            <a:br/>
            <a:r>
              <a:t>Delegation</a:t>
            </a:r>
          </a:p>
        </p:txBody>
      </p:sp>
      <p:sp>
        <p:nvSpPr>
          <p:cNvPr id="18" name="Oval 17"/>
          <p:cNvSpPr/>
          <p:nvPr/>
        </p:nvSpPr>
        <p:spPr>
          <a:xfrm>
            <a:off x="8714003" y="3127248"/>
            <a:ext cx="219456" cy="219456"/>
          </a:xfrm>
          <a:prstGeom prst="ellipse">
            <a:avLst/>
          </a:prstGeom>
          <a:solidFill>
            <a:srgbClr val="004F9F"/>
          </a:solidFill>
          <a:ln>
            <a:solidFill>
              <a:srgbClr val="004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801605" y="1828800"/>
            <a:ext cx="1681429" cy="105156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938765" y="1920240"/>
            <a:ext cx="140710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4F9F"/>
                </a:solidFill>
                <a:latin typeface="Segoe UI Semibold"/>
              </a:defRPr>
            </a:pPr>
            <a:r>
              <a:t>Impact</a:t>
            </a:r>
          </a:p>
          <a:p>
            <a:pPr>
              <a:defRPr sz="1300">
                <a:solidFill>
                  <a:srgbClr val="111827"/>
                </a:solidFill>
                <a:latin typeface="Segoe UI"/>
              </a:defRPr>
            </a:pPr>
            <a:r>
              <a:t>Ransomware</a:t>
            </a:r>
            <a:br/>
            <a:r>
              <a:t>Data theft</a:t>
            </a:r>
          </a:p>
        </p:txBody>
      </p:sp>
      <p:sp>
        <p:nvSpPr>
          <p:cNvPr id="21" name="Oval 20"/>
          <p:cNvSpPr/>
          <p:nvPr/>
        </p:nvSpPr>
        <p:spPr>
          <a:xfrm>
            <a:off x="10532592" y="3127248"/>
            <a:ext cx="219456" cy="219456"/>
          </a:xfrm>
          <a:prstGeom prst="ellipse">
            <a:avLst/>
          </a:prstGeom>
          <a:solidFill>
            <a:srgbClr val="004F9F"/>
          </a:solidFill>
          <a:ln>
            <a:solidFill>
              <a:srgbClr val="004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40560" y="4480560"/>
            <a:ext cx="31089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05152" y="4590288"/>
            <a:ext cx="2779776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1827"/>
                </a:solidFill>
                <a:latin typeface="Segoe UI Semibold"/>
              </a:defRPr>
            </a:pPr>
            <a:r>
              <a:t>Constrain execution</a:t>
            </a:r>
          </a:p>
          <a:p>
            <a:pPr>
              <a:defRPr sz="1200">
                <a:solidFill>
                  <a:srgbClr val="6B7280"/>
                </a:solidFill>
                <a:latin typeface="Segoe UI"/>
              </a:defRPr>
            </a:pPr>
            <a:r>
              <a:t>WDAC/AppLocker • ASR • SmartScreen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68444" y="4480560"/>
            <a:ext cx="31089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833036" y="4590288"/>
            <a:ext cx="2779776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1827"/>
                </a:solidFill>
                <a:latin typeface="Segoe UI Semibold"/>
              </a:defRPr>
            </a:pPr>
            <a:r>
              <a:t>Protect credentials</a:t>
            </a:r>
          </a:p>
          <a:p>
            <a:pPr>
              <a:defRPr sz="1200">
                <a:solidFill>
                  <a:srgbClr val="6B7280"/>
                </a:solidFill>
                <a:latin typeface="Segoe UI"/>
              </a:defRPr>
            </a:pPr>
            <a:r>
              <a:t>Credential Guard • LAPS • LSASS protections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96328" y="4480560"/>
            <a:ext cx="31089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60920" y="4590288"/>
            <a:ext cx="2779776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1827"/>
                </a:solidFill>
                <a:latin typeface="Segoe UI Semibold"/>
              </a:defRPr>
            </a:pPr>
            <a:r>
              <a:t>Restrict admin channels</a:t>
            </a:r>
          </a:p>
          <a:p>
            <a:pPr>
              <a:defRPr sz="1200">
                <a:solidFill>
                  <a:srgbClr val="6B7280"/>
                </a:solidFill>
                <a:latin typeface="Segoe UI"/>
              </a:defRPr>
            </a:pPr>
            <a:r>
              <a:t>Firewall • RDP/WinRM scope • SMB hardening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7750" y="4480560"/>
            <a:ext cx="31089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852342" y="4590288"/>
            <a:ext cx="2779776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1827"/>
                </a:solidFill>
                <a:latin typeface="Segoe UI Semibold"/>
              </a:defRPr>
            </a:pPr>
            <a:r>
              <a:t>Contain blast radius</a:t>
            </a:r>
          </a:p>
          <a:p>
            <a:pPr>
              <a:defRPr sz="1200">
                <a:solidFill>
                  <a:srgbClr val="6B7280"/>
                </a:solidFill>
                <a:latin typeface="Segoe UI"/>
              </a:defRPr>
            </a:pPr>
            <a:r>
              <a:t>Tiering • Segmentation • JIT/JEA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sv-SE"/>
              <a:t>Walkthrough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/>
          <a:lstStyle/>
          <a:p>
            <a:r>
              <a:rPr lang="en-US" dirty="0"/>
              <a:t>Scenario: Attacker land on workstation via social engineering/teams call</a:t>
            </a:r>
          </a:p>
          <a:p>
            <a:r>
              <a:rPr lang="en-US" dirty="0"/>
              <a:t>Goal: reach a server, steal higher-privilege credentials, achieve domain impact</a:t>
            </a:r>
          </a:p>
          <a:p>
            <a:r>
              <a:rPr lang="en-US" dirty="0"/>
              <a:t>We map each step to concrete Windows mitigations</a:t>
            </a:r>
          </a:p>
          <a:p>
            <a:r>
              <a:rPr lang="en-US" dirty="0"/>
              <a:t>Key: stop the chain at multiple points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en-US"/>
              <a:t>Step 1: Foothold on a workstation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/>
          <a:lstStyle/>
          <a:p>
            <a:r>
              <a:rPr lang="en-US" dirty="0"/>
              <a:t>User runs a </a:t>
            </a:r>
            <a:r>
              <a:rPr lang="sv-SE" dirty="0"/>
              <a:t>RMM </a:t>
            </a:r>
            <a:r>
              <a:rPr lang="sv-SE" dirty="0" err="1"/>
              <a:t>tool</a:t>
            </a:r>
            <a:r>
              <a:rPr lang="en-SE" dirty="0"/>
              <a:t>s </a:t>
            </a:r>
            <a:r>
              <a:rPr lang="en-US" dirty="0"/>
              <a:t>or malicious script</a:t>
            </a:r>
            <a:r>
              <a:rPr lang="en-SE" dirty="0"/>
              <a:t> wit persistence</a:t>
            </a:r>
            <a:endParaRPr lang="en-US" dirty="0"/>
          </a:p>
          <a:p>
            <a:r>
              <a:rPr lang="en-US" dirty="0"/>
              <a:t>Attacker uses built-in tools (PowerShell, WMI, rundll32)</a:t>
            </a:r>
          </a:p>
          <a:p>
            <a:r>
              <a:rPr lang="en-US" dirty="0"/>
              <a:t>Persistence via scheduled task / Run keys / service </a:t>
            </a:r>
            <a:r>
              <a:rPr lang="en-US" dirty="0" err="1"/>
              <a:t>misconfig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sv-SE"/>
              <a:t>Mitigations for Step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/>
          <a:lstStyle/>
          <a:p>
            <a:r>
              <a:rPr lang="en-US"/>
              <a:t>ASR rules to block common abuse</a:t>
            </a:r>
          </a:p>
          <a:p>
            <a:r>
              <a:rPr lang="en-US"/>
              <a:t>WDAC (recommended) or AppLocker allowlisting</a:t>
            </a:r>
          </a:p>
          <a:p>
            <a:r>
              <a:rPr lang="en-US"/>
              <a:t>PowerShell logging + constrain script abuse</a:t>
            </a:r>
          </a:p>
          <a:p>
            <a:r>
              <a:rPr lang="en-US"/>
              <a:t>Disable legacy scripting hosts where not needed (wscript/cscript)</a:t>
            </a:r>
          </a:p>
          <a:p>
            <a:r>
              <a:rPr lang="en-US"/>
              <a:t>Reduce local admin; use JEA for admin tasks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sv-SE"/>
              <a:t>Step 2: Credential access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>
            <a:normAutofit fontScale="92500" lnSpcReduction="10000"/>
          </a:bodyPr>
          <a:lstStyle/>
          <a:p>
            <a:r>
              <a:rPr lang="sv-SE" dirty="0" err="1"/>
              <a:t>Harvest</a:t>
            </a:r>
            <a:r>
              <a:rPr lang="sv-SE" dirty="0"/>
              <a:t> </a:t>
            </a:r>
            <a:r>
              <a:rPr lang="sv-SE" dirty="0" err="1"/>
              <a:t>cached</a:t>
            </a:r>
            <a:r>
              <a:rPr lang="sv-SE" dirty="0"/>
              <a:t> </a:t>
            </a:r>
            <a:r>
              <a:rPr lang="sv-SE" dirty="0" err="1"/>
              <a:t>creds</a:t>
            </a:r>
            <a:r>
              <a:rPr lang="sv-SE" dirty="0"/>
              <a:t> / tokens</a:t>
            </a:r>
          </a:p>
          <a:p>
            <a:r>
              <a:rPr lang="sv-SE" dirty="0" err="1"/>
              <a:t>Steal</a:t>
            </a:r>
            <a:r>
              <a:rPr lang="sv-SE" dirty="0"/>
              <a:t> </a:t>
            </a:r>
            <a:r>
              <a:rPr lang="sv-SE" dirty="0" err="1"/>
              <a:t>hashes</a:t>
            </a:r>
            <a:r>
              <a:rPr lang="sv-SE" dirty="0"/>
              <a:t> / tickets</a:t>
            </a:r>
          </a:p>
          <a:p>
            <a:r>
              <a:rPr lang="sv-SE" dirty="0"/>
              <a:t>Abuse </a:t>
            </a:r>
            <a:r>
              <a:rPr lang="sv-SE" dirty="0" err="1"/>
              <a:t>saved</a:t>
            </a:r>
            <a:r>
              <a:rPr lang="sv-SE" dirty="0"/>
              <a:t> RDP </a:t>
            </a:r>
            <a:r>
              <a:rPr lang="sv-SE" dirty="0" err="1"/>
              <a:t>creds</a:t>
            </a:r>
            <a:r>
              <a:rPr lang="sv-SE" dirty="0"/>
              <a:t>, browser </a:t>
            </a:r>
            <a:r>
              <a:rPr lang="sv-SE" dirty="0" err="1"/>
              <a:t>passwords</a:t>
            </a:r>
            <a:r>
              <a:rPr lang="sv-SE" dirty="0"/>
              <a:t>, </a:t>
            </a:r>
            <a:r>
              <a:rPr lang="en-SE" dirty="0"/>
              <a:t>*</a:t>
            </a:r>
            <a:r>
              <a:rPr lang="sv-SE" dirty="0"/>
              <a:t>DPAPI </a:t>
            </a:r>
            <a:r>
              <a:rPr lang="sv-SE" dirty="0" err="1"/>
              <a:t>secrets</a:t>
            </a:r>
            <a:endParaRPr lang="sv-SE" dirty="0"/>
          </a:p>
          <a:p>
            <a:r>
              <a:rPr lang="sv-SE" dirty="0"/>
              <a:t>Ta</a:t>
            </a:r>
            <a:r>
              <a:rPr lang="en-SE" dirty="0"/>
              <a:t>r</a:t>
            </a:r>
            <a:r>
              <a:rPr lang="sv-SE" dirty="0"/>
              <a:t>get: </a:t>
            </a:r>
            <a:r>
              <a:rPr lang="sv-SE" dirty="0" err="1"/>
              <a:t>local</a:t>
            </a:r>
            <a:r>
              <a:rPr lang="sv-SE" dirty="0"/>
              <a:t> </a:t>
            </a:r>
            <a:r>
              <a:rPr lang="sv-SE" dirty="0" err="1"/>
              <a:t>admin</a:t>
            </a:r>
            <a:r>
              <a:rPr lang="sv-SE" dirty="0"/>
              <a:t> </a:t>
            </a:r>
            <a:r>
              <a:rPr lang="sv-SE" dirty="0" err="1"/>
              <a:t>creds</a:t>
            </a:r>
            <a:r>
              <a:rPr lang="sv-SE" dirty="0"/>
              <a:t> </a:t>
            </a:r>
            <a:r>
              <a:rPr lang="sv-SE" dirty="0" err="1"/>
              <a:t>reused</a:t>
            </a:r>
            <a:r>
              <a:rPr lang="sv-SE" dirty="0"/>
              <a:t> </a:t>
            </a:r>
            <a:r>
              <a:rPr lang="sv-SE" dirty="0" err="1"/>
              <a:t>elsewhere</a:t>
            </a:r>
            <a:br>
              <a:rPr lang="en-SE" dirty="0"/>
            </a:br>
            <a:br>
              <a:rPr lang="en-SE" dirty="0"/>
            </a:br>
            <a:br>
              <a:rPr lang="en-SE" dirty="0"/>
            </a:br>
            <a:br>
              <a:rPr lang="en-SE" dirty="0"/>
            </a:br>
            <a:br>
              <a:rPr lang="en-SE" dirty="0"/>
            </a:br>
            <a:br>
              <a:rPr lang="en-SE" dirty="0"/>
            </a:br>
            <a:br>
              <a:rPr lang="en-SE" dirty="0"/>
            </a:br>
            <a:r>
              <a:rPr lang="en-SE" dirty="0"/>
              <a:t>*</a:t>
            </a:r>
            <a:r>
              <a:rPr lang="en-US" dirty="0"/>
              <a:t>DPAPI (Data Protection API) is a built-in Windows mechanism used to securely store sensitive data like passwords and keys without developers having to manage encryption keys themselves.</a:t>
            </a:r>
            <a:endParaRPr lang="sv-SE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sv-SE"/>
              <a:t>Mitigations for Step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>
            <a:normAutofit fontScale="92500" lnSpcReduction="20000"/>
          </a:bodyPr>
          <a:lstStyle/>
          <a:p>
            <a:r>
              <a:rPr lang="sv-SE" dirty="0" err="1"/>
              <a:t>Credential</a:t>
            </a:r>
            <a:r>
              <a:rPr lang="sv-SE" dirty="0"/>
              <a:t> </a:t>
            </a:r>
            <a:r>
              <a:rPr lang="sv-SE" dirty="0" err="1"/>
              <a:t>Guard</a:t>
            </a:r>
            <a:r>
              <a:rPr lang="sv-SE" dirty="0"/>
              <a:t> </a:t>
            </a:r>
            <a:r>
              <a:rPr lang="sv-SE" dirty="0" err="1"/>
              <a:t>where</a:t>
            </a:r>
            <a:r>
              <a:rPr lang="sv-SE" dirty="0"/>
              <a:t> </a:t>
            </a:r>
            <a:r>
              <a:rPr lang="sv-SE" dirty="0" err="1"/>
              <a:t>supported</a:t>
            </a:r>
            <a:endParaRPr lang="sv-SE" dirty="0"/>
          </a:p>
          <a:p>
            <a:r>
              <a:rPr lang="en-SE" dirty="0"/>
              <a:t>*</a:t>
            </a:r>
            <a:r>
              <a:rPr lang="sv-SE" dirty="0"/>
              <a:t>LSASS </a:t>
            </a:r>
            <a:r>
              <a:rPr lang="sv-SE" dirty="0" err="1"/>
              <a:t>protections</a:t>
            </a:r>
            <a:r>
              <a:rPr lang="sv-SE" dirty="0"/>
              <a:t> (</a:t>
            </a:r>
            <a:r>
              <a:rPr lang="sv-SE" dirty="0" err="1"/>
              <a:t>RunAsPPL</a:t>
            </a:r>
            <a:r>
              <a:rPr lang="sv-SE" dirty="0"/>
              <a:t>) + </a:t>
            </a:r>
            <a:r>
              <a:rPr lang="sv-SE" dirty="0" err="1"/>
              <a:t>disable</a:t>
            </a:r>
            <a:r>
              <a:rPr lang="sv-SE" dirty="0"/>
              <a:t> </a:t>
            </a:r>
            <a:r>
              <a:rPr lang="sv-SE" dirty="0" err="1"/>
              <a:t>WDigest</a:t>
            </a:r>
            <a:r>
              <a:rPr lang="sv-SE" dirty="0"/>
              <a:t> </a:t>
            </a:r>
            <a:r>
              <a:rPr lang="sv-SE" dirty="0" err="1"/>
              <a:t>plaintext</a:t>
            </a:r>
            <a:r>
              <a:rPr lang="sv-SE" dirty="0"/>
              <a:t> </a:t>
            </a:r>
            <a:r>
              <a:rPr lang="sv-SE" dirty="0" err="1"/>
              <a:t>creds</a:t>
            </a:r>
            <a:endParaRPr lang="sv-SE" dirty="0"/>
          </a:p>
          <a:p>
            <a:r>
              <a:rPr lang="sv-SE" dirty="0"/>
              <a:t>Windows LAPS to </a:t>
            </a:r>
            <a:r>
              <a:rPr lang="sv-SE" dirty="0" err="1"/>
              <a:t>eliminate</a:t>
            </a:r>
            <a:r>
              <a:rPr lang="sv-SE" dirty="0"/>
              <a:t> </a:t>
            </a:r>
            <a:r>
              <a:rPr lang="sv-SE" dirty="0" err="1"/>
              <a:t>local</a:t>
            </a:r>
            <a:r>
              <a:rPr lang="sv-SE" dirty="0"/>
              <a:t> </a:t>
            </a:r>
            <a:r>
              <a:rPr lang="sv-SE" dirty="0" err="1"/>
              <a:t>admin</a:t>
            </a:r>
            <a:r>
              <a:rPr lang="sv-SE" dirty="0"/>
              <a:t> </a:t>
            </a:r>
            <a:r>
              <a:rPr lang="sv-SE" dirty="0" err="1"/>
              <a:t>password</a:t>
            </a:r>
            <a:r>
              <a:rPr lang="sv-SE" dirty="0"/>
              <a:t> </a:t>
            </a:r>
            <a:r>
              <a:rPr lang="sv-SE" dirty="0" err="1"/>
              <a:t>reuse</a:t>
            </a:r>
            <a:endParaRPr lang="sv-SE" dirty="0"/>
          </a:p>
          <a:p>
            <a:r>
              <a:rPr lang="sv-SE" dirty="0" err="1"/>
              <a:t>Reduce</a:t>
            </a:r>
            <a:r>
              <a:rPr lang="sv-SE" dirty="0"/>
              <a:t> </a:t>
            </a:r>
            <a:r>
              <a:rPr lang="sv-SE" dirty="0" err="1"/>
              <a:t>cached</a:t>
            </a:r>
            <a:r>
              <a:rPr lang="sv-SE" dirty="0"/>
              <a:t> logons </a:t>
            </a:r>
            <a:r>
              <a:rPr lang="sv-SE" dirty="0" err="1"/>
              <a:t>where</a:t>
            </a:r>
            <a:r>
              <a:rPr lang="sv-SE" dirty="0"/>
              <a:t> </a:t>
            </a:r>
            <a:r>
              <a:rPr lang="sv-SE" dirty="0" err="1"/>
              <a:t>feasible</a:t>
            </a:r>
            <a:endParaRPr lang="sv-SE" dirty="0"/>
          </a:p>
          <a:p>
            <a:r>
              <a:rPr lang="sv-SE" dirty="0" err="1"/>
              <a:t>Harden</a:t>
            </a:r>
            <a:r>
              <a:rPr lang="sv-SE" dirty="0"/>
              <a:t> browser </a:t>
            </a:r>
            <a:r>
              <a:rPr lang="sv-SE" dirty="0" err="1"/>
              <a:t>credential</a:t>
            </a:r>
            <a:r>
              <a:rPr lang="sv-SE" dirty="0"/>
              <a:t> </a:t>
            </a:r>
            <a:r>
              <a:rPr lang="sv-SE" dirty="0" err="1"/>
              <a:t>storage</a:t>
            </a:r>
            <a:r>
              <a:rPr lang="sv-SE" dirty="0"/>
              <a:t> and extension </a:t>
            </a:r>
            <a:r>
              <a:rPr lang="sv-SE" dirty="0" err="1"/>
              <a:t>controls</a:t>
            </a:r>
            <a:endParaRPr lang="en-SE" dirty="0"/>
          </a:p>
          <a:p>
            <a:endParaRPr lang="en-SE" dirty="0"/>
          </a:p>
          <a:p>
            <a:endParaRPr lang="en-SE" dirty="0"/>
          </a:p>
          <a:p>
            <a:endParaRPr lang="en-SE" dirty="0"/>
          </a:p>
          <a:p>
            <a:pPr marL="0" indent="0">
              <a:buNone/>
            </a:pPr>
            <a:r>
              <a:rPr lang="en-SE" i="1" dirty="0"/>
              <a:t>*</a:t>
            </a:r>
            <a:r>
              <a:rPr lang="en-US" i="1" dirty="0"/>
              <a:t>LSASS (Local Security Authority Subsystem Service) is a core Windows process (lsass.exe) that</a:t>
            </a:r>
            <a:r>
              <a:rPr lang="en-SE" i="1" dirty="0"/>
              <a:t> e</a:t>
            </a:r>
            <a:r>
              <a:rPr lang="en-US" i="1" dirty="0" err="1"/>
              <a:t>nforces</a:t>
            </a:r>
            <a:r>
              <a:rPr lang="en-US" i="1" dirty="0"/>
              <a:t> security policy, authenticates users, and manages credentials</a:t>
            </a:r>
            <a:r>
              <a:rPr lang="en-SE" i="1" dirty="0"/>
              <a:t> </a:t>
            </a:r>
            <a:r>
              <a:rPr lang="en-US" i="1" dirty="0"/>
              <a:t>It is the central authority for identity and access in Windows</a:t>
            </a:r>
            <a:endParaRPr lang="sv-SE" i="1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sv-SE"/>
              <a:t>Step 3: Lateral movement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/>
          <a:lstStyle/>
          <a:p>
            <a:r>
              <a:rPr lang="en-US"/>
              <a:t>SMB/RPC admin shares</a:t>
            </a:r>
          </a:p>
          <a:p>
            <a:r>
              <a:rPr lang="en-US"/>
              <a:t>Remote service creation and scheduled tasks</a:t>
            </a:r>
          </a:p>
          <a:p>
            <a:r>
              <a:rPr lang="en-US"/>
              <a:t>WMI / WinRM</a:t>
            </a:r>
          </a:p>
          <a:p>
            <a:r>
              <a:rPr lang="en-US"/>
              <a:t>RDP pivot to servers (often management/file servers)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sv-SE"/>
              <a:t>Mitigations for Step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/>
          <a:lstStyle/>
          <a:p>
            <a:r>
              <a:rPr lang="sv-SE"/>
              <a:t>Firewall: default deny inbound; allow admin protocols only from management subnets</a:t>
            </a:r>
          </a:p>
          <a:p>
            <a:r>
              <a:rPr lang="sv-SE"/>
              <a:t>Harden SMB and reduce NTLM (audit → enforce)</a:t>
            </a:r>
          </a:p>
          <a:p>
            <a:r>
              <a:rPr lang="sv-SE"/>
              <a:t>Restrict WinRM scope; require HTTPS where appropriate</a:t>
            </a:r>
          </a:p>
          <a:p>
            <a:r>
              <a:rPr lang="sv-SE"/>
              <a:t>RDP: NLA + restrict who/where; use gateways and MFA</a:t>
            </a:r>
          </a:p>
          <a:p>
            <a:r>
              <a:rPr lang="sv-SE"/>
              <a:t>Use PAWs/jump hosts for admin, not daily endpoints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>
            <a:normAutofit fontScale="90000"/>
          </a:bodyPr>
          <a:lstStyle/>
          <a:p>
            <a:r>
              <a:rPr lang="en-US"/>
              <a:t>Step 4: Privilege escalation → domain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/>
          <a:lstStyle/>
          <a:p>
            <a:r>
              <a:rPr lang="en-US" dirty="0"/>
              <a:t>Find stored service creds and misconfigured tasks/services</a:t>
            </a:r>
          </a:p>
          <a:p>
            <a:r>
              <a:rPr lang="en-US" dirty="0"/>
              <a:t>Abuse delegation and over-permissioned groups</a:t>
            </a:r>
            <a:endParaRPr lang="en-SE" dirty="0"/>
          </a:p>
          <a:p>
            <a:r>
              <a:rPr lang="en-US" dirty="0"/>
              <a:t>Abuse certificate services</a:t>
            </a:r>
          </a:p>
          <a:p>
            <a:r>
              <a:rPr lang="en-US" dirty="0"/>
              <a:t>Move to DC adjacency</a:t>
            </a:r>
          </a:p>
          <a:p>
            <a:r>
              <a:rPr lang="en-US" dirty="0"/>
              <a:t>Impact: ransomware deployment / data exfiltration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sv-SE"/>
              <a:t>Mitigations for Step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/>
          <a:lstStyle/>
          <a:p>
            <a:r>
              <a:rPr lang="sv-SE" dirty="0" err="1"/>
              <a:t>Tiered</a:t>
            </a:r>
            <a:r>
              <a:rPr lang="sv-SE" dirty="0"/>
              <a:t> </a:t>
            </a:r>
            <a:r>
              <a:rPr lang="sv-SE" dirty="0" err="1"/>
              <a:t>admin</a:t>
            </a:r>
            <a:r>
              <a:rPr lang="sv-SE" dirty="0"/>
              <a:t> </a:t>
            </a:r>
            <a:r>
              <a:rPr lang="sv-SE" dirty="0" err="1"/>
              <a:t>model</a:t>
            </a:r>
            <a:r>
              <a:rPr lang="sv-SE" dirty="0"/>
              <a:t> (workstations vs servers vs DCs)</a:t>
            </a:r>
          </a:p>
          <a:p>
            <a:r>
              <a:rPr lang="sv-SE" dirty="0" err="1"/>
              <a:t>Restrict</a:t>
            </a:r>
            <a:r>
              <a:rPr lang="sv-SE" dirty="0"/>
              <a:t> </a:t>
            </a:r>
            <a:r>
              <a:rPr lang="sv-SE" dirty="0" err="1"/>
              <a:t>interactive</a:t>
            </a:r>
            <a:r>
              <a:rPr lang="sv-SE" dirty="0"/>
              <a:t> logon to servers</a:t>
            </a:r>
          </a:p>
          <a:p>
            <a:r>
              <a:rPr lang="sv-SE" dirty="0" err="1"/>
              <a:t>Minimize</a:t>
            </a:r>
            <a:r>
              <a:rPr lang="sv-SE" dirty="0"/>
              <a:t> service </a:t>
            </a:r>
            <a:r>
              <a:rPr lang="sv-SE" dirty="0" err="1"/>
              <a:t>accounts</a:t>
            </a:r>
            <a:r>
              <a:rPr lang="sv-SE" dirty="0"/>
              <a:t> and </a:t>
            </a:r>
            <a:r>
              <a:rPr lang="sv-SE" dirty="0" err="1"/>
              <a:t>rights</a:t>
            </a:r>
            <a:r>
              <a:rPr lang="sv-SE" dirty="0"/>
              <a:t>; </a:t>
            </a:r>
            <a:r>
              <a:rPr lang="sv-SE" dirty="0" err="1"/>
              <a:t>remove</a:t>
            </a:r>
            <a:r>
              <a:rPr lang="sv-SE" dirty="0"/>
              <a:t> </a:t>
            </a:r>
            <a:r>
              <a:rPr lang="sv-SE" dirty="0" err="1"/>
              <a:t>stored</a:t>
            </a:r>
            <a:r>
              <a:rPr lang="sv-SE" dirty="0"/>
              <a:t> </a:t>
            </a:r>
            <a:r>
              <a:rPr lang="sv-SE" dirty="0" err="1"/>
              <a:t>creds</a:t>
            </a:r>
            <a:endParaRPr lang="sv-SE" dirty="0"/>
          </a:p>
          <a:p>
            <a:r>
              <a:rPr lang="sv-SE" dirty="0" err="1"/>
              <a:t>Disable</a:t>
            </a:r>
            <a:r>
              <a:rPr lang="sv-SE" dirty="0"/>
              <a:t> </a:t>
            </a:r>
            <a:r>
              <a:rPr lang="sv-SE" dirty="0" err="1"/>
              <a:t>unconstrained</a:t>
            </a:r>
            <a:r>
              <a:rPr lang="sv-SE" dirty="0"/>
              <a:t> delegation and </a:t>
            </a:r>
            <a:r>
              <a:rPr lang="sv-SE" dirty="0" err="1"/>
              <a:t>reduce</a:t>
            </a:r>
            <a:r>
              <a:rPr lang="sv-SE" dirty="0"/>
              <a:t> </a:t>
            </a:r>
            <a:r>
              <a:rPr lang="sv-SE" dirty="0" err="1"/>
              <a:t>risky</a:t>
            </a:r>
            <a:r>
              <a:rPr lang="sv-SE" dirty="0"/>
              <a:t> delegation </a:t>
            </a:r>
            <a:r>
              <a:rPr lang="sv-SE" dirty="0" err="1"/>
              <a:t>patterns</a:t>
            </a:r>
            <a:endParaRPr lang="sv-SE" dirty="0"/>
          </a:p>
          <a:p>
            <a:r>
              <a:rPr lang="sv-SE" dirty="0"/>
              <a:t>Alert on </a:t>
            </a:r>
            <a:r>
              <a:rPr lang="sv-SE" dirty="0" err="1"/>
              <a:t>privileged</a:t>
            </a:r>
            <a:r>
              <a:rPr lang="sv-SE" dirty="0"/>
              <a:t> </a:t>
            </a:r>
            <a:r>
              <a:rPr lang="sv-SE" dirty="0" err="1"/>
              <a:t>group</a:t>
            </a:r>
            <a:r>
              <a:rPr lang="sv-SE" dirty="0"/>
              <a:t> </a:t>
            </a:r>
            <a:r>
              <a:rPr lang="sv-SE" dirty="0" err="1"/>
              <a:t>changes</a:t>
            </a:r>
            <a:r>
              <a:rPr lang="sv-SE" dirty="0"/>
              <a:t> and </a:t>
            </a:r>
            <a:r>
              <a:rPr lang="sv-SE" dirty="0" err="1"/>
              <a:t>remote</a:t>
            </a:r>
            <a:r>
              <a:rPr lang="sv-SE" dirty="0"/>
              <a:t> </a:t>
            </a:r>
            <a:r>
              <a:rPr lang="sv-SE" dirty="0" err="1"/>
              <a:t>admin</a:t>
            </a:r>
            <a:r>
              <a:rPr lang="sv-SE" dirty="0"/>
              <a:t> logons</a:t>
            </a:r>
            <a:endParaRPr lang="en-SE" dirty="0"/>
          </a:p>
          <a:p>
            <a:r>
              <a:rPr lang="en-US" dirty="0"/>
              <a:t>Don't forget permissions on things</a:t>
            </a:r>
            <a:endParaRPr lang="sv-SE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2103120"/>
            <a:ext cx="4910703" cy="12926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>
                <a:solidFill>
                  <a:srgbClr val="FFFFFF"/>
                </a:solidFill>
                <a:latin typeface="Segoe UI Semibold"/>
              </a:defRPr>
            </a:pPr>
            <a:r>
              <a:rPr dirty="0"/>
              <a:t>Top 10 controls</a:t>
            </a:r>
          </a:p>
          <a:p>
            <a:pPr>
              <a:defRPr sz="2400">
                <a:solidFill>
                  <a:srgbClr val="E5E7EB"/>
                </a:solidFill>
                <a:latin typeface="Segoe UI"/>
              </a:defRPr>
            </a:pPr>
            <a:r>
              <a:rPr dirty="0"/>
              <a:t>Hardening that actually matters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en-US"/>
              <a:t>Top 10 hardening controls (prioritized)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>
            <a:normAutofit fontScale="92500" lnSpcReduction="20000"/>
          </a:bodyPr>
          <a:lstStyle/>
          <a:p>
            <a:r>
              <a:rPr lang="sv-SE" dirty="0" err="1"/>
              <a:t>Remove</a:t>
            </a:r>
            <a:r>
              <a:rPr lang="sv-SE" dirty="0"/>
              <a:t> </a:t>
            </a:r>
            <a:r>
              <a:rPr lang="sv-SE" dirty="0" err="1"/>
              <a:t>standing</a:t>
            </a:r>
            <a:r>
              <a:rPr lang="sv-SE" dirty="0"/>
              <a:t> </a:t>
            </a:r>
            <a:r>
              <a:rPr lang="sv-SE" dirty="0" err="1"/>
              <a:t>local</a:t>
            </a:r>
            <a:r>
              <a:rPr lang="sv-SE" dirty="0"/>
              <a:t> </a:t>
            </a:r>
            <a:r>
              <a:rPr lang="sv-SE" dirty="0" err="1"/>
              <a:t>admin</a:t>
            </a:r>
            <a:r>
              <a:rPr lang="sv-SE" dirty="0"/>
              <a:t> + </a:t>
            </a:r>
            <a:r>
              <a:rPr lang="sv-SE" dirty="0" err="1"/>
              <a:t>deploy</a:t>
            </a:r>
            <a:r>
              <a:rPr lang="sv-SE" dirty="0"/>
              <a:t> Windows LAPS</a:t>
            </a:r>
          </a:p>
          <a:p>
            <a:r>
              <a:rPr lang="sv-SE" dirty="0" err="1"/>
              <a:t>Enable</a:t>
            </a:r>
            <a:r>
              <a:rPr lang="sv-SE" dirty="0"/>
              <a:t> </a:t>
            </a:r>
            <a:r>
              <a:rPr lang="sv-SE" dirty="0" err="1"/>
              <a:t>Credential</a:t>
            </a:r>
            <a:r>
              <a:rPr lang="sv-SE" dirty="0"/>
              <a:t> </a:t>
            </a:r>
            <a:r>
              <a:rPr lang="sv-SE" dirty="0" err="1"/>
              <a:t>Guard</a:t>
            </a:r>
            <a:r>
              <a:rPr lang="sv-SE" dirty="0"/>
              <a:t> (</a:t>
            </a:r>
            <a:r>
              <a:rPr lang="sv-SE" dirty="0" err="1"/>
              <a:t>where</a:t>
            </a:r>
            <a:r>
              <a:rPr lang="sv-SE" dirty="0"/>
              <a:t> </a:t>
            </a:r>
            <a:r>
              <a:rPr lang="sv-SE" dirty="0" err="1"/>
              <a:t>supported</a:t>
            </a:r>
            <a:r>
              <a:rPr lang="sv-SE" dirty="0"/>
              <a:t>)</a:t>
            </a:r>
          </a:p>
          <a:p>
            <a:r>
              <a:rPr lang="sv-SE" dirty="0" err="1"/>
              <a:t>Enforce</a:t>
            </a:r>
            <a:r>
              <a:rPr lang="sv-SE" dirty="0"/>
              <a:t> MFA/</a:t>
            </a:r>
            <a:r>
              <a:rPr lang="sv-SE" dirty="0" err="1"/>
              <a:t>Conditional</a:t>
            </a:r>
            <a:r>
              <a:rPr lang="sv-SE" dirty="0"/>
              <a:t> Access for </a:t>
            </a:r>
            <a:r>
              <a:rPr lang="sv-SE" dirty="0" err="1"/>
              <a:t>admin</a:t>
            </a:r>
            <a:r>
              <a:rPr lang="sv-SE" dirty="0"/>
              <a:t> </a:t>
            </a:r>
            <a:r>
              <a:rPr lang="sv-SE" dirty="0" err="1"/>
              <a:t>sign-ins</a:t>
            </a:r>
            <a:r>
              <a:rPr lang="sv-SE" dirty="0"/>
              <a:t> + </a:t>
            </a:r>
            <a:r>
              <a:rPr lang="sv-SE" dirty="0" err="1"/>
              <a:t>separate</a:t>
            </a:r>
            <a:r>
              <a:rPr lang="sv-SE" dirty="0"/>
              <a:t> </a:t>
            </a:r>
            <a:r>
              <a:rPr lang="sv-SE" dirty="0" err="1"/>
              <a:t>admin</a:t>
            </a:r>
            <a:r>
              <a:rPr lang="sv-SE" dirty="0"/>
              <a:t> </a:t>
            </a:r>
            <a:r>
              <a:rPr lang="sv-SE" dirty="0" err="1"/>
              <a:t>accounts</a:t>
            </a:r>
            <a:endParaRPr lang="sv-SE" dirty="0"/>
          </a:p>
          <a:p>
            <a:r>
              <a:rPr lang="sv-SE" dirty="0"/>
              <a:t>WDAC </a:t>
            </a:r>
            <a:r>
              <a:rPr lang="sv-SE" dirty="0" err="1"/>
              <a:t>allowlisting</a:t>
            </a:r>
            <a:r>
              <a:rPr lang="sv-SE" dirty="0"/>
              <a:t> (start in </a:t>
            </a:r>
            <a:r>
              <a:rPr lang="sv-SE" dirty="0" err="1"/>
              <a:t>audit</a:t>
            </a:r>
            <a:r>
              <a:rPr lang="sv-SE" dirty="0"/>
              <a:t> mode) or </a:t>
            </a:r>
            <a:r>
              <a:rPr lang="sv-SE" dirty="0" err="1"/>
              <a:t>AppLocker</a:t>
            </a:r>
            <a:endParaRPr lang="sv-SE" dirty="0"/>
          </a:p>
          <a:p>
            <a:r>
              <a:rPr lang="sv-SE" dirty="0"/>
              <a:t>ASR </a:t>
            </a:r>
            <a:r>
              <a:rPr lang="sv-SE" dirty="0" err="1"/>
              <a:t>baseline</a:t>
            </a:r>
            <a:r>
              <a:rPr lang="sv-SE" dirty="0"/>
              <a:t> </a:t>
            </a:r>
            <a:r>
              <a:rPr lang="sv-SE" dirty="0" err="1"/>
              <a:t>rules</a:t>
            </a:r>
            <a:r>
              <a:rPr lang="sv-SE" dirty="0"/>
              <a:t> + </a:t>
            </a:r>
            <a:r>
              <a:rPr lang="sv-SE" dirty="0" err="1"/>
              <a:t>tune</a:t>
            </a:r>
            <a:r>
              <a:rPr lang="sv-SE" dirty="0"/>
              <a:t> from </a:t>
            </a:r>
            <a:r>
              <a:rPr lang="sv-SE" dirty="0" err="1"/>
              <a:t>audit</a:t>
            </a:r>
            <a:r>
              <a:rPr lang="sv-SE" dirty="0"/>
              <a:t> events</a:t>
            </a:r>
          </a:p>
          <a:p>
            <a:r>
              <a:rPr lang="sv-SE" dirty="0" err="1"/>
              <a:t>Firewall</a:t>
            </a:r>
            <a:r>
              <a:rPr lang="sv-SE" dirty="0"/>
              <a:t>: default </a:t>
            </a:r>
            <a:r>
              <a:rPr lang="sv-SE" dirty="0" err="1"/>
              <a:t>deny</a:t>
            </a:r>
            <a:r>
              <a:rPr lang="sv-SE" dirty="0"/>
              <a:t> </a:t>
            </a:r>
            <a:r>
              <a:rPr lang="sv-SE" dirty="0" err="1"/>
              <a:t>inbound</a:t>
            </a:r>
            <a:r>
              <a:rPr lang="sv-SE" dirty="0"/>
              <a:t> </a:t>
            </a:r>
            <a:r>
              <a:rPr lang="sv-SE" dirty="0" err="1"/>
              <a:t>admin</a:t>
            </a:r>
            <a:r>
              <a:rPr lang="sv-SE" dirty="0"/>
              <a:t> </a:t>
            </a:r>
            <a:r>
              <a:rPr lang="sv-SE" dirty="0" err="1"/>
              <a:t>protocols</a:t>
            </a:r>
            <a:r>
              <a:rPr lang="sv-SE" dirty="0"/>
              <a:t>; segment management</a:t>
            </a:r>
          </a:p>
          <a:p>
            <a:r>
              <a:rPr lang="sv-SE" dirty="0" err="1"/>
              <a:t>Disable</a:t>
            </a:r>
            <a:r>
              <a:rPr lang="sv-SE" dirty="0"/>
              <a:t> SMB1 and </a:t>
            </a:r>
            <a:r>
              <a:rPr lang="sv-SE" dirty="0" err="1"/>
              <a:t>reduce</a:t>
            </a:r>
            <a:r>
              <a:rPr lang="sv-SE" dirty="0"/>
              <a:t> NTLM </a:t>
            </a:r>
            <a:r>
              <a:rPr lang="sv-SE" dirty="0" err="1"/>
              <a:t>where</a:t>
            </a:r>
            <a:r>
              <a:rPr lang="sv-SE" dirty="0"/>
              <a:t> </a:t>
            </a:r>
            <a:r>
              <a:rPr lang="sv-SE" dirty="0" err="1"/>
              <a:t>feasible</a:t>
            </a:r>
            <a:endParaRPr lang="sv-SE" dirty="0"/>
          </a:p>
          <a:p>
            <a:r>
              <a:rPr lang="sv-SE" dirty="0" err="1"/>
              <a:t>Patch</a:t>
            </a:r>
            <a:r>
              <a:rPr lang="sv-SE" dirty="0"/>
              <a:t> OS + browsers </a:t>
            </a:r>
            <a:r>
              <a:rPr lang="sv-SE" dirty="0" err="1"/>
              <a:t>aggressively</a:t>
            </a:r>
            <a:r>
              <a:rPr lang="sv-SE" dirty="0"/>
              <a:t>; </a:t>
            </a:r>
            <a:r>
              <a:rPr lang="sv-SE" dirty="0" err="1"/>
              <a:t>retire</a:t>
            </a:r>
            <a:r>
              <a:rPr lang="sv-SE" dirty="0"/>
              <a:t> </a:t>
            </a:r>
            <a:r>
              <a:rPr lang="sv-SE" dirty="0" err="1"/>
              <a:t>unsupported</a:t>
            </a:r>
            <a:r>
              <a:rPr lang="sv-SE" dirty="0"/>
              <a:t> OS</a:t>
            </a:r>
          </a:p>
          <a:p>
            <a:r>
              <a:rPr lang="sv-SE" dirty="0" err="1"/>
              <a:t>Harden</a:t>
            </a:r>
            <a:r>
              <a:rPr lang="sv-SE" dirty="0"/>
              <a:t> RDP/</a:t>
            </a:r>
            <a:r>
              <a:rPr lang="sv-SE" dirty="0" err="1"/>
              <a:t>WinRM</a:t>
            </a:r>
            <a:r>
              <a:rPr lang="sv-SE" dirty="0"/>
              <a:t>; </a:t>
            </a:r>
            <a:r>
              <a:rPr lang="sv-SE" dirty="0" err="1"/>
              <a:t>restrict</a:t>
            </a:r>
            <a:r>
              <a:rPr lang="sv-SE" dirty="0"/>
              <a:t> </a:t>
            </a:r>
            <a:r>
              <a:rPr lang="sv-SE" dirty="0" err="1"/>
              <a:t>who</a:t>
            </a:r>
            <a:r>
              <a:rPr lang="sv-SE" dirty="0"/>
              <a:t>/</a:t>
            </a:r>
            <a:r>
              <a:rPr lang="sv-SE" dirty="0" err="1"/>
              <a:t>where</a:t>
            </a:r>
            <a:r>
              <a:rPr lang="sv-SE" dirty="0"/>
              <a:t>/</a:t>
            </a:r>
            <a:r>
              <a:rPr lang="sv-SE" dirty="0" err="1"/>
              <a:t>how</a:t>
            </a:r>
            <a:endParaRPr lang="sv-SE" dirty="0"/>
          </a:p>
          <a:p>
            <a:r>
              <a:rPr lang="sv-SE" dirty="0" err="1"/>
              <a:t>Logging</a:t>
            </a:r>
            <a:r>
              <a:rPr lang="sv-SE" dirty="0"/>
              <a:t> + drift </a:t>
            </a:r>
            <a:r>
              <a:rPr lang="sv-SE" dirty="0" err="1"/>
              <a:t>control</a:t>
            </a:r>
            <a:r>
              <a:rPr lang="sv-SE" dirty="0"/>
              <a:t> (</a:t>
            </a:r>
            <a:r>
              <a:rPr lang="sv-SE" dirty="0" err="1"/>
              <a:t>audit</a:t>
            </a:r>
            <a:r>
              <a:rPr lang="sv-SE" dirty="0"/>
              <a:t> policy, CI logs, </a:t>
            </a:r>
            <a:r>
              <a:rPr lang="sv-SE" dirty="0" err="1"/>
              <a:t>Defender</a:t>
            </a:r>
            <a:r>
              <a:rPr lang="sv-SE" dirty="0"/>
              <a:t> </a:t>
            </a:r>
            <a:r>
              <a:rPr lang="sv-SE" dirty="0" err="1"/>
              <a:t>telemetry</a:t>
            </a:r>
            <a:r>
              <a:rPr lang="sv-SE" dirty="0"/>
              <a:t>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en-US"/>
              <a:t>Top 10 controls – Why these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613384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4F9F"/>
                </a:solidFill>
                <a:latin typeface="Segoe UI Semibold"/>
              </a:defRPr>
            </a:pPr>
            <a:r>
              <a:rPr dirty="0"/>
              <a:t>Stops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613384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4F9F"/>
                </a:solidFill>
                <a:latin typeface="Segoe UI Semibold"/>
              </a:defRPr>
            </a:pPr>
            <a:r>
              <a:t>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32119"/>
            <a:ext cx="54864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11827"/>
                </a:solidFill>
                <a:latin typeface="Segoe UI"/>
              </a:defRPr>
            </a:pPr>
            <a:r>
              <a:rPr dirty="0">
                <a:solidFill>
                  <a:schemeClr val="bg1"/>
                </a:solidFill>
              </a:rPr>
              <a:t>Credential dumping/reuse</a:t>
            </a:r>
          </a:p>
          <a:p>
            <a:pPr>
              <a:defRPr sz="2000">
                <a:solidFill>
                  <a:srgbClr val="111827"/>
                </a:solidFill>
                <a:latin typeface="Segoe UI"/>
              </a:defRPr>
            </a:pPr>
            <a:r>
              <a:rPr dirty="0">
                <a:solidFill>
                  <a:schemeClr val="bg1"/>
                </a:solidFill>
              </a:rPr>
              <a:t>Remote admin protocol abuse</a:t>
            </a:r>
          </a:p>
          <a:p>
            <a:pPr>
              <a:defRPr sz="2000">
                <a:solidFill>
                  <a:srgbClr val="111827"/>
                </a:solidFill>
                <a:latin typeface="Segoe UI"/>
              </a:defRPr>
            </a:pPr>
            <a:r>
              <a:rPr dirty="0">
                <a:solidFill>
                  <a:schemeClr val="bg1"/>
                </a:solidFill>
              </a:rPr>
              <a:t>Unknown code execution</a:t>
            </a:r>
          </a:p>
          <a:p>
            <a:pPr>
              <a:defRPr sz="2000">
                <a:solidFill>
                  <a:srgbClr val="111827"/>
                </a:solidFill>
                <a:latin typeface="Segoe UI"/>
              </a:defRPr>
            </a:pPr>
            <a:r>
              <a:rPr dirty="0">
                <a:solidFill>
                  <a:schemeClr val="bg1"/>
                </a:solidFill>
              </a:rPr>
              <a:t>Persistence via built-in tooling</a:t>
            </a:r>
          </a:p>
          <a:p>
            <a:pPr>
              <a:defRPr sz="2000">
                <a:solidFill>
                  <a:srgbClr val="111827"/>
                </a:solidFill>
                <a:latin typeface="Segoe UI"/>
              </a:defRPr>
            </a:pPr>
            <a:r>
              <a:rPr dirty="0">
                <a:solidFill>
                  <a:schemeClr val="bg1"/>
                </a:solidFill>
              </a:rPr>
              <a:t>Rapid lateral spread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532119"/>
            <a:ext cx="512064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11827"/>
                </a:solidFill>
                <a:latin typeface="Segoe UI"/>
              </a:defRPr>
            </a:pPr>
            <a:r>
              <a:rPr dirty="0">
                <a:solidFill>
                  <a:schemeClr val="bg1"/>
                </a:solidFill>
              </a:rPr>
              <a:t>Reduce privileges + unique local admin passwords</a:t>
            </a:r>
          </a:p>
          <a:p>
            <a:pPr>
              <a:defRPr sz="2000">
                <a:solidFill>
                  <a:srgbClr val="111827"/>
                </a:solidFill>
                <a:latin typeface="Segoe UI"/>
              </a:defRPr>
            </a:pPr>
            <a:r>
              <a:rPr dirty="0">
                <a:solidFill>
                  <a:schemeClr val="bg1"/>
                </a:solidFill>
              </a:rPr>
              <a:t>Constrain execution with WDAC/AppLocker + ASR</a:t>
            </a:r>
          </a:p>
          <a:p>
            <a:pPr>
              <a:defRPr sz="2000">
                <a:solidFill>
                  <a:srgbClr val="111827"/>
                </a:solidFill>
                <a:latin typeface="Segoe UI"/>
              </a:defRPr>
            </a:pPr>
            <a:r>
              <a:rPr dirty="0">
                <a:solidFill>
                  <a:schemeClr val="bg1"/>
                </a:solidFill>
              </a:rPr>
              <a:t>Limit reachability with Firewall/segmentation</a:t>
            </a:r>
          </a:p>
          <a:p>
            <a:pPr>
              <a:defRPr sz="2000">
                <a:solidFill>
                  <a:srgbClr val="111827"/>
                </a:solidFill>
                <a:latin typeface="Segoe UI"/>
              </a:defRPr>
            </a:pPr>
            <a:r>
              <a:rPr dirty="0">
                <a:solidFill>
                  <a:schemeClr val="bg1"/>
                </a:solidFill>
              </a:rPr>
              <a:t>Protect secrets with Credential Guard/LSASS protections</a:t>
            </a:r>
          </a:p>
          <a:p>
            <a:pPr>
              <a:defRPr sz="2000">
                <a:solidFill>
                  <a:srgbClr val="111827"/>
                </a:solidFill>
                <a:latin typeface="Segoe UI"/>
              </a:defRPr>
            </a:pPr>
            <a:r>
              <a:rPr dirty="0">
                <a:solidFill>
                  <a:schemeClr val="bg1"/>
                </a:solidFill>
              </a:rPr>
              <a:t>Detect/alert with auditing + Defender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2103120"/>
            <a:ext cx="5394747" cy="12926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>
                <a:solidFill>
                  <a:srgbClr val="FFFFFF"/>
                </a:solidFill>
                <a:latin typeface="Segoe UI Semibold"/>
              </a:defRPr>
            </a:pPr>
            <a:r>
              <a:rPr dirty="0"/>
              <a:t>Client hardening</a:t>
            </a:r>
          </a:p>
          <a:p>
            <a:pPr>
              <a:defRPr sz="2400">
                <a:solidFill>
                  <a:srgbClr val="E5E7EB"/>
                </a:solidFill>
                <a:latin typeface="Segoe UI"/>
              </a:defRPr>
            </a:pPr>
            <a:r>
              <a:rPr dirty="0"/>
              <a:t>Workstations: shrink the surface area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E0BE2-C7D4-2734-4C8C-53DA132C6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D0E307E-3CD3-1822-8C46-4FC69F438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4408" y="1700011"/>
            <a:ext cx="7933041" cy="2852737"/>
          </a:xfrm>
        </p:spPr>
        <p:txBody>
          <a:bodyPr/>
          <a:lstStyle/>
          <a:p>
            <a:r>
              <a:rPr lang="en-SE" dirty="0"/>
              <a:t>Baselines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A10C7F-034E-42CD-6EFD-D13063EED6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14408" y="4579736"/>
            <a:ext cx="7933041" cy="1500187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91855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en-US"/>
              <a:t>Client baseline: what ‘good’ looks like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/>
          <a:lstStyle/>
          <a:p>
            <a:r>
              <a:rPr lang="sv-SE"/>
              <a:t>No standing local admin; elevation via controlled workflows</a:t>
            </a:r>
          </a:p>
          <a:p>
            <a:r>
              <a:rPr lang="sv-SE"/>
              <a:t>Credential Guard enabled where possible</a:t>
            </a:r>
          </a:p>
          <a:p>
            <a:r>
              <a:rPr lang="sv-SE"/>
              <a:t>ASR baseline applied + tuned</a:t>
            </a:r>
          </a:p>
          <a:p>
            <a:r>
              <a:rPr lang="sv-SE"/>
              <a:t>WDAC in audit → enforce for high-risk rings</a:t>
            </a:r>
          </a:p>
          <a:p>
            <a:r>
              <a:rPr lang="sv-SE"/>
              <a:t>Inbound firewall blocked; outbound controlled where feasible</a:t>
            </a:r>
          </a:p>
          <a:p>
            <a:r>
              <a:rPr lang="sv-SE"/>
              <a:t>Browser/Office hardened; macros constrained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>
            <a:normAutofit fontScale="90000"/>
          </a:bodyPr>
          <a:lstStyle/>
          <a:p>
            <a:r>
              <a:rPr lang="en-US"/>
              <a:t>Example: LSA / LSASS hardening (Registry)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4846320"/>
          </a:xfrm>
          <a:prstGeom prst="roundRect">
            <a:avLst/>
          </a:prstGeom>
          <a:solidFill>
            <a:srgbClr val="0B121A"/>
          </a:solidFill>
          <a:ln>
            <a:solidFill>
              <a:srgbClr val="0B12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101800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D1D5DB"/>
                </a:solidFill>
                <a:latin typeface="Cascadia Mono"/>
              </a:defRPr>
            </a:pPr>
            <a:r>
              <a:t># Enable LSASS as a protected process (RunAsPPL)</a:t>
            </a:r>
          </a:p>
          <a:p>
            <a:pPr>
              <a:defRPr sz="1600">
                <a:solidFill>
                  <a:srgbClr val="D1D5DB"/>
                </a:solidFill>
                <a:latin typeface="Cascadia Mono"/>
              </a:defRPr>
            </a:pPr>
            <a:r>
              <a:t>reg add HKLM\SYSTEM\CurrentControlSet\Control\Lsa /v RunAsPPL /t REG_DWORD /d 1 /f</a:t>
            </a:r>
          </a:p>
          <a:p>
            <a:pPr>
              <a:defRPr sz="1600">
                <a:solidFill>
                  <a:srgbClr val="D1D5DB"/>
                </a:solidFill>
                <a:latin typeface="Cascadia Mono"/>
              </a:defRPr>
            </a:pPr>
            <a:endParaRPr/>
          </a:p>
          <a:p>
            <a:pPr>
              <a:defRPr sz="1600">
                <a:solidFill>
                  <a:srgbClr val="D1D5DB"/>
                </a:solidFill>
                <a:latin typeface="Cascadia Mono"/>
              </a:defRPr>
            </a:pPr>
            <a:r>
              <a:t># Disable WDigest credential caching (plaintext)</a:t>
            </a:r>
          </a:p>
          <a:p>
            <a:pPr>
              <a:defRPr sz="1600">
                <a:solidFill>
                  <a:srgbClr val="D1D5DB"/>
                </a:solidFill>
                <a:latin typeface="Cascadia Mono"/>
              </a:defRPr>
            </a:pPr>
            <a:r>
              <a:t>reg add HKLM\SYSTEM\CurrentControlSet\Control\SecurityProviders\WDigest /v UseLogonCredential /t REG_DWORD /d 0 /f</a:t>
            </a:r>
          </a:p>
          <a:p>
            <a:pPr>
              <a:defRPr sz="1600">
                <a:solidFill>
                  <a:srgbClr val="D1D5DB"/>
                </a:solidFill>
                <a:latin typeface="Cascadia Mono"/>
              </a:defRPr>
            </a:pPr>
            <a:endParaRPr/>
          </a:p>
          <a:p>
            <a:pPr>
              <a:defRPr sz="1600">
                <a:solidFill>
                  <a:srgbClr val="D1D5DB"/>
                </a:solidFill>
                <a:latin typeface="Cascadia Mono"/>
              </a:defRPr>
            </a:pPr>
            <a:r>
              <a:t># Reduce cached logons (tune per environment)</a:t>
            </a:r>
          </a:p>
          <a:p>
            <a:pPr>
              <a:defRPr sz="1600">
                <a:solidFill>
                  <a:srgbClr val="D1D5DB"/>
                </a:solidFill>
                <a:latin typeface="Cascadia Mono"/>
              </a:defRPr>
            </a:pPr>
            <a:r>
              <a:t>reg add HKLM\SOFTWARE\Microsoft\Windows NT\CurrentVersion\Winlogon /v CachedLogonsCount /t REG_SZ /d 1 /f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sv-SE"/>
              <a:t>GPO/Intune: Credential protections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/>
          <a:lstStyle/>
          <a:p>
            <a:r>
              <a:rPr lang="sv-SE" dirty="0"/>
              <a:t>GPO: </a:t>
            </a:r>
            <a:r>
              <a:rPr lang="sv-SE" dirty="0" err="1"/>
              <a:t>Device</a:t>
            </a:r>
            <a:r>
              <a:rPr lang="sv-SE" dirty="0"/>
              <a:t> </a:t>
            </a:r>
            <a:r>
              <a:rPr lang="sv-SE" dirty="0" err="1"/>
              <a:t>Guard</a:t>
            </a:r>
            <a:r>
              <a:rPr lang="sv-SE" dirty="0"/>
              <a:t>/VBS </a:t>
            </a:r>
            <a:r>
              <a:rPr lang="sv-SE" dirty="0" err="1"/>
              <a:t>settings</a:t>
            </a:r>
            <a:r>
              <a:rPr lang="sv-SE" dirty="0"/>
              <a:t> (</a:t>
            </a:r>
            <a:r>
              <a:rPr lang="sv-SE" dirty="0" err="1"/>
              <a:t>Turn</a:t>
            </a:r>
            <a:r>
              <a:rPr lang="sv-SE" dirty="0"/>
              <a:t> on VBS)</a:t>
            </a:r>
          </a:p>
          <a:p>
            <a:r>
              <a:rPr lang="sv-SE" dirty="0" err="1"/>
              <a:t>Enable</a:t>
            </a:r>
            <a:r>
              <a:rPr lang="sv-SE" dirty="0"/>
              <a:t> </a:t>
            </a:r>
            <a:r>
              <a:rPr lang="sv-SE" dirty="0" err="1"/>
              <a:t>Credential</a:t>
            </a:r>
            <a:r>
              <a:rPr lang="sv-SE" dirty="0"/>
              <a:t> </a:t>
            </a:r>
            <a:r>
              <a:rPr lang="sv-SE" dirty="0" err="1"/>
              <a:t>Guard</a:t>
            </a:r>
            <a:r>
              <a:rPr lang="sv-SE" dirty="0"/>
              <a:t> and lock </a:t>
            </a:r>
            <a:r>
              <a:rPr lang="sv-SE" dirty="0" err="1"/>
              <a:t>where</a:t>
            </a:r>
            <a:r>
              <a:rPr lang="sv-SE" dirty="0"/>
              <a:t> </a:t>
            </a:r>
            <a:r>
              <a:rPr lang="sv-SE" dirty="0" err="1"/>
              <a:t>appropriate</a:t>
            </a:r>
            <a:endParaRPr lang="sv-SE" dirty="0"/>
          </a:p>
          <a:p>
            <a:r>
              <a:rPr lang="sv-SE" dirty="0"/>
              <a:t>GPO </a:t>
            </a:r>
            <a:r>
              <a:rPr lang="sv-SE" dirty="0" err="1"/>
              <a:t>Security</a:t>
            </a:r>
            <a:r>
              <a:rPr lang="sv-SE" dirty="0"/>
              <a:t> Options: </a:t>
            </a:r>
            <a:r>
              <a:rPr lang="sv-SE" dirty="0" err="1"/>
              <a:t>restrict</a:t>
            </a:r>
            <a:r>
              <a:rPr lang="sv-SE" dirty="0"/>
              <a:t> LM/NTLM, </a:t>
            </a:r>
            <a:r>
              <a:rPr lang="sv-SE" dirty="0" err="1"/>
              <a:t>disable</a:t>
            </a:r>
            <a:r>
              <a:rPr lang="sv-SE" dirty="0"/>
              <a:t> </a:t>
            </a:r>
            <a:r>
              <a:rPr lang="sv-SE" dirty="0" err="1"/>
              <a:t>storing</a:t>
            </a:r>
            <a:r>
              <a:rPr lang="sv-SE" dirty="0"/>
              <a:t> LM </a:t>
            </a:r>
            <a:r>
              <a:rPr lang="sv-SE" dirty="0" err="1"/>
              <a:t>hash</a:t>
            </a:r>
            <a:endParaRPr lang="sv-SE" dirty="0"/>
          </a:p>
          <a:p>
            <a:r>
              <a:rPr lang="sv-SE" dirty="0"/>
              <a:t>Intune: Endpoint </a:t>
            </a:r>
            <a:r>
              <a:rPr lang="sv-SE" dirty="0" err="1"/>
              <a:t>security</a:t>
            </a:r>
            <a:r>
              <a:rPr lang="sv-SE" dirty="0"/>
              <a:t> → </a:t>
            </a:r>
            <a:r>
              <a:rPr lang="sv-SE" dirty="0" err="1"/>
              <a:t>Account</a:t>
            </a:r>
            <a:r>
              <a:rPr lang="sv-SE" dirty="0"/>
              <a:t> </a:t>
            </a:r>
            <a:r>
              <a:rPr lang="sv-SE" dirty="0" err="1"/>
              <a:t>protection</a:t>
            </a:r>
            <a:r>
              <a:rPr lang="sv-SE" dirty="0"/>
              <a:t> / ASR </a:t>
            </a:r>
            <a:r>
              <a:rPr lang="sv-SE" dirty="0" err="1"/>
              <a:t>profiles</a:t>
            </a:r>
            <a:endParaRPr lang="sv-SE" dirty="0"/>
          </a:p>
          <a:p>
            <a:r>
              <a:rPr lang="sv-SE" dirty="0"/>
              <a:t>Start from Microsoft </a:t>
            </a:r>
            <a:r>
              <a:rPr lang="sv-SE" dirty="0" err="1"/>
              <a:t>security</a:t>
            </a:r>
            <a:r>
              <a:rPr lang="sv-SE" dirty="0"/>
              <a:t> </a:t>
            </a:r>
            <a:r>
              <a:rPr lang="sv-SE" dirty="0" err="1"/>
              <a:t>baselines</a:t>
            </a:r>
            <a:r>
              <a:rPr lang="sv-SE" dirty="0"/>
              <a:t>, </a:t>
            </a:r>
            <a:r>
              <a:rPr lang="sv-SE" dirty="0" err="1"/>
              <a:t>then</a:t>
            </a:r>
            <a:r>
              <a:rPr lang="sv-SE" dirty="0"/>
              <a:t> </a:t>
            </a:r>
            <a:r>
              <a:rPr lang="sv-SE" dirty="0" err="1"/>
              <a:t>tune</a:t>
            </a:r>
            <a:endParaRPr lang="en-SE" dirty="0"/>
          </a:p>
          <a:p>
            <a:r>
              <a:rPr lang="en-US" dirty="0"/>
              <a:t>Don't forget to disable RC4 and DES</a:t>
            </a:r>
            <a:endParaRPr lang="sv-SE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sv-SE"/>
              <a:t>ASR – practical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/>
          <a:lstStyle/>
          <a:p>
            <a:r>
              <a:rPr lang="sv-SE"/>
              <a:t>Start with a recommended baseline</a:t>
            </a:r>
          </a:p>
          <a:p>
            <a:r>
              <a:rPr lang="sv-SE"/>
              <a:t>Deploy in Audit mode → review events → tune → Enforce</a:t>
            </a:r>
          </a:p>
          <a:p>
            <a:r>
              <a:rPr lang="sv-SE"/>
              <a:t>High-value rules: Office child process blocks, credential stealing blocks, web/email payload blocks</a:t>
            </a:r>
          </a:p>
          <a:p>
            <a:r>
              <a:rPr lang="sv-SE"/>
              <a:t>Measure: false positives + reduced suspicious activity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sv-SE"/>
              <a:t>Browser + Office hardening (client)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/>
          <a:lstStyle/>
          <a:p>
            <a:r>
              <a:rPr lang="en-US"/>
              <a:t>Block macros from the Internet and reduce add-in risk</a:t>
            </a:r>
          </a:p>
          <a:p>
            <a:r>
              <a:rPr lang="en-US"/>
              <a:t>Restrict browser extensions; enforce updates</a:t>
            </a:r>
          </a:p>
          <a:p>
            <a:r>
              <a:rPr lang="en-US"/>
              <a:t>Enable reputation-based protections (SmartScreen)</a:t>
            </a:r>
          </a:p>
          <a:p>
            <a:r>
              <a:rPr lang="en-US"/>
              <a:t>Persona-based rings (dev/admin/standard)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sv-SE"/>
              <a:t>Client networking hardening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/>
          <a:lstStyle/>
          <a:p>
            <a:r>
              <a:rPr lang="sv-SE"/>
              <a:t>Inbound firewall blocked on all profiles</a:t>
            </a:r>
          </a:p>
          <a:p>
            <a:r>
              <a:rPr lang="sv-SE"/>
              <a:t>Disable unused services/listeners</a:t>
            </a:r>
          </a:p>
          <a:p>
            <a:r>
              <a:rPr lang="sv-SE"/>
              <a:t>SMB: disable SMB1; disable guest; require signing where feasible</a:t>
            </a:r>
          </a:p>
          <a:p>
            <a:r>
              <a:rPr lang="sv-SE"/>
              <a:t>Reduce NTLM with audit → remediation</a:t>
            </a:r>
          </a:p>
          <a:p>
            <a:r>
              <a:rPr lang="sv-SE"/>
              <a:t>Disable LLMNR/NetBIOS where possible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en-US" dirty="0"/>
              <a:t>Example: Disable LLMNR (GPO registry)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4846320"/>
          </a:xfrm>
          <a:prstGeom prst="roundRect">
            <a:avLst/>
          </a:prstGeom>
          <a:solidFill>
            <a:srgbClr val="0B121A"/>
          </a:solidFill>
          <a:ln>
            <a:solidFill>
              <a:srgbClr val="0B12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101800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D1D5DB"/>
                </a:solidFill>
                <a:latin typeface="Cascadia Mono"/>
              </a:defRPr>
            </a:pPr>
            <a:r>
              <a:rPr dirty="0"/>
              <a:t># GPO: Computer Config &gt; Admin Templates &gt; Network &gt; DNS Client</a:t>
            </a:r>
          </a:p>
          <a:p>
            <a:pPr>
              <a:defRPr sz="1600">
                <a:solidFill>
                  <a:srgbClr val="D1D5DB"/>
                </a:solidFill>
                <a:latin typeface="Cascadia Mono"/>
              </a:defRPr>
            </a:pPr>
            <a:r>
              <a:rPr dirty="0"/>
              <a:t># 'Turn off Multicast Name Resolution' = Enabled</a:t>
            </a:r>
          </a:p>
          <a:p>
            <a:pPr>
              <a:defRPr sz="1600">
                <a:solidFill>
                  <a:srgbClr val="D1D5DB"/>
                </a:solidFill>
                <a:latin typeface="Cascadia Mono"/>
              </a:defRPr>
            </a:pPr>
            <a:r>
              <a:rPr dirty="0"/>
              <a:t>reg add HKLM\Software\Policies\Microsoft\Windows NT\</a:t>
            </a:r>
            <a:r>
              <a:rPr dirty="0" err="1"/>
              <a:t>DNSClient</a:t>
            </a:r>
            <a:r>
              <a:rPr dirty="0"/>
              <a:t> /v </a:t>
            </a:r>
            <a:r>
              <a:rPr dirty="0" err="1"/>
              <a:t>EnableMulticast</a:t>
            </a:r>
            <a:r>
              <a:rPr dirty="0"/>
              <a:t> /t REG_DWORD /d 0 /f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sv-SE" dirty="0"/>
              <a:t>WDAC vs </a:t>
            </a:r>
            <a:r>
              <a:rPr lang="sv-SE" dirty="0" err="1"/>
              <a:t>AppLocker</a:t>
            </a:r>
            <a:r>
              <a:rPr lang="sv-SE" dirty="0"/>
              <a:t> (</a:t>
            </a:r>
            <a:r>
              <a:rPr lang="sv-SE" dirty="0" err="1"/>
              <a:t>client</a:t>
            </a:r>
            <a:r>
              <a:rPr lang="sv-SE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>
            <a:normAutofit lnSpcReduction="10000"/>
          </a:bodyPr>
          <a:lstStyle/>
          <a:p>
            <a:r>
              <a:rPr lang="en-US" dirty="0"/>
              <a:t>WDAC: stronger, kernel-enforced allowlisting</a:t>
            </a:r>
          </a:p>
          <a:p>
            <a:r>
              <a:rPr lang="en-US" dirty="0"/>
              <a:t>AppLocker: easier legacy option; still useful in many estates</a:t>
            </a:r>
          </a:p>
          <a:p>
            <a:r>
              <a:rPr lang="en-US" dirty="0"/>
              <a:t>Start WDAC in Audit mode and roll out ring-by-ring</a:t>
            </a:r>
          </a:p>
          <a:p>
            <a:r>
              <a:rPr lang="en-US" dirty="0"/>
              <a:t>Use publisher rules and managed installer concepts where applicable</a:t>
            </a:r>
            <a:endParaRPr lang="en-SE" dirty="0"/>
          </a:p>
          <a:p>
            <a:endParaRPr lang="en-SE" dirty="0"/>
          </a:p>
          <a:p>
            <a:endParaRPr lang="en-SE" dirty="0"/>
          </a:p>
          <a:p>
            <a:endParaRPr lang="en-SE" dirty="0"/>
          </a:p>
          <a:p>
            <a:pPr marL="0" indent="0">
              <a:buNone/>
            </a:pPr>
            <a:r>
              <a:rPr lang="en-SE" dirty="0"/>
              <a:t>*WDAC = </a:t>
            </a:r>
            <a:r>
              <a:rPr lang="en-US" dirty="0"/>
              <a:t>WDAC (Windows Defender Application Control) is a built-in Windows security feature</a:t>
            </a:r>
            <a:r>
              <a:rPr lang="en-SE" dirty="0"/>
              <a:t>, basically  “whitelisting apps”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84D76-A883-FF9D-1374-F5516D92A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DD561BD-0DB3-7DEA-1DE3-C9B771A56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4408" y="1700011"/>
            <a:ext cx="7933041" cy="2852737"/>
          </a:xfrm>
        </p:spPr>
        <p:txBody>
          <a:bodyPr/>
          <a:lstStyle/>
          <a:p>
            <a:r>
              <a:rPr lang="en-SE" dirty="0"/>
              <a:t>Checking the client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BD78FD-5946-F002-1321-874433FE5F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14408" y="4579736"/>
            <a:ext cx="7933041" cy="1500187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6884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2103120"/>
            <a:ext cx="7089890" cy="12926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>
                <a:solidFill>
                  <a:srgbClr val="FFFFFF"/>
                </a:solidFill>
                <a:latin typeface="Segoe UI Semibold"/>
              </a:defRPr>
            </a:pPr>
            <a:r>
              <a:rPr dirty="0"/>
              <a:t>Server hardening</a:t>
            </a:r>
          </a:p>
          <a:p>
            <a:pPr>
              <a:defRPr sz="2400">
                <a:solidFill>
                  <a:srgbClr val="E5E7EB"/>
                </a:solidFill>
                <a:latin typeface="Segoe UI"/>
              </a:defRPr>
            </a:pPr>
            <a:r>
              <a:rPr dirty="0"/>
              <a:t>Servers: role-aware and lateral-movement resistant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>
            <a:normAutofit fontScale="90000"/>
          </a:bodyPr>
          <a:lstStyle/>
          <a:p>
            <a:r>
              <a:rPr lang="en-US"/>
              <a:t>Server baseline: what changes from clients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/>
          <a:lstStyle/>
          <a:p>
            <a:r>
              <a:rPr lang="en-US"/>
              <a:t>Higher compatibility constraints — but higher attack value</a:t>
            </a:r>
          </a:p>
          <a:p>
            <a:r>
              <a:rPr lang="en-US"/>
              <a:t>Goal: restrict admin channels, protect creds, minimize interactive use</a:t>
            </a:r>
          </a:p>
          <a:p>
            <a:r>
              <a:rPr lang="en-US"/>
              <a:t>Treat management, file, and backup servers as high value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sv-SE"/>
              <a:t>Role-specific hardening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/>
          <a:lstStyle/>
          <a:p>
            <a:r>
              <a:rPr lang="sv-SE" dirty="0" err="1"/>
              <a:t>File</a:t>
            </a:r>
            <a:r>
              <a:rPr lang="sv-SE" dirty="0"/>
              <a:t> servers: SMB </a:t>
            </a:r>
            <a:r>
              <a:rPr lang="sv-SE" dirty="0" err="1"/>
              <a:t>hardening</a:t>
            </a:r>
            <a:r>
              <a:rPr lang="sv-SE" dirty="0"/>
              <a:t>, </a:t>
            </a:r>
            <a:r>
              <a:rPr lang="sv-SE" dirty="0" err="1"/>
              <a:t>share</a:t>
            </a:r>
            <a:r>
              <a:rPr lang="sv-SE" dirty="0"/>
              <a:t> ACL </a:t>
            </a:r>
            <a:r>
              <a:rPr lang="sv-SE" dirty="0" err="1"/>
              <a:t>hygiene</a:t>
            </a:r>
            <a:r>
              <a:rPr lang="sv-SE" dirty="0"/>
              <a:t>, </a:t>
            </a:r>
            <a:r>
              <a:rPr lang="sv-SE" dirty="0" err="1"/>
              <a:t>auditing</a:t>
            </a:r>
            <a:endParaRPr lang="sv-SE" dirty="0"/>
          </a:p>
          <a:p>
            <a:r>
              <a:rPr lang="sv-SE" dirty="0"/>
              <a:t>Management servers: </a:t>
            </a:r>
            <a:r>
              <a:rPr lang="sv-SE" dirty="0" err="1"/>
              <a:t>isolate</a:t>
            </a:r>
            <a:r>
              <a:rPr lang="sv-SE" dirty="0"/>
              <a:t> </a:t>
            </a:r>
            <a:r>
              <a:rPr lang="sv-SE" dirty="0" err="1"/>
              <a:t>network</a:t>
            </a:r>
            <a:r>
              <a:rPr lang="sv-SE" dirty="0"/>
              <a:t>, no email/web, </a:t>
            </a:r>
            <a:r>
              <a:rPr lang="sv-SE" dirty="0" err="1"/>
              <a:t>strict</a:t>
            </a:r>
            <a:r>
              <a:rPr lang="sv-SE" dirty="0"/>
              <a:t> </a:t>
            </a:r>
            <a:r>
              <a:rPr lang="sv-SE" dirty="0" err="1"/>
              <a:t>admin</a:t>
            </a:r>
            <a:r>
              <a:rPr lang="sv-SE" dirty="0"/>
              <a:t> workflow</a:t>
            </a:r>
          </a:p>
          <a:p>
            <a:r>
              <a:rPr lang="sv-SE" dirty="0"/>
              <a:t>Backup servers: </a:t>
            </a:r>
            <a:r>
              <a:rPr lang="sv-SE" dirty="0" err="1"/>
              <a:t>separate</a:t>
            </a:r>
            <a:r>
              <a:rPr lang="sv-SE" dirty="0"/>
              <a:t> </a:t>
            </a:r>
            <a:r>
              <a:rPr lang="sv-SE" dirty="0" err="1"/>
              <a:t>creds</a:t>
            </a:r>
            <a:r>
              <a:rPr lang="sv-SE" dirty="0"/>
              <a:t>, isolation, </a:t>
            </a:r>
            <a:r>
              <a:rPr lang="sv-SE" dirty="0" err="1"/>
              <a:t>immutable</a:t>
            </a:r>
            <a:r>
              <a:rPr lang="sv-SE" dirty="0"/>
              <a:t>/air-</a:t>
            </a:r>
            <a:r>
              <a:rPr lang="sv-SE" dirty="0" err="1"/>
              <a:t>gapped</a:t>
            </a:r>
            <a:r>
              <a:rPr lang="sv-SE" dirty="0"/>
              <a:t> options</a:t>
            </a:r>
          </a:p>
          <a:p>
            <a:r>
              <a:rPr lang="sv-SE" dirty="0" err="1"/>
              <a:t>App</a:t>
            </a:r>
            <a:r>
              <a:rPr lang="sv-SE" dirty="0"/>
              <a:t> servers: service </a:t>
            </a:r>
            <a:r>
              <a:rPr lang="sv-SE" dirty="0" err="1"/>
              <a:t>account</a:t>
            </a:r>
            <a:r>
              <a:rPr lang="sv-SE" dirty="0"/>
              <a:t> </a:t>
            </a:r>
            <a:r>
              <a:rPr lang="sv-SE" dirty="0" err="1"/>
              <a:t>hygiene</a:t>
            </a:r>
            <a:r>
              <a:rPr lang="sv-SE" dirty="0"/>
              <a:t> + </a:t>
            </a:r>
            <a:r>
              <a:rPr lang="sv-SE" dirty="0" err="1"/>
              <a:t>constrained</a:t>
            </a:r>
            <a:r>
              <a:rPr lang="sv-SE" dirty="0"/>
              <a:t> delegation</a:t>
            </a:r>
            <a:endParaRPr lang="en-SE" dirty="0"/>
          </a:p>
          <a:p>
            <a:r>
              <a:rPr lang="en-SE" dirty="0"/>
              <a:t>Hypervisors: </a:t>
            </a:r>
            <a:r>
              <a:rPr lang="sv-SE" dirty="0" err="1"/>
              <a:t>separate</a:t>
            </a:r>
            <a:r>
              <a:rPr lang="sv-SE" dirty="0"/>
              <a:t> </a:t>
            </a:r>
            <a:r>
              <a:rPr lang="sv-SE" dirty="0" err="1"/>
              <a:t>creds</a:t>
            </a:r>
            <a:r>
              <a:rPr lang="sv-SE" dirty="0"/>
              <a:t>, isolation</a:t>
            </a:r>
            <a:endParaRPr lang="en-SE" dirty="0"/>
          </a:p>
          <a:p>
            <a:r>
              <a:rPr lang="en-SE" dirty="0"/>
              <a:t>Domain controllers: No apps, just Active Directory, DNS ok, DHCP could be ok.</a:t>
            </a:r>
            <a:endParaRPr lang="sv-SE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sv-SE"/>
              <a:t>Interactive logon restrictions (servers)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/>
          <a:lstStyle/>
          <a:p>
            <a:r>
              <a:rPr lang="sv-SE" dirty="0" err="1"/>
              <a:t>Deny</a:t>
            </a:r>
            <a:r>
              <a:rPr lang="sv-SE" dirty="0"/>
              <a:t> </a:t>
            </a:r>
            <a:r>
              <a:rPr lang="sv-SE" dirty="0" err="1"/>
              <a:t>local</a:t>
            </a:r>
            <a:r>
              <a:rPr lang="sv-SE" dirty="0"/>
              <a:t>/RDP logon for standard </a:t>
            </a:r>
            <a:r>
              <a:rPr lang="sv-SE" dirty="0" err="1"/>
              <a:t>users</a:t>
            </a:r>
            <a:endParaRPr lang="sv-SE" dirty="0"/>
          </a:p>
          <a:p>
            <a:r>
              <a:rPr lang="sv-SE" dirty="0" err="1"/>
              <a:t>Only</a:t>
            </a:r>
            <a:r>
              <a:rPr lang="sv-SE" dirty="0"/>
              <a:t> </a:t>
            </a:r>
            <a:r>
              <a:rPr lang="sv-SE" dirty="0" err="1"/>
              <a:t>allow</a:t>
            </a:r>
            <a:r>
              <a:rPr lang="sv-SE" dirty="0"/>
              <a:t> </a:t>
            </a:r>
            <a:r>
              <a:rPr lang="sv-SE" dirty="0" err="1"/>
              <a:t>tiered</a:t>
            </a:r>
            <a:r>
              <a:rPr lang="sv-SE" dirty="0"/>
              <a:t> </a:t>
            </a:r>
            <a:r>
              <a:rPr lang="sv-SE" dirty="0" err="1"/>
              <a:t>admin</a:t>
            </a:r>
            <a:r>
              <a:rPr lang="sv-SE" dirty="0"/>
              <a:t> </a:t>
            </a:r>
            <a:r>
              <a:rPr lang="sv-SE" dirty="0" err="1"/>
              <a:t>accounts</a:t>
            </a:r>
            <a:endParaRPr lang="sv-SE" dirty="0"/>
          </a:p>
          <a:p>
            <a:r>
              <a:rPr lang="sv-SE" dirty="0" err="1"/>
              <a:t>Avoid</a:t>
            </a:r>
            <a:r>
              <a:rPr lang="sv-SE" dirty="0"/>
              <a:t> </a:t>
            </a:r>
            <a:r>
              <a:rPr lang="sv-SE" dirty="0" err="1"/>
              <a:t>stored</a:t>
            </a:r>
            <a:r>
              <a:rPr lang="sv-SE" dirty="0"/>
              <a:t> </a:t>
            </a:r>
            <a:r>
              <a:rPr lang="sv-SE" dirty="0" err="1"/>
              <a:t>creds</a:t>
            </a:r>
            <a:r>
              <a:rPr lang="sv-SE" dirty="0"/>
              <a:t>; </a:t>
            </a:r>
            <a:r>
              <a:rPr lang="sv-SE" dirty="0" err="1"/>
              <a:t>remove</a:t>
            </a:r>
            <a:r>
              <a:rPr lang="sv-SE" dirty="0"/>
              <a:t> </a:t>
            </a:r>
            <a:r>
              <a:rPr lang="sv-SE" dirty="0" err="1"/>
              <a:t>saved</a:t>
            </a:r>
            <a:r>
              <a:rPr lang="sv-SE" dirty="0"/>
              <a:t> RDP/</a:t>
            </a:r>
            <a:r>
              <a:rPr lang="sv-SE" dirty="0" err="1"/>
              <a:t>passwords</a:t>
            </a:r>
            <a:endParaRPr lang="sv-SE" dirty="0"/>
          </a:p>
          <a:p>
            <a:r>
              <a:rPr lang="sv-SE" dirty="0" err="1"/>
              <a:t>Use</a:t>
            </a:r>
            <a:r>
              <a:rPr lang="sv-SE" dirty="0"/>
              <a:t> JIT/JEA </a:t>
            </a:r>
            <a:r>
              <a:rPr lang="sv-SE" dirty="0" err="1"/>
              <a:t>where</a:t>
            </a:r>
            <a:r>
              <a:rPr lang="sv-SE" dirty="0"/>
              <a:t> </a:t>
            </a:r>
            <a:r>
              <a:rPr lang="sv-SE" dirty="0" err="1"/>
              <a:t>possible</a:t>
            </a:r>
            <a:endParaRPr lang="sv-SE" dirty="0"/>
          </a:p>
          <a:p>
            <a:r>
              <a:rPr lang="sv-SE" dirty="0" err="1"/>
              <a:t>Harden</a:t>
            </a:r>
            <a:r>
              <a:rPr lang="sv-SE" dirty="0"/>
              <a:t> </a:t>
            </a:r>
            <a:r>
              <a:rPr lang="sv-SE" dirty="0" err="1"/>
              <a:t>local</a:t>
            </a:r>
            <a:r>
              <a:rPr lang="sv-SE" dirty="0"/>
              <a:t> </a:t>
            </a:r>
            <a:r>
              <a:rPr lang="sv-SE" dirty="0" err="1"/>
              <a:t>groups</a:t>
            </a:r>
            <a:r>
              <a:rPr lang="sv-SE" dirty="0"/>
              <a:t> (Administrators, RDP </a:t>
            </a:r>
            <a:r>
              <a:rPr lang="sv-SE" dirty="0" err="1"/>
              <a:t>Users</a:t>
            </a:r>
            <a:r>
              <a:rPr lang="sv-SE" dirty="0"/>
              <a:t>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sv-SE"/>
              <a:t>Server remote management hardening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/>
          <a:lstStyle/>
          <a:p>
            <a:r>
              <a:rPr lang="sv-SE" dirty="0" err="1"/>
              <a:t>WinRM</a:t>
            </a:r>
            <a:r>
              <a:rPr lang="sv-SE" dirty="0"/>
              <a:t>: </a:t>
            </a:r>
            <a:r>
              <a:rPr lang="sv-SE" dirty="0" err="1"/>
              <a:t>restrict</a:t>
            </a:r>
            <a:r>
              <a:rPr lang="sv-SE" dirty="0"/>
              <a:t> to management </a:t>
            </a:r>
            <a:r>
              <a:rPr lang="sv-SE" dirty="0" err="1"/>
              <a:t>subnets</a:t>
            </a:r>
            <a:r>
              <a:rPr lang="sv-SE" dirty="0"/>
              <a:t>; </a:t>
            </a:r>
            <a:r>
              <a:rPr lang="sv-SE" dirty="0" err="1"/>
              <a:t>audit</a:t>
            </a:r>
            <a:r>
              <a:rPr lang="sv-SE" dirty="0"/>
              <a:t> </a:t>
            </a:r>
            <a:r>
              <a:rPr lang="sv-SE" dirty="0" err="1"/>
              <a:t>usage</a:t>
            </a:r>
            <a:endParaRPr lang="sv-SE" dirty="0"/>
          </a:p>
          <a:p>
            <a:r>
              <a:rPr lang="sv-SE" dirty="0"/>
              <a:t>RDP: </a:t>
            </a:r>
            <a:r>
              <a:rPr lang="sv-SE" dirty="0" err="1"/>
              <a:t>restrict</a:t>
            </a:r>
            <a:r>
              <a:rPr lang="sv-SE" dirty="0"/>
              <a:t> </a:t>
            </a:r>
            <a:r>
              <a:rPr lang="sv-SE" dirty="0" err="1"/>
              <a:t>scope</a:t>
            </a:r>
            <a:r>
              <a:rPr lang="sv-SE" dirty="0"/>
              <a:t>; </a:t>
            </a:r>
            <a:r>
              <a:rPr lang="sv-SE" dirty="0" err="1"/>
              <a:t>prefer</a:t>
            </a:r>
            <a:r>
              <a:rPr lang="sv-SE" dirty="0"/>
              <a:t> </a:t>
            </a:r>
            <a:r>
              <a:rPr lang="sv-SE" dirty="0" err="1"/>
              <a:t>jump</a:t>
            </a:r>
            <a:r>
              <a:rPr lang="sv-SE" dirty="0"/>
              <a:t> </a:t>
            </a:r>
            <a:r>
              <a:rPr lang="sv-SE" dirty="0" err="1"/>
              <a:t>hosts</a:t>
            </a:r>
            <a:r>
              <a:rPr lang="sv-SE" dirty="0"/>
              <a:t>; </a:t>
            </a:r>
            <a:r>
              <a:rPr lang="sv-SE" dirty="0" err="1"/>
              <a:t>enforce</a:t>
            </a:r>
            <a:r>
              <a:rPr lang="sv-SE" dirty="0"/>
              <a:t> NLA</a:t>
            </a:r>
            <a:r>
              <a:rPr lang="en-SE" dirty="0"/>
              <a:t>, IPSec</a:t>
            </a:r>
            <a:endParaRPr lang="sv-SE" dirty="0"/>
          </a:p>
          <a:p>
            <a:r>
              <a:rPr lang="sv-SE" dirty="0"/>
              <a:t>SMB </a:t>
            </a:r>
            <a:r>
              <a:rPr lang="sv-SE" dirty="0" err="1"/>
              <a:t>admin</a:t>
            </a:r>
            <a:r>
              <a:rPr lang="sv-SE" dirty="0"/>
              <a:t> </a:t>
            </a:r>
            <a:r>
              <a:rPr lang="sv-SE" dirty="0" err="1"/>
              <a:t>shares</a:t>
            </a:r>
            <a:r>
              <a:rPr lang="sv-SE" dirty="0"/>
              <a:t>: limit </a:t>
            </a:r>
            <a:r>
              <a:rPr lang="sv-SE" dirty="0" err="1"/>
              <a:t>reachability</a:t>
            </a:r>
            <a:r>
              <a:rPr lang="sv-SE" dirty="0"/>
              <a:t> and monitor </a:t>
            </a:r>
            <a:r>
              <a:rPr lang="sv-SE" dirty="0" err="1"/>
              <a:t>usage</a:t>
            </a:r>
            <a:endParaRPr lang="sv-SE" dirty="0"/>
          </a:p>
          <a:p>
            <a:r>
              <a:rPr lang="sv-SE" dirty="0" err="1"/>
              <a:t>Firewall</a:t>
            </a:r>
            <a:r>
              <a:rPr lang="sv-SE" dirty="0"/>
              <a:t>: explicit </a:t>
            </a:r>
            <a:r>
              <a:rPr lang="sv-SE" dirty="0" err="1"/>
              <a:t>allow</a:t>
            </a:r>
            <a:r>
              <a:rPr lang="sv-SE" dirty="0"/>
              <a:t> from management </a:t>
            </a:r>
            <a:r>
              <a:rPr lang="sv-SE" dirty="0" err="1"/>
              <a:t>networks</a:t>
            </a:r>
            <a:r>
              <a:rPr lang="sv-SE" dirty="0"/>
              <a:t> </a:t>
            </a:r>
            <a:r>
              <a:rPr lang="sv-SE" dirty="0" err="1"/>
              <a:t>only</a:t>
            </a:r>
            <a:endParaRPr lang="sv-SE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sv-SE"/>
              <a:t>SMB + NTLM hardening (servers)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/>
          <a:lstStyle/>
          <a:p>
            <a:r>
              <a:rPr lang="sv-SE"/>
              <a:t>Disable SMB1</a:t>
            </a:r>
          </a:p>
          <a:p>
            <a:r>
              <a:rPr lang="sv-SE"/>
              <a:t>Require SMB signing where feasible</a:t>
            </a:r>
          </a:p>
          <a:p>
            <a:r>
              <a:rPr lang="sv-SE"/>
              <a:t>Audit NTLM usage and reduce gradually</a:t>
            </a:r>
          </a:p>
          <a:p>
            <a:r>
              <a:rPr lang="sv-SE"/>
              <a:t>Prefer Kerberos; fix SPNs/time sync to reduce NTLM fallbacks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>
            <a:normAutofit fontScale="90000"/>
          </a:bodyPr>
          <a:lstStyle/>
          <a:p>
            <a:r>
              <a:rPr lang="en-US" dirty="0"/>
              <a:t>Server application control (high value roles)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/>
          <a:lstStyle/>
          <a:p>
            <a:r>
              <a:rPr lang="en-US" dirty="0"/>
              <a:t>WDAC enforced on management/jump/backup servers</a:t>
            </a:r>
          </a:p>
          <a:p>
            <a:r>
              <a:rPr lang="en-US" dirty="0"/>
              <a:t>AppLocker as interim</a:t>
            </a:r>
          </a:p>
          <a:p>
            <a:r>
              <a:rPr lang="en-US" dirty="0"/>
              <a:t>Reduce unsigned drivers where possible</a:t>
            </a:r>
          </a:p>
          <a:p>
            <a:r>
              <a:rPr lang="en-US" dirty="0"/>
              <a:t>Define an exception process with ownership and expiry</a:t>
            </a:r>
            <a:endParaRPr lang="en-SE" dirty="0"/>
          </a:p>
          <a:p>
            <a:endParaRPr lang="en-SE" dirty="0"/>
          </a:p>
          <a:p>
            <a:endParaRPr lang="en-SE" dirty="0"/>
          </a:p>
          <a:p>
            <a:endParaRPr lang="en-SE" dirty="0"/>
          </a:p>
          <a:p>
            <a:r>
              <a:rPr lang="en-US" dirty="0"/>
              <a:t>high value roles</a:t>
            </a:r>
            <a:r>
              <a:rPr lang="en-SE" dirty="0"/>
              <a:t> =  Tier -1 and Tier 0</a:t>
            </a:r>
            <a:endParaRPr lang="en-US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CDF0D-AD66-4612-9A13-7E3A96CA8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4DA6487-5E07-E99E-5164-400A36437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4408" y="1700011"/>
            <a:ext cx="7933041" cy="2852737"/>
          </a:xfrm>
        </p:spPr>
        <p:txBody>
          <a:bodyPr/>
          <a:lstStyle/>
          <a:p>
            <a:r>
              <a:rPr lang="en-SE" dirty="0"/>
              <a:t>Baselines for servers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6CA70E-22A9-32A9-202F-25B3BB7B0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14408" y="4579736"/>
            <a:ext cx="7933041" cy="1500187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61832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2103120"/>
            <a:ext cx="5156155" cy="12926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>
                <a:solidFill>
                  <a:srgbClr val="FFFFFF"/>
                </a:solidFill>
                <a:latin typeface="Segoe UI Semibold"/>
              </a:defRPr>
            </a:pPr>
            <a:r>
              <a:rPr dirty="0"/>
              <a:t>Verify &amp; roll out</a:t>
            </a:r>
          </a:p>
          <a:p>
            <a:pPr>
              <a:defRPr sz="2400">
                <a:solidFill>
                  <a:srgbClr val="E5E7EB"/>
                </a:solidFill>
                <a:latin typeface="Segoe UI"/>
              </a:defRPr>
            </a:pPr>
            <a:r>
              <a:rPr dirty="0"/>
              <a:t>Make hardening operational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en-US"/>
              <a:t>Verification: how you know it’s 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/>
          <a:lstStyle/>
          <a:p>
            <a:r>
              <a:rPr lang="sv-SE"/>
              <a:t>Configuration compliance: Intune/GPO/DSC/CM</a:t>
            </a:r>
          </a:p>
          <a:p>
            <a:r>
              <a:rPr lang="sv-SE"/>
              <a:t>Telemetry: Defender, Security logs, Code Integrity logs</a:t>
            </a:r>
          </a:p>
          <a:p>
            <a:r>
              <a:rPr lang="sv-SE"/>
              <a:t>Key audit categories: logon, privilege use, process creation</a:t>
            </a:r>
          </a:p>
          <a:p>
            <a:r>
              <a:rPr lang="sv-SE"/>
              <a:t>Attack simulation / purple-team validation</a:t>
            </a:r>
          </a:p>
          <a:p>
            <a:r>
              <a:rPr lang="sv-SE"/>
              <a:t>Exception tracking with owners + expiry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sv-SE"/>
              <a:t>Rollout strategy (mixed estates)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/>
          <a:lstStyle/>
          <a:p>
            <a:r>
              <a:rPr lang="sv-SE"/>
              <a:t>Start from security baselines</a:t>
            </a:r>
          </a:p>
          <a:p>
            <a:r>
              <a:rPr lang="sv-SE"/>
              <a:t>Use rings: Audit → Pilot → Broad → Enforce</a:t>
            </a:r>
          </a:p>
          <a:p>
            <a:r>
              <a:rPr lang="sv-SE"/>
              <a:t>Segment by persona (dev/admin/standard)</a:t>
            </a:r>
          </a:p>
          <a:p>
            <a:r>
              <a:rPr lang="sv-SE"/>
              <a:t>Document exceptions; revisit quarterly</a:t>
            </a:r>
          </a:p>
          <a:p>
            <a:r>
              <a:rPr lang="sv-SE"/>
              <a:t>Automate drift detection/remediation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en-US"/>
              <a:t>Quick wins vs longer programs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82709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4F9F"/>
                </a:solidFill>
                <a:latin typeface="Segoe UI Semibold"/>
              </a:defRPr>
            </a:pPr>
            <a:r>
              <a:rPr dirty="0"/>
              <a:t>Quick wins (weeks)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6206" y="1382709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4F9F"/>
                </a:solidFill>
                <a:latin typeface="Segoe UI Semibold"/>
              </a:defRPr>
            </a:pPr>
            <a:r>
              <a:rPr dirty="0"/>
              <a:t>Programs (months)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4864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11827"/>
                </a:solidFill>
                <a:latin typeface="Segoe UI"/>
              </a:defRPr>
            </a:pPr>
            <a:r>
              <a:rPr dirty="0">
                <a:solidFill>
                  <a:schemeClr val="bg1"/>
                </a:solidFill>
              </a:rPr>
              <a:t>Deploy Windows LAPS</a:t>
            </a:r>
          </a:p>
          <a:p>
            <a:pPr>
              <a:defRPr sz="2000">
                <a:solidFill>
                  <a:srgbClr val="111827"/>
                </a:solidFill>
                <a:latin typeface="Segoe UI"/>
              </a:defRPr>
            </a:pPr>
            <a:r>
              <a:rPr dirty="0">
                <a:solidFill>
                  <a:schemeClr val="bg1"/>
                </a:solidFill>
              </a:rPr>
              <a:t>Inbound firewall deny + </a:t>
            </a:r>
            <a:r>
              <a:rPr dirty="0" err="1">
                <a:solidFill>
                  <a:schemeClr val="bg1"/>
                </a:solidFill>
              </a:rPr>
              <a:t>mgmt</a:t>
            </a:r>
            <a:r>
              <a:rPr dirty="0">
                <a:solidFill>
                  <a:schemeClr val="bg1"/>
                </a:solidFill>
              </a:rPr>
              <a:t> subnet allows</a:t>
            </a:r>
          </a:p>
          <a:p>
            <a:pPr>
              <a:defRPr sz="2000">
                <a:solidFill>
                  <a:srgbClr val="111827"/>
                </a:solidFill>
                <a:latin typeface="Segoe UI"/>
              </a:defRPr>
            </a:pPr>
            <a:r>
              <a:rPr dirty="0">
                <a:solidFill>
                  <a:schemeClr val="bg1"/>
                </a:solidFill>
              </a:rPr>
              <a:t>Disable SMB1</a:t>
            </a:r>
          </a:p>
          <a:p>
            <a:pPr>
              <a:defRPr sz="2000">
                <a:solidFill>
                  <a:srgbClr val="111827"/>
                </a:solidFill>
                <a:latin typeface="Segoe UI"/>
              </a:defRPr>
            </a:pPr>
            <a:r>
              <a:rPr dirty="0">
                <a:solidFill>
                  <a:schemeClr val="bg1"/>
                </a:solidFill>
              </a:rPr>
              <a:t>ASR </a:t>
            </a:r>
            <a:r>
              <a:rPr dirty="0" err="1">
                <a:solidFill>
                  <a:schemeClr val="bg1"/>
                </a:solidFill>
              </a:rPr>
              <a:t>audit→enforce</a:t>
            </a:r>
            <a:endParaRPr dirty="0">
              <a:solidFill>
                <a:schemeClr val="bg1"/>
              </a:solidFill>
            </a:endParaRPr>
          </a:p>
          <a:p>
            <a:pPr>
              <a:defRPr sz="2000">
                <a:solidFill>
                  <a:srgbClr val="111827"/>
                </a:solidFill>
                <a:latin typeface="Segoe UI"/>
              </a:defRPr>
            </a:pPr>
            <a:r>
              <a:rPr dirty="0">
                <a:solidFill>
                  <a:schemeClr val="bg1"/>
                </a:solidFill>
              </a:rPr>
              <a:t>Restrict RDP scope + NLA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737360"/>
            <a:ext cx="512064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11827"/>
                </a:solidFill>
                <a:latin typeface="Segoe UI"/>
              </a:defRPr>
            </a:pPr>
            <a:r>
              <a:rPr dirty="0">
                <a:solidFill>
                  <a:schemeClr val="bg1"/>
                </a:solidFill>
              </a:rPr>
              <a:t>WDAC ring rollout</a:t>
            </a:r>
          </a:p>
          <a:p>
            <a:pPr>
              <a:defRPr sz="2000">
                <a:solidFill>
                  <a:srgbClr val="111827"/>
                </a:solidFill>
                <a:latin typeface="Segoe UI"/>
              </a:defRPr>
            </a:pPr>
            <a:r>
              <a:rPr dirty="0">
                <a:solidFill>
                  <a:schemeClr val="bg1"/>
                </a:solidFill>
              </a:rPr>
              <a:t>NTLM restriction program</a:t>
            </a:r>
          </a:p>
          <a:p>
            <a:pPr>
              <a:defRPr sz="2000">
                <a:solidFill>
                  <a:srgbClr val="111827"/>
                </a:solidFill>
                <a:latin typeface="Segoe UI"/>
              </a:defRPr>
            </a:pPr>
            <a:r>
              <a:rPr dirty="0">
                <a:solidFill>
                  <a:schemeClr val="bg1"/>
                </a:solidFill>
              </a:rPr>
              <a:t>Tiered admin model + PAWs</a:t>
            </a:r>
          </a:p>
          <a:p>
            <a:pPr>
              <a:defRPr sz="2000">
                <a:solidFill>
                  <a:srgbClr val="111827"/>
                </a:solidFill>
                <a:latin typeface="Segoe UI"/>
              </a:defRPr>
            </a:pPr>
            <a:r>
              <a:rPr dirty="0">
                <a:solidFill>
                  <a:schemeClr val="bg1"/>
                </a:solidFill>
              </a:rPr>
              <a:t>Segmentation redesign</a:t>
            </a:r>
          </a:p>
          <a:p>
            <a:pPr>
              <a:defRPr sz="2000">
                <a:solidFill>
                  <a:srgbClr val="111827"/>
                </a:solidFill>
                <a:latin typeface="Segoe UI"/>
              </a:defRPr>
            </a:pPr>
            <a:r>
              <a:rPr dirty="0">
                <a:solidFill>
                  <a:schemeClr val="bg1"/>
                </a:solidFill>
              </a:rPr>
              <a:t>Centralized </a:t>
            </a:r>
            <a:r>
              <a:rPr dirty="0" err="1">
                <a:solidFill>
                  <a:schemeClr val="bg1"/>
                </a:solidFill>
              </a:rPr>
              <a:t>logging+detections</a:t>
            </a: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2103120"/>
            <a:ext cx="10728655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>
                <a:solidFill>
                  <a:srgbClr val="FFFFFF"/>
                </a:solidFill>
                <a:latin typeface="Segoe UI Semibold"/>
              </a:defRPr>
            </a:pPr>
            <a:r>
              <a:t>Appendix</a:t>
            </a:r>
          </a:p>
          <a:p>
            <a:pPr>
              <a:defRPr sz="2400">
                <a:solidFill>
                  <a:srgbClr val="E5E7EB"/>
                </a:solidFill>
                <a:latin typeface="Segoe UI"/>
              </a:defRPr>
            </a:pPr>
            <a:r>
              <a:t>Event IDs &amp; logs (reference)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>
            <a:normAutofit fontScale="90000"/>
          </a:bodyPr>
          <a:lstStyle/>
          <a:p>
            <a:r>
              <a:rPr lang="en-US"/>
              <a:t>Event IDs (1/4): Credential theft &amp; logon abuse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/>
          <a:lstStyle/>
          <a:p>
            <a:r>
              <a:rPr lang="en-US"/>
              <a:t>Security: 4624/4625 — Logon success/failure (watch LogonType 3 &amp; 10)</a:t>
            </a:r>
          </a:p>
          <a:p>
            <a:r>
              <a:rPr lang="en-US"/>
              <a:t>Security: 4648 — Logon with explicit credentials</a:t>
            </a:r>
          </a:p>
          <a:p>
            <a:r>
              <a:rPr lang="en-US"/>
              <a:t>Security: 4672 — Special privileges assigned</a:t>
            </a:r>
          </a:p>
          <a:p>
            <a:r>
              <a:rPr lang="en-US"/>
              <a:t>Security: 4768/4769 — Kerberos; Security: 4776 — NTLM authentication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>
            <a:normAutofit fontScale="90000"/>
          </a:bodyPr>
          <a:lstStyle/>
          <a:p>
            <a:r>
              <a:rPr lang="en-US"/>
              <a:t>Event IDs (2/4): Lateral movement &amp; remote execution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/>
          <a:lstStyle/>
          <a:p>
            <a:r>
              <a:rPr lang="en-US"/>
              <a:t>Security: 4688 — Process creation (enable command line auditing)</a:t>
            </a:r>
          </a:p>
          <a:p>
            <a:r>
              <a:rPr lang="en-US"/>
              <a:t>System: 7045 — New service installed; System: 7036 — Service state changes</a:t>
            </a:r>
          </a:p>
          <a:p>
            <a:r>
              <a:rPr lang="en-US"/>
              <a:t>Security: 4697 — Service installed; 4698/4699/4702 — Task create/delete/update</a:t>
            </a:r>
          </a:p>
          <a:p>
            <a:r>
              <a:rPr lang="en-US"/>
              <a:t>Security: 5140 — Network share access (watch C$, ADMIN$)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>
            <a:normAutofit fontScale="90000"/>
          </a:bodyPr>
          <a:lstStyle/>
          <a:p>
            <a:r>
              <a:rPr lang="sv-SE"/>
              <a:t>Event IDs (3/4): Privilege changes &amp; anti-forensics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/>
          <a:lstStyle/>
          <a:p>
            <a:r>
              <a:rPr lang="en-US"/>
              <a:t>Security: 4719 — Audit policy changed</a:t>
            </a:r>
          </a:p>
          <a:p>
            <a:r>
              <a:rPr lang="en-US"/>
              <a:t>Security: 4732/4733 — Local group member added/removed</a:t>
            </a:r>
          </a:p>
          <a:p>
            <a:r>
              <a:rPr lang="en-US"/>
              <a:t>Security: 4728/4729 — Domain group member added/removed</a:t>
            </a:r>
          </a:p>
          <a:p>
            <a:r>
              <a:rPr lang="en-US"/>
              <a:t>Security: 1102 — Audit log cleared (high severity)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>
            <a:normAutofit fontScale="90000"/>
          </a:bodyPr>
          <a:lstStyle/>
          <a:p>
            <a:r>
              <a:rPr lang="en-US"/>
              <a:t>Event IDs (4/4): WDAC / App control &amp; ASR verification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/>
          <a:lstStyle/>
          <a:p>
            <a:r>
              <a:rPr lang="sv-SE"/>
              <a:t>WDAC: Microsoft-Windows-CodeIntegrity/Operational (e.g., 3076 in audit scenarios)</a:t>
            </a:r>
          </a:p>
          <a:p>
            <a:r>
              <a:rPr lang="sv-SE"/>
              <a:t>AppLocker: Microsoft-Windows-AppLocker/*</a:t>
            </a:r>
          </a:p>
          <a:p>
            <a:r>
              <a:rPr lang="sv-SE"/>
              <a:t>ASR: Microsoft-Windows-Windows Defender/Operational</a:t>
            </a:r>
          </a:p>
          <a:p>
            <a:r>
              <a:rPr lang="sv-SE"/>
              <a:t>Tip: Audit → tune via events → Enforce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en-US"/>
              <a:t>If you do only 5 things…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/>
          <a:lstStyle/>
          <a:p>
            <a:r>
              <a:rPr lang="en-US"/>
              <a:t>Deploy Windows LAPS and eliminate standing local admin</a:t>
            </a:r>
          </a:p>
          <a:p>
            <a:r>
              <a:rPr lang="en-US"/>
              <a:t>Enable Credential Guard (where supported) + LSASS protections</a:t>
            </a:r>
          </a:p>
          <a:p>
            <a:r>
              <a:rPr lang="en-US"/>
              <a:t>Roll out ASR rules (Audit → Enforce) to block Office/script abuse</a:t>
            </a:r>
          </a:p>
          <a:p>
            <a:r>
              <a:rPr lang="en-US"/>
              <a:t>Constrain execution with WDAC (start with high-value rings / audit mode)</a:t>
            </a:r>
          </a:p>
          <a:p>
            <a:r>
              <a:rPr lang="en-US"/>
              <a:t>Default-deny inbound admin protocols; allow only from management subnets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578180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5530864"/>
      </p:ext>
    </p:extLst>
  </p:cSld>
  <p:clrMapOvr>
    <a:masterClrMapping/>
  </p:clrMapOvr>
</p:sld>
</file>

<file path=ppt/theme/theme1.xml><?xml version="1.0" encoding="utf-8"?>
<a:theme xmlns:a="http://schemas.openxmlformats.org/drawingml/2006/main" name="Dark Mod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MS  at MOA.potx" id="{3D8E68AC-16B8-4BF5-AFB2-B763BDCC3743}" vid="{944DB8A9-B0C4-41B8-9949-B64142275FBB}"/>
    </a:ext>
  </a:extLst>
</a:theme>
</file>

<file path=ppt/theme/theme2.xml><?xml version="1.0" encoding="utf-8"?>
<a:theme xmlns:a="http://schemas.openxmlformats.org/drawingml/2006/main" name="Light Mod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MS  at MOA.potx" id="{3D8E68AC-16B8-4BF5-AFB2-B763BDCC3743}" vid="{90CBDD63-E5FD-4EF7-9221-F3431DD88841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94c1987-0261-432a-b2ef-a9da39f1b5e2">
      <Terms xmlns="http://schemas.microsoft.com/office/infopath/2007/PartnerControls"/>
    </lcf76f155ced4ddcb4097134ff3c332f>
    <TaxCatchAll xmlns="0f628621-369a-46c7-83bd-de17ca40753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66787FB9552CF40BFF026EAAC52FBCA" ma:contentTypeVersion="20" ma:contentTypeDescription="Create a new document." ma:contentTypeScope="" ma:versionID="edddbbb644e7c0bd6adf7ea50799224d">
  <xsd:schema xmlns:xsd="http://www.w3.org/2001/XMLSchema" xmlns:xs="http://www.w3.org/2001/XMLSchema" xmlns:p="http://schemas.microsoft.com/office/2006/metadata/properties" xmlns:ns2="0f628621-369a-46c7-83bd-de17ca407533" xmlns:ns3="994c1987-0261-432a-b2ef-a9da39f1b5e2" targetNamespace="http://schemas.microsoft.com/office/2006/metadata/properties" ma:root="true" ma:fieldsID="49108ad5585ca2305a1dbbeb1151d3a3" ns2:_="" ns3:_="">
    <xsd:import namespace="0f628621-369a-46c7-83bd-de17ca407533"/>
    <xsd:import namespace="994c1987-0261-432a-b2ef-a9da39f1b5e2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2:LastSharedByUser" minOccurs="0"/>
                <xsd:element ref="ns2:LastSharedByTime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Location" minOccurs="0"/>
                <xsd:element ref="ns3:lcf76f155ced4ddcb4097134ff3c332f" minOccurs="0"/>
                <xsd:element ref="ns2:TaxCatchAll" minOccurs="0"/>
                <xsd:element ref="ns3:MediaServiceSearchProperties" minOccurs="0"/>
                <xsd:element ref="ns3:MediaServiceObjectDetectorVersion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628621-369a-46c7-83bd-de17ca407533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0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1" nillable="true" ma:displayName="Last Shared By Time" ma:description="" ma:internalName="LastSharedByTime" ma:readOnly="true">
      <xsd:simpleType>
        <xsd:restriction base="dms:DateTime"/>
      </xsd:simpleType>
    </xsd:element>
    <xsd:element name="TaxCatchAll" ma:index="23" nillable="true" ma:displayName="Taxonomy Catch All Column" ma:hidden="true" ma:list="{373337a8-41f0-47ae-895f-b179ccc8878d}" ma:internalName="TaxCatchAll" ma:showField="CatchAllData" ma:web="0f628621-369a-46c7-83bd-de17ca40753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4c1987-0261-432a-b2ef-a9da39f1b5e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2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04f3eb32-8128-4a7e-868e-0456b78e6ea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6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BB99CDF-4DD1-4BCA-94A9-937C9978E90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CE0B4D4-529D-4984-8525-2DCCA1BEFF9D}">
  <ds:schemaRefs>
    <ds:schemaRef ds:uri="994c1987-0261-432a-b2ef-a9da39f1b5e2"/>
    <ds:schemaRef ds:uri="http://schemas.openxmlformats.org/package/2006/metadata/core-properties"/>
    <ds:schemaRef ds:uri="0f628621-369a-46c7-83bd-de17ca407533"/>
    <ds:schemaRef ds:uri="http://www.w3.org/XML/1998/namespace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72549C15-4E42-4D07-A4DB-8ECA1C2B5F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f628621-369a-46c7-83bd-de17ca407533"/>
    <ds:schemaRef ds:uri="994c1987-0261-432a-b2ef-a9da39f1b5e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a23f2dc9-b9fe-448a-b0b1-aa092771f91e}" enabled="1" method="Privileged" siteId="{dd4bfd4f-bb54-4c50-ae35-38d9719db142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Windows Operating System Hardening_Nystrom_Niehaus</Template>
  <TotalTime>142</TotalTime>
  <Words>2688</Words>
  <Application>Microsoft Office PowerPoint</Application>
  <PresentationFormat>Widescreen</PresentationFormat>
  <Paragraphs>346</Paragraphs>
  <Slides>55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55</vt:i4>
      </vt:variant>
    </vt:vector>
  </HeadingPairs>
  <TitlesOfParts>
    <vt:vector size="62" baseType="lpstr">
      <vt:lpstr>Aptos</vt:lpstr>
      <vt:lpstr>Aptos Display</vt:lpstr>
      <vt:lpstr>Arial</vt:lpstr>
      <vt:lpstr>Calibri</vt:lpstr>
      <vt:lpstr>Wingdings</vt:lpstr>
      <vt:lpstr>Dark Mode</vt:lpstr>
      <vt:lpstr>Light Mode</vt:lpstr>
      <vt:lpstr>Windows Operating System Hardening</vt:lpstr>
      <vt:lpstr>Attention</vt:lpstr>
      <vt:lpstr>PowerPoint Presentation</vt:lpstr>
      <vt:lpstr>So, let us begin..</vt:lpstr>
      <vt:lpstr>What we hope you will understand</vt:lpstr>
      <vt:lpstr>What we will cover</vt:lpstr>
      <vt:lpstr>PowerPoint Presentation</vt:lpstr>
      <vt:lpstr>Modern reality: fewer exploits, more abuse</vt:lpstr>
      <vt:lpstr>Modern reality: fewer exploits, more abuse</vt:lpstr>
      <vt:lpstr>Principles of effective hardening</vt:lpstr>
      <vt:lpstr>PowerPoint Presentation</vt:lpstr>
      <vt:lpstr>Attack path: from initial access to domain impact</vt:lpstr>
      <vt:lpstr>Walkthrough overview</vt:lpstr>
      <vt:lpstr>Step 1: Foothold on a workstation</vt:lpstr>
      <vt:lpstr>Mitigations for Step 1</vt:lpstr>
      <vt:lpstr>Step 2: Credential access</vt:lpstr>
      <vt:lpstr>Mitigations for Step 2</vt:lpstr>
      <vt:lpstr>Step 3: Lateral movement</vt:lpstr>
      <vt:lpstr>Mitigations for Step 3</vt:lpstr>
      <vt:lpstr>Step 4: Privilege escalation → domain impact</vt:lpstr>
      <vt:lpstr>Mitigations for Step 4</vt:lpstr>
      <vt:lpstr>PowerPoint Presentation</vt:lpstr>
      <vt:lpstr>Top 10 hardening controls (prioritized)</vt:lpstr>
      <vt:lpstr>Top 10 controls – Why these work</vt:lpstr>
      <vt:lpstr>PowerPoint Presentation</vt:lpstr>
      <vt:lpstr>Baselines</vt:lpstr>
      <vt:lpstr>Client baseline: what ‘good’ looks like</vt:lpstr>
      <vt:lpstr>Example: LSA / LSASS hardening (Registry)</vt:lpstr>
      <vt:lpstr>GPO/Intune: Credential protections</vt:lpstr>
      <vt:lpstr>ASR – practical approach</vt:lpstr>
      <vt:lpstr>Browser + Office hardening (client)</vt:lpstr>
      <vt:lpstr>Client networking hardening</vt:lpstr>
      <vt:lpstr>Example: Disable LLMNR (GPO registry)</vt:lpstr>
      <vt:lpstr>WDAC vs AppLocker (client)</vt:lpstr>
      <vt:lpstr>Checking the client</vt:lpstr>
      <vt:lpstr>PowerPoint Presentation</vt:lpstr>
      <vt:lpstr>Server baseline: what changes from clients</vt:lpstr>
      <vt:lpstr>Role-specific hardening patterns</vt:lpstr>
      <vt:lpstr>Interactive logon restrictions (servers)</vt:lpstr>
      <vt:lpstr>Server remote management hardening</vt:lpstr>
      <vt:lpstr>SMB + NTLM hardening (servers)</vt:lpstr>
      <vt:lpstr>Server application control (high value roles)</vt:lpstr>
      <vt:lpstr>Baselines for servers</vt:lpstr>
      <vt:lpstr>PowerPoint Presentation</vt:lpstr>
      <vt:lpstr>Verification: how you know it’s working</vt:lpstr>
      <vt:lpstr>Rollout strategy (mixed estates)</vt:lpstr>
      <vt:lpstr>Quick wins vs longer programs</vt:lpstr>
      <vt:lpstr>PowerPoint Presentation</vt:lpstr>
      <vt:lpstr>Event IDs (1/4): Credential theft &amp; logon abuse</vt:lpstr>
      <vt:lpstr>Event IDs (2/4): Lateral movement &amp; remote execution</vt:lpstr>
      <vt:lpstr>Event IDs (3/4): Privilege changes &amp; anti-forensics</vt:lpstr>
      <vt:lpstr>Event IDs (4/4): WDAC / App control &amp; ASR verification</vt:lpstr>
      <vt:lpstr>If you do only 5 things…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MMS 2026 at MOA</dc:subject>
  <dc:creator>Mikael Nyström</dc:creator>
  <cp:lastModifiedBy>Mikael Nyström</cp:lastModifiedBy>
  <cp:revision>5</cp:revision>
  <dcterms:created xsi:type="dcterms:W3CDTF">2026-05-06T13:06:53Z</dcterms:created>
  <dcterms:modified xsi:type="dcterms:W3CDTF">2026-05-06T15:43:53Z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0x010100066787FB9552CF40BFF026EAAC52FBCA</vt:lpwstr>
  </property>
  <property fmtid="{D5CDD505-2E9C-101B-9397-08002B2CF9AE}" pid="3" name="MediaServiceImageTags">
    <vt:lpwstr/>
  </property>
</Properties>
</file>