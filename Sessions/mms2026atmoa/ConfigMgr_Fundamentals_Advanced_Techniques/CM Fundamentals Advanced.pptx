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omments/modernComment_11D_C37BF49C.xml" ContentType="application/vnd.ms-powerpoint.comments+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4" r:id="rId5"/>
  </p:sldMasterIdLst>
  <p:notesMasterIdLst>
    <p:notesMasterId r:id="rId44"/>
  </p:notesMasterIdLst>
  <p:handoutMasterIdLst>
    <p:handoutMasterId r:id="rId45"/>
  </p:handoutMasterIdLst>
  <p:sldIdLst>
    <p:sldId id="256" r:id="rId6"/>
    <p:sldId id="264" r:id="rId7"/>
    <p:sldId id="267" r:id="rId8"/>
    <p:sldId id="272" r:id="rId9"/>
    <p:sldId id="273" r:id="rId10"/>
    <p:sldId id="291" r:id="rId11"/>
    <p:sldId id="292" r:id="rId12"/>
    <p:sldId id="274" r:id="rId13"/>
    <p:sldId id="293" r:id="rId14"/>
    <p:sldId id="295" r:id="rId15"/>
    <p:sldId id="296" r:id="rId16"/>
    <p:sldId id="276" r:id="rId17"/>
    <p:sldId id="277" r:id="rId18"/>
    <p:sldId id="278" r:id="rId19"/>
    <p:sldId id="279" r:id="rId20"/>
    <p:sldId id="275" r:id="rId21"/>
    <p:sldId id="281" r:id="rId22"/>
    <p:sldId id="298" r:id="rId23"/>
    <p:sldId id="299" r:id="rId24"/>
    <p:sldId id="300" r:id="rId25"/>
    <p:sldId id="280" r:id="rId26"/>
    <p:sldId id="306" r:id="rId27"/>
    <p:sldId id="284" r:id="rId28"/>
    <p:sldId id="283" r:id="rId29"/>
    <p:sldId id="285" r:id="rId30"/>
    <p:sldId id="286" r:id="rId31"/>
    <p:sldId id="301" r:id="rId32"/>
    <p:sldId id="302" r:id="rId33"/>
    <p:sldId id="287" r:id="rId34"/>
    <p:sldId id="305" r:id="rId35"/>
    <p:sldId id="304" r:id="rId36"/>
    <p:sldId id="303" r:id="rId37"/>
    <p:sldId id="288" r:id="rId38"/>
    <p:sldId id="289" r:id="rId39"/>
    <p:sldId id="294" r:id="rId40"/>
    <p:sldId id="266" r:id="rId41"/>
    <p:sldId id="263" r:id="rId42"/>
    <p:sldId id="265"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547C90A1-52DE-4C0C-9748-AA4C35CE60DF}">
          <p14:sldIdLst>
            <p14:sldId id="256"/>
            <p14:sldId id="264"/>
            <p14:sldId id="267"/>
            <p14:sldId id="272"/>
          </p14:sldIdLst>
        </p14:section>
        <p14:section name="Presentation" id="{88398753-748C-4CE7-B81D-D95829EA2652}">
          <p14:sldIdLst>
            <p14:sldId id="273"/>
            <p14:sldId id="291"/>
            <p14:sldId id="292"/>
            <p14:sldId id="274"/>
            <p14:sldId id="293"/>
            <p14:sldId id="295"/>
            <p14:sldId id="296"/>
            <p14:sldId id="276"/>
            <p14:sldId id="277"/>
            <p14:sldId id="278"/>
            <p14:sldId id="279"/>
            <p14:sldId id="275"/>
            <p14:sldId id="281"/>
            <p14:sldId id="298"/>
            <p14:sldId id="299"/>
            <p14:sldId id="300"/>
            <p14:sldId id="280"/>
            <p14:sldId id="306"/>
            <p14:sldId id="284"/>
            <p14:sldId id="283"/>
            <p14:sldId id="285"/>
            <p14:sldId id="286"/>
            <p14:sldId id="301"/>
            <p14:sldId id="302"/>
            <p14:sldId id="287"/>
            <p14:sldId id="305"/>
            <p14:sldId id="304"/>
            <p14:sldId id="303"/>
            <p14:sldId id="288"/>
            <p14:sldId id="289"/>
            <p14:sldId id="294"/>
          </p14:sldIdLst>
        </p14:section>
        <p14:section name="Closing" id="{35F0DD0F-C871-4339-9D6B-25AB6010E816}">
          <p14:sldIdLst>
            <p14:sldId id="266"/>
            <p14:sldId id="263"/>
            <p14:sldId id="265"/>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F90741B-0558-DE5C-FF95-31D799E0A2E8}" name="Garth Jones" initials="GJ" userId="S::garthj@recastsoftware.com::7a5c6f77-8a72-4db4-b572-5247258f068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1C24"/>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10A12FC-B254-44D9-851D-3D03383F4DD3}" v="140" dt="2026-04-15T09:39:20.640"/>
  </p1510:revLst>
</p1510:revInfo>
</file>

<file path=ppt/tableStyles.xml><?xml version="1.0" encoding="utf-8"?>
<a:tblStyleLst xmlns:a="http://schemas.openxmlformats.org/drawingml/2006/main" def="{5C22544A-7EE6-4342-B048-85BDC9FD1C3A}">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notesMaster" Target="notesMasters/notesMaster1.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theme" Target="theme/theme1.xml"/><Relationship Id="rId8" Type="http://schemas.openxmlformats.org/officeDocument/2006/relationships/slide" Target="slides/slide3.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presProps" Target="presProps.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210A12FC-B254-44D9-851D-3D03383F4DD3}"/>
    <pc:docChg chg="modSld">
      <pc:chgData name="Guest User" userId="" providerId="Windows Live" clId="Web-{210A12FC-B254-44D9-851D-3D03383F4DD3}" dt="2026-04-15T09:28:19.906" v="136" actId="20577"/>
      <pc:docMkLst>
        <pc:docMk/>
      </pc:docMkLst>
      <pc:sldChg chg="modSp">
        <pc:chgData name="Guest User" userId="" providerId="Windows Live" clId="Web-{210A12FC-B254-44D9-851D-3D03383F4DD3}" dt="2026-04-15T09:13:19.744" v="62" actId="20577"/>
        <pc:sldMkLst>
          <pc:docMk/>
          <pc:sldMk cId="2043223157" sldId="300"/>
        </pc:sldMkLst>
        <pc:spChg chg="mod">
          <ac:chgData name="Guest User" userId="" providerId="Windows Live" clId="Web-{210A12FC-B254-44D9-851D-3D03383F4DD3}" dt="2026-04-15T09:13:19.744" v="62" actId="20577"/>
          <ac:spMkLst>
            <pc:docMk/>
            <pc:sldMk cId="2043223157" sldId="300"/>
            <ac:spMk id="3" creationId="{0618FB99-D93D-7C9E-F158-3DACDA8AC23C}"/>
          </ac:spMkLst>
        </pc:spChg>
      </pc:sldChg>
      <pc:sldChg chg="addSp delSp modSp">
        <pc:chgData name="Guest User" userId="" providerId="Windows Live" clId="Web-{210A12FC-B254-44D9-851D-3D03383F4DD3}" dt="2026-04-15T09:28:19.906" v="136" actId="20577"/>
        <pc:sldMkLst>
          <pc:docMk/>
          <pc:sldMk cId="4242584722" sldId="306"/>
        </pc:sldMkLst>
        <pc:spChg chg="del mod">
          <ac:chgData name="Guest User" userId="" providerId="Windows Live" clId="Web-{210A12FC-B254-44D9-851D-3D03383F4DD3}" dt="2026-04-15T09:14:47.903" v="67"/>
          <ac:spMkLst>
            <pc:docMk/>
            <pc:sldMk cId="4242584722" sldId="306"/>
            <ac:spMk id="2" creationId="{338877DB-802A-0211-4181-64EF252CCB5A}"/>
          </ac:spMkLst>
        </pc:spChg>
        <pc:spChg chg="mod">
          <ac:chgData name="Guest User" userId="" providerId="Windows Live" clId="Web-{210A12FC-B254-44D9-851D-3D03383F4DD3}" dt="2026-04-15T09:28:19.906" v="136" actId="20577"/>
          <ac:spMkLst>
            <pc:docMk/>
            <pc:sldMk cId="4242584722" sldId="306"/>
            <ac:spMk id="3" creationId="{4930784A-2A33-ECC2-54F5-1FABEB4DDA97}"/>
          </ac:spMkLst>
        </pc:spChg>
        <pc:picChg chg="add del mod">
          <ac:chgData name="Guest User" userId="" providerId="Windows Live" clId="Web-{210A12FC-B254-44D9-851D-3D03383F4DD3}" dt="2026-04-15T09:15:35.653" v="125"/>
          <ac:picMkLst>
            <pc:docMk/>
            <pc:sldMk cId="4242584722" sldId="306"/>
            <ac:picMk id="4" creationId="{95963C12-44F2-7184-824A-61CA2C47CA11}"/>
          </ac:picMkLst>
        </pc:picChg>
        <pc:picChg chg="add mod">
          <ac:chgData name="Guest User" userId="" providerId="Windows Live" clId="Web-{210A12FC-B254-44D9-851D-3D03383F4DD3}" dt="2026-04-15T09:16:46.045" v="130" actId="1076"/>
          <ac:picMkLst>
            <pc:docMk/>
            <pc:sldMk cId="4242584722" sldId="306"/>
            <ac:picMk id="5" creationId="{4AB60A24-8297-5E35-4CB0-7B1F5140E255}"/>
          </ac:picMkLst>
        </pc:picChg>
      </pc:sldChg>
    </pc:docChg>
  </pc:docChgLst>
  <pc:docChgLst>
    <pc:chgData name="Sherry Kissinger" userId="00e9df021bfa31c1" providerId="LiveId" clId="{76DA52F0-BEB7-4153-A867-7DE3354D87E0}"/>
    <pc:docChg chg="undo custSel addSld modSld">
      <pc:chgData name="Sherry Kissinger" userId="00e9df021bfa31c1" providerId="LiveId" clId="{76DA52F0-BEB7-4153-A867-7DE3354D87E0}" dt="2026-03-18T11:09:54.869" v="509" actId="20577"/>
      <pc:docMkLst>
        <pc:docMk/>
      </pc:docMkLst>
      <pc:sldChg chg="modSp add mod modNotesTx">
        <pc:chgData name="Sherry Kissinger" userId="00e9df021bfa31c1" providerId="LiveId" clId="{76DA52F0-BEB7-4153-A867-7DE3354D87E0}" dt="2026-03-18T11:09:54.869" v="509" actId="20577"/>
        <pc:sldMkLst>
          <pc:docMk/>
          <pc:sldMk cId="4242584722" sldId="306"/>
        </pc:sldMkLst>
      </pc:sldChg>
    </pc:docChg>
  </pc:docChgLst>
  <pc:docChgLst>
    <pc:chgData name="Guest User" providerId="Windows Live" clId="Web-{30C7DC35-3BF2-4106-A4C9-6E3EB2E08A75}"/>
    <pc:docChg chg="modSld">
      <pc:chgData name="Guest User" userId="" providerId="Windows Live" clId="Web-{30C7DC35-3BF2-4106-A4C9-6E3EB2E08A75}" dt="2026-03-18T11:20:30.598" v="2" actId="14100"/>
      <pc:docMkLst>
        <pc:docMk/>
      </pc:docMkLst>
      <pc:sldChg chg="addSp delSp modSp">
        <pc:chgData name="Guest User" userId="" providerId="Windows Live" clId="Web-{30C7DC35-3BF2-4106-A4C9-6E3EB2E08A75}" dt="2026-03-18T11:20:30.598" v="2" actId="14100"/>
        <pc:sldMkLst>
          <pc:docMk/>
          <pc:sldMk cId="3240864805" sldId="267"/>
        </pc:sldMkLst>
        <pc:picChg chg="add mod ord">
          <ac:chgData name="Guest User" userId="" providerId="Windows Live" clId="Web-{30C7DC35-3BF2-4106-A4C9-6E3EB2E08A75}" dt="2026-03-18T11:20:30.598" v="2" actId="14100"/>
          <ac:picMkLst>
            <pc:docMk/>
            <pc:sldMk cId="3240864805" sldId="267"/>
            <ac:picMk id="2" creationId="{AC94C9B7-6CDF-78E6-5A48-51CAF2FFA73F}"/>
          </ac:picMkLst>
        </pc:picChg>
      </pc:sldChg>
    </pc:docChg>
  </pc:docChgLst>
  <pc:docChgLst>
    <pc:chgData name="Guest User" providerId="Windows Live" clId="Web-{2E3FB24D-6CBC-4CBB-AEA1-F588480E2C1E}"/>
    <pc:docChg chg="modSld">
      <pc:chgData name="Guest User" userId="" providerId="Windows Live" clId="Web-{2E3FB24D-6CBC-4CBB-AEA1-F588480E2C1E}" dt="2026-03-18T11:16:45.324" v="4"/>
      <pc:docMkLst>
        <pc:docMk/>
      </pc:docMkLst>
      <pc:sldChg chg="addSp delSp modSp">
        <pc:chgData name="Guest User" userId="" providerId="Windows Live" clId="Web-{2E3FB24D-6CBC-4CBB-AEA1-F588480E2C1E}" dt="2026-03-18T11:16:45.324" v="4"/>
        <pc:sldMkLst>
          <pc:docMk/>
          <pc:sldMk cId="3240864805" sldId="267"/>
        </pc:sldMkLst>
      </pc:sldChg>
    </pc:docChg>
  </pc:docChgLst>
</pc:chgInfo>
</file>

<file path=ppt/comments/modernComment_11D_C37BF49C.xml><?xml version="1.0" encoding="utf-8"?>
<p188:cmLst xmlns:a="http://schemas.openxmlformats.org/drawingml/2006/main" xmlns:r="http://schemas.openxmlformats.org/officeDocument/2006/relationships" xmlns:p188="http://schemas.microsoft.com/office/powerpoint/2018/8/main">
  <p188:cm id="{2E7EB44E-FB79-4B1F-9E0B-3086696CFA28}" authorId="{7F90741B-0558-DE5C-FF95-31D799E0A2E8}" created="2025-03-21T18:24:34.997">
    <pc:sldMkLst xmlns:pc="http://schemas.microsoft.com/office/powerpoint/2013/main/command">
      <pc:docMk/>
      <pc:sldMk cId="3279680668" sldId="285"/>
    </pc:sldMkLst>
    <p188:txBody>
      <a:bodyPr/>
      <a:lstStyle/>
      <a:p>
        <a:r>
          <a:rPr lang="en-CA"/>
          <a:t>We should add the SQL Queries to Folder</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E479DD7-BEB9-FB69-F785-68848A4099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AF1EC562-ED04-0689-F45A-C2EBCD3AFE6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A59BDEA-31B7-4DB6-C40F-9DED321F516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4ADBB9A-3F38-44C9-81C4-CD9EE35AF0DB}" type="slidenum">
              <a:rPr lang="en-US" smtClean="0"/>
              <a:t>‹#›</a:t>
            </a:fld>
            <a:endParaRPr lang="en-US"/>
          </a:p>
        </p:txBody>
      </p:sp>
    </p:spTree>
    <p:extLst>
      <p:ext uri="{BB962C8B-B14F-4D97-AF65-F5344CB8AC3E}">
        <p14:creationId xmlns:p14="http://schemas.microsoft.com/office/powerpoint/2010/main" val="3154314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8C6C4DE-D635-4A5B-8E41-D4B38979DAED}" type="datetimeFigureOut">
              <a:rPr lang="en-US" smtClean="0"/>
              <a:t>4/15/2026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AD80F7-5E7C-4499-9F3C-358AB78FA6C3}" type="slidenum">
              <a:rPr lang="en-US" smtClean="0"/>
              <a:t>‹#›</a:t>
            </a:fld>
            <a:endParaRPr lang="en-US"/>
          </a:p>
        </p:txBody>
      </p:sp>
    </p:spTree>
    <p:extLst>
      <p:ext uri="{BB962C8B-B14F-4D97-AF65-F5344CB8AC3E}">
        <p14:creationId xmlns:p14="http://schemas.microsoft.com/office/powerpoint/2010/main" val="3876169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csmug.org/blogs/sherry-kissinger/541-use-cm-console-scripts-node-to-gather-log-files-from-cm-clients" TargetMode="External"/><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700A80F0-1051-4590-8345-8528FA5A6D41}" type="slidenum">
              <a:rPr lang="en-US" smtClean="0"/>
              <a:t>8</a:t>
            </a:fld>
            <a:endParaRPr lang="en-US"/>
          </a:p>
        </p:txBody>
      </p:sp>
    </p:spTree>
    <p:extLst>
      <p:ext uri="{BB962C8B-B14F-4D97-AF65-F5344CB8AC3E}">
        <p14:creationId xmlns:p14="http://schemas.microsoft.com/office/powerpoint/2010/main" val="38573199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Char char="•"/>
            </a:pPr>
            <a:r>
              <a:rPr lang="en-US" sz="1200" b="0" i="0" u="none" strike="noStrike">
                <a:solidFill>
                  <a:srgbClr val="000000"/>
                </a:solidFill>
                <a:effectLst/>
                <a:latin typeface="Aptos"/>
              </a:rPr>
              <a:t>Show where Management Insights are in the cm console</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Show where </a:t>
            </a:r>
            <a:r>
              <a:rPr lang="en-US" sz="1200" b="0" i="0" u="none" strike="noStrike" err="1">
                <a:solidFill>
                  <a:srgbClr val="000000"/>
                </a:solidFill>
                <a:effectLst/>
                <a:latin typeface="Aptos"/>
              </a:rPr>
              <a:t>coll</a:t>
            </a:r>
            <a:r>
              <a:rPr lang="en-US" sz="1200" b="0" i="0" u="none" strike="noStrike">
                <a:solidFill>
                  <a:srgbClr val="000000"/>
                </a:solidFill>
                <a:effectLst/>
                <a:latin typeface="Aptos"/>
              </a:rPr>
              <a:t> eval is in the console, sort by time, etc. (Optionally show in </a:t>
            </a:r>
            <a:r>
              <a:rPr lang="en-US" sz="1200" b="0" i="0" u="none" strike="noStrike" err="1">
                <a:solidFill>
                  <a:srgbClr val="000000"/>
                </a:solidFill>
                <a:effectLst/>
                <a:latin typeface="Aptos"/>
              </a:rPr>
              <a:t>sql</a:t>
            </a:r>
            <a:r>
              <a:rPr lang="en-US" sz="1200" b="0" i="0" u="none" strike="noStrike">
                <a:solidFill>
                  <a:srgbClr val="000000"/>
                </a:solidFill>
                <a:effectLst/>
                <a:latin typeface="Aptos"/>
              </a:rPr>
              <a:t> where </a:t>
            </a:r>
            <a:r>
              <a:rPr lang="en-US" sz="1200" b="0" i="0" u="none" strike="noStrike" err="1">
                <a:solidFill>
                  <a:srgbClr val="000000"/>
                </a:solidFill>
                <a:effectLst/>
                <a:latin typeface="Aptos"/>
              </a:rPr>
              <a:t>colleval</a:t>
            </a:r>
            <a:r>
              <a:rPr lang="en-US" sz="1200" b="0" i="0" u="none" strike="noStrike">
                <a:solidFill>
                  <a:srgbClr val="000000"/>
                </a:solidFill>
                <a:effectLst/>
                <a:latin typeface="Aptos"/>
              </a:rPr>
              <a:t> stuff is, may not be able to, that’s more of a ‘large environment’ thing. Doubt my lab will show anything at all.)</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Check for collections where </a:t>
            </a:r>
            <a:r>
              <a:rPr lang="en-US" sz="1200" b="0" i="0" u="none" strike="noStrike" err="1">
                <a:solidFill>
                  <a:srgbClr val="000000"/>
                </a:solidFill>
                <a:effectLst/>
                <a:latin typeface="Aptos"/>
              </a:rPr>
              <a:t>membercount</a:t>
            </a:r>
            <a:r>
              <a:rPr lang="en-US" sz="1200" b="0" i="0" u="none" strike="noStrike">
                <a:solidFill>
                  <a:srgbClr val="000000"/>
                </a:solidFill>
                <a:effectLst/>
                <a:latin typeface="Aptos"/>
              </a:rPr>
              <a:t>=0 and last </a:t>
            </a:r>
            <a:r>
              <a:rPr lang="en-US" sz="1200" b="0" i="0" u="none" strike="noStrike" err="1">
                <a:solidFill>
                  <a:srgbClr val="000000"/>
                </a:solidFill>
                <a:effectLst/>
                <a:latin typeface="Aptos"/>
              </a:rPr>
              <a:t>memberchangetime</a:t>
            </a:r>
            <a:r>
              <a:rPr lang="en-US" sz="1200" b="0" i="0" u="none" strike="noStrike">
                <a:solidFill>
                  <a:srgbClr val="000000"/>
                </a:solidFill>
                <a:effectLst/>
                <a:latin typeface="Aptos"/>
              </a:rPr>
              <a:t> was in the distant past, and is NOT a </a:t>
            </a:r>
            <a:r>
              <a:rPr lang="en-US" sz="1200" b="0" i="0" u="none" strike="noStrike" err="1">
                <a:solidFill>
                  <a:srgbClr val="000000"/>
                </a:solidFill>
                <a:effectLst/>
                <a:latin typeface="Aptos"/>
              </a:rPr>
              <a:t>sms</a:t>
            </a:r>
            <a:r>
              <a:rPr lang="en-US" sz="1200" b="0" i="0" u="none" strike="noStrike">
                <a:solidFill>
                  <a:srgbClr val="000000"/>
                </a:solidFill>
                <a:effectLst/>
                <a:latin typeface="Aptos"/>
              </a:rPr>
              <a:t>* default collection. Consider the need for that collection to stay.</a:t>
            </a:r>
            <a:r>
              <a:rPr lang="en-US" sz="1200" b="0" i="0">
                <a:solidFill>
                  <a:srgbClr val="444444"/>
                </a:solidFill>
                <a:effectLst/>
                <a:latin typeface="Aptos"/>
              </a:rPr>
              <a:t>​</a:t>
            </a:r>
          </a:p>
          <a:p>
            <a:pPr>
              <a:buFont typeface="Arial" panose="020B0604020202020204" pitchFamily="34" charset="0"/>
              <a:buChar char="•"/>
            </a:pPr>
            <a:r>
              <a:rPr lang="en-US">
                <a:solidFill>
                  <a:srgbClr val="444444"/>
                </a:solidFill>
                <a:latin typeface="Aptos"/>
              </a:rPr>
              <a:t>Check your Incremental Collections.</a:t>
            </a:r>
          </a:p>
          <a:p>
            <a:pPr algn="l" rtl="0" fontAlgn="base">
              <a:buFont typeface="Arial" panose="020B0604020202020204" pitchFamily="34" charset="0"/>
              <a:buChar char="•"/>
            </a:pPr>
            <a:r>
              <a:rPr lang="en-US" sz="1200" b="0" i="0" u="none" strike="noStrike">
                <a:solidFill>
                  <a:srgbClr val="000000"/>
                </a:solidFill>
                <a:effectLst/>
                <a:latin typeface="Aptos"/>
              </a:rPr>
              <a:t>Easily create randomized ‘ring’ collections using SMSGUID</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Demo a sync'd Intune Collection (and possibly explain why you want to)</a:t>
            </a:r>
            <a:endParaRPr lang="en-US" sz="1200" b="0" i="0">
              <a:solidFill>
                <a:srgbClr val="444444"/>
              </a:solidFill>
              <a:effectLst/>
              <a:latin typeface="Aptos"/>
            </a:endParaRPr>
          </a:p>
          <a:p>
            <a:endParaRPr lang="en-US"/>
          </a:p>
        </p:txBody>
      </p:sp>
      <p:sp>
        <p:nvSpPr>
          <p:cNvPr id="4" name="Slide Number Placeholder 3"/>
          <p:cNvSpPr>
            <a:spLocks noGrp="1"/>
          </p:cNvSpPr>
          <p:nvPr>
            <p:ph type="sldNum" sz="quarter" idx="5"/>
          </p:nvPr>
        </p:nvSpPr>
        <p:spPr/>
        <p:txBody>
          <a:bodyPr/>
          <a:lstStyle/>
          <a:p>
            <a:fld id="{700A80F0-1051-4590-8345-8528FA5A6D41}" type="slidenum">
              <a:rPr lang="en-US" smtClean="0"/>
              <a:t>9</a:t>
            </a:fld>
            <a:endParaRPr lang="en-US"/>
          </a:p>
        </p:txBody>
      </p:sp>
    </p:spTree>
    <p:extLst>
      <p:ext uri="{BB962C8B-B14F-4D97-AF65-F5344CB8AC3E}">
        <p14:creationId xmlns:p14="http://schemas.microsoft.com/office/powerpoint/2010/main" val="12385854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941F4-AF63-34E9-BE5A-13A56621D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C65D20-B589-3B6E-C4A8-7BEE1B3395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FE9B8-76B7-958F-EC98-D5C53457E97A}"/>
              </a:ext>
            </a:extLst>
          </p:cNvPr>
          <p:cNvSpPr>
            <a:spLocks noGrp="1"/>
          </p:cNvSpPr>
          <p:nvPr>
            <p:ph type="body" idx="1"/>
          </p:nvPr>
        </p:nvSpPr>
        <p:spPr/>
        <p:txBody>
          <a:bodyPr/>
          <a:lstStyle/>
          <a:p>
            <a:pPr algn="l" rtl="0" fontAlgn="base">
              <a:buFont typeface="Arial" panose="020B0604020202020204" pitchFamily="34" charset="0"/>
              <a:buChar char="•"/>
            </a:pPr>
            <a:r>
              <a:rPr lang="en-US" sz="1200" b="0" i="0" u="none" strike="noStrike">
                <a:solidFill>
                  <a:srgbClr val="000000"/>
                </a:solidFill>
                <a:effectLst/>
                <a:latin typeface="Aptos"/>
              </a:rPr>
              <a:t>Show where Management Insights are in the cm console</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Show where </a:t>
            </a:r>
            <a:r>
              <a:rPr lang="en-US" sz="1200" b="0" i="0" u="none" strike="noStrike" err="1">
                <a:solidFill>
                  <a:srgbClr val="000000"/>
                </a:solidFill>
                <a:effectLst/>
                <a:latin typeface="Aptos"/>
              </a:rPr>
              <a:t>coll</a:t>
            </a:r>
            <a:r>
              <a:rPr lang="en-US" sz="1200" b="0" i="0" u="none" strike="noStrike">
                <a:solidFill>
                  <a:srgbClr val="000000"/>
                </a:solidFill>
                <a:effectLst/>
                <a:latin typeface="Aptos"/>
              </a:rPr>
              <a:t> eval is in the console, sort by time, etc. (Optionally show in </a:t>
            </a:r>
            <a:r>
              <a:rPr lang="en-US" sz="1200" b="0" i="0" u="none" strike="noStrike" err="1">
                <a:solidFill>
                  <a:srgbClr val="000000"/>
                </a:solidFill>
                <a:effectLst/>
                <a:latin typeface="Aptos"/>
              </a:rPr>
              <a:t>sql</a:t>
            </a:r>
            <a:r>
              <a:rPr lang="en-US" sz="1200" b="0" i="0" u="none" strike="noStrike">
                <a:solidFill>
                  <a:srgbClr val="000000"/>
                </a:solidFill>
                <a:effectLst/>
                <a:latin typeface="Aptos"/>
              </a:rPr>
              <a:t> where </a:t>
            </a:r>
            <a:r>
              <a:rPr lang="en-US" sz="1200" b="0" i="0" u="none" strike="noStrike" err="1">
                <a:solidFill>
                  <a:srgbClr val="000000"/>
                </a:solidFill>
                <a:effectLst/>
                <a:latin typeface="Aptos"/>
              </a:rPr>
              <a:t>colleval</a:t>
            </a:r>
            <a:r>
              <a:rPr lang="en-US" sz="1200" b="0" i="0" u="none" strike="noStrike">
                <a:solidFill>
                  <a:srgbClr val="000000"/>
                </a:solidFill>
                <a:effectLst/>
                <a:latin typeface="Aptos"/>
              </a:rPr>
              <a:t> stuff is, may not be able to, that’s more of a ‘large environment’ thing. Doubt my lab will show anything at all.)</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Check for collections where </a:t>
            </a:r>
            <a:r>
              <a:rPr lang="en-US" sz="1200" b="0" i="0" u="none" strike="noStrike" err="1">
                <a:solidFill>
                  <a:srgbClr val="000000"/>
                </a:solidFill>
                <a:effectLst/>
                <a:latin typeface="Aptos"/>
              </a:rPr>
              <a:t>membercount</a:t>
            </a:r>
            <a:r>
              <a:rPr lang="en-US" sz="1200" b="0" i="0" u="none" strike="noStrike">
                <a:solidFill>
                  <a:srgbClr val="000000"/>
                </a:solidFill>
                <a:effectLst/>
                <a:latin typeface="Aptos"/>
              </a:rPr>
              <a:t>=0 and last </a:t>
            </a:r>
            <a:r>
              <a:rPr lang="en-US" sz="1200" b="0" i="0" u="none" strike="noStrike" err="1">
                <a:solidFill>
                  <a:srgbClr val="000000"/>
                </a:solidFill>
                <a:effectLst/>
                <a:latin typeface="Aptos"/>
              </a:rPr>
              <a:t>memberchangetime</a:t>
            </a:r>
            <a:r>
              <a:rPr lang="en-US" sz="1200" b="0" i="0" u="none" strike="noStrike">
                <a:solidFill>
                  <a:srgbClr val="000000"/>
                </a:solidFill>
                <a:effectLst/>
                <a:latin typeface="Aptos"/>
              </a:rPr>
              <a:t> was in the distant past, and is NOT a </a:t>
            </a:r>
            <a:r>
              <a:rPr lang="en-US" sz="1200" b="0" i="0" u="none" strike="noStrike" err="1">
                <a:solidFill>
                  <a:srgbClr val="000000"/>
                </a:solidFill>
                <a:effectLst/>
                <a:latin typeface="Aptos"/>
              </a:rPr>
              <a:t>sms</a:t>
            </a:r>
            <a:r>
              <a:rPr lang="en-US" sz="1200" b="0" i="0" u="none" strike="noStrike">
                <a:solidFill>
                  <a:srgbClr val="000000"/>
                </a:solidFill>
                <a:effectLst/>
                <a:latin typeface="Aptos"/>
              </a:rPr>
              <a:t>* default collection. Consider the need for that collection to stay.</a:t>
            </a:r>
            <a:r>
              <a:rPr lang="en-US" sz="1200" b="0" i="0">
                <a:solidFill>
                  <a:srgbClr val="444444"/>
                </a:solidFill>
                <a:effectLst/>
                <a:latin typeface="Aptos"/>
              </a:rPr>
              <a:t>​</a:t>
            </a:r>
          </a:p>
          <a:p>
            <a:pPr>
              <a:buFont typeface="Arial" panose="020B0604020202020204" pitchFamily="34" charset="0"/>
              <a:buChar char="•"/>
            </a:pPr>
            <a:r>
              <a:rPr lang="en-US">
                <a:solidFill>
                  <a:srgbClr val="444444"/>
                </a:solidFill>
                <a:latin typeface="Aptos"/>
              </a:rPr>
              <a:t>Check your Incremental Collections.</a:t>
            </a:r>
          </a:p>
          <a:p>
            <a:pPr algn="l" rtl="0" fontAlgn="base">
              <a:buFont typeface="Arial" panose="020B0604020202020204" pitchFamily="34" charset="0"/>
              <a:buChar char="•"/>
            </a:pPr>
            <a:r>
              <a:rPr lang="en-US" sz="1200" b="0" i="0" u="none" strike="noStrike">
                <a:solidFill>
                  <a:srgbClr val="000000"/>
                </a:solidFill>
                <a:effectLst/>
                <a:latin typeface="Aptos"/>
              </a:rPr>
              <a:t>Easily create randomized ‘ring’ collections using SMSGUID</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Demo a sync'd Intune Collection (and possibly explain why you want to)</a:t>
            </a:r>
            <a:endParaRPr lang="en-US" sz="1200" b="0" i="0">
              <a:solidFill>
                <a:srgbClr val="444444"/>
              </a:solidFill>
              <a:effectLst/>
              <a:latin typeface="Aptos"/>
            </a:endParaRPr>
          </a:p>
          <a:p>
            <a:endParaRPr lang="en-US"/>
          </a:p>
        </p:txBody>
      </p:sp>
      <p:sp>
        <p:nvSpPr>
          <p:cNvPr id="4" name="Slide Number Placeholder 3">
            <a:extLst>
              <a:ext uri="{FF2B5EF4-FFF2-40B4-BE49-F238E27FC236}">
                <a16:creationId xmlns:a16="http://schemas.microsoft.com/office/drawing/2014/main" id="{86F3CD26-F531-BA1A-0C09-A7F717260312}"/>
              </a:ext>
            </a:extLst>
          </p:cNvPr>
          <p:cNvSpPr>
            <a:spLocks noGrp="1"/>
          </p:cNvSpPr>
          <p:nvPr>
            <p:ph type="sldNum" sz="quarter" idx="5"/>
          </p:nvPr>
        </p:nvSpPr>
        <p:spPr/>
        <p:txBody>
          <a:bodyPr/>
          <a:lstStyle/>
          <a:p>
            <a:fld id="{700A80F0-1051-4590-8345-8528FA5A6D41}" type="slidenum">
              <a:rPr lang="en-US" smtClean="0"/>
              <a:t>10</a:t>
            </a:fld>
            <a:endParaRPr lang="en-US"/>
          </a:p>
        </p:txBody>
      </p:sp>
    </p:spTree>
    <p:extLst>
      <p:ext uri="{BB962C8B-B14F-4D97-AF65-F5344CB8AC3E}">
        <p14:creationId xmlns:p14="http://schemas.microsoft.com/office/powerpoint/2010/main" val="16244093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589F1-0791-6FEB-A244-42BE76D92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76B319-8E77-B3F5-CDC2-EE3CBDD496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D96214-00F4-2E3D-FD72-EF3DD46BCF08}"/>
              </a:ext>
            </a:extLst>
          </p:cNvPr>
          <p:cNvSpPr>
            <a:spLocks noGrp="1"/>
          </p:cNvSpPr>
          <p:nvPr>
            <p:ph type="body" idx="1"/>
          </p:nvPr>
        </p:nvSpPr>
        <p:spPr/>
        <p:txBody>
          <a:bodyPr/>
          <a:lstStyle/>
          <a:p>
            <a:pPr algn="l" rtl="0" fontAlgn="base">
              <a:buFont typeface="Arial" panose="020B0604020202020204" pitchFamily="34" charset="0"/>
              <a:buChar char="•"/>
            </a:pPr>
            <a:r>
              <a:rPr lang="en-US" sz="1200" b="0" i="0" u="none" strike="noStrike">
                <a:solidFill>
                  <a:srgbClr val="000000"/>
                </a:solidFill>
                <a:effectLst/>
                <a:latin typeface="Aptos"/>
              </a:rPr>
              <a:t>Show where Management Insights are in the cm console</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Show where </a:t>
            </a:r>
            <a:r>
              <a:rPr lang="en-US" sz="1200" b="0" i="0" u="none" strike="noStrike" err="1">
                <a:solidFill>
                  <a:srgbClr val="000000"/>
                </a:solidFill>
                <a:effectLst/>
                <a:latin typeface="Aptos"/>
              </a:rPr>
              <a:t>coll</a:t>
            </a:r>
            <a:r>
              <a:rPr lang="en-US" sz="1200" b="0" i="0" u="none" strike="noStrike">
                <a:solidFill>
                  <a:srgbClr val="000000"/>
                </a:solidFill>
                <a:effectLst/>
                <a:latin typeface="Aptos"/>
              </a:rPr>
              <a:t> eval is in the console, sort by time, etc. (Optionally show in </a:t>
            </a:r>
            <a:r>
              <a:rPr lang="en-US" sz="1200" b="0" i="0" u="none" strike="noStrike" err="1">
                <a:solidFill>
                  <a:srgbClr val="000000"/>
                </a:solidFill>
                <a:effectLst/>
                <a:latin typeface="Aptos"/>
              </a:rPr>
              <a:t>sql</a:t>
            </a:r>
            <a:r>
              <a:rPr lang="en-US" sz="1200" b="0" i="0" u="none" strike="noStrike">
                <a:solidFill>
                  <a:srgbClr val="000000"/>
                </a:solidFill>
                <a:effectLst/>
                <a:latin typeface="Aptos"/>
              </a:rPr>
              <a:t> where </a:t>
            </a:r>
            <a:r>
              <a:rPr lang="en-US" sz="1200" b="0" i="0" u="none" strike="noStrike" err="1">
                <a:solidFill>
                  <a:srgbClr val="000000"/>
                </a:solidFill>
                <a:effectLst/>
                <a:latin typeface="Aptos"/>
              </a:rPr>
              <a:t>colleval</a:t>
            </a:r>
            <a:r>
              <a:rPr lang="en-US" sz="1200" b="0" i="0" u="none" strike="noStrike">
                <a:solidFill>
                  <a:srgbClr val="000000"/>
                </a:solidFill>
                <a:effectLst/>
                <a:latin typeface="Aptos"/>
              </a:rPr>
              <a:t> stuff is, may not be able to, that’s more of a ‘large environment’ thing. Doubt my lab will show anything at all.)</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Check for collections where </a:t>
            </a:r>
            <a:r>
              <a:rPr lang="en-US" sz="1200" b="0" i="0" u="none" strike="noStrike" err="1">
                <a:solidFill>
                  <a:srgbClr val="000000"/>
                </a:solidFill>
                <a:effectLst/>
                <a:latin typeface="Aptos"/>
              </a:rPr>
              <a:t>membercount</a:t>
            </a:r>
            <a:r>
              <a:rPr lang="en-US" sz="1200" b="0" i="0" u="none" strike="noStrike">
                <a:solidFill>
                  <a:srgbClr val="000000"/>
                </a:solidFill>
                <a:effectLst/>
                <a:latin typeface="Aptos"/>
              </a:rPr>
              <a:t>=0 and last </a:t>
            </a:r>
            <a:r>
              <a:rPr lang="en-US" sz="1200" b="0" i="0" u="none" strike="noStrike" err="1">
                <a:solidFill>
                  <a:srgbClr val="000000"/>
                </a:solidFill>
                <a:effectLst/>
                <a:latin typeface="Aptos"/>
              </a:rPr>
              <a:t>memberchangetime</a:t>
            </a:r>
            <a:r>
              <a:rPr lang="en-US" sz="1200" b="0" i="0" u="none" strike="noStrike">
                <a:solidFill>
                  <a:srgbClr val="000000"/>
                </a:solidFill>
                <a:effectLst/>
                <a:latin typeface="Aptos"/>
              </a:rPr>
              <a:t> was in the distant past, and is NOT a </a:t>
            </a:r>
            <a:r>
              <a:rPr lang="en-US" sz="1200" b="0" i="0" u="none" strike="noStrike" err="1">
                <a:solidFill>
                  <a:srgbClr val="000000"/>
                </a:solidFill>
                <a:effectLst/>
                <a:latin typeface="Aptos"/>
              </a:rPr>
              <a:t>sms</a:t>
            </a:r>
            <a:r>
              <a:rPr lang="en-US" sz="1200" b="0" i="0" u="none" strike="noStrike">
                <a:solidFill>
                  <a:srgbClr val="000000"/>
                </a:solidFill>
                <a:effectLst/>
                <a:latin typeface="Aptos"/>
              </a:rPr>
              <a:t>* default collection. Consider the need for that collection to stay.</a:t>
            </a:r>
            <a:r>
              <a:rPr lang="en-US" sz="1200" b="0" i="0">
                <a:solidFill>
                  <a:srgbClr val="444444"/>
                </a:solidFill>
                <a:effectLst/>
                <a:latin typeface="Aptos"/>
              </a:rPr>
              <a:t>​</a:t>
            </a:r>
          </a:p>
          <a:p>
            <a:pPr>
              <a:buFont typeface="Arial" panose="020B0604020202020204" pitchFamily="34" charset="0"/>
              <a:buChar char="•"/>
            </a:pPr>
            <a:r>
              <a:rPr lang="en-US">
                <a:solidFill>
                  <a:srgbClr val="444444"/>
                </a:solidFill>
                <a:latin typeface="Aptos"/>
              </a:rPr>
              <a:t>Check your Incremental Collections.</a:t>
            </a:r>
          </a:p>
          <a:p>
            <a:pPr algn="l" rtl="0" fontAlgn="base">
              <a:buFont typeface="Arial" panose="020B0604020202020204" pitchFamily="34" charset="0"/>
              <a:buChar char="•"/>
            </a:pPr>
            <a:r>
              <a:rPr lang="en-US" sz="1200" b="0" i="0" u="none" strike="noStrike">
                <a:solidFill>
                  <a:srgbClr val="000000"/>
                </a:solidFill>
                <a:effectLst/>
                <a:latin typeface="Aptos"/>
              </a:rPr>
              <a:t>Easily create randomized ‘ring’ collections using SMSGUID</a:t>
            </a:r>
            <a:r>
              <a:rPr lang="en-US" sz="1200" b="0" i="0">
                <a:solidFill>
                  <a:srgbClr val="444444"/>
                </a:solidFill>
                <a:effectLst/>
                <a:latin typeface="Aptos"/>
              </a:rPr>
              <a:t>​</a:t>
            </a:r>
          </a:p>
          <a:p>
            <a:pPr algn="l" rtl="0" fontAlgn="base">
              <a:buFont typeface="Arial" panose="020B0604020202020204" pitchFamily="34" charset="0"/>
              <a:buChar char="•"/>
            </a:pPr>
            <a:r>
              <a:rPr lang="en-US" sz="1200" b="0" i="0" u="none" strike="noStrike">
                <a:solidFill>
                  <a:srgbClr val="000000"/>
                </a:solidFill>
                <a:effectLst/>
                <a:latin typeface="Aptos"/>
              </a:rPr>
              <a:t>Demo a sync'd Intune Collection (and possibly explain why you want to)</a:t>
            </a:r>
            <a:endParaRPr lang="en-US" sz="1200" b="0" i="0">
              <a:solidFill>
                <a:srgbClr val="444444"/>
              </a:solidFill>
              <a:effectLst/>
              <a:latin typeface="Aptos"/>
            </a:endParaRPr>
          </a:p>
          <a:p>
            <a:endParaRPr lang="en-US"/>
          </a:p>
        </p:txBody>
      </p:sp>
      <p:sp>
        <p:nvSpPr>
          <p:cNvPr id="4" name="Slide Number Placeholder 3">
            <a:extLst>
              <a:ext uri="{FF2B5EF4-FFF2-40B4-BE49-F238E27FC236}">
                <a16:creationId xmlns:a16="http://schemas.microsoft.com/office/drawing/2014/main" id="{01204850-F936-E5E5-0819-3E1E39CCD9E0}"/>
              </a:ext>
            </a:extLst>
          </p:cNvPr>
          <p:cNvSpPr>
            <a:spLocks noGrp="1"/>
          </p:cNvSpPr>
          <p:nvPr>
            <p:ph type="sldNum" sz="quarter" idx="5"/>
          </p:nvPr>
        </p:nvSpPr>
        <p:spPr/>
        <p:txBody>
          <a:bodyPr/>
          <a:lstStyle/>
          <a:p>
            <a:fld id="{700A80F0-1051-4590-8345-8528FA5A6D41}" type="slidenum">
              <a:rPr lang="en-US" smtClean="0"/>
              <a:t>11</a:t>
            </a:fld>
            <a:endParaRPr lang="en-US"/>
          </a:p>
        </p:txBody>
      </p:sp>
    </p:spTree>
    <p:extLst>
      <p:ext uri="{BB962C8B-B14F-4D97-AF65-F5344CB8AC3E}">
        <p14:creationId xmlns:p14="http://schemas.microsoft.com/office/powerpoint/2010/main" val="16658034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Package/programs/adverts:  Still the best for deploying Driver Updates</a:t>
            </a:r>
          </a:p>
        </p:txBody>
      </p:sp>
      <p:sp>
        <p:nvSpPr>
          <p:cNvPr id="4" name="Slide Number Placeholder 3"/>
          <p:cNvSpPr>
            <a:spLocks noGrp="1"/>
          </p:cNvSpPr>
          <p:nvPr>
            <p:ph type="sldNum" sz="quarter" idx="5"/>
          </p:nvPr>
        </p:nvSpPr>
        <p:spPr/>
        <p:txBody>
          <a:bodyPr/>
          <a:lstStyle/>
          <a:p>
            <a:fld id="{69AD80F7-5E7C-4499-9F3C-358AB78FA6C3}" type="slidenum">
              <a:rPr lang="en-US" smtClean="0"/>
              <a:t>15</a:t>
            </a:fld>
            <a:endParaRPr lang="en-US"/>
          </a:p>
        </p:txBody>
      </p:sp>
    </p:spTree>
    <p:extLst>
      <p:ext uri="{BB962C8B-B14F-4D97-AF65-F5344CB8AC3E}">
        <p14:creationId xmlns:p14="http://schemas.microsoft.com/office/powerpoint/2010/main" val="2759109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Char char="•"/>
            </a:pPr>
            <a:r>
              <a:rPr lang="en-US" sz="1800" b="0" i="0" u="none" strike="noStrike">
                <a:solidFill>
                  <a:srgbClr val="000000"/>
                </a:solidFill>
                <a:effectLst/>
                <a:latin typeface="Aptos" panose="020B0004020202020204" pitchFamily="34" charset="0"/>
              </a:rPr>
              <a:t>Show the Application, and the Package/program, for CMD prompt as system, </a:t>
            </a:r>
            <a:r>
              <a:rPr lang="en-US" sz="1800" b="0" i="0" u="none" strike="noStrike" err="1">
                <a:solidFill>
                  <a:srgbClr val="000000"/>
                </a:solidFill>
                <a:effectLst/>
                <a:latin typeface="Aptos" panose="020B0004020202020204" pitchFamily="34" charset="0"/>
              </a:rPr>
              <a:t>Powershell</a:t>
            </a:r>
            <a:r>
              <a:rPr lang="en-US" sz="1800" b="0" i="0" u="none" strike="noStrike">
                <a:solidFill>
                  <a:srgbClr val="000000"/>
                </a:solidFill>
                <a:effectLst/>
                <a:latin typeface="Aptos" panose="020B0004020202020204" pitchFamily="34" charset="0"/>
              </a:rPr>
              <a:t> as system. Deployed to a user collection, where you are the user (or your team)</a:t>
            </a:r>
            <a:r>
              <a:rPr lang="en-US" sz="1800" b="0" i="0">
                <a:solidFill>
                  <a:srgbClr val="444444"/>
                </a:solidFill>
                <a:effectLst/>
                <a:latin typeface="Aptos" panose="020B0004020202020204" pitchFamily="34" charset="0"/>
              </a:rPr>
              <a:t>​</a:t>
            </a:r>
            <a:endParaRPr lang="en-US" sz="1800" b="0" i="0">
              <a:solidFill>
                <a:srgbClr val="444444"/>
              </a:solidFill>
              <a:effectLst/>
              <a:latin typeface="Arial" panose="020B0604020202020204" pitchFamily="34" charset="0"/>
            </a:endParaRPr>
          </a:p>
          <a:p>
            <a:pPr lvl="1" algn="l" rtl="0" fontAlgn="base">
              <a:buFont typeface="Arial" panose="020B0604020202020204" pitchFamily="34" charset="0"/>
              <a:buChar char="•"/>
            </a:pPr>
            <a:r>
              <a:rPr lang="en-US" sz="1800" b="0" i="0" u="none" strike="noStrike">
                <a:solidFill>
                  <a:srgbClr val="000000"/>
                </a:solidFill>
                <a:effectLst/>
                <a:latin typeface="Aptos" panose="020B0004020202020204" pitchFamily="34" charset="0"/>
              </a:rPr>
              <a:t>Open up the logs for apps and package flow, show the flow (no content, but still…)</a:t>
            </a:r>
            <a:r>
              <a:rPr lang="en-US" sz="1800" b="0" i="0">
                <a:solidFill>
                  <a:srgbClr val="444444"/>
                </a:solidFill>
                <a:effectLst/>
                <a:latin typeface="Aptos" panose="020B0004020202020204" pitchFamily="34" charset="0"/>
              </a:rPr>
              <a:t>​</a:t>
            </a:r>
            <a:endParaRPr lang="en-US" sz="1800" b="0" i="0">
              <a:solidFill>
                <a:srgbClr val="444444"/>
              </a:solidFill>
              <a:effectLst/>
              <a:latin typeface="Arial" panose="020B0604020202020204" pitchFamily="34" charset="0"/>
            </a:endParaRPr>
          </a:p>
          <a:p>
            <a:pPr lvl="1" algn="l" rtl="0" fontAlgn="base">
              <a:buFont typeface="Arial" panose="020B0604020202020204" pitchFamily="34" charset="0"/>
              <a:buChar char="•"/>
            </a:pPr>
            <a:r>
              <a:rPr lang="en-US" sz="1800" b="0" i="0" u="none" strike="noStrike">
                <a:solidFill>
                  <a:srgbClr val="000000"/>
                </a:solidFill>
                <a:effectLst/>
                <a:latin typeface="Aptos" panose="020B0004020202020204" pitchFamily="34" charset="0"/>
              </a:rPr>
              <a:t>Apps and Pkg export included in downloads</a:t>
            </a:r>
            <a:r>
              <a:rPr lang="en-US" sz="1800" b="0" i="0">
                <a:solidFill>
                  <a:srgbClr val="444444"/>
                </a:solidFill>
                <a:effectLst/>
                <a:latin typeface="Aptos" panose="020B0004020202020204" pitchFamily="34" charset="0"/>
              </a:rPr>
              <a:t>​</a:t>
            </a:r>
            <a:endParaRPr lang="en-US" sz="1800" b="0" i="0">
              <a:solidFill>
                <a:srgbClr val="444444"/>
              </a:solidFill>
              <a:effectLst/>
              <a:latin typeface="Arial" panose="020B0604020202020204" pitchFamily="34" charset="0"/>
            </a:endParaRPr>
          </a:p>
          <a:p>
            <a:pPr algn="l" rtl="0" fontAlgn="base">
              <a:buFont typeface="Arial" panose="020B0604020202020204" pitchFamily="34" charset="0"/>
              <a:buChar char="•"/>
            </a:pPr>
            <a:r>
              <a:rPr lang="en-US" sz="1800" b="0" i="0" u="none" strike="noStrike">
                <a:solidFill>
                  <a:srgbClr val="000000"/>
                </a:solidFill>
                <a:effectLst/>
                <a:latin typeface="Aptos" panose="020B0004020202020204" pitchFamily="34" charset="0"/>
              </a:rPr>
              <a:t>Useful for testing an install “as system”. Also potentially useful for t-shooting at a client.</a:t>
            </a:r>
            <a:endParaRPr lang="en-US" sz="1800" b="0" i="0">
              <a:solidFill>
                <a:srgbClr val="444444"/>
              </a:solidFill>
              <a:effectLst/>
              <a:latin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fld id="{700A80F0-1051-4590-8345-8528FA5A6D41}" type="slidenum">
              <a:rPr lang="en-US" smtClean="0"/>
              <a:t>16</a:t>
            </a:fld>
            <a:endParaRPr lang="en-US"/>
          </a:p>
        </p:txBody>
      </p:sp>
    </p:spTree>
    <p:extLst>
      <p:ext uri="{BB962C8B-B14F-4D97-AF65-F5344CB8AC3E}">
        <p14:creationId xmlns:p14="http://schemas.microsoft.com/office/powerpoint/2010/main" val="17991063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Calibri"/>
              <a:ea typeface="Calibri"/>
              <a:cs typeface="Calibri"/>
            </a:endParaRPr>
          </a:p>
        </p:txBody>
      </p:sp>
      <p:sp>
        <p:nvSpPr>
          <p:cNvPr id="4" name="Slide Number Placeholder 3"/>
          <p:cNvSpPr>
            <a:spLocks noGrp="1"/>
          </p:cNvSpPr>
          <p:nvPr>
            <p:ph type="sldNum" sz="quarter" idx="5"/>
          </p:nvPr>
        </p:nvSpPr>
        <p:spPr/>
        <p:txBody>
          <a:bodyPr/>
          <a:lstStyle/>
          <a:p>
            <a:fld id="{700A80F0-1051-4590-8345-8528FA5A6D41}" type="slidenum">
              <a:rPr lang="en-US" smtClean="0"/>
              <a:t>17</a:t>
            </a:fld>
            <a:endParaRPr lang="en-US"/>
          </a:p>
        </p:txBody>
      </p:sp>
    </p:spTree>
    <p:extLst>
      <p:ext uri="{BB962C8B-B14F-4D97-AF65-F5344CB8AC3E}">
        <p14:creationId xmlns:p14="http://schemas.microsoft.com/office/powerpoint/2010/main" val="13649745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470D8-FF63-481E-4D21-925023E3F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051718-E464-0C5F-385B-A1F2B7DE32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F9AF98-F633-5E86-6378-4152A89146BE}"/>
              </a:ext>
            </a:extLst>
          </p:cNvPr>
          <p:cNvSpPr>
            <a:spLocks noGrp="1"/>
          </p:cNvSpPr>
          <p:nvPr>
            <p:ph type="body" idx="1"/>
          </p:nvPr>
        </p:nvSpPr>
        <p:spPr/>
        <p:txBody>
          <a:bodyPr/>
          <a:lstStyle/>
          <a:p>
            <a:r>
              <a:rPr lang="en-US" b="1"/>
              <a:t>Why It Matters</a:t>
            </a:r>
            <a:endParaRPr lang="en-US"/>
          </a:p>
          <a:p>
            <a:pPr marL="171450" indent="-171450">
              <a:buFont typeface="Arial"/>
              <a:buChar char="•"/>
            </a:pPr>
            <a:r>
              <a:rPr lang="en-US"/>
              <a:t>Ensures uniform configuration across an enterprise, reducing drift and security risks.</a:t>
            </a:r>
          </a:p>
          <a:p>
            <a:pPr marL="171450" indent="-171450">
              <a:buFont typeface="Arial"/>
              <a:buChar char="•"/>
            </a:pPr>
            <a:r>
              <a:rPr lang="en-US"/>
              <a:t>Automates compliance enforcement—saving time and minimizing manual intervention.</a:t>
            </a:r>
          </a:p>
          <a:p>
            <a:pPr marL="171450" indent="-171450">
              <a:buFont typeface="Arial"/>
              <a:buChar char="•"/>
            </a:pPr>
            <a:r>
              <a:rPr lang="en-US"/>
              <a:t>Enhances system stability and security by detecting and fixing misconfigurations proactively.</a:t>
            </a:r>
          </a:p>
          <a:p>
            <a:endParaRPr lang="en-US">
              <a:latin typeface="Calibri"/>
              <a:ea typeface="Calibri"/>
              <a:cs typeface="Calibri"/>
            </a:endParaRPr>
          </a:p>
        </p:txBody>
      </p:sp>
      <p:sp>
        <p:nvSpPr>
          <p:cNvPr id="4" name="Slide Number Placeholder 3">
            <a:extLst>
              <a:ext uri="{FF2B5EF4-FFF2-40B4-BE49-F238E27FC236}">
                <a16:creationId xmlns:a16="http://schemas.microsoft.com/office/drawing/2014/main" id="{775DFAAC-B991-0C3D-5DA1-E3CE7A628D46}"/>
              </a:ext>
            </a:extLst>
          </p:cNvPr>
          <p:cNvSpPr>
            <a:spLocks noGrp="1"/>
          </p:cNvSpPr>
          <p:nvPr>
            <p:ph type="sldNum" sz="quarter" idx="5"/>
          </p:nvPr>
        </p:nvSpPr>
        <p:spPr/>
        <p:txBody>
          <a:bodyPr/>
          <a:lstStyle/>
          <a:p>
            <a:fld id="{700A80F0-1051-4590-8345-8528FA5A6D41}" type="slidenum">
              <a:rPr lang="en-US" smtClean="0"/>
              <a:t>18</a:t>
            </a:fld>
            <a:endParaRPr lang="en-US"/>
          </a:p>
        </p:txBody>
      </p:sp>
    </p:spTree>
    <p:extLst>
      <p:ext uri="{BB962C8B-B14F-4D97-AF65-F5344CB8AC3E}">
        <p14:creationId xmlns:p14="http://schemas.microsoft.com/office/powerpoint/2010/main" val="29920059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76C4B-C4E8-7549-BECB-5C83F1D00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4B7B9B-2471-2D7E-0D8D-F24C97A10D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5C6D56-81DB-191E-88B7-6A3E2324AD1E}"/>
              </a:ext>
            </a:extLst>
          </p:cNvPr>
          <p:cNvSpPr>
            <a:spLocks noGrp="1"/>
          </p:cNvSpPr>
          <p:nvPr>
            <p:ph type="body" idx="1"/>
          </p:nvPr>
        </p:nvSpPr>
        <p:spPr/>
        <p:txBody>
          <a:bodyPr/>
          <a:lstStyle/>
          <a:p>
            <a:r>
              <a:rPr lang="en-US"/>
              <a:t>CIs created in Episode I for IIS. </a:t>
            </a:r>
          </a:p>
          <a:p>
            <a:endParaRPr lang="en-US"/>
          </a:p>
          <a:p>
            <a:r>
              <a:rPr lang="en-US"/>
              <a:t>Intune demo?</a:t>
            </a:r>
          </a:p>
          <a:p>
            <a:r>
              <a:rPr lang="en-US"/>
              <a:t>Matt, take some pretty screenshots of a live remediation.</a:t>
            </a:r>
          </a:p>
        </p:txBody>
      </p:sp>
      <p:sp>
        <p:nvSpPr>
          <p:cNvPr id="4" name="Slide Number Placeholder 3">
            <a:extLst>
              <a:ext uri="{FF2B5EF4-FFF2-40B4-BE49-F238E27FC236}">
                <a16:creationId xmlns:a16="http://schemas.microsoft.com/office/drawing/2014/main" id="{B1C31C9E-CDC3-4510-16FC-C7D8B8714DD3}"/>
              </a:ext>
            </a:extLst>
          </p:cNvPr>
          <p:cNvSpPr>
            <a:spLocks noGrp="1"/>
          </p:cNvSpPr>
          <p:nvPr>
            <p:ph type="sldNum" sz="quarter" idx="5"/>
          </p:nvPr>
        </p:nvSpPr>
        <p:spPr/>
        <p:txBody>
          <a:bodyPr/>
          <a:lstStyle/>
          <a:p>
            <a:fld id="{700A80F0-1051-4590-8345-8528FA5A6D41}" type="slidenum">
              <a:rPr lang="en-US" smtClean="0"/>
              <a:t>21</a:t>
            </a:fld>
            <a:endParaRPr lang="en-US"/>
          </a:p>
        </p:txBody>
      </p:sp>
    </p:spTree>
    <p:extLst>
      <p:ext uri="{BB962C8B-B14F-4D97-AF65-F5344CB8AC3E}">
        <p14:creationId xmlns:p14="http://schemas.microsoft.com/office/powerpoint/2010/main" val="1844445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6C62F-ED69-32FC-41F6-138B50DA1F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22A5C6-F566-646A-94D9-264F2CB058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23270A-65A5-4D82-EB0B-104E063D5C52}"/>
              </a:ext>
            </a:extLst>
          </p:cNvPr>
          <p:cNvSpPr>
            <a:spLocks noGrp="1"/>
          </p:cNvSpPr>
          <p:nvPr>
            <p:ph type="body" idx="1"/>
          </p:nvPr>
        </p:nvSpPr>
        <p:spPr/>
        <p:txBody>
          <a:bodyPr/>
          <a:lstStyle/>
          <a:p>
            <a:r>
              <a:rPr lang="en-US"/>
              <a:t>Or Matt does live demo with an ARM processing box because he loves it.</a:t>
            </a:r>
          </a:p>
        </p:txBody>
      </p:sp>
      <p:sp>
        <p:nvSpPr>
          <p:cNvPr id="4" name="Slide Number Placeholder 3">
            <a:extLst>
              <a:ext uri="{FF2B5EF4-FFF2-40B4-BE49-F238E27FC236}">
                <a16:creationId xmlns:a16="http://schemas.microsoft.com/office/drawing/2014/main" id="{599FD310-03A5-B9C8-D7EB-101EDCDBBC2A}"/>
              </a:ext>
            </a:extLst>
          </p:cNvPr>
          <p:cNvSpPr>
            <a:spLocks noGrp="1"/>
          </p:cNvSpPr>
          <p:nvPr>
            <p:ph type="sldNum" sz="quarter" idx="5"/>
          </p:nvPr>
        </p:nvSpPr>
        <p:spPr/>
        <p:txBody>
          <a:bodyPr/>
          <a:lstStyle/>
          <a:p>
            <a:fld id="{700A80F0-1051-4590-8345-8528FA5A6D41}" type="slidenum">
              <a:rPr lang="en-US" smtClean="0"/>
              <a:t>22</a:t>
            </a:fld>
            <a:endParaRPr lang="en-US"/>
          </a:p>
        </p:txBody>
      </p:sp>
    </p:spTree>
    <p:extLst>
      <p:ext uri="{BB962C8B-B14F-4D97-AF65-F5344CB8AC3E}">
        <p14:creationId xmlns:p14="http://schemas.microsoft.com/office/powerpoint/2010/main" val="30824044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6C0B1-5284-AD73-8591-52F96C05B7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1D005-F77F-E444-A98C-2C9DA8725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3BCB3-BCF7-38C2-7672-3C91FE75D3CE}"/>
              </a:ext>
            </a:extLst>
          </p:cNvPr>
          <p:cNvSpPr>
            <a:spLocks noGrp="1"/>
          </p:cNvSpPr>
          <p:nvPr>
            <p:ph type="body" idx="1"/>
          </p:nvPr>
        </p:nvSpPr>
        <p:spPr/>
        <p:txBody>
          <a:bodyPr/>
          <a:lstStyle/>
          <a:p>
            <a:pPr fontAlgn="base">
              <a:buFont typeface="Arial" panose="020B0604020202020204" pitchFamily="34" charset="0"/>
              <a:buChar char="•"/>
            </a:pPr>
            <a:r>
              <a:rPr lang="en-US">
                <a:solidFill>
                  <a:srgbClr val="000000"/>
                </a:solidFill>
                <a:latin typeface="Aptos"/>
              </a:rPr>
              <a:t>{Sherry]</a:t>
            </a:r>
          </a:p>
          <a:p>
            <a:pPr>
              <a:buFont typeface="Arial" panose="020B0604020202020204" pitchFamily="34" charset="0"/>
              <a:buChar char="•"/>
            </a:pPr>
            <a:endParaRPr lang="en-US">
              <a:solidFill>
                <a:srgbClr val="000000"/>
              </a:solidFill>
              <a:latin typeface="Aptos"/>
            </a:endParaRPr>
          </a:p>
          <a:p>
            <a:pPr algn="l">
              <a:buFont typeface="Arial" panose="020B0604020202020204" pitchFamily="34" charset="0"/>
              <a:buChar char="•"/>
            </a:pPr>
            <a:r>
              <a:rPr lang="en-US" sz="1200" b="0" i="0" u="none" strike="noStrike">
                <a:solidFill>
                  <a:srgbClr val="000000"/>
                </a:solidFill>
                <a:effectLst/>
                <a:latin typeface="Aptos"/>
              </a:rPr>
              <a:t>Specifically, non-compliant for a CI, with the reason why</a:t>
            </a:r>
            <a:r>
              <a:rPr lang="en-US" sz="1200" b="0" i="0">
                <a:solidFill>
                  <a:srgbClr val="444444"/>
                </a:solidFill>
                <a:effectLst/>
                <a:latin typeface="Aptos"/>
              </a:rPr>
              <a:t>​</a:t>
            </a:r>
            <a:endParaRPr lang="en-US" sz="1200" b="0" i="0">
              <a:solidFill>
                <a:srgbClr val="444444"/>
              </a:solidFill>
              <a:effectLst/>
              <a:latin typeface="Aptos"/>
              <a:cs typeface="Arial"/>
            </a:endParaRPr>
          </a:p>
          <a:p>
            <a:pPr algn="l" rtl="0" fontAlgn="base">
              <a:buFont typeface="Arial" panose="020B0604020202020204" pitchFamily="34" charset="0"/>
              <a:buChar char="•"/>
            </a:pPr>
            <a:r>
              <a:rPr lang="en-US" sz="1200" b="0" i="0" u="none" strike="noStrike">
                <a:solidFill>
                  <a:srgbClr val="000000"/>
                </a:solidFill>
                <a:effectLst/>
                <a:latin typeface="Aptos" panose="020B0004020202020204" pitchFamily="34" charset="0"/>
              </a:rPr>
              <a:t>Admin users</a:t>
            </a:r>
            <a:r>
              <a:rPr lang="en-US" sz="1200" b="0" i="0">
                <a:solidFill>
                  <a:srgbClr val="444444"/>
                </a:solidFill>
                <a:effectLst/>
                <a:latin typeface="Aptos" panose="020B0004020202020204" pitchFamily="34" charset="0"/>
              </a:rPr>
              <a:t>​</a:t>
            </a:r>
            <a:endParaRPr lang="en-US" sz="1200" b="0" i="0">
              <a:solidFill>
                <a:srgbClr val="444444"/>
              </a:solidFill>
              <a:effectLst/>
              <a:latin typeface="Arial" panose="020B0604020202020204" pitchFamily="34" charset="0"/>
            </a:endParaRPr>
          </a:p>
          <a:p>
            <a:pPr algn="l" rtl="0" fontAlgn="base">
              <a:buFont typeface="Arial" panose="020B0604020202020204" pitchFamily="34" charset="0"/>
              <a:buChar char="•"/>
            </a:pPr>
            <a:r>
              <a:rPr lang="en-US" sz="1200" b="0" i="0" u="none" strike="noStrike">
                <a:solidFill>
                  <a:srgbClr val="000000"/>
                </a:solidFill>
                <a:effectLst/>
                <a:latin typeface="Aptos" panose="020B0004020202020204" pitchFamily="34" charset="0"/>
              </a:rPr>
              <a:t>Per-user installed apps.</a:t>
            </a:r>
            <a:r>
              <a:rPr lang="en-US" sz="1200" b="0" i="0">
                <a:solidFill>
                  <a:srgbClr val="444444"/>
                </a:solidFill>
                <a:effectLst/>
                <a:latin typeface="Aptos" panose="020B0004020202020204" pitchFamily="34" charset="0"/>
              </a:rPr>
              <a:t>​</a:t>
            </a:r>
            <a:endParaRPr lang="en-US" sz="1200" b="0" i="0">
              <a:solidFill>
                <a:srgbClr val="444444"/>
              </a:solidFill>
              <a:effectLst/>
              <a:latin typeface="Arial" panose="020B0604020202020204" pitchFamily="34" charset="0"/>
            </a:endParaRPr>
          </a:p>
          <a:p>
            <a:pPr algn="l" rtl="0" fontAlgn="base">
              <a:buFont typeface="Arial" panose="020B0604020202020204" pitchFamily="34" charset="0"/>
              <a:buChar char="•"/>
            </a:pPr>
            <a:r>
              <a:rPr lang="en-US" sz="1200" b="0" i="0" u="none" strike="noStrike">
                <a:solidFill>
                  <a:srgbClr val="000000"/>
                </a:solidFill>
                <a:effectLst/>
                <a:latin typeface="Aptos" panose="020B0004020202020204" pitchFamily="34" charset="0"/>
              </a:rPr>
              <a:t>Software NOT installed on … (</a:t>
            </a:r>
            <a:r>
              <a:rPr lang="en-US" sz="1200" b="0" i="0" u="none" strike="noStrike" err="1">
                <a:solidFill>
                  <a:srgbClr val="000000"/>
                </a:solidFill>
                <a:effectLst/>
                <a:latin typeface="Aptos" panose="020B0004020202020204" pitchFamily="34" charset="0"/>
              </a:rPr>
              <a:t>subselect</a:t>
            </a:r>
            <a:r>
              <a:rPr lang="en-US" sz="1200" b="0" i="0" u="none" strike="noStrike">
                <a:solidFill>
                  <a:srgbClr val="000000"/>
                </a:solidFill>
                <a:effectLst/>
                <a:latin typeface="Aptos" panose="020B0004020202020204" pitchFamily="34" charset="0"/>
              </a:rPr>
              <a:t> query)</a:t>
            </a:r>
            <a:endParaRPr lang="en-US" sz="1200" b="0" i="0">
              <a:solidFill>
                <a:srgbClr val="444444"/>
              </a:solidFill>
              <a:effectLst/>
              <a:latin typeface="Arial" panose="020B0604020202020204" pitchFamily="34" charset="0"/>
            </a:endParaRPr>
          </a:p>
          <a:p>
            <a:pPr>
              <a:buFont typeface="Arial" panose="020B0604020202020204" pitchFamily="34" charset="0"/>
              <a:buChar char="•"/>
            </a:pPr>
            <a:r>
              <a:rPr lang="en-US" err="1"/>
              <a:t>FastChannel</a:t>
            </a:r>
            <a:r>
              <a:rPr lang="en-US"/>
              <a:t> queries (if you want SQL, vs. Looking at the console)</a:t>
            </a:r>
          </a:p>
          <a:p>
            <a:pPr lvl="1">
              <a:buFont typeface="Courier New" panose="020B0604020202020204" pitchFamily="34" charset="0"/>
              <a:buChar char="o"/>
            </a:pPr>
            <a:r>
              <a:rPr lang="en-US" err="1"/>
              <a:t>Isonline</a:t>
            </a:r>
            <a:endParaRPr lang="en-US"/>
          </a:p>
          <a:p>
            <a:pPr lvl="1">
              <a:buFont typeface="Courier New" panose="020B0604020202020204" pitchFamily="34" charset="0"/>
              <a:buChar char="o"/>
            </a:pPr>
            <a:r>
              <a:rPr lang="en-US" err="1"/>
              <a:t>Pendingreboot</a:t>
            </a:r>
            <a:endParaRPr lang="en-US"/>
          </a:p>
          <a:p>
            <a:pPr lvl="1">
              <a:buFont typeface="Courier New" panose="020B0604020202020204" pitchFamily="34" charset="0"/>
              <a:buChar char="o"/>
            </a:pPr>
            <a:r>
              <a:rPr lang="en-US"/>
              <a:t>Script results</a:t>
            </a:r>
          </a:p>
          <a:p>
            <a:pPr lvl="1">
              <a:buFont typeface="Courier New" panose="020B0604020202020204" pitchFamily="34" charset="0"/>
              <a:buChar char="o"/>
            </a:pPr>
            <a:endParaRPr lang="en-US"/>
          </a:p>
          <a:p>
            <a:endParaRPr lang="en-US"/>
          </a:p>
        </p:txBody>
      </p:sp>
      <p:sp>
        <p:nvSpPr>
          <p:cNvPr id="4" name="Slide Number Placeholder 3">
            <a:extLst>
              <a:ext uri="{FF2B5EF4-FFF2-40B4-BE49-F238E27FC236}">
                <a16:creationId xmlns:a16="http://schemas.microsoft.com/office/drawing/2014/main" id="{AD08EDC9-2492-9101-B927-56E19BA11785}"/>
              </a:ext>
            </a:extLst>
          </p:cNvPr>
          <p:cNvSpPr>
            <a:spLocks noGrp="1"/>
          </p:cNvSpPr>
          <p:nvPr>
            <p:ph type="sldNum" sz="quarter" idx="5"/>
          </p:nvPr>
        </p:nvSpPr>
        <p:spPr/>
        <p:txBody>
          <a:bodyPr/>
          <a:lstStyle/>
          <a:p>
            <a:fld id="{700A80F0-1051-4590-8345-8528FA5A6D41}" type="slidenum">
              <a:rPr lang="en-US" smtClean="0"/>
              <a:t>25</a:t>
            </a:fld>
            <a:endParaRPr lang="en-US"/>
          </a:p>
        </p:txBody>
      </p:sp>
    </p:spTree>
    <p:extLst>
      <p:ext uri="{BB962C8B-B14F-4D97-AF65-F5344CB8AC3E}">
        <p14:creationId xmlns:p14="http://schemas.microsoft.com/office/powerpoint/2010/main" val="3018544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Aptos" panose="020B0004020202020204" pitchFamily="34" charset="0"/>
              </a:rPr>
              <a:t>Scripts node script examples in session downloads.</a:t>
            </a:r>
            <a:endParaRPr lang="en-US"/>
          </a:p>
          <a:p>
            <a:endParaRPr lang="en-US"/>
          </a:p>
        </p:txBody>
      </p:sp>
      <p:sp>
        <p:nvSpPr>
          <p:cNvPr id="4" name="Slide Number Placeholder 3"/>
          <p:cNvSpPr>
            <a:spLocks noGrp="1"/>
          </p:cNvSpPr>
          <p:nvPr>
            <p:ph type="sldNum" sz="quarter" idx="5"/>
          </p:nvPr>
        </p:nvSpPr>
        <p:spPr/>
        <p:txBody>
          <a:bodyPr/>
          <a:lstStyle/>
          <a:p>
            <a:fld id="{700A80F0-1051-4590-8345-8528FA5A6D41}" type="slidenum">
              <a:rPr lang="en-US" smtClean="0"/>
              <a:t>26</a:t>
            </a:fld>
            <a:endParaRPr lang="en-US"/>
          </a:p>
        </p:txBody>
      </p:sp>
    </p:spTree>
    <p:extLst>
      <p:ext uri="{BB962C8B-B14F-4D97-AF65-F5344CB8AC3E}">
        <p14:creationId xmlns:p14="http://schemas.microsoft.com/office/powerpoint/2010/main" val="2068741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12BFC-B493-5E65-3455-2082DBC5A5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149A10-C1E6-C4C5-A002-7C191A39D9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CF729C-CDBA-5EB6-7228-F13C371BB8E8}"/>
              </a:ext>
            </a:extLst>
          </p:cNvPr>
          <p:cNvSpPr>
            <a:spLocks noGrp="1"/>
          </p:cNvSpPr>
          <p:nvPr>
            <p:ph type="body" idx="1"/>
          </p:nvPr>
        </p:nvSpPr>
        <p:spPr/>
        <p:txBody>
          <a:bodyPr/>
          <a:lstStyle/>
          <a:p>
            <a:pPr lvl="1" algn="l" rtl="0">
              <a:buFont typeface="Courier New" panose="020B0604020202020204" pitchFamily="34" charset="0"/>
              <a:buChar char="o"/>
            </a:pPr>
            <a:endParaRPr lang="en-US"/>
          </a:p>
          <a:p>
            <a:r>
              <a:rPr lang="en-US">
                <a:hlinkClick r:id="rId3"/>
              </a:rPr>
              <a:t>TCSMUG - Twin Cities Systems Management User Group - Use CM Console scripts node to gather log files from CM Clients</a:t>
            </a:r>
          </a:p>
          <a:p>
            <a:endParaRPr lang="en-US"/>
          </a:p>
          <a:p>
            <a:endParaRPr lang="en-US"/>
          </a:p>
        </p:txBody>
      </p:sp>
      <p:sp>
        <p:nvSpPr>
          <p:cNvPr id="4" name="Slide Number Placeholder 3">
            <a:extLst>
              <a:ext uri="{FF2B5EF4-FFF2-40B4-BE49-F238E27FC236}">
                <a16:creationId xmlns:a16="http://schemas.microsoft.com/office/drawing/2014/main" id="{3DE4E75A-8F41-AA59-9E55-0F1341643F37}"/>
              </a:ext>
            </a:extLst>
          </p:cNvPr>
          <p:cNvSpPr>
            <a:spLocks noGrp="1"/>
          </p:cNvSpPr>
          <p:nvPr>
            <p:ph type="sldNum" sz="quarter" idx="5"/>
          </p:nvPr>
        </p:nvSpPr>
        <p:spPr/>
        <p:txBody>
          <a:bodyPr/>
          <a:lstStyle/>
          <a:p>
            <a:fld id="{700A80F0-1051-4590-8345-8528FA5A6D41}" type="slidenum">
              <a:rPr lang="en-US" smtClean="0"/>
              <a:t>27</a:t>
            </a:fld>
            <a:endParaRPr lang="en-US"/>
          </a:p>
        </p:txBody>
      </p:sp>
    </p:spTree>
    <p:extLst>
      <p:ext uri="{BB962C8B-B14F-4D97-AF65-F5344CB8AC3E}">
        <p14:creationId xmlns:p14="http://schemas.microsoft.com/office/powerpoint/2010/main" val="32824973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E1305-857A-DDAC-D16A-A3AE2F302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30C9B2-52C7-AB3E-6E7C-9995E68BB8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4A67A-DF6B-78FC-9533-E5044DE6DE4F}"/>
              </a:ext>
            </a:extLst>
          </p:cNvPr>
          <p:cNvSpPr>
            <a:spLocks noGrp="1"/>
          </p:cNvSpPr>
          <p:nvPr>
            <p:ph type="body" idx="1"/>
          </p:nvPr>
        </p:nvSpPr>
        <p:spPr/>
        <p:txBody>
          <a:bodyPr/>
          <a:lstStyle/>
          <a:p>
            <a:pPr algn="l" rtl="0" fontAlgn="base">
              <a:buFont typeface="Arial" panose="020B0604020202020204" pitchFamily="34" charset="0"/>
              <a:buChar char="•"/>
            </a:pPr>
            <a:r>
              <a:rPr lang="en-US" sz="1200" b="0" i="0" u="none" strike="noStrike">
                <a:solidFill>
                  <a:srgbClr val="000000"/>
                </a:solidFill>
                <a:effectLst/>
                <a:latin typeface="Aptos" panose="020B0004020202020204" pitchFamily="34" charset="0"/>
              </a:rPr>
              <a:t>Scripts against active/online clients.</a:t>
            </a:r>
          </a:p>
          <a:p>
            <a:pPr algn="l" rtl="0" fontAlgn="base">
              <a:buFont typeface="Arial" panose="020B0604020202020204" pitchFamily="34" charset="0"/>
              <a:buChar char="•"/>
            </a:pPr>
            <a:r>
              <a:rPr lang="en-US" sz="1200" b="0" i="0" u="none" strike="noStrike" err="1">
                <a:solidFill>
                  <a:srgbClr val="000000"/>
                </a:solidFill>
                <a:effectLst/>
                <a:latin typeface="Aptos" panose="020B0004020202020204" pitchFamily="34" charset="0"/>
              </a:rPr>
              <a:t>CMPivot</a:t>
            </a:r>
            <a:r>
              <a:rPr lang="en-US" sz="1200" b="0" i="0" u="none" strike="noStrike">
                <a:solidFill>
                  <a:srgbClr val="000000"/>
                </a:solidFill>
                <a:effectLst/>
                <a:latin typeface="Aptos" panose="020B0004020202020204" pitchFamily="34" charset="0"/>
              </a:rPr>
              <a:t> against active/online clients.</a:t>
            </a:r>
          </a:p>
          <a:p>
            <a:pPr algn="l" rtl="0" fontAlgn="base">
              <a:buFont typeface="Arial" panose="020B0604020202020204" pitchFamily="34" charset="0"/>
              <a:buChar char="•"/>
            </a:pPr>
            <a:r>
              <a:rPr lang="en-US" sz="1200" b="0" i="0" u="none" strike="noStrike">
                <a:solidFill>
                  <a:srgbClr val="000000"/>
                </a:solidFill>
                <a:effectLst/>
                <a:latin typeface="Aptos" panose="020B0004020202020204" pitchFamily="34" charset="0"/>
              </a:rPr>
              <a:t>Garth and Recast community right-click.</a:t>
            </a:r>
            <a:endParaRPr lang="en-US"/>
          </a:p>
          <a:p>
            <a:endParaRPr lang="en-US"/>
          </a:p>
        </p:txBody>
      </p:sp>
      <p:sp>
        <p:nvSpPr>
          <p:cNvPr id="4" name="Slide Number Placeholder 3">
            <a:extLst>
              <a:ext uri="{FF2B5EF4-FFF2-40B4-BE49-F238E27FC236}">
                <a16:creationId xmlns:a16="http://schemas.microsoft.com/office/drawing/2014/main" id="{03D33DBD-5C6C-D68F-EE8A-AAABD9B6E383}"/>
              </a:ext>
            </a:extLst>
          </p:cNvPr>
          <p:cNvSpPr>
            <a:spLocks noGrp="1"/>
          </p:cNvSpPr>
          <p:nvPr>
            <p:ph type="sldNum" sz="quarter" idx="5"/>
          </p:nvPr>
        </p:nvSpPr>
        <p:spPr/>
        <p:txBody>
          <a:bodyPr/>
          <a:lstStyle/>
          <a:p>
            <a:fld id="{700A80F0-1051-4590-8345-8528FA5A6D41}" type="slidenum">
              <a:rPr lang="en-US" smtClean="0"/>
              <a:t>29</a:t>
            </a:fld>
            <a:endParaRPr lang="en-US"/>
          </a:p>
        </p:txBody>
      </p:sp>
    </p:spTree>
    <p:extLst>
      <p:ext uri="{BB962C8B-B14F-4D97-AF65-F5344CB8AC3E}">
        <p14:creationId xmlns:p14="http://schemas.microsoft.com/office/powerpoint/2010/main" val="39636328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E9B11EBF-BE4B-4FE6-949D-F4AF61188ADD}" type="slidenum">
              <a:rPr lang="en-US" smtClean="0"/>
              <a:t>31</a:t>
            </a:fld>
            <a:endParaRPr lang="en-US"/>
          </a:p>
        </p:txBody>
      </p:sp>
    </p:spTree>
    <p:extLst>
      <p:ext uri="{BB962C8B-B14F-4D97-AF65-F5344CB8AC3E}">
        <p14:creationId xmlns:p14="http://schemas.microsoft.com/office/powerpoint/2010/main" val="31024606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9AD80F7-5E7C-4499-9F3C-358AB78FA6C3}" type="slidenum">
              <a:rPr lang="en-US" smtClean="0"/>
              <a:t>34</a:t>
            </a:fld>
            <a:endParaRPr lang="en-US"/>
          </a:p>
        </p:txBody>
      </p:sp>
    </p:spTree>
    <p:extLst>
      <p:ext uri="{BB962C8B-B14F-4D97-AF65-F5344CB8AC3E}">
        <p14:creationId xmlns:p14="http://schemas.microsoft.com/office/powerpoint/2010/main" val="412912727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00A80F0-1051-4590-8345-8528FA5A6D41}" type="slidenum">
              <a:rPr lang="en-US" smtClean="0"/>
              <a:t>35</a:t>
            </a:fld>
            <a:endParaRPr lang="en-US"/>
          </a:p>
        </p:txBody>
      </p:sp>
    </p:spTree>
    <p:extLst>
      <p:ext uri="{BB962C8B-B14F-4D97-AF65-F5344CB8AC3E}">
        <p14:creationId xmlns:p14="http://schemas.microsoft.com/office/powerpoint/2010/main" val="405529350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0.sv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Master" Target="../slideMasters/slideMaster1.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8.png"/><Relationship Id="rId2" Type="http://schemas.openxmlformats.org/officeDocument/2006/relationships/image" Target="../media/image15.svg"/><Relationship Id="rId16" Type="http://schemas.openxmlformats.org/officeDocument/2006/relationships/image" Target="../media/image27.png"/><Relationship Id="rId1" Type="http://schemas.openxmlformats.org/officeDocument/2006/relationships/slideMaster" Target="../slideMasters/slideMaster1.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microsoft.com/office/2007/relationships/hdphoto" Target="../media/hdphoto1.wdp"/><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0.sv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32.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sv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33.sv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slideMaster" Target="../slideMasters/slideMaster2.xml"/><Relationship Id="rId5" Type="http://schemas.openxmlformats.org/officeDocument/2006/relationships/image" Target="../media/image14.png"/><Relationship Id="rId4" Type="http://schemas.openxmlformats.org/officeDocument/2006/relationships/image" Target="../media/image13.png"/></Relationships>
</file>

<file path=ppt/slideLayouts/_rels/slideLayout28.xml.rels><?xml version="1.0" encoding="UTF-8" standalone="yes"?>
<Relationships xmlns="http://schemas.openxmlformats.org/package/2006/relationships"><Relationship Id="rId8" Type="http://schemas.openxmlformats.org/officeDocument/2006/relationships/image" Target="../media/image20.svg"/><Relationship Id="rId13" Type="http://schemas.openxmlformats.org/officeDocument/2006/relationships/image" Target="../media/image25.png"/><Relationship Id="rId18" Type="http://schemas.openxmlformats.org/officeDocument/2006/relationships/image" Target="../media/image29.png"/><Relationship Id="rId3" Type="http://schemas.openxmlformats.org/officeDocument/2006/relationships/image" Target="../media/image8.png"/><Relationship Id="rId7" Type="http://schemas.openxmlformats.org/officeDocument/2006/relationships/image" Target="../media/image19.png"/><Relationship Id="rId12" Type="http://schemas.openxmlformats.org/officeDocument/2006/relationships/image" Target="../media/image24.svg"/><Relationship Id="rId17" Type="http://schemas.openxmlformats.org/officeDocument/2006/relationships/image" Target="../media/image28.png"/><Relationship Id="rId2" Type="http://schemas.openxmlformats.org/officeDocument/2006/relationships/image" Target="../media/image15.svg"/><Relationship Id="rId16" Type="http://schemas.openxmlformats.org/officeDocument/2006/relationships/image" Target="../media/image27.png"/><Relationship Id="rId1" Type="http://schemas.openxmlformats.org/officeDocument/2006/relationships/slideMaster" Target="../slideMasters/slideMaster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microsoft.com/office/2007/relationships/hdphoto" Target="../media/hdphoto1.wdp"/><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a:lum/>
            <a:extLst>
              <a:ext uri="{96DAC541-7B7A-43D3-8B79-37D633B846F1}">
                <asvg:svgBlip xmlns:asvg="http://schemas.microsoft.com/office/drawing/2016/SVG/main" r:embed="rId2"/>
              </a:ext>
            </a:extLst>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1524000" y="3682"/>
            <a:ext cx="9144000" cy="2306637"/>
          </a:xfrm>
        </p:spPr>
        <p:txBody>
          <a:bodyPr anchor="b"/>
          <a:lstStyle>
            <a:lvl1pPr algn="ctr">
              <a:defRPr sz="6000">
                <a:latin typeface="Aptos Display" panose="020B0004020202020204" pitchFamily="34" charset="0"/>
              </a:defRPr>
            </a:lvl1pPr>
          </a:lstStyle>
          <a:p>
            <a:r>
              <a:rPr lang="en-US"/>
              <a:t>Click to edit Master title style</a:t>
            </a:r>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2490281"/>
            <a:ext cx="9144000" cy="1420237"/>
          </a:xfrm>
        </p:spPr>
        <p:txBody>
          <a:bodyPr/>
          <a:lstStyle>
            <a:lvl1pPr marL="0" indent="0" algn="ctr">
              <a:buNone/>
              <a:defRPr sz="2400">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Graphic 13">
            <a:extLst>
              <a:ext uri="{FF2B5EF4-FFF2-40B4-BE49-F238E27FC236}">
                <a16:creationId xmlns:a16="http://schemas.microsoft.com/office/drawing/2014/main" id="{C1C6F0CE-A001-978A-D698-EB6C97BB9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 y="2310319"/>
            <a:ext cx="12298680" cy="734379"/>
          </a:xfrm>
          <a:prstGeom prst="rect">
            <a:avLst/>
          </a:prstGeom>
        </p:spPr>
      </p:pic>
      <p:pic>
        <p:nvPicPr>
          <p:cNvPr id="11" name="Picture 10" descr="A red and black logo&#10;&#10;Description automatically generated">
            <a:extLst>
              <a:ext uri="{FF2B5EF4-FFF2-40B4-BE49-F238E27FC236}">
                <a16:creationId xmlns:a16="http://schemas.microsoft.com/office/drawing/2014/main" id="{29BE2BE2-9E00-CB03-72C1-FF931FB7228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581552" y="3910518"/>
            <a:ext cx="4998416" cy="2858572"/>
          </a:xfrm>
          <a:prstGeom prst="rect">
            <a:avLst/>
          </a:prstGeom>
          <a:noFill/>
          <a:effectLst>
            <a:glow rad="406400">
              <a:schemeClr val="tx1">
                <a:alpha val="43000"/>
              </a:schemeClr>
            </a:glow>
          </a:effectLst>
        </p:spPr>
      </p:pic>
    </p:spTree>
    <p:extLst>
      <p:ext uri="{BB962C8B-B14F-4D97-AF65-F5344CB8AC3E}">
        <p14:creationId xmlns:p14="http://schemas.microsoft.com/office/powerpoint/2010/main" val="38916365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p:spPr>
        <p:txBody>
          <a:bodyPr/>
          <a:lstStyle>
            <a:lvl1pPr>
              <a:defRPr>
                <a:latin typeface="Aptos" panose="020B0004020202020204" pitchFamily="34" charset="0"/>
              </a:defRPr>
            </a:lvl1pPr>
          </a:lstStyle>
          <a:p>
            <a:r>
              <a:rPr lang="en-US"/>
              <a:t>Click icon to add picture</a:t>
            </a:r>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p:spPr>
        <p:txBody>
          <a:bodyPr/>
          <a:lstStyle>
            <a:lvl1pPr>
              <a:defRPr>
                <a:latin typeface="Aptos" panose="020B0004020202020204" pitchFamily="34" charset="0"/>
              </a:defRPr>
            </a:lvl1pPr>
          </a:lstStyle>
          <a:p>
            <a:r>
              <a:rPr lang="en-US"/>
              <a:t>Click icon to add picture</a:t>
            </a:r>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p:spPr>
        <p:txBody>
          <a:bodyPr/>
          <a:lstStyle>
            <a:lvl1pPr marL="0" indent="0" algn="ctr">
              <a:buFontTx/>
              <a:buNone/>
              <a:defRPr sz="2400" b="1">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439693" y="5303520"/>
            <a:ext cx="4572000" cy="9144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contact info</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180307" y="5303520"/>
            <a:ext cx="4572000" cy="914400"/>
          </a:xfrm>
        </p:spPr>
        <p:txBody>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contact info</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info</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p:spPr>
        <p:txBody>
          <a:bodyPr>
            <a:normAutofit/>
          </a:bodyPr>
          <a:lstStyle>
            <a:lvl1pPr marL="0" indent="0" algn="ctr">
              <a:buFontTx/>
              <a:buNone/>
              <a:defRPr sz="2400">
                <a:solidFill>
                  <a:schemeClr val="bg1"/>
                </a:solidFill>
                <a:latin typeface="Aptos" panose="020B0004020202020204" pitchFamily="34" charset="0"/>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info</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a:ln w="0"/>
                <a:solidFill>
                  <a:schemeClr val="bg1"/>
                </a:solidFill>
                <a:effectLst>
                  <a:outerShdw blurRad="38100" dist="19050" dir="2700000" algn="tl" rotWithShape="0">
                    <a:schemeClr val="dk1">
                      <a:alpha val="40000"/>
                    </a:schemeClr>
                  </a:outerShdw>
                </a:effectLst>
                <a:latin typeface="Aptos" panose="020B0004020202020204" pitchFamily="34" charset="0"/>
              </a:rPr>
              <a:t>Can’t see our slides? Can’t hear? Need to repeat the question? Call us out!</a:t>
            </a:r>
          </a:p>
        </p:txBody>
      </p:sp>
      <p:pic>
        <p:nvPicPr>
          <p:cNvPr id="7" name="MMS" descr="A red and black logo&#10;&#10;Description automatically generated">
            <a:extLst>
              <a:ext uri="{FF2B5EF4-FFF2-40B4-BE49-F238E27FC236}">
                <a16:creationId xmlns:a16="http://schemas.microsoft.com/office/drawing/2014/main" id="{043E37BF-9604-7220-A931-A7BC5D053E6D}"/>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1" y="6245352"/>
            <a:ext cx="1071259" cy="612648"/>
          </a:xfrm>
          <a:prstGeom prst="rect">
            <a:avLst/>
          </a:prstGeom>
        </p:spPr>
      </p:pic>
    </p:spTree>
    <p:extLst>
      <p:ext uri="{BB962C8B-B14F-4D97-AF65-F5344CB8AC3E}">
        <p14:creationId xmlns:p14="http://schemas.microsoft.com/office/powerpoint/2010/main" val="2538939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7" name="MMS" descr="MMS Logo">
            <a:extLst>
              <a:ext uri="{FF2B5EF4-FFF2-40B4-BE49-F238E27FC236}">
                <a16:creationId xmlns:a16="http://schemas.microsoft.com/office/drawing/2014/main" id="{B20E1BA0-F24A-EC19-2D43-C2AEF38D6F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 y="6220684"/>
            <a:ext cx="1069571" cy="612648"/>
          </a:xfrm>
          <a:prstGeom prst="rect">
            <a:avLst/>
          </a:prstGeom>
        </p:spPr>
      </p:pic>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4669" y="1258200"/>
            <a:ext cx="12264227" cy="645279"/>
          </a:xfrm>
          <a:prstGeom prst="rect">
            <a:avLst/>
          </a:prstGeom>
        </p:spPr>
      </p:pic>
    </p:spTree>
    <p:extLst>
      <p:ext uri="{BB962C8B-B14F-4D97-AF65-F5344CB8AC3E}">
        <p14:creationId xmlns:p14="http://schemas.microsoft.com/office/powerpoint/2010/main" val="41489407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0" y="6245352"/>
            <a:ext cx="1069571" cy="612648"/>
          </a:xfrm>
          <a:prstGeom prst="rect">
            <a:avLst/>
          </a:prstGeom>
        </p:spPr>
      </p:pic>
    </p:spTree>
    <p:extLst>
      <p:ext uri="{BB962C8B-B14F-4D97-AF65-F5344CB8AC3E}">
        <p14:creationId xmlns:p14="http://schemas.microsoft.com/office/powerpoint/2010/main" val="353019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p:spPr>
        <p:txBody>
          <a:bodyPr anchor="b"/>
          <a:lstStyle>
            <a:lvl1pPr>
              <a:defRPr sz="6000">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p:spPr>
        <p:txBody>
          <a:bodyPr/>
          <a:lstStyle>
            <a:lvl1pPr marL="0" indent="0">
              <a:buNone/>
              <a:defRPr sz="2400">
                <a:solidFill>
                  <a:schemeClr val="tx1">
                    <a:tint val="75000"/>
                  </a:schemeClr>
                </a:solidFill>
                <a:latin typeface="Aptos" panose="020B00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110829" y="5943600"/>
            <a:ext cx="1596375" cy="9144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a:ln w="0"/>
                <a:solidFill>
                  <a:schemeClr val="bg1">
                    <a:lumMod val="85000"/>
                    <a:alpha val="25000"/>
                  </a:schemeClr>
                </a:solidFill>
                <a:effectLst>
                  <a:outerShdw blurRad="38100" dist="19050" dir="2700000" algn="tl" rotWithShape="0">
                    <a:schemeClr val="dk1">
                      <a:alpha val="40000"/>
                    </a:schemeClr>
                  </a:outerShdw>
                </a:effectLst>
                <a:latin typeface="Aptos" panose="020B0004020202020204" pitchFamily="34" charset="0"/>
              </a:rPr>
              <a:t>DEMO</a:t>
            </a:r>
          </a:p>
        </p:txBody>
      </p:sp>
    </p:spTree>
    <p:extLst>
      <p:ext uri="{BB962C8B-B14F-4D97-AF65-F5344CB8AC3E}">
        <p14:creationId xmlns:p14="http://schemas.microsoft.com/office/powerpoint/2010/main" val="1602785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MMS Logo">
            <a:extLst>
              <a:ext uri="{FF2B5EF4-FFF2-40B4-BE49-F238E27FC236}">
                <a16:creationId xmlns:a16="http://schemas.microsoft.com/office/drawing/2014/main" id="{2A1EA3AB-2287-A909-3F79-BFFF9117BFC9}"/>
              </a:ext>
            </a:extLst>
          </p:cNvPr>
          <p:cNvPicPr>
            <a:picLocks noChangeAspect="1"/>
          </p:cNvPicPr>
          <p:nvPr userDrawn="1"/>
        </p:nvPicPr>
        <p:blipFill>
          <a:blip r:embed="rId3" cstate="screen">
            <a:alphaModFix amt="40000"/>
            <a:extLst>
              <a:ext uri="{28A0092B-C50C-407E-A947-70E740481C1C}">
                <a14:useLocalDpi xmlns:a14="http://schemas.microsoft.com/office/drawing/2010/main"/>
              </a:ext>
            </a:extLst>
          </a:blip>
          <a:stretch>
            <a:fillRect/>
          </a:stretch>
        </p:blipFill>
        <p:spPr>
          <a:xfrm>
            <a:off x="40012" y="5943600"/>
            <a:ext cx="1596375" cy="9144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35848819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p:spPr>
        <p:txBody>
          <a:bodyPr/>
          <a:lstStyle>
            <a:lvl1pPr>
              <a:defRPr>
                <a:latin typeface="Aptos" panose="020B0004020202020204" pitchFamily="34" charset="0"/>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p:spPr>
        <p:txBody>
          <a:bodyPr anchor="b"/>
          <a:lstStyle>
            <a:lvl1pPr marL="0" indent="0">
              <a:buNone/>
              <a:defRPr sz="2400" b="1">
                <a:latin typeface="Aptos" panose="020B0004020202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p:spPr>
        <p:txBody>
          <a:bodyPr/>
          <a:lstStyle>
            <a:lvl1pPr>
              <a:defRPr>
                <a:latin typeface="Aptos" panose="020B0004020202020204" pitchFamily="34" charset="0"/>
              </a:defRPr>
            </a:lvl1pPr>
            <a:lvl2pPr>
              <a:defRPr>
                <a:latin typeface="Aptos" panose="020B0004020202020204" pitchFamily="34" charset="0"/>
              </a:defRPr>
            </a:lvl2pPr>
            <a:lvl3pPr>
              <a:defRPr>
                <a:latin typeface="Aptos" panose="020B0004020202020204" pitchFamily="34" charset="0"/>
              </a:defRPr>
            </a:lvl3pPr>
            <a:lvl4pPr>
              <a:defRPr>
                <a:latin typeface="Aptos" panose="020B0004020202020204" pitchFamily="34" charset="0"/>
              </a:defRPr>
            </a:lvl4pPr>
            <a:lvl5pPr>
              <a:defRPr>
                <a:latin typeface="Aptos" panose="020B00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MMS Logo">
            <a:extLst>
              <a:ext uri="{FF2B5EF4-FFF2-40B4-BE49-F238E27FC236}">
                <a16:creationId xmlns:a16="http://schemas.microsoft.com/office/drawing/2014/main" id="{A3D86560-F6A7-2176-B497-5661E33D251E}"/>
              </a:ext>
            </a:extLst>
          </p:cNvPr>
          <p:cNvPicPr>
            <a:picLocks noChangeAspect="1"/>
          </p:cNvPicPr>
          <p:nvPr userDrawn="1"/>
        </p:nvPicPr>
        <p:blipFill>
          <a:blip r:embed="rId3" cstate="screen">
            <a:alphaModFix amt="2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2178888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p:txBody>
          <a:bodyPr/>
          <a:lstStyle>
            <a:lvl1pPr>
              <a:defRPr>
                <a:latin typeface="Aptos" panose="020B0004020202020204" pitchFamily="34" charset="0"/>
              </a:defRPr>
            </a:lvl1pPr>
          </a:lstStyle>
          <a:p>
            <a:r>
              <a:rPr lang="en-US"/>
              <a:t>Click to edit Master title style</a:t>
            </a:r>
          </a:p>
        </p:txBody>
      </p:sp>
      <p:pic>
        <p:nvPicPr>
          <p:cNvPr id="6" name="Picture 5" descr="MMS Logo">
            <a:extLst>
              <a:ext uri="{FF2B5EF4-FFF2-40B4-BE49-F238E27FC236}">
                <a16:creationId xmlns:a16="http://schemas.microsoft.com/office/drawing/2014/main" id="{58B90811-A51E-65F2-5CD6-98D6CF98110B}"/>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25661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spTree>
    <p:extLst>
      <p:ext uri="{BB962C8B-B14F-4D97-AF65-F5344CB8AC3E}">
        <p14:creationId xmlns:p14="http://schemas.microsoft.com/office/powerpoint/2010/main" val="14846215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p:spPr>
        <p:txBody>
          <a:bodyPr/>
          <a:lstStyle>
            <a:lvl1pPr>
              <a:defRPr sz="3200">
                <a:latin typeface="Aptos" panose="020B0004020202020204" pitchFamily="34" charset="0"/>
              </a:defRPr>
            </a:lvl1pPr>
            <a:lvl2pPr>
              <a:defRPr sz="2800">
                <a:latin typeface="Aptos" panose="020B0004020202020204" pitchFamily="34" charset="0"/>
              </a:defRPr>
            </a:lvl2pPr>
            <a:lvl3pPr>
              <a:defRPr sz="2400">
                <a:latin typeface="Aptos" panose="020B0004020202020204" pitchFamily="34" charset="0"/>
              </a:defRPr>
            </a:lvl3pPr>
            <a:lvl4pPr>
              <a:defRPr sz="2000">
                <a:latin typeface="Aptos" panose="020B0004020202020204" pitchFamily="34" charset="0"/>
              </a:defRPr>
            </a:lvl4pPr>
            <a:lvl5pPr>
              <a:defRPr sz="2000">
                <a:latin typeface="Aptos" panose="020B0004020202020204"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871BDB1C-D88C-7CC2-5D66-47039F15389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38391" y="5958516"/>
            <a:ext cx="1596375" cy="914400"/>
          </a:xfrm>
          <a:prstGeom prst="rect">
            <a:avLst/>
          </a:prstGeom>
        </p:spPr>
      </p:pic>
    </p:spTree>
    <p:extLst>
      <p:ext uri="{BB962C8B-B14F-4D97-AF65-F5344CB8AC3E}">
        <p14:creationId xmlns:p14="http://schemas.microsoft.com/office/powerpoint/2010/main" val="30117040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p:spPr>
        <p:txBody>
          <a:bodyPr anchor="b"/>
          <a:lstStyle>
            <a:lvl1pPr>
              <a:defRPr sz="3200">
                <a:latin typeface="Aptos" panose="020B0004020202020204" pitchFamily="34" charset="0"/>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p:spPr>
        <p:txBody>
          <a:bodyPr/>
          <a:lstStyle>
            <a:lvl1pPr marL="0" indent="0">
              <a:buNone/>
              <a:defRPr sz="3200">
                <a:latin typeface="Aptos" panose="020B00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p:spPr>
        <p:txBody>
          <a:bodyPr/>
          <a:lstStyle>
            <a:lvl1pPr marL="0" indent="0">
              <a:buNone/>
              <a:defRPr sz="1600">
                <a:latin typeface="Aptos" panose="020B0004020202020204" pitchFamily="34"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BEAC8699-2117-4549-6791-6D861DDBC83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Tree>
    <p:extLst>
      <p:ext uri="{BB962C8B-B14F-4D97-AF65-F5344CB8AC3E}">
        <p14:creationId xmlns:p14="http://schemas.microsoft.com/office/powerpoint/2010/main" val="3293012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shing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a:solidFill>
                  <a:schemeClr val="bg1"/>
                </a:solidFill>
                <a:latin typeface="Aptos" panose="020B0004020202020204" pitchFamily="34" charset="0"/>
              </a:rPr>
              <a:t>Be sure to find Wally and sign up for 1:1 time with a speaker</a:t>
            </a:r>
          </a:p>
          <a:p>
            <a:r>
              <a:rPr lang="en-US" sz="2400" b="1">
                <a:solidFill>
                  <a:schemeClr val="bg1"/>
                </a:solidFill>
                <a:latin typeface="Aptos" panose="020B0004020202020204" pitchFamily="34" charset="0"/>
              </a:rPr>
              <a:t>If you'd like to "catch" us for a session, we are scheduled as follows:</a:t>
            </a:r>
            <a:endParaRPr lang="en-US" b="1">
              <a:solidFill>
                <a:schemeClr val="bg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a:solidFill>
                  <a:schemeClr val="bg1"/>
                </a:solidFill>
                <a:latin typeface="Aptos" panose="020B0004020202020204" pitchFamily="34" charset="0"/>
              </a:rPr>
              <a:t>Don't forget to leave feedback for your speakers!</a:t>
            </a:r>
          </a:p>
        </p:txBody>
      </p:sp>
      <p:pic>
        <p:nvPicPr>
          <p:cNvPr id="7" name="Picture 6" descr="MMS Logo">
            <a:extLst>
              <a:ext uri="{FF2B5EF4-FFF2-40B4-BE49-F238E27FC236}">
                <a16:creationId xmlns:a16="http://schemas.microsoft.com/office/drawing/2014/main" id="{BC9A6E22-95AA-8F42-08D4-0DFD93E2EF5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p:spPr>
        <p:txBody>
          <a:bodyPr/>
          <a:lstStyle>
            <a:lvl1pPr>
              <a:defRPr/>
            </a:lvl1pPr>
          </a:lstStyle>
          <a:p>
            <a:pPr lvl="0"/>
            <a:r>
              <a:rPr lang="en-US"/>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a:solidFill>
                  <a:schemeClr val="bg1"/>
                </a:solidFill>
                <a:latin typeface="Aptos" panose="020B0004020202020204" pitchFamily="34" charset="0"/>
              </a:rPr>
              <a:t>Fishing Sessions</a:t>
            </a:r>
          </a:p>
        </p:txBody>
      </p:sp>
    </p:spTree>
    <p:extLst>
      <p:ext uri="{BB962C8B-B14F-4D97-AF65-F5344CB8AC3E}">
        <p14:creationId xmlns:p14="http://schemas.microsoft.com/office/powerpoint/2010/main" val="789424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ave the Date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MOA">
            <a:extLst>
              <a:ext uri="{FF2B5EF4-FFF2-40B4-BE49-F238E27FC236}">
                <a16:creationId xmlns:a16="http://schemas.microsoft.com/office/drawing/2014/main" id="{9CE8F994-3F43-B6B2-27DC-2BA65CDAD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36424" y="2075955"/>
            <a:ext cx="2971800" cy="2980355"/>
          </a:xfrm>
          <a:prstGeom prst="rect">
            <a:avLst/>
          </a:prstGeom>
          <a:ln w="28575">
            <a:solidFill>
              <a:schemeClr val="bg1"/>
            </a:solidFill>
          </a:ln>
        </p:spPr>
      </p:pic>
      <p:sp>
        <p:nvSpPr>
          <p:cNvPr id="4" name="TextBox 3">
            <a:extLst>
              <a:ext uri="{FF2B5EF4-FFF2-40B4-BE49-F238E27FC236}">
                <a16:creationId xmlns:a16="http://schemas.microsoft.com/office/drawing/2014/main" id="{E0828A95-6D43-E388-3D4E-E5117E2A09F8}"/>
              </a:ext>
            </a:extLst>
          </p:cNvPr>
          <p:cNvSpPr txBox="1"/>
          <p:nvPr userDrawn="1"/>
        </p:nvSpPr>
        <p:spPr>
          <a:xfrm>
            <a:off x="402199" y="1431135"/>
            <a:ext cx="2973203"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25-28, 2026</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849846"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10-13, 2027</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535992" y="230806"/>
            <a:ext cx="712002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36424"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May 2-6,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0674" y="2091583"/>
            <a:ext cx="2964728" cy="2964728"/>
          </a:xfrm>
          <a:prstGeom prst="rect">
            <a:avLst/>
          </a:prstGeom>
          <a:ln w="28575">
            <a:solidFill>
              <a:schemeClr val="bg1"/>
            </a:solidFill>
          </a:ln>
        </p:spPr>
      </p:pic>
      <p:pic>
        <p:nvPicPr>
          <p:cNvPr id="13" name="Picture 12" descr="A black guitar with red text&#10;&#10;AI-generated content may be incorrect.">
            <a:extLst>
              <a:ext uri="{FF2B5EF4-FFF2-40B4-BE49-F238E27FC236}">
                <a16:creationId xmlns:a16="http://schemas.microsoft.com/office/drawing/2014/main" id="{424A81D4-437A-CD95-6B7C-A4349A47DD2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69247" y="2075956"/>
            <a:ext cx="2980355" cy="2980355"/>
          </a:xfrm>
          <a:prstGeom prst="rect">
            <a:avLst/>
          </a:prstGeom>
          <a:ln w="28575">
            <a:solidFill>
              <a:schemeClr val="bg1">
                <a:lumMod val="95000"/>
              </a:schemeClr>
            </a:solidFill>
          </a:ln>
        </p:spPr>
      </p:pic>
    </p:spTree>
    <p:extLst>
      <p:ext uri="{BB962C8B-B14F-4D97-AF65-F5344CB8AC3E}">
        <p14:creationId xmlns:p14="http://schemas.microsoft.com/office/powerpoint/2010/main" val="1126592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Q&amp;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793937" y="1390152"/>
            <a:ext cx="2743200" cy="1571299"/>
          </a:xfrm>
          <a:prstGeom prst="rect">
            <a:avLst/>
          </a:prstGeom>
        </p:spPr>
      </p:pic>
      <p:sp>
        <p:nvSpPr>
          <p:cNvPr id="10" name="Rectangle 9">
            <a:extLst>
              <a:ext uri="{FF2B5EF4-FFF2-40B4-BE49-F238E27FC236}">
                <a16:creationId xmlns:a16="http://schemas.microsoft.com/office/drawing/2014/main" id="{A0141027-F066-B9AE-93FD-9C9448960CDB}"/>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11" name="Picture 10" descr="Patch My PC">
            <a:extLst>
              <a:ext uri="{FF2B5EF4-FFF2-40B4-BE49-F238E27FC236}">
                <a16:creationId xmlns:a16="http://schemas.microsoft.com/office/drawing/2014/main" id="{F837D305-2B1E-D93E-4951-99C287BF88B8}"/>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77628" y="4135460"/>
            <a:ext cx="1258699" cy="914400"/>
          </a:xfrm>
          <a:prstGeom prst="rect">
            <a:avLst/>
          </a:prstGeom>
        </p:spPr>
      </p:pic>
      <p:pic>
        <p:nvPicPr>
          <p:cNvPr id="9" name="Picture 8" descr="A black and white logo&#10;&#10;Description automatically generated with low confidence">
            <a:extLst>
              <a:ext uri="{FF2B5EF4-FFF2-40B4-BE49-F238E27FC236}">
                <a16:creationId xmlns:a16="http://schemas.microsoft.com/office/drawing/2014/main" id="{9152F94A-4D91-121D-CEB4-524094EE7D95}"/>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4852" y="4226900"/>
            <a:ext cx="731520" cy="731520"/>
          </a:xfrm>
          <a:prstGeom prst="rect">
            <a:avLst/>
          </a:prstGeom>
        </p:spPr>
      </p:pic>
      <p:pic>
        <p:nvPicPr>
          <p:cNvPr id="13" name="Picture 12" descr="A grey rectangle with white and blue text&#10;&#10;Description automatically generated">
            <a:extLst>
              <a:ext uri="{FF2B5EF4-FFF2-40B4-BE49-F238E27FC236}">
                <a16:creationId xmlns:a16="http://schemas.microsoft.com/office/drawing/2014/main" id="{27436F92-854C-BEE9-ECD2-98D939DF1B93}"/>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015176" y="5249533"/>
            <a:ext cx="1188721" cy="457200"/>
          </a:xfrm>
          <a:prstGeom prst="rect">
            <a:avLst/>
          </a:prstGeom>
        </p:spPr>
      </p:pic>
      <p:pic>
        <p:nvPicPr>
          <p:cNvPr id="29" name="Picture 28" descr="A white text on a black background&#10;&#10;Description automatically generated">
            <a:extLst>
              <a:ext uri="{FF2B5EF4-FFF2-40B4-BE49-F238E27FC236}">
                <a16:creationId xmlns:a16="http://schemas.microsoft.com/office/drawing/2014/main" id="{75392E0A-C0E2-C291-444E-C2565C6FA049}"/>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56251" y="6167385"/>
            <a:ext cx="901452" cy="410211"/>
          </a:xfrm>
          <a:prstGeom prst="rect">
            <a:avLst/>
          </a:prstGeom>
        </p:spPr>
      </p:pic>
      <p:pic>
        <p:nvPicPr>
          <p:cNvPr id="37" name="Graphic 36">
            <a:extLst>
              <a:ext uri="{FF2B5EF4-FFF2-40B4-BE49-F238E27FC236}">
                <a16:creationId xmlns:a16="http://schemas.microsoft.com/office/drawing/2014/main" id="{FFA7C4B9-2FE7-03A8-4C46-F9FB648245F6}"/>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408004" y="6348996"/>
            <a:ext cx="1503922" cy="228600"/>
          </a:xfrm>
          <a:prstGeom prst="rect">
            <a:avLst/>
          </a:prstGeom>
        </p:spPr>
      </p:pic>
      <p:pic>
        <p:nvPicPr>
          <p:cNvPr id="6" name="Picture 5">
            <a:extLst>
              <a:ext uri="{FF2B5EF4-FFF2-40B4-BE49-F238E27FC236}">
                <a16:creationId xmlns:a16="http://schemas.microsoft.com/office/drawing/2014/main" id="{504D6873-2AA5-65D0-992F-5D0CA23B99B8}"/>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532255" y="6368384"/>
            <a:ext cx="1554480" cy="209212"/>
          </a:xfrm>
          <a:prstGeom prst="rect">
            <a:avLst/>
          </a:prstGeom>
        </p:spPr>
      </p:pic>
      <p:pic>
        <p:nvPicPr>
          <p:cNvPr id="8" name="Picture 7">
            <a:extLst>
              <a:ext uri="{FF2B5EF4-FFF2-40B4-BE49-F238E27FC236}">
                <a16:creationId xmlns:a16="http://schemas.microsoft.com/office/drawing/2014/main" id="{6CB20B0E-D4F5-70E8-7B88-CD98C80D632A}"/>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290909" y="4306910"/>
            <a:ext cx="1554480" cy="605236"/>
          </a:xfrm>
          <a:prstGeom prst="rect">
            <a:avLst/>
          </a:prstGeom>
        </p:spPr>
      </p:pic>
      <p:pic>
        <p:nvPicPr>
          <p:cNvPr id="16" name="Picture 15">
            <a:extLst>
              <a:ext uri="{FF2B5EF4-FFF2-40B4-BE49-F238E27FC236}">
                <a16:creationId xmlns:a16="http://schemas.microsoft.com/office/drawing/2014/main" id="{0697EBA7-C89E-96EE-4748-7F907F81D9A5}"/>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357703" y="5355030"/>
            <a:ext cx="1554480" cy="270344"/>
          </a:xfrm>
          <a:prstGeom prst="rect">
            <a:avLst/>
          </a:prstGeom>
        </p:spPr>
      </p:pic>
      <p:pic>
        <p:nvPicPr>
          <p:cNvPr id="21" name="Graphic 20">
            <a:extLst>
              <a:ext uri="{FF2B5EF4-FFF2-40B4-BE49-F238E27FC236}">
                <a16:creationId xmlns:a16="http://schemas.microsoft.com/office/drawing/2014/main" id="{20F4E334-22B5-F189-E4F0-E59467F9F9B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5060619" y="4384263"/>
            <a:ext cx="1554480" cy="388620"/>
          </a:xfrm>
          <a:prstGeom prst="rect">
            <a:avLst/>
          </a:prstGeom>
        </p:spPr>
      </p:pic>
      <p:pic>
        <p:nvPicPr>
          <p:cNvPr id="24" name="Picture 23">
            <a:extLst>
              <a:ext uri="{FF2B5EF4-FFF2-40B4-BE49-F238E27FC236}">
                <a16:creationId xmlns:a16="http://schemas.microsoft.com/office/drawing/2014/main" id="{5E5F552A-9761-3A6C-8290-61044C88A9CD}"/>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75502" y="4409266"/>
            <a:ext cx="1554480" cy="366787"/>
          </a:xfrm>
          <a:prstGeom prst="rect">
            <a:avLst/>
          </a:prstGeom>
        </p:spPr>
      </p:pic>
      <p:pic>
        <p:nvPicPr>
          <p:cNvPr id="25" name="Picture 24" descr="A blue text on a black background&#10;&#10;AI-generated content may be incorrect.">
            <a:extLst>
              <a:ext uri="{FF2B5EF4-FFF2-40B4-BE49-F238E27FC236}">
                <a16:creationId xmlns:a16="http://schemas.microsoft.com/office/drawing/2014/main" id="{059AA4FF-6CFA-B105-B54C-8D9B21CA931B}"/>
              </a:ext>
            </a:extLst>
          </p:cNvPr>
          <p:cNvPicPr>
            <a:picLocks noChangeAspect="1"/>
          </p:cNvPicPr>
          <p:nvPr userDrawn="1"/>
        </p:nvPicPr>
        <p:blipFill>
          <a:blip r:embed="rId14">
            <a:extLst>
              <a:ext uri="{BEBA8EAE-BF5A-486C-A8C5-ECC9F3942E4B}">
                <a14:imgProps xmlns:a14="http://schemas.microsoft.com/office/drawing/2010/main">
                  <a14:imgLayer r:embed="rId15">
                    <a14:imgEffect>
                      <a14:saturation sat="0"/>
                    </a14:imgEffect>
                    <a14:imgEffect>
                      <a14:brightnessContrast bright="100000"/>
                    </a14:imgEffect>
                  </a14:imgLayer>
                </a14:imgProps>
              </a:ext>
            </a:extLst>
          </a:blip>
          <a:stretch>
            <a:fillRect/>
          </a:stretch>
        </p:blipFill>
        <p:spPr>
          <a:xfrm>
            <a:off x="6306890" y="5315255"/>
            <a:ext cx="1554480" cy="310119"/>
          </a:xfrm>
          <a:prstGeom prst="rect">
            <a:avLst/>
          </a:prstGeom>
        </p:spPr>
      </p:pic>
      <p:pic>
        <p:nvPicPr>
          <p:cNvPr id="26" name="Picture 25" descr="A white letters on a black background&#10;&#10;AI-generated content may be incorrect.">
            <a:extLst>
              <a:ext uri="{FF2B5EF4-FFF2-40B4-BE49-F238E27FC236}">
                <a16:creationId xmlns:a16="http://schemas.microsoft.com/office/drawing/2014/main" id="{22BA2D5A-399C-36FF-E065-28AF7C39D808}"/>
              </a:ext>
            </a:extLst>
          </p:cNvPr>
          <p:cNvPicPr>
            <a:picLocks noChangeAspect="1"/>
          </p:cNvPicPr>
          <p:nvPr userDrawn="1"/>
        </p:nvPicPr>
        <p:blipFill>
          <a:blip r:embed="rId16"/>
          <a:stretch>
            <a:fillRect/>
          </a:stretch>
        </p:blipFill>
        <p:spPr>
          <a:xfrm>
            <a:off x="8964363" y="5326622"/>
            <a:ext cx="1554480" cy="321259"/>
          </a:xfrm>
          <a:prstGeom prst="rect">
            <a:avLst/>
          </a:prstGeom>
        </p:spPr>
      </p:pic>
      <p:pic>
        <p:nvPicPr>
          <p:cNvPr id="33" name="Picture 32">
            <a:extLst>
              <a:ext uri="{FF2B5EF4-FFF2-40B4-BE49-F238E27FC236}">
                <a16:creationId xmlns:a16="http://schemas.microsoft.com/office/drawing/2014/main" id="{92CA8F16-E2DC-59EF-D489-4FC3AB2CC38D}"/>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678972" y="5846076"/>
            <a:ext cx="532014" cy="731520"/>
          </a:xfrm>
          <a:prstGeom prst="rect">
            <a:avLst/>
          </a:prstGeom>
        </p:spPr>
      </p:pic>
      <p:pic>
        <p:nvPicPr>
          <p:cNvPr id="36" name="Picture 35">
            <a:extLst>
              <a:ext uri="{FF2B5EF4-FFF2-40B4-BE49-F238E27FC236}">
                <a16:creationId xmlns:a16="http://schemas.microsoft.com/office/drawing/2014/main" id="{CDA09CD3-5E5E-7480-F81F-B86933B9DC69}"/>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233196" y="6163652"/>
            <a:ext cx="1463040" cy="413944"/>
          </a:xfrm>
          <a:prstGeom prst="rect">
            <a:avLst/>
          </a:prstGeom>
        </p:spPr>
      </p:pic>
    </p:spTree>
    <p:extLst>
      <p:ext uri="{BB962C8B-B14F-4D97-AF65-F5344CB8AC3E}">
        <p14:creationId xmlns:p14="http://schemas.microsoft.com/office/powerpoint/2010/main" val="393401979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a:lum/>
            <a:extLst>
              <a:ext uri="{96DAC541-7B7A-43D3-8B79-37D633B846F1}">
                <asvg:svgBlip xmlns:asvg="http://schemas.microsoft.com/office/drawing/2016/SVG/main" r:embed="rId2"/>
              </a:ext>
            </a:extLst>
          </a:blip>
          <a:srcRect/>
          <a:stretch>
            <a:fillRect t="-2000" b="-2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8B2AB-1AF2-C3EC-A0DA-7900482B4860}"/>
              </a:ext>
            </a:extLst>
          </p:cNvPr>
          <p:cNvSpPr>
            <a:spLocks noGrp="1"/>
          </p:cNvSpPr>
          <p:nvPr>
            <p:ph type="ctrTitle"/>
          </p:nvPr>
        </p:nvSpPr>
        <p:spPr>
          <a:xfrm>
            <a:off x="1524000" y="3682"/>
            <a:ext cx="9144000" cy="2306637"/>
          </a:xfrm>
        </p:spPr>
        <p:txBody>
          <a:bodyPr anchor="b"/>
          <a:lstStyle>
            <a:lvl1pPr algn="ctr">
              <a:defRPr sz="6000" b="1">
                <a:solidFill>
                  <a:schemeClr val="bg1"/>
                </a:solidFill>
              </a:defRPr>
            </a:lvl1pPr>
          </a:lstStyle>
          <a:p>
            <a:r>
              <a:rPr lang="en-US"/>
              <a:t>Click to edit Master title style</a:t>
            </a:r>
          </a:p>
        </p:txBody>
      </p:sp>
      <p:sp>
        <p:nvSpPr>
          <p:cNvPr id="3" name="Subtitle 2">
            <a:extLst>
              <a:ext uri="{FF2B5EF4-FFF2-40B4-BE49-F238E27FC236}">
                <a16:creationId xmlns:a16="http://schemas.microsoft.com/office/drawing/2014/main" id="{35AC045E-7E31-838B-3E84-BF7CAB2CBCDF}"/>
              </a:ext>
            </a:extLst>
          </p:cNvPr>
          <p:cNvSpPr>
            <a:spLocks noGrp="1"/>
          </p:cNvSpPr>
          <p:nvPr>
            <p:ph type="subTitle" idx="1"/>
          </p:nvPr>
        </p:nvSpPr>
        <p:spPr>
          <a:xfrm>
            <a:off x="1524000" y="2490281"/>
            <a:ext cx="9144000" cy="1420237"/>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4" name="Graphic 13">
            <a:extLst>
              <a:ext uri="{FF2B5EF4-FFF2-40B4-BE49-F238E27FC236}">
                <a16:creationId xmlns:a16="http://schemas.microsoft.com/office/drawing/2014/main" id="{C1C6F0CE-A001-978A-D698-EB6C97BB9BA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5720" y="2310319"/>
            <a:ext cx="12298680" cy="734379"/>
          </a:xfrm>
          <a:prstGeom prst="rect">
            <a:avLst/>
          </a:prstGeom>
        </p:spPr>
      </p:pic>
      <p:pic>
        <p:nvPicPr>
          <p:cNvPr id="11" name="Picture 10" descr="A red and black logo&#10;&#10;Description automatically generated">
            <a:extLst>
              <a:ext uri="{FF2B5EF4-FFF2-40B4-BE49-F238E27FC236}">
                <a16:creationId xmlns:a16="http://schemas.microsoft.com/office/drawing/2014/main" id="{29BE2BE2-9E00-CB03-72C1-FF931FB7228A}"/>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3581552" y="3910518"/>
            <a:ext cx="4998416" cy="2858572"/>
          </a:xfrm>
          <a:prstGeom prst="rect">
            <a:avLst/>
          </a:prstGeom>
          <a:noFill/>
          <a:effectLst>
            <a:glow rad="406400">
              <a:schemeClr val="tx1">
                <a:alpha val="43000"/>
              </a:schemeClr>
            </a:glow>
          </a:effectLst>
        </p:spPr>
      </p:pic>
    </p:spTree>
    <p:extLst>
      <p:ext uri="{BB962C8B-B14F-4D97-AF65-F5344CB8AC3E}">
        <p14:creationId xmlns:p14="http://schemas.microsoft.com/office/powerpoint/2010/main" val="40663052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peaker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0F2FDBB-FB45-8FD2-5F71-DB342D59755E}"/>
              </a:ext>
            </a:extLst>
          </p:cNvPr>
          <p:cNvSpPr>
            <a:spLocks noGrp="1"/>
          </p:cNvSpPr>
          <p:nvPr>
            <p:ph type="pic" sz="quarter" idx="10"/>
          </p:nvPr>
        </p:nvSpPr>
        <p:spPr>
          <a:xfrm>
            <a:off x="2396859" y="1581880"/>
            <a:ext cx="2703513" cy="2538413"/>
          </a:xfrm>
        </p:spPr>
        <p:txBody>
          <a:bodyPr/>
          <a:lstStyle>
            <a:lvl1pPr>
              <a:defRPr>
                <a:solidFill>
                  <a:schemeClr val="tx1"/>
                </a:solidFill>
              </a:defRPr>
            </a:lvl1pPr>
          </a:lstStyle>
          <a:p>
            <a:r>
              <a:rPr lang="en-US"/>
              <a:t>Click icon to add picture</a:t>
            </a:r>
          </a:p>
        </p:txBody>
      </p:sp>
      <p:sp>
        <p:nvSpPr>
          <p:cNvPr id="8" name="Picture Placeholder 4">
            <a:extLst>
              <a:ext uri="{FF2B5EF4-FFF2-40B4-BE49-F238E27FC236}">
                <a16:creationId xmlns:a16="http://schemas.microsoft.com/office/drawing/2014/main" id="{B765F7A9-F279-484D-0F3B-4BB46B514D6C}"/>
              </a:ext>
            </a:extLst>
          </p:cNvPr>
          <p:cNvSpPr>
            <a:spLocks noGrp="1"/>
          </p:cNvSpPr>
          <p:nvPr>
            <p:ph type="pic" sz="quarter" idx="11"/>
          </p:nvPr>
        </p:nvSpPr>
        <p:spPr>
          <a:xfrm>
            <a:off x="7114594" y="1579653"/>
            <a:ext cx="2703513" cy="2538413"/>
          </a:xfrm>
        </p:spPr>
        <p:txBody>
          <a:bodyPr/>
          <a:lstStyle>
            <a:lvl1pPr>
              <a:defRPr>
                <a:solidFill>
                  <a:schemeClr val="tx1"/>
                </a:solidFill>
              </a:defRPr>
            </a:lvl1pPr>
          </a:lstStyle>
          <a:p>
            <a:r>
              <a:rPr lang="en-US"/>
              <a:t>Click icon to add picture</a:t>
            </a:r>
          </a:p>
        </p:txBody>
      </p:sp>
      <p:sp>
        <p:nvSpPr>
          <p:cNvPr id="9" name="Rectangle 8">
            <a:extLst>
              <a:ext uri="{FF2B5EF4-FFF2-40B4-BE49-F238E27FC236}">
                <a16:creationId xmlns:a16="http://schemas.microsoft.com/office/drawing/2014/main" id="{5F6FE98B-7FAF-CBE0-DE78-7629C4DAC585}"/>
              </a:ext>
            </a:extLst>
          </p:cNvPr>
          <p:cNvSpPr/>
          <p:nvPr userDrawn="1"/>
        </p:nvSpPr>
        <p:spPr>
          <a:xfrm>
            <a:off x="4047202" y="195263"/>
            <a:ext cx="4097597" cy="1200329"/>
          </a:xfrm>
          <a:prstGeom prst="rect">
            <a:avLst/>
          </a:prstGeom>
          <a:noFill/>
        </p:spPr>
        <p:txBody>
          <a:bodyPr vert="horz" wrap="none" lIns="91440" tIns="45720" rIns="91440" bIns="45720">
            <a:spAutoFit/>
          </a:bodyPr>
          <a:lstStyle/>
          <a:p>
            <a:pPr algn="ctr"/>
            <a:r>
              <a:rPr lang="en-US" sz="7200" b="1" u="none" cap="none" spc="0" baseline="0">
                <a:ln w="0"/>
                <a:solidFill>
                  <a:schemeClr val="tx1"/>
                </a:solidFill>
                <a:effectLst>
                  <a:outerShdw blurRad="38100" dist="19050" dir="2700000" algn="tl" rotWithShape="0">
                    <a:schemeClr val="dk1">
                      <a:alpha val="40000"/>
                    </a:schemeClr>
                  </a:outerShdw>
                </a:effectLst>
              </a:rPr>
              <a:t>Speakers</a:t>
            </a:r>
          </a:p>
        </p:txBody>
      </p:sp>
      <p:pic>
        <p:nvPicPr>
          <p:cNvPr id="11" name="Graphic 10" descr="Radio microphone with solid fill">
            <a:extLst>
              <a:ext uri="{FF2B5EF4-FFF2-40B4-BE49-F238E27FC236}">
                <a16:creationId xmlns:a16="http://schemas.microsoft.com/office/drawing/2014/main" id="{081F717A-90EF-F96A-D83B-54E6307A315B}"/>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459804" y="338227"/>
            <a:ext cx="914400" cy="914400"/>
          </a:xfrm>
          <a:prstGeom prst="rect">
            <a:avLst/>
          </a:prstGeom>
        </p:spPr>
      </p:pic>
      <p:sp>
        <p:nvSpPr>
          <p:cNvPr id="17" name="Text Placeholder 16">
            <a:extLst>
              <a:ext uri="{FF2B5EF4-FFF2-40B4-BE49-F238E27FC236}">
                <a16:creationId xmlns:a16="http://schemas.microsoft.com/office/drawing/2014/main" id="{2E8946D3-04F0-0641-9424-10E785AD7371}"/>
              </a:ext>
            </a:extLst>
          </p:cNvPr>
          <p:cNvSpPr>
            <a:spLocks noGrp="1"/>
          </p:cNvSpPr>
          <p:nvPr>
            <p:ph type="body" sz="quarter" idx="12" hasCustomPrompt="1"/>
          </p:nvPr>
        </p:nvSpPr>
        <p:spPr>
          <a:xfrm>
            <a:off x="1439693" y="4206239"/>
            <a:ext cx="4572000" cy="457200"/>
          </a:xfrm>
        </p:spPr>
        <p:txBody>
          <a:bodyPr/>
          <a:lstStyle>
            <a:lvl1pPr marL="0" indent="0" algn="ctr">
              <a:buFontTx/>
              <a:buNone/>
              <a:defRPr sz="2400" b="1">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Name</a:t>
            </a:r>
          </a:p>
        </p:txBody>
      </p:sp>
      <p:sp>
        <p:nvSpPr>
          <p:cNvPr id="18" name="Text Placeholder 16">
            <a:extLst>
              <a:ext uri="{FF2B5EF4-FFF2-40B4-BE49-F238E27FC236}">
                <a16:creationId xmlns:a16="http://schemas.microsoft.com/office/drawing/2014/main" id="{4E852539-A3B0-BF16-FE8E-4CC8EFF8ACE6}"/>
              </a:ext>
            </a:extLst>
          </p:cNvPr>
          <p:cNvSpPr>
            <a:spLocks noGrp="1"/>
          </p:cNvSpPr>
          <p:nvPr>
            <p:ph type="body" sz="quarter" idx="13" hasCustomPrompt="1"/>
          </p:nvPr>
        </p:nvSpPr>
        <p:spPr>
          <a:xfrm>
            <a:off x="6168867" y="4206239"/>
            <a:ext cx="4572000" cy="457200"/>
          </a:xfrm>
        </p:spPr>
        <p:txBody>
          <a:bodyPr/>
          <a:lstStyle>
            <a:lvl1pPr marL="0" indent="0" algn="ctr">
              <a:buFontTx/>
              <a:buNone/>
              <a:defRPr sz="2400" b="1">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Name</a:t>
            </a:r>
          </a:p>
        </p:txBody>
      </p:sp>
      <p:sp>
        <p:nvSpPr>
          <p:cNvPr id="19" name="Text Placeholder 16">
            <a:extLst>
              <a:ext uri="{FF2B5EF4-FFF2-40B4-BE49-F238E27FC236}">
                <a16:creationId xmlns:a16="http://schemas.microsoft.com/office/drawing/2014/main" id="{F8B8F0D3-A682-04D8-7E0B-F26D56163FA4}"/>
              </a:ext>
            </a:extLst>
          </p:cNvPr>
          <p:cNvSpPr>
            <a:spLocks noGrp="1"/>
          </p:cNvSpPr>
          <p:nvPr>
            <p:ph type="body" sz="quarter" idx="14" hasCustomPrompt="1"/>
          </p:nvPr>
        </p:nvSpPr>
        <p:spPr>
          <a:xfrm>
            <a:off x="1439693" y="5303520"/>
            <a:ext cx="4572000" cy="9144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contact info</a:t>
            </a:r>
          </a:p>
        </p:txBody>
      </p:sp>
      <p:sp>
        <p:nvSpPr>
          <p:cNvPr id="20" name="Text Placeholder 16">
            <a:extLst>
              <a:ext uri="{FF2B5EF4-FFF2-40B4-BE49-F238E27FC236}">
                <a16:creationId xmlns:a16="http://schemas.microsoft.com/office/drawing/2014/main" id="{A3D27F1E-071E-F20C-9FA4-6FF3260A1116}"/>
              </a:ext>
            </a:extLst>
          </p:cNvPr>
          <p:cNvSpPr>
            <a:spLocks noGrp="1"/>
          </p:cNvSpPr>
          <p:nvPr>
            <p:ph type="body" sz="quarter" idx="15" hasCustomPrompt="1"/>
          </p:nvPr>
        </p:nvSpPr>
        <p:spPr>
          <a:xfrm>
            <a:off x="6180307" y="5303520"/>
            <a:ext cx="4572000" cy="914400"/>
          </a:xfrm>
        </p:spPr>
        <p:txBody>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contact info</a:t>
            </a:r>
          </a:p>
        </p:txBody>
      </p:sp>
      <p:sp>
        <p:nvSpPr>
          <p:cNvPr id="21" name="Text Placeholder 16">
            <a:extLst>
              <a:ext uri="{FF2B5EF4-FFF2-40B4-BE49-F238E27FC236}">
                <a16:creationId xmlns:a16="http://schemas.microsoft.com/office/drawing/2014/main" id="{725C257A-1E0B-90CB-FDAB-F164B5FB84B2}"/>
              </a:ext>
            </a:extLst>
          </p:cNvPr>
          <p:cNvSpPr>
            <a:spLocks noGrp="1"/>
          </p:cNvSpPr>
          <p:nvPr>
            <p:ph type="body" sz="quarter" idx="16" hasCustomPrompt="1"/>
          </p:nvPr>
        </p:nvSpPr>
        <p:spPr>
          <a:xfrm>
            <a:off x="1439693" y="4754880"/>
            <a:ext cx="4572000" cy="4572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1 info</a:t>
            </a:r>
          </a:p>
        </p:txBody>
      </p:sp>
      <p:sp>
        <p:nvSpPr>
          <p:cNvPr id="22" name="Text Placeholder 16">
            <a:extLst>
              <a:ext uri="{FF2B5EF4-FFF2-40B4-BE49-F238E27FC236}">
                <a16:creationId xmlns:a16="http://schemas.microsoft.com/office/drawing/2014/main" id="{F028274B-3D73-8DB7-57F5-8758A5761592}"/>
              </a:ext>
            </a:extLst>
          </p:cNvPr>
          <p:cNvSpPr>
            <a:spLocks noGrp="1"/>
          </p:cNvSpPr>
          <p:nvPr>
            <p:ph type="body" sz="quarter" idx="17" hasCustomPrompt="1"/>
          </p:nvPr>
        </p:nvSpPr>
        <p:spPr>
          <a:xfrm>
            <a:off x="6180350" y="4754880"/>
            <a:ext cx="4572000" cy="457200"/>
          </a:xfrm>
        </p:spPr>
        <p:txBody>
          <a:bodyPr>
            <a:normAutofit/>
          </a:bodyPr>
          <a:lstStyle>
            <a:lvl1pPr marL="0" indent="0" algn="ctr">
              <a:buFontTx/>
              <a:buNone/>
              <a:defRPr sz="2400">
                <a:solidFill>
                  <a:schemeClr val="tx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Speaker 2 info</a:t>
            </a:r>
          </a:p>
        </p:txBody>
      </p:sp>
      <p:sp>
        <p:nvSpPr>
          <p:cNvPr id="23" name="Rectangle 22">
            <a:extLst>
              <a:ext uri="{FF2B5EF4-FFF2-40B4-BE49-F238E27FC236}">
                <a16:creationId xmlns:a16="http://schemas.microsoft.com/office/drawing/2014/main" id="{1E3E2B6C-976C-B840-C89F-B4F3065660F9}"/>
              </a:ext>
            </a:extLst>
          </p:cNvPr>
          <p:cNvSpPr/>
          <p:nvPr userDrawn="1"/>
        </p:nvSpPr>
        <p:spPr>
          <a:xfrm>
            <a:off x="2286669" y="6401767"/>
            <a:ext cx="7618661" cy="2593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cap="none" spc="0">
                <a:ln w="0"/>
                <a:solidFill>
                  <a:schemeClr val="tx1"/>
                </a:solidFill>
                <a:effectLst>
                  <a:outerShdw blurRad="38100" dist="19050" dir="2700000" algn="tl" rotWithShape="0">
                    <a:schemeClr val="dk1">
                      <a:alpha val="40000"/>
                    </a:schemeClr>
                  </a:outerShdw>
                </a:effectLst>
              </a:rPr>
              <a:t>Can’t see our slides? Can’t hear? Need to repeat the question? Call us out!</a:t>
            </a:r>
          </a:p>
        </p:txBody>
      </p:sp>
      <p:pic>
        <p:nvPicPr>
          <p:cNvPr id="7" name="MMS" descr="A red and black logo&#10;&#10;Description automatically generated">
            <a:extLst>
              <a:ext uri="{FF2B5EF4-FFF2-40B4-BE49-F238E27FC236}">
                <a16:creationId xmlns:a16="http://schemas.microsoft.com/office/drawing/2014/main" id="{043E37BF-9604-7220-A931-A7BC5D053E6D}"/>
              </a:ext>
            </a:extLst>
          </p:cNvPr>
          <p:cNvPicPr>
            <a:picLocks noChangeAspect="1"/>
          </p:cNvPicPr>
          <p:nvPr userDrawn="1"/>
        </p:nvPicPr>
        <p:blipFill>
          <a:blip r:embed="rId4" cstate="screen">
            <a:alphaModFix/>
            <a:extLst>
              <a:ext uri="{28A0092B-C50C-407E-A947-70E740481C1C}">
                <a14:useLocalDpi xmlns:a14="http://schemas.microsoft.com/office/drawing/2010/main"/>
              </a:ext>
            </a:extLst>
          </a:blip>
          <a:stretch>
            <a:fillRect/>
          </a:stretch>
        </p:blipFill>
        <p:spPr>
          <a:xfrm>
            <a:off x="-1" y="6245352"/>
            <a:ext cx="1071259" cy="612648"/>
          </a:xfrm>
          <a:prstGeom prst="rect">
            <a:avLst/>
          </a:prstGeom>
        </p:spPr>
      </p:pic>
    </p:spTree>
    <p:extLst>
      <p:ext uri="{BB962C8B-B14F-4D97-AF65-F5344CB8AC3E}">
        <p14:creationId xmlns:p14="http://schemas.microsoft.com/office/powerpoint/2010/main" val="24611858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0F2B3F-34C9-5D81-3C0A-03B2A2A13B24}"/>
              </a:ext>
            </a:extLst>
          </p:cNvPr>
          <p:cNvSpPr>
            <a:spLocks noGrp="1"/>
          </p:cNvSpPr>
          <p:nvPr>
            <p:ph type="title"/>
          </p:nvPr>
        </p:nvSpPr>
        <p:spPr/>
        <p:txBody>
          <a:bodyPr/>
          <a:lstStyle>
            <a:lvl1pPr>
              <a:defRPr>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564A0340-D9A2-712E-B180-06395325383B}"/>
              </a:ext>
            </a:extLst>
          </p:cNvPr>
          <p:cNvSpPr>
            <a:spLocks noGrp="1"/>
          </p:cNvSpPr>
          <p:nvPr>
            <p:ph idx="1"/>
          </p:nvPr>
        </p:nvSpPr>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2" name="Graphic 11">
            <a:extLst>
              <a:ext uri="{FF2B5EF4-FFF2-40B4-BE49-F238E27FC236}">
                <a16:creationId xmlns:a16="http://schemas.microsoft.com/office/drawing/2014/main" id="{13F5F04C-5E3E-333C-217E-CEBF980C8D1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0336" y="1258200"/>
            <a:ext cx="12264228" cy="645279"/>
          </a:xfrm>
          <a:prstGeom prst="rect">
            <a:avLst/>
          </a:prstGeom>
        </p:spPr>
      </p:pic>
      <p:pic>
        <p:nvPicPr>
          <p:cNvPr id="9" name="Picture 8" descr="A red and black logo&#10;&#10;Description automatically generated">
            <a:extLst>
              <a:ext uri="{FF2B5EF4-FFF2-40B4-BE49-F238E27FC236}">
                <a16:creationId xmlns:a16="http://schemas.microsoft.com/office/drawing/2014/main" id="{858ADF9C-553E-D4C9-65AD-8E508EBA9E1A}"/>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0" y="6241528"/>
            <a:ext cx="1077946" cy="616472"/>
          </a:xfrm>
          <a:prstGeom prst="rect">
            <a:avLst/>
          </a:prstGeom>
        </p:spPr>
      </p:pic>
    </p:spTree>
    <p:extLst>
      <p:ext uri="{BB962C8B-B14F-4D97-AF65-F5344CB8AC3E}">
        <p14:creationId xmlns:p14="http://schemas.microsoft.com/office/powerpoint/2010/main" val="151787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831850" y="1709738"/>
            <a:ext cx="10515600" cy="2852737"/>
          </a:xfrm>
        </p:spPr>
        <p:txBody>
          <a:bodyPr anchor="b"/>
          <a:lstStyle>
            <a:lvl1pPr>
              <a:defRPr sz="6000">
                <a:solidFill>
                  <a:schemeClr val="tx1"/>
                </a:solidFill>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831850" y="4589463"/>
            <a:ext cx="10515600" cy="1500187"/>
          </a:xfrm>
        </p:spPr>
        <p:txBody>
          <a:bodyPr/>
          <a:lstStyle>
            <a:lvl1pPr marL="0" indent="0">
              <a:buNone/>
              <a:defRPr sz="2400">
                <a:solidFill>
                  <a:schemeClr val="tx1">
                    <a:lumMod val="75000"/>
                    <a:lumOff val="25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0" y="6245352"/>
            <a:ext cx="1069571" cy="612648"/>
          </a:xfrm>
          <a:prstGeom prst="rect">
            <a:avLst/>
          </a:prstGeom>
        </p:spPr>
      </p:pic>
    </p:spTree>
    <p:extLst>
      <p:ext uri="{BB962C8B-B14F-4D97-AF65-F5344CB8AC3E}">
        <p14:creationId xmlns:p14="http://schemas.microsoft.com/office/powerpoint/2010/main" val="364949791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Demo Header">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5EE4-0A4A-2B2C-119B-2F341C139E31}"/>
              </a:ext>
            </a:extLst>
          </p:cNvPr>
          <p:cNvSpPr>
            <a:spLocks noGrp="1"/>
          </p:cNvSpPr>
          <p:nvPr>
            <p:ph type="title"/>
          </p:nvPr>
        </p:nvSpPr>
        <p:spPr>
          <a:xfrm>
            <a:off x="3414408" y="1700011"/>
            <a:ext cx="7933041" cy="2852737"/>
          </a:xfrm>
        </p:spPr>
        <p:txBody>
          <a:bodyPr anchor="b"/>
          <a:lstStyle>
            <a:lvl1pPr>
              <a:defRPr sz="6000">
                <a:solidFill>
                  <a:schemeClr val="tx1">
                    <a:lumMod val="95000"/>
                    <a:lumOff val="5000"/>
                  </a:schemeClr>
                </a:solidFill>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6911DF5D-CB3B-BA76-1722-DD0D7E7805E8}"/>
              </a:ext>
            </a:extLst>
          </p:cNvPr>
          <p:cNvSpPr>
            <a:spLocks noGrp="1"/>
          </p:cNvSpPr>
          <p:nvPr>
            <p:ph type="body" idx="1"/>
          </p:nvPr>
        </p:nvSpPr>
        <p:spPr>
          <a:xfrm>
            <a:off x="3414408" y="4579736"/>
            <a:ext cx="7933041" cy="1500187"/>
          </a:xfrm>
        </p:spPr>
        <p:txBody>
          <a:bodyPr/>
          <a:lstStyle>
            <a:lvl1pPr marL="0" indent="0">
              <a:buNone/>
              <a:defRPr sz="2400">
                <a:solidFill>
                  <a:schemeClr val="tx1">
                    <a:lumMod val="50000"/>
                    <a:lumOff val="50000"/>
                  </a:schemeClr>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5" name="Picture 4" descr="MMS Logo">
            <a:extLst>
              <a:ext uri="{FF2B5EF4-FFF2-40B4-BE49-F238E27FC236}">
                <a16:creationId xmlns:a16="http://schemas.microsoft.com/office/drawing/2014/main" id="{7A94F116-969A-0346-AE10-98CF6F785B0F}"/>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10829" y="5943600"/>
            <a:ext cx="1596375" cy="914400"/>
          </a:xfrm>
          <a:prstGeom prst="rect">
            <a:avLst/>
          </a:prstGeom>
        </p:spPr>
      </p:pic>
      <p:sp>
        <p:nvSpPr>
          <p:cNvPr id="8" name="Rectangle 7">
            <a:extLst>
              <a:ext uri="{FF2B5EF4-FFF2-40B4-BE49-F238E27FC236}">
                <a16:creationId xmlns:a16="http://schemas.microsoft.com/office/drawing/2014/main" id="{CEF6BDD6-65D1-E9C5-ACC8-28AEF699CDAA}"/>
              </a:ext>
            </a:extLst>
          </p:cNvPr>
          <p:cNvSpPr/>
          <p:nvPr userDrawn="1"/>
        </p:nvSpPr>
        <p:spPr>
          <a:xfrm>
            <a:off x="1173627" y="1986560"/>
            <a:ext cx="1661993" cy="3585277"/>
          </a:xfrm>
          <a:prstGeom prst="rect">
            <a:avLst/>
          </a:prstGeom>
          <a:noFill/>
        </p:spPr>
        <p:txBody>
          <a:bodyPr vert="vert270" wrap="none" lIns="91440" tIns="45720" rIns="91440" bIns="45720">
            <a:spAutoFit/>
          </a:bodyPr>
          <a:lstStyle/>
          <a:p>
            <a:pPr algn="ctr"/>
            <a:r>
              <a:rPr lang="en-US" sz="9600" b="1" u="none" cap="none" spc="0" baseline="0">
                <a:ln w="0"/>
                <a:solidFill>
                  <a:schemeClr val="tx1">
                    <a:lumMod val="50000"/>
                    <a:lumOff val="50000"/>
                  </a:schemeClr>
                </a:solidFill>
                <a:effectLst>
                  <a:outerShdw blurRad="38100" dist="19050" dir="2700000" algn="tl" rotWithShape="0">
                    <a:schemeClr val="dk1">
                      <a:alpha val="40000"/>
                    </a:schemeClr>
                  </a:outerShdw>
                </a:effectLst>
                <a:latin typeface="+mn-lt"/>
              </a:rPr>
              <a:t>DEMO</a:t>
            </a:r>
          </a:p>
        </p:txBody>
      </p:sp>
    </p:spTree>
    <p:extLst>
      <p:ext uri="{BB962C8B-B14F-4D97-AF65-F5344CB8AC3E}">
        <p14:creationId xmlns:p14="http://schemas.microsoft.com/office/powerpoint/2010/main" val="34515838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72CA98-158E-037A-C94E-E38DC534861B}"/>
              </a:ext>
            </a:extLst>
          </p:cNvPr>
          <p:cNvSpPr>
            <a:spLocks noGrp="1"/>
          </p:cNvSpPr>
          <p:nvPr>
            <p:ph type="title"/>
          </p:nvPr>
        </p:nvSpPr>
        <p:spPr/>
        <p:txBody>
          <a:bodyPr/>
          <a:lstStyle>
            <a:lvl1pPr>
              <a:defRPr>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3DAACDB-B0A5-F82A-E06F-F66C4B0C2D2A}"/>
              </a:ext>
            </a:extLst>
          </p:cNvPr>
          <p:cNvSpPr>
            <a:spLocks noGrp="1"/>
          </p:cNvSpPr>
          <p:nvPr>
            <p:ph sz="half" idx="1"/>
          </p:nvPr>
        </p:nvSpPr>
        <p:spPr>
          <a:xfrm>
            <a:off x="838200" y="1498060"/>
            <a:ext cx="5181600" cy="4678903"/>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9BF707E-1F23-C8BE-85CC-91A13D768C0C}"/>
              </a:ext>
            </a:extLst>
          </p:cNvPr>
          <p:cNvSpPr>
            <a:spLocks noGrp="1"/>
          </p:cNvSpPr>
          <p:nvPr>
            <p:ph sz="half" idx="2"/>
          </p:nvPr>
        </p:nvSpPr>
        <p:spPr>
          <a:xfrm>
            <a:off x="6172200" y="1498060"/>
            <a:ext cx="5181600" cy="4678903"/>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8" name="Picture 7" descr="MMS Logo">
            <a:extLst>
              <a:ext uri="{FF2B5EF4-FFF2-40B4-BE49-F238E27FC236}">
                <a16:creationId xmlns:a16="http://schemas.microsoft.com/office/drawing/2014/main" id="{2A1EA3AB-2287-A909-3F79-BFFF9117BFC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0012" y="5943600"/>
            <a:ext cx="1596375" cy="914400"/>
          </a:xfrm>
          <a:prstGeom prst="rect">
            <a:avLst/>
          </a:prstGeom>
        </p:spPr>
      </p:pic>
      <p:pic>
        <p:nvPicPr>
          <p:cNvPr id="9" name="Graphic 8">
            <a:extLst>
              <a:ext uri="{FF2B5EF4-FFF2-40B4-BE49-F238E27FC236}">
                <a16:creationId xmlns:a16="http://schemas.microsoft.com/office/drawing/2014/main" id="{7004620A-8B56-621C-CE78-C55792A93B3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73280" cy="645279"/>
          </a:xfrm>
          <a:prstGeom prst="rect">
            <a:avLst/>
          </a:prstGeom>
        </p:spPr>
      </p:pic>
    </p:spTree>
    <p:extLst>
      <p:ext uri="{BB962C8B-B14F-4D97-AF65-F5344CB8AC3E}">
        <p14:creationId xmlns:p14="http://schemas.microsoft.com/office/powerpoint/2010/main" val="119177319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43FC6-9D49-7EE7-65B3-940E59809465}"/>
              </a:ext>
            </a:extLst>
          </p:cNvPr>
          <p:cNvSpPr>
            <a:spLocks noGrp="1"/>
          </p:cNvSpPr>
          <p:nvPr>
            <p:ph type="title"/>
          </p:nvPr>
        </p:nvSpPr>
        <p:spPr>
          <a:xfrm>
            <a:off x="839788" y="365125"/>
            <a:ext cx="10515600" cy="795528"/>
          </a:xfrm>
        </p:spPr>
        <p:txBody>
          <a:bodyPr/>
          <a:lstStyle>
            <a:lvl1pPr>
              <a:defRPr>
                <a:solidFill>
                  <a:schemeClr val="tx1"/>
                </a:solidFill>
                <a:latin typeface="+mn-lt"/>
              </a:defRPr>
            </a:lvl1pPr>
          </a:lstStyle>
          <a:p>
            <a:r>
              <a:rPr lang="en-US"/>
              <a:t>Click to edit Master title style</a:t>
            </a:r>
          </a:p>
        </p:txBody>
      </p:sp>
      <p:sp>
        <p:nvSpPr>
          <p:cNvPr id="3" name="Text Placeholder 2">
            <a:extLst>
              <a:ext uri="{FF2B5EF4-FFF2-40B4-BE49-F238E27FC236}">
                <a16:creationId xmlns:a16="http://schemas.microsoft.com/office/drawing/2014/main" id="{B88AD4CF-A6B7-AD69-E2EF-D5CF1E53C008}"/>
              </a:ext>
            </a:extLst>
          </p:cNvPr>
          <p:cNvSpPr>
            <a:spLocks noGrp="1"/>
          </p:cNvSpPr>
          <p:nvPr>
            <p:ph type="body" idx="1"/>
          </p:nvPr>
        </p:nvSpPr>
        <p:spPr>
          <a:xfrm>
            <a:off x="839788" y="1515787"/>
            <a:ext cx="5157787" cy="485239"/>
          </a:xfr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5D8C1A2-5CFB-9DDA-598C-3D6E4DB535E1}"/>
              </a:ext>
            </a:extLst>
          </p:cNvPr>
          <p:cNvSpPr>
            <a:spLocks noGrp="1"/>
          </p:cNvSpPr>
          <p:nvPr>
            <p:ph sz="half" idx="2"/>
          </p:nvPr>
        </p:nvSpPr>
        <p:spPr>
          <a:xfrm>
            <a:off x="839788" y="2091448"/>
            <a:ext cx="5157787" cy="4098216"/>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D7FFAF-6DE1-D7D2-9D0C-7DA4C93200AA}"/>
              </a:ext>
            </a:extLst>
          </p:cNvPr>
          <p:cNvSpPr>
            <a:spLocks noGrp="1"/>
          </p:cNvSpPr>
          <p:nvPr>
            <p:ph type="body" sz="quarter" idx="3"/>
          </p:nvPr>
        </p:nvSpPr>
        <p:spPr>
          <a:xfrm>
            <a:off x="6172200" y="1515787"/>
            <a:ext cx="5183188" cy="485239"/>
          </a:xfrm>
        </p:spPr>
        <p:txBody>
          <a:bodyPr anchor="b"/>
          <a:lstStyle>
            <a:lvl1pPr marL="0" indent="0">
              <a:buNone/>
              <a:defRPr sz="24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C2BCB2A-881F-6F25-A415-DE218744AFE6}"/>
              </a:ext>
            </a:extLst>
          </p:cNvPr>
          <p:cNvSpPr>
            <a:spLocks noGrp="1"/>
          </p:cNvSpPr>
          <p:nvPr>
            <p:ph sz="quarter" idx="4"/>
          </p:nvPr>
        </p:nvSpPr>
        <p:spPr>
          <a:xfrm>
            <a:off x="6172200" y="2091448"/>
            <a:ext cx="5183188" cy="4098216"/>
          </a:xfrm>
        </p:spPr>
        <p:txBody>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0" name="Picture 9" descr="MMS Logo">
            <a:extLst>
              <a:ext uri="{FF2B5EF4-FFF2-40B4-BE49-F238E27FC236}">
                <a16:creationId xmlns:a16="http://schemas.microsoft.com/office/drawing/2014/main" id="{A3D86560-F6A7-2176-B497-5661E33D251E}"/>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11" name="Graphic 10">
            <a:extLst>
              <a:ext uri="{FF2B5EF4-FFF2-40B4-BE49-F238E27FC236}">
                <a16:creationId xmlns:a16="http://schemas.microsoft.com/office/drawing/2014/main" id="{21359E03-5C70-33E3-CD0F-EA5EAB2271F6}"/>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5560" y="1258200"/>
            <a:ext cx="12268200" cy="645279"/>
          </a:xfrm>
          <a:prstGeom prst="rect">
            <a:avLst/>
          </a:prstGeom>
        </p:spPr>
      </p:pic>
    </p:spTree>
    <p:extLst>
      <p:ext uri="{BB962C8B-B14F-4D97-AF65-F5344CB8AC3E}">
        <p14:creationId xmlns:p14="http://schemas.microsoft.com/office/powerpoint/2010/main" val="1433953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19ACD-72B3-1EDF-3267-2C3F86B8449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pic>
        <p:nvPicPr>
          <p:cNvPr id="6" name="Picture 5" descr="MMS Logo">
            <a:extLst>
              <a:ext uri="{FF2B5EF4-FFF2-40B4-BE49-F238E27FC236}">
                <a16:creationId xmlns:a16="http://schemas.microsoft.com/office/drawing/2014/main" id="{58B90811-A51E-65F2-5CD6-98D6CF98110B}"/>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pic>
        <p:nvPicPr>
          <p:cNvPr id="7" name="Graphic 6">
            <a:extLst>
              <a:ext uri="{FF2B5EF4-FFF2-40B4-BE49-F238E27FC236}">
                <a16:creationId xmlns:a16="http://schemas.microsoft.com/office/drawing/2014/main" id="{42E1CD3F-6E26-737A-C882-D9F7FE0E9F37}"/>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40640" y="1258200"/>
            <a:ext cx="12273280" cy="645279"/>
          </a:xfrm>
          <a:prstGeom prst="rect">
            <a:avLst/>
          </a:prstGeom>
        </p:spPr>
      </p:pic>
    </p:spTree>
    <p:extLst>
      <p:ext uri="{BB962C8B-B14F-4D97-AF65-F5344CB8AC3E}">
        <p14:creationId xmlns:p14="http://schemas.microsoft.com/office/powerpoint/2010/main" val="1778519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5" name="Picture 4" descr="MMS Logo">
            <a:extLst>
              <a:ext uri="{FF2B5EF4-FFF2-40B4-BE49-F238E27FC236}">
                <a16:creationId xmlns:a16="http://schemas.microsoft.com/office/drawing/2014/main" id="{7874FAA7-EB4D-5A79-909E-CB927AFCC6FD}"/>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0595625" y="5930596"/>
            <a:ext cx="1596375" cy="914400"/>
          </a:xfrm>
          <a:prstGeom prst="rect">
            <a:avLst/>
          </a:prstGeom>
        </p:spPr>
      </p:pic>
    </p:spTree>
    <p:extLst>
      <p:ext uri="{BB962C8B-B14F-4D97-AF65-F5344CB8AC3E}">
        <p14:creationId xmlns:p14="http://schemas.microsoft.com/office/powerpoint/2010/main" val="57762658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B3096-6483-1CC6-4263-E4B2B2BA6E25}"/>
              </a:ext>
            </a:extLst>
          </p:cNvPr>
          <p:cNvSpPr>
            <a:spLocks noGrp="1"/>
          </p:cNvSpPr>
          <p:nvPr>
            <p:ph type="title"/>
          </p:nvPr>
        </p:nvSpPr>
        <p:spPr>
          <a:xfrm>
            <a:off x="839788" y="457200"/>
            <a:ext cx="3932237" cy="1600200"/>
          </a:xfrm>
        </p:spPr>
        <p:txBody>
          <a:bodyPr anchor="b"/>
          <a:lstStyle>
            <a:lvl1pPr>
              <a:defRPr sz="3200">
                <a:solidFill>
                  <a:schemeClr val="tx1"/>
                </a:solidFill>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EB31DBF5-0D97-AF7D-8580-655BDCEA969F}"/>
              </a:ext>
            </a:extLst>
          </p:cNvPr>
          <p:cNvSpPr>
            <a:spLocks noGrp="1"/>
          </p:cNvSpPr>
          <p:nvPr>
            <p:ph idx="1"/>
          </p:nvPr>
        </p:nvSpPr>
        <p:spPr>
          <a:xfrm>
            <a:off x="5183188" y="987425"/>
            <a:ext cx="6172200" cy="4873625"/>
          </a:xfrm>
        </p:spPr>
        <p:txBody>
          <a:bodyPr/>
          <a:lstStyle>
            <a:lvl1pPr>
              <a:defRPr sz="3200">
                <a:solidFill>
                  <a:schemeClr val="tx1"/>
                </a:solidFill>
                <a:latin typeface="+mn-lt"/>
              </a:defRPr>
            </a:lvl1pPr>
            <a:lvl2pPr>
              <a:defRPr sz="2800">
                <a:solidFill>
                  <a:schemeClr val="tx1"/>
                </a:solidFill>
                <a:latin typeface="+mn-lt"/>
              </a:defRPr>
            </a:lvl2pPr>
            <a:lvl3pPr>
              <a:defRPr sz="2400">
                <a:solidFill>
                  <a:schemeClr val="tx1"/>
                </a:solidFill>
                <a:latin typeface="+mn-lt"/>
              </a:defRPr>
            </a:lvl3pPr>
            <a:lvl4pPr>
              <a:defRPr sz="2000">
                <a:solidFill>
                  <a:schemeClr val="tx1"/>
                </a:solidFill>
                <a:latin typeface="+mn-lt"/>
              </a:defRPr>
            </a:lvl4pPr>
            <a:lvl5pPr>
              <a:defRPr sz="2000">
                <a:solidFill>
                  <a:schemeClr val="tx1"/>
                </a:solidFill>
                <a:latin typeface="+mn-lt"/>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CF4BF5-B720-F392-649B-33EED0985EF7}"/>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871BDB1C-D88C-7CC2-5D66-47039F153899}"/>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138391" y="5958516"/>
            <a:ext cx="1596375" cy="914400"/>
          </a:xfrm>
          <a:prstGeom prst="rect">
            <a:avLst/>
          </a:prstGeom>
        </p:spPr>
      </p:pic>
    </p:spTree>
    <p:extLst>
      <p:ext uri="{BB962C8B-B14F-4D97-AF65-F5344CB8AC3E}">
        <p14:creationId xmlns:p14="http://schemas.microsoft.com/office/powerpoint/2010/main" val="8883260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4D4F0-46DF-66A6-26A5-6711090CE6DF}"/>
              </a:ext>
            </a:extLst>
          </p:cNvPr>
          <p:cNvSpPr>
            <a:spLocks noGrp="1"/>
          </p:cNvSpPr>
          <p:nvPr>
            <p:ph type="title"/>
          </p:nvPr>
        </p:nvSpPr>
        <p:spPr>
          <a:xfrm>
            <a:off x="839788" y="457200"/>
            <a:ext cx="3932237" cy="1600200"/>
          </a:xfrm>
        </p:spPr>
        <p:txBody>
          <a:bodyPr anchor="b"/>
          <a:lstStyle>
            <a:lvl1pPr>
              <a:defRPr sz="3200">
                <a:solidFill>
                  <a:schemeClr val="tx1"/>
                </a:solidFill>
                <a:latin typeface="+mn-lt"/>
              </a:defRPr>
            </a:lvl1pPr>
          </a:lstStyle>
          <a:p>
            <a:r>
              <a:rPr lang="en-US"/>
              <a:t>Click to edit Master title style</a:t>
            </a:r>
          </a:p>
        </p:txBody>
      </p:sp>
      <p:sp>
        <p:nvSpPr>
          <p:cNvPr id="3" name="Picture Placeholder 2">
            <a:extLst>
              <a:ext uri="{FF2B5EF4-FFF2-40B4-BE49-F238E27FC236}">
                <a16:creationId xmlns:a16="http://schemas.microsoft.com/office/drawing/2014/main" id="{A9114DA3-16F3-B40E-F37B-43106F3CF905}"/>
              </a:ext>
            </a:extLst>
          </p:cNvPr>
          <p:cNvSpPr>
            <a:spLocks noGrp="1"/>
          </p:cNvSpPr>
          <p:nvPr>
            <p:ph type="pic" idx="1"/>
          </p:nvPr>
        </p:nvSpPr>
        <p:spPr>
          <a:xfrm>
            <a:off x="5183188" y="987425"/>
            <a:ext cx="6172200" cy="4873625"/>
          </a:xfrm>
        </p:spPr>
        <p:txBody>
          <a:bodyPr/>
          <a:lstStyle>
            <a:lvl1pPr marL="0" indent="0">
              <a:buNone/>
              <a:defRPr sz="3200">
                <a:solidFill>
                  <a:schemeClr val="tx1"/>
                </a:solidFill>
                <a:latin typeface="+mn-lt"/>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123AD4-4C10-E69E-AE5E-B65F2FA789A1}"/>
              </a:ext>
            </a:extLst>
          </p:cNvPr>
          <p:cNvSpPr>
            <a:spLocks noGrp="1"/>
          </p:cNvSpPr>
          <p:nvPr>
            <p:ph type="body" sz="half" idx="2"/>
          </p:nvPr>
        </p:nvSpPr>
        <p:spPr>
          <a:xfrm>
            <a:off x="839788" y="2057400"/>
            <a:ext cx="3932237" cy="3811588"/>
          </a:xfrm>
        </p:spPr>
        <p:txBody>
          <a:bodyPr/>
          <a:lstStyle>
            <a:lvl1pPr marL="0" indent="0">
              <a:buNone/>
              <a:defRPr sz="160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pic>
        <p:nvPicPr>
          <p:cNvPr id="8" name="Picture 7" descr="MMS Logo">
            <a:extLst>
              <a:ext uri="{FF2B5EF4-FFF2-40B4-BE49-F238E27FC236}">
                <a16:creationId xmlns:a16="http://schemas.microsoft.com/office/drawing/2014/main" id="{BEAC8699-2117-4549-6791-6D861DDBC833}"/>
              </a:ext>
            </a:extLst>
          </p:cNvPr>
          <p:cNvPicPr>
            <a:picLocks noChangeAspect="1"/>
          </p:cNvPicPr>
          <p:nvPr userDrawn="1"/>
        </p:nvPicPr>
        <p:blipFill>
          <a:blip r:embed="rId3"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Tree>
    <p:extLst>
      <p:ext uri="{BB962C8B-B14F-4D97-AF65-F5344CB8AC3E}">
        <p14:creationId xmlns:p14="http://schemas.microsoft.com/office/powerpoint/2010/main" val="8880218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shing Session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DE2D7D29-7C84-65CA-6C03-C23E75B3244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0640" y="1258200"/>
            <a:ext cx="12273280" cy="645279"/>
          </a:xfrm>
          <a:prstGeom prst="rect">
            <a:avLst/>
          </a:prstGeom>
        </p:spPr>
      </p:pic>
      <p:sp>
        <p:nvSpPr>
          <p:cNvPr id="5" name="TextBox 4">
            <a:extLst>
              <a:ext uri="{FF2B5EF4-FFF2-40B4-BE49-F238E27FC236}">
                <a16:creationId xmlns:a16="http://schemas.microsoft.com/office/drawing/2014/main" id="{E9A8AAFD-A5FA-28E3-45D7-D91548749E63}"/>
              </a:ext>
            </a:extLst>
          </p:cNvPr>
          <p:cNvSpPr txBox="1"/>
          <p:nvPr userDrawn="1"/>
        </p:nvSpPr>
        <p:spPr>
          <a:xfrm>
            <a:off x="838200" y="1573109"/>
            <a:ext cx="10515600" cy="830997"/>
          </a:xfrm>
          <a:prstGeom prst="rect">
            <a:avLst/>
          </a:prstGeom>
          <a:noFill/>
        </p:spPr>
        <p:txBody>
          <a:bodyPr wrap="square" rtlCol="0">
            <a:spAutoFit/>
          </a:bodyPr>
          <a:lstStyle/>
          <a:p>
            <a:r>
              <a:rPr lang="en-US" sz="2400" b="1">
                <a:solidFill>
                  <a:schemeClr val="tx1"/>
                </a:solidFill>
                <a:latin typeface="Aptos" panose="020B0004020202020204" pitchFamily="34" charset="0"/>
              </a:rPr>
              <a:t>Be sure to find Wally and sign up for 1:1 time with a speaker</a:t>
            </a:r>
          </a:p>
          <a:p>
            <a:r>
              <a:rPr lang="en-US" sz="2400" b="1">
                <a:solidFill>
                  <a:schemeClr val="tx1"/>
                </a:solidFill>
                <a:latin typeface="Aptos" panose="020B0004020202020204" pitchFamily="34" charset="0"/>
              </a:rPr>
              <a:t>If you'd like to "catch" us for a session, we are scheduled as follows:</a:t>
            </a:r>
            <a:endParaRPr lang="en-US" b="1">
              <a:solidFill>
                <a:schemeClr val="tx1"/>
              </a:solidFill>
              <a:latin typeface="Aptos" panose="020B0004020202020204" pitchFamily="34" charset="0"/>
            </a:endParaRPr>
          </a:p>
        </p:txBody>
      </p:sp>
      <p:sp>
        <p:nvSpPr>
          <p:cNvPr id="6" name="TextBox 5">
            <a:extLst>
              <a:ext uri="{FF2B5EF4-FFF2-40B4-BE49-F238E27FC236}">
                <a16:creationId xmlns:a16="http://schemas.microsoft.com/office/drawing/2014/main" id="{FB73C569-B7C9-FDB7-19D5-EC55A66F5A3E}"/>
              </a:ext>
            </a:extLst>
          </p:cNvPr>
          <p:cNvSpPr txBox="1"/>
          <p:nvPr userDrawn="1"/>
        </p:nvSpPr>
        <p:spPr>
          <a:xfrm>
            <a:off x="838200" y="6063492"/>
            <a:ext cx="10515600" cy="461665"/>
          </a:xfrm>
          <a:prstGeom prst="rect">
            <a:avLst/>
          </a:prstGeom>
          <a:noFill/>
        </p:spPr>
        <p:txBody>
          <a:bodyPr wrap="square" rtlCol="0">
            <a:spAutoFit/>
          </a:bodyPr>
          <a:lstStyle/>
          <a:p>
            <a:pPr algn="r"/>
            <a:r>
              <a:rPr lang="en-US" sz="2400" b="1">
                <a:solidFill>
                  <a:schemeClr val="tx1"/>
                </a:solidFill>
                <a:latin typeface="Aptos" panose="020B0004020202020204" pitchFamily="34" charset="0"/>
              </a:rPr>
              <a:t>Don't forget to leave feedback for your speakers!</a:t>
            </a:r>
          </a:p>
        </p:txBody>
      </p:sp>
      <p:pic>
        <p:nvPicPr>
          <p:cNvPr id="7" name="Picture 6" descr="MMS Logo">
            <a:extLst>
              <a:ext uri="{FF2B5EF4-FFF2-40B4-BE49-F238E27FC236}">
                <a16:creationId xmlns:a16="http://schemas.microsoft.com/office/drawing/2014/main" id="{BC9A6E22-95AA-8F42-08D4-0DFD93E2EF51}"/>
              </a:ext>
            </a:extLst>
          </p:cNvPr>
          <p:cNvPicPr>
            <a:picLocks noChangeAspect="1"/>
          </p:cNvPicPr>
          <p:nvPr userDrawn="1"/>
        </p:nvPicPr>
        <p:blipFill>
          <a:blip r:embed="rId4" cstate="screen">
            <a:alphaModFix amt="50000"/>
            <a:extLst>
              <a:ext uri="{28A0092B-C50C-407E-A947-70E740481C1C}">
                <a14:useLocalDpi xmlns:a14="http://schemas.microsoft.com/office/drawing/2010/main"/>
              </a:ext>
            </a:extLst>
          </a:blip>
          <a:stretch>
            <a:fillRect/>
          </a:stretch>
        </p:blipFill>
        <p:spPr>
          <a:xfrm>
            <a:off x="41600" y="5943600"/>
            <a:ext cx="1596375" cy="914400"/>
          </a:xfrm>
          <a:prstGeom prst="rect">
            <a:avLst/>
          </a:prstGeom>
        </p:spPr>
      </p:pic>
      <p:sp>
        <p:nvSpPr>
          <p:cNvPr id="9" name="Text Placeholder 8">
            <a:extLst>
              <a:ext uri="{FF2B5EF4-FFF2-40B4-BE49-F238E27FC236}">
                <a16:creationId xmlns:a16="http://schemas.microsoft.com/office/drawing/2014/main" id="{C37802D0-972C-1B48-9997-0F792E49CA02}"/>
              </a:ext>
            </a:extLst>
          </p:cNvPr>
          <p:cNvSpPr>
            <a:spLocks noGrp="1"/>
          </p:cNvSpPr>
          <p:nvPr>
            <p:ph type="body" sz="quarter" idx="10" hasCustomPrompt="1"/>
          </p:nvPr>
        </p:nvSpPr>
        <p:spPr>
          <a:xfrm>
            <a:off x="838200" y="2514827"/>
            <a:ext cx="6278563" cy="3257550"/>
          </a:xfrm>
        </p:spPr>
        <p:txBody>
          <a:bodyPr/>
          <a:lstStyle>
            <a:lvl1pPr>
              <a:defRPr/>
            </a:lvl1pPr>
          </a:lstStyle>
          <a:p>
            <a:pPr lvl="0"/>
            <a:r>
              <a:rPr lang="en-US"/>
              <a:t>Enter Session Times Here</a:t>
            </a:r>
          </a:p>
        </p:txBody>
      </p:sp>
      <p:sp>
        <p:nvSpPr>
          <p:cNvPr id="10" name="TextBox 9">
            <a:extLst>
              <a:ext uri="{FF2B5EF4-FFF2-40B4-BE49-F238E27FC236}">
                <a16:creationId xmlns:a16="http://schemas.microsoft.com/office/drawing/2014/main" id="{8615EFDD-BD4E-7F02-7FFC-7ADB7A8A9F2B}"/>
              </a:ext>
            </a:extLst>
          </p:cNvPr>
          <p:cNvSpPr txBox="1"/>
          <p:nvPr userDrawn="1"/>
        </p:nvSpPr>
        <p:spPr>
          <a:xfrm>
            <a:off x="838199" y="244262"/>
            <a:ext cx="10515601" cy="769441"/>
          </a:xfrm>
          <a:prstGeom prst="rect">
            <a:avLst/>
          </a:prstGeom>
          <a:noFill/>
        </p:spPr>
        <p:txBody>
          <a:bodyPr wrap="square" rtlCol="0">
            <a:spAutoFit/>
          </a:bodyPr>
          <a:lstStyle/>
          <a:p>
            <a:pPr algn="ctr"/>
            <a:r>
              <a:rPr lang="en-US" sz="4400" b="1">
                <a:solidFill>
                  <a:schemeClr val="tx1"/>
                </a:solidFill>
                <a:latin typeface="Aptos" panose="020B0004020202020204" pitchFamily="34" charset="0"/>
              </a:rPr>
              <a:t>Fishing Sessions</a:t>
            </a:r>
          </a:p>
        </p:txBody>
      </p:sp>
    </p:spTree>
    <p:extLst>
      <p:ext uri="{BB962C8B-B14F-4D97-AF65-F5344CB8AC3E}">
        <p14:creationId xmlns:p14="http://schemas.microsoft.com/office/powerpoint/2010/main" val="25281619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Save the Dates">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MOA">
            <a:extLst>
              <a:ext uri="{FF2B5EF4-FFF2-40B4-BE49-F238E27FC236}">
                <a16:creationId xmlns:a16="http://schemas.microsoft.com/office/drawing/2014/main" id="{9CE8F994-3F43-B6B2-27DC-2BA65CDAD3E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636424" y="2075955"/>
            <a:ext cx="2971800" cy="2980355"/>
          </a:xfrm>
          <a:prstGeom prst="rect">
            <a:avLst/>
          </a:prstGeom>
          <a:ln w="28575">
            <a:solidFill>
              <a:schemeClr val="bg1"/>
            </a:solidFill>
          </a:ln>
        </p:spPr>
      </p:pic>
      <p:sp>
        <p:nvSpPr>
          <p:cNvPr id="4" name="TextBox 3">
            <a:extLst>
              <a:ext uri="{FF2B5EF4-FFF2-40B4-BE49-F238E27FC236}">
                <a16:creationId xmlns:a16="http://schemas.microsoft.com/office/drawing/2014/main" id="{E0828A95-6D43-E388-3D4E-E5117E2A09F8}"/>
              </a:ext>
            </a:extLst>
          </p:cNvPr>
          <p:cNvSpPr txBox="1"/>
          <p:nvPr userDrawn="1"/>
        </p:nvSpPr>
        <p:spPr>
          <a:xfrm>
            <a:off x="402199" y="1431135"/>
            <a:ext cx="2973203"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25-28, 2026</a:t>
            </a:r>
          </a:p>
        </p:txBody>
      </p:sp>
      <p:sp>
        <p:nvSpPr>
          <p:cNvPr id="5" name="TextBox 4">
            <a:extLst>
              <a:ext uri="{FF2B5EF4-FFF2-40B4-BE49-F238E27FC236}">
                <a16:creationId xmlns:a16="http://schemas.microsoft.com/office/drawing/2014/main" id="{E8F11CDB-CD01-841A-69AB-B3D3A5872802}"/>
              </a:ext>
            </a:extLst>
          </p:cNvPr>
          <p:cNvSpPr txBox="1"/>
          <p:nvPr userDrawn="1"/>
        </p:nvSpPr>
        <p:spPr>
          <a:xfrm>
            <a:off x="8849846"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Oct 10-13, 2027</a:t>
            </a:r>
          </a:p>
        </p:txBody>
      </p:sp>
      <p:sp>
        <p:nvSpPr>
          <p:cNvPr id="6" name="Rectangle 5">
            <a:extLst>
              <a:ext uri="{FF2B5EF4-FFF2-40B4-BE49-F238E27FC236}">
                <a16:creationId xmlns:a16="http://schemas.microsoft.com/office/drawing/2014/main" id="{D5699D8C-C70E-FE1E-2A0F-D2D47884EE8D}"/>
              </a:ext>
            </a:extLst>
          </p:cNvPr>
          <p:cNvSpPr/>
          <p:nvPr userDrawn="1"/>
        </p:nvSpPr>
        <p:spPr>
          <a:xfrm>
            <a:off x="2535992" y="230806"/>
            <a:ext cx="712002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SAVE THE DATES</a:t>
            </a:r>
          </a:p>
        </p:txBody>
      </p:sp>
      <p:sp>
        <p:nvSpPr>
          <p:cNvPr id="9" name="TextBox 8">
            <a:extLst>
              <a:ext uri="{FF2B5EF4-FFF2-40B4-BE49-F238E27FC236}">
                <a16:creationId xmlns:a16="http://schemas.microsoft.com/office/drawing/2014/main" id="{1407CC49-AA2C-0E73-1A86-E77BA5C7526E}"/>
              </a:ext>
            </a:extLst>
          </p:cNvPr>
          <p:cNvSpPr txBox="1"/>
          <p:nvPr userDrawn="1"/>
        </p:nvSpPr>
        <p:spPr>
          <a:xfrm>
            <a:off x="4636424" y="1431135"/>
            <a:ext cx="2952400" cy="461665"/>
          </a:xfrm>
          <a:prstGeom prst="rect">
            <a:avLst/>
          </a:prstGeom>
          <a:noFill/>
        </p:spPr>
        <p:txBody>
          <a:bodyPr wrap="square" rtlCol="0">
            <a:spAutoFit/>
          </a:bodyPr>
          <a:lstStyle/>
          <a:p>
            <a:pPr algn="ctr"/>
            <a:r>
              <a:rPr lang="en-US" sz="2400" b="1">
                <a:solidFill>
                  <a:schemeClr val="bg1"/>
                </a:solidFill>
                <a:latin typeface="Aptos" panose="020B0004020202020204" pitchFamily="34" charset="0"/>
              </a:rPr>
              <a:t>May 2-6, 2027</a:t>
            </a:r>
          </a:p>
        </p:txBody>
      </p:sp>
      <p:pic>
        <p:nvPicPr>
          <p:cNvPr id="2" name="Picture 1">
            <a:extLst>
              <a:ext uri="{FF2B5EF4-FFF2-40B4-BE49-F238E27FC236}">
                <a16:creationId xmlns:a16="http://schemas.microsoft.com/office/drawing/2014/main" id="{D2C30B63-D045-B0E6-1A84-9D5B143DDE36}"/>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10674" y="2091583"/>
            <a:ext cx="2964728" cy="2964728"/>
          </a:xfrm>
          <a:prstGeom prst="rect">
            <a:avLst/>
          </a:prstGeom>
          <a:ln w="28575">
            <a:solidFill>
              <a:schemeClr val="bg1"/>
            </a:solidFill>
          </a:ln>
        </p:spPr>
      </p:pic>
      <p:pic>
        <p:nvPicPr>
          <p:cNvPr id="13" name="Picture 12" descr="A black guitar with red text&#10;&#10;AI-generated content may be incorrect.">
            <a:extLst>
              <a:ext uri="{FF2B5EF4-FFF2-40B4-BE49-F238E27FC236}">
                <a16:creationId xmlns:a16="http://schemas.microsoft.com/office/drawing/2014/main" id="{424A81D4-437A-CD95-6B7C-A4349A47DD2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869247" y="2075956"/>
            <a:ext cx="2980355" cy="2980355"/>
          </a:xfrm>
          <a:prstGeom prst="rect">
            <a:avLst/>
          </a:prstGeom>
          <a:ln w="28575">
            <a:solidFill>
              <a:schemeClr val="bg1">
                <a:lumMod val="95000"/>
              </a:schemeClr>
            </a:solidFill>
          </a:ln>
        </p:spPr>
      </p:pic>
    </p:spTree>
    <p:extLst>
      <p:ext uri="{BB962C8B-B14F-4D97-AF65-F5344CB8AC3E}">
        <p14:creationId xmlns:p14="http://schemas.microsoft.com/office/powerpoint/2010/main" val="34260477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Q&amp;A">
    <p:bg>
      <p:bgPr>
        <a:blipFill dpi="0" rotWithShape="1">
          <a:blip>
            <a:lum/>
            <a:extLst>
              <a:ext uri="{96DAC541-7B7A-43D3-8B79-37D633B846F1}">
                <asvg:svgBlip xmlns:asvg="http://schemas.microsoft.com/office/drawing/2016/SVG/main" r:embed="rId2"/>
              </a:ext>
            </a:extLst>
          </a:blip>
          <a:srcRect/>
          <a:stretch>
            <a:fillRect/>
          </a:stretch>
        </a:blipFill>
        <a:effectLst/>
      </p:bgPr>
    </p:bg>
    <p:spTree>
      <p:nvGrpSpPr>
        <p:cNvPr id="1" name=""/>
        <p:cNvGrpSpPr/>
        <p:nvPr/>
      </p:nvGrpSpPr>
      <p:grpSpPr>
        <a:xfrm>
          <a:off x="0" y="0"/>
          <a:ext cx="0" cy="0"/>
          <a:chOff x="0" y="0"/>
          <a:chExt cx="0" cy="0"/>
        </a:xfrm>
      </p:grpSpPr>
      <p:pic>
        <p:nvPicPr>
          <p:cNvPr id="12" name="Picture 11" descr="MMS Logo">
            <a:extLst>
              <a:ext uri="{FF2B5EF4-FFF2-40B4-BE49-F238E27FC236}">
                <a16:creationId xmlns:a16="http://schemas.microsoft.com/office/drawing/2014/main" id="{46EAA7A9-8D45-D916-28B6-4E361AADC782}"/>
              </a:ext>
            </a:extLst>
          </p:cNvPr>
          <p:cNvPicPr>
            <a:picLocks noChangeAspect="1"/>
          </p:cNvPicPr>
          <p:nvPr userDrawn="1"/>
        </p:nvPicPr>
        <p:blipFill>
          <a:blip r:embed="rId3" cstate="screen">
            <a:alphaModFix/>
            <a:extLst>
              <a:ext uri="{28A0092B-C50C-407E-A947-70E740481C1C}">
                <a14:useLocalDpi xmlns:a14="http://schemas.microsoft.com/office/drawing/2010/main"/>
              </a:ext>
            </a:extLst>
          </a:blip>
          <a:stretch>
            <a:fillRect/>
          </a:stretch>
        </p:blipFill>
        <p:spPr>
          <a:xfrm>
            <a:off x="4793937" y="1390152"/>
            <a:ext cx="2743200" cy="1571299"/>
          </a:xfrm>
          <a:prstGeom prst="rect">
            <a:avLst/>
          </a:prstGeom>
        </p:spPr>
      </p:pic>
      <p:sp>
        <p:nvSpPr>
          <p:cNvPr id="14" name="Rectangle 13">
            <a:extLst>
              <a:ext uri="{FF2B5EF4-FFF2-40B4-BE49-F238E27FC236}">
                <a16:creationId xmlns:a16="http://schemas.microsoft.com/office/drawing/2014/main" id="{C6CEB9E9-6A9D-3D7F-1D7E-64C798429A2C}"/>
              </a:ext>
            </a:extLst>
          </p:cNvPr>
          <p:cNvSpPr/>
          <p:nvPr userDrawn="1"/>
        </p:nvSpPr>
        <p:spPr>
          <a:xfrm>
            <a:off x="3062605" y="212625"/>
            <a:ext cx="6205866" cy="1200329"/>
          </a:xfrm>
          <a:prstGeom prst="rect">
            <a:avLst/>
          </a:prstGeom>
          <a:noFill/>
        </p:spPr>
        <p:txBody>
          <a:bodyPr vert="horz" wrap="none" lIns="91440" tIns="45720" rIns="91440" bIns="45720">
            <a:spAutoFit/>
          </a:bodyPr>
          <a:lstStyle/>
          <a:p>
            <a:pPr algn="ctr"/>
            <a:r>
              <a:rPr lang="en-US" sz="7200" b="1" u="none" cap="none" spc="0" baseline="0">
                <a:ln w="0"/>
                <a:solidFill>
                  <a:schemeClr val="bg1"/>
                </a:solidFill>
                <a:effectLst>
                  <a:outerShdw blurRad="38100" dist="19050" dir="2700000" algn="tl" rotWithShape="0">
                    <a:schemeClr val="dk1">
                      <a:alpha val="40000"/>
                    </a:schemeClr>
                  </a:outerShdw>
                </a:effectLst>
                <a:latin typeface="Aptos" panose="020B0004020202020204" pitchFamily="34" charset="0"/>
              </a:rPr>
              <a:t>Extended Q&amp;A</a:t>
            </a:r>
          </a:p>
        </p:txBody>
      </p:sp>
      <p:pic>
        <p:nvPicPr>
          <p:cNvPr id="15" name="Picture 14" descr="Patch My PC">
            <a:extLst>
              <a:ext uri="{FF2B5EF4-FFF2-40B4-BE49-F238E27FC236}">
                <a16:creationId xmlns:a16="http://schemas.microsoft.com/office/drawing/2014/main" id="{8A4E9904-CB45-3E0E-696F-D3FD79268A7C}"/>
              </a:ext>
            </a:extLst>
          </p:cNvPr>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277628" y="4135460"/>
            <a:ext cx="1258699" cy="914400"/>
          </a:xfrm>
          <a:prstGeom prst="rect">
            <a:avLst/>
          </a:prstGeom>
        </p:spPr>
      </p:pic>
      <p:pic>
        <p:nvPicPr>
          <p:cNvPr id="16" name="Picture 15" descr="A black and white logo&#10;&#10;Description automatically generated with low confidence">
            <a:extLst>
              <a:ext uri="{FF2B5EF4-FFF2-40B4-BE49-F238E27FC236}">
                <a16:creationId xmlns:a16="http://schemas.microsoft.com/office/drawing/2014/main" id="{43C261DF-C273-8B85-7BEA-3CB1DD08C69A}"/>
              </a:ext>
            </a:extLst>
          </p:cNvPr>
          <p:cNvPicPr>
            <a:picLocks noChangeAspect="1"/>
          </p:cNvPicPr>
          <p:nvPr userDrawn="1"/>
        </p:nvPicPr>
        <p:blipFill>
          <a:blip r:embed="rId5" cstate="screen">
            <a:extLst>
              <a:ext uri="{28A0092B-C50C-407E-A947-70E740481C1C}">
                <a14:useLocalDpi xmlns:a14="http://schemas.microsoft.com/office/drawing/2010/main"/>
              </a:ext>
            </a:extLst>
          </a:blip>
          <a:stretch>
            <a:fillRect/>
          </a:stretch>
        </p:blipFill>
        <p:spPr>
          <a:xfrm>
            <a:off x="2764852" y="4226900"/>
            <a:ext cx="731520" cy="731520"/>
          </a:xfrm>
          <a:prstGeom prst="rect">
            <a:avLst/>
          </a:prstGeom>
        </p:spPr>
      </p:pic>
      <p:pic>
        <p:nvPicPr>
          <p:cNvPr id="18" name="Picture 17" descr="A grey rectangle with white and blue text&#10;&#10;Description automatically generated">
            <a:extLst>
              <a:ext uri="{FF2B5EF4-FFF2-40B4-BE49-F238E27FC236}">
                <a16:creationId xmlns:a16="http://schemas.microsoft.com/office/drawing/2014/main" id="{F8C63FAC-ABFA-70CE-8D89-D47ABA5CC266}"/>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015176" y="5249533"/>
            <a:ext cx="1188721" cy="457200"/>
          </a:xfrm>
          <a:prstGeom prst="rect">
            <a:avLst/>
          </a:prstGeom>
        </p:spPr>
      </p:pic>
      <p:pic>
        <p:nvPicPr>
          <p:cNvPr id="21" name="Picture 20" descr="A white text on a black background&#10;&#10;Description automatically generated">
            <a:extLst>
              <a:ext uri="{FF2B5EF4-FFF2-40B4-BE49-F238E27FC236}">
                <a16:creationId xmlns:a16="http://schemas.microsoft.com/office/drawing/2014/main" id="{79FF2E51-F7AB-D3B9-AABE-FB46DCC3885F}"/>
              </a:ext>
            </a:extLst>
          </p:cNvPr>
          <p:cNvPicPr>
            <a:picLocks noChangeAspect="1"/>
          </p:cNvPicPr>
          <p:nvPr userDrawn="1"/>
        </p:nvPicPr>
        <p:blipFill>
          <a:blip r:embed="rId7" cstate="screen">
            <a:extLst>
              <a:ext uri="{28A0092B-C50C-407E-A947-70E740481C1C}">
                <a14:useLocalDpi xmlns:a14="http://schemas.microsoft.com/office/drawing/2010/main"/>
              </a:ext>
            </a:extLst>
          </a:blip>
          <a:stretch>
            <a:fillRect/>
          </a:stretch>
        </p:blipFill>
        <p:spPr>
          <a:xfrm>
            <a:off x="456251" y="6167385"/>
            <a:ext cx="901452" cy="410211"/>
          </a:xfrm>
          <a:prstGeom prst="rect">
            <a:avLst/>
          </a:prstGeom>
        </p:spPr>
      </p:pic>
      <p:pic>
        <p:nvPicPr>
          <p:cNvPr id="23" name="Graphic 22">
            <a:extLst>
              <a:ext uri="{FF2B5EF4-FFF2-40B4-BE49-F238E27FC236}">
                <a16:creationId xmlns:a16="http://schemas.microsoft.com/office/drawing/2014/main" id="{0A3AC7F1-3D93-C770-1878-626E26008948}"/>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7408004" y="6348996"/>
            <a:ext cx="1503922" cy="228600"/>
          </a:xfrm>
          <a:prstGeom prst="rect">
            <a:avLst/>
          </a:prstGeom>
        </p:spPr>
      </p:pic>
      <p:pic>
        <p:nvPicPr>
          <p:cNvPr id="24" name="Picture 23">
            <a:extLst>
              <a:ext uri="{FF2B5EF4-FFF2-40B4-BE49-F238E27FC236}">
                <a16:creationId xmlns:a16="http://schemas.microsoft.com/office/drawing/2014/main" id="{AC9F9C7F-8CDE-12F1-8DD9-E08040FCF1BA}"/>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4532255" y="6368384"/>
            <a:ext cx="1554480" cy="209212"/>
          </a:xfrm>
          <a:prstGeom prst="rect">
            <a:avLst/>
          </a:prstGeom>
        </p:spPr>
      </p:pic>
      <p:pic>
        <p:nvPicPr>
          <p:cNvPr id="25" name="Picture 24">
            <a:extLst>
              <a:ext uri="{FF2B5EF4-FFF2-40B4-BE49-F238E27FC236}">
                <a16:creationId xmlns:a16="http://schemas.microsoft.com/office/drawing/2014/main" id="{EF6F3F9D-B490-FA74-DF0D-405DAA79C43F}"/>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0290909" y="4306910"/>
            <a:ext cx="1554480" cy="605236"/>
          </a:xfrm>
          <a:prstGeom prst="rect">
            <a:avLst/>
          </a:prstGeom>
        </p:spPr>
      </p:pic>
      <p:pic>
        <p:nvPicPr>
          <p:cNvPr id="26" name="Picture 25">
            <a:extLst>
              <a:ext uri="{FF2B5EF4-FFF2-40B4-BE49-F238E27FC236}">
                <a16:creationId xmlns:a16="http://schemas.microsoft.com/office/drawing/2014/main" id="{8CCDFE6E-1CB9-DA2B-8122-2426251CA449}"/>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1357703" y="5355030"/>
            <a:ext cx="1554480" cy="270344"/>
          </a:xfrm>
          <a:prstGeom prst="rect">
            <a:avLst/>
          </a:prstGeom>
        </p:spPr>
      </p:pic>
      <p:pic>
        <p:nvPicPr>
          <p:cNvPr id="27" name="Graphic 26">
            <a:extLst>
              <a:ext uri="{FF2B5EF4-FFF2-40B4-BE49-F238E27FC236}">
                <a16:creationId xmlns:a16="http://schemas.microsoft.com/office/drawing/2014/main" id="{E662A5E5-BEDF-2923-981A-FFD254ABA471}"/>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5060619" y="4384263"/>
            <a:ext cx="1554480" cy="388620"/>
          </a:xfrm>
          <a:prstGeom prst="rect">
            <a:avLst/>
          </a:prstGeom>
        </p:spPr>
      </p:pic>
      <p:pic>
        <p:nvPicPr>
          <p:cNvPr id="28" name="Picture 27">
            <a:extLst>
              <a:ext uri="{FF2B5EF4-FFF2-40B4-BE49-F238E27FC236}">
                <a16:creationId xmlns:a16="http://schemas.microsoft.com/office/drawing/2014/main" id="{A8F655CF-14A9-3C76-FB5B-5E772726C55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7775502" y="4409266"/>
            <a:ext cx="1554480" cy="366787"/>
          </a:xfrm>
          <a:prstGeom prst="rect">
            <a:avLst/>
          </a:prstGeom>
        </p:spPr>
      </p:pic>
      <p:pic>
        <p:nvPicPr>
          <p:cNvPr id="30" name="Picture 29" descr="A blue text on a black background&#10;&#10;AI-generated content may be incorrect.">
            <a:extLst>
              <a:ext uri="{FF2B5EF4-FFF2-40B4-BE49-F238E27FC236}">
                <a16:creationId xmlns:a16="http://schemas.microsoft.com/office/drawing/2014/main" id="{7E42350D-8F9C-893D-D40A-C58551699BA9}"/>
              </a:ext>
            </a:extLst>
          </p:cNvPr>
          <p:cNvPicPr>
            <a:picLocks noChangeAspect="1"/>
          </p:cNvPicPr>
          <p:nvPr userDrawn="1"/>
        </p:nvPicPr>
        <p:blipFill>
          <a:blip r:embed="rId14">
            <a:extLst>
              <a:ext uri="{BEBA8EAE-BF5A-486C-A8C5-ECC9F3942E4B}">
                <a14:imgProps xmlns:a14="http://schemas.microsoft.com/office/drawing/2010/main">
                  <a14:imgLayer r:embed="rId15">
                    <a14:imgEffect>
                      <a14:saturation sat="0"/>
                    </a14:imgEffect>
                    <a14:imgEffect>
                      <a14:brightnessContrast bright="100000"/>
                    </a14:imgEffect>
                  </a14:imgLayer>
                </a14:imgProps>
              </a:ext>
            </a:extLst>
          </a:blip>
          <a:stretch>
            <a:fillRect/>
          </a:stretch>
        </p:blipFill>
        <p:spPr>
          <a:xfrm>
            <a:off x="6306890" y="5315255"/>
            <a:ext cx="1554480" cy="310119"/>
          </a:xfrm>
          <a:prstGeom prst="rect">
            <a:avLst/>
          </a:prstGeom>
        </p:spPr>
      </p:pic>
      <p:pic>
        <p:nvPicPr>
          <p:cNvPr id="31" name="Picture 30" descr="A white letters on a black background&#10;&#10;AI-generated content may be incorrect.">
            <a:extLst>
              <a:ext uri="{FF2B5EF4-FFF2-40B4-BE49-F238E27FC236}">
                <a16:creationId xmlns:a16="http://schemas.microsoft.com/office/drawing/2014/main" id="{9801BAC5-50DF-BA7A-DFD6-870E7DCE4D74}"/>
              </a:ext>
            </a:extLst>
          </p:cNvPr>
          <p:cNvPicPr>
            <a:picLocks noChangeAspect="1"/>
          </p:cNvPicPr>
          <p:nvPr userDrawn="1"/>
        </p:nvPicPr>
        <p:blipFill>
          <a:blip r:embed="rId16"/>
          <a:stretch>
            <a:fillRect/>
          </a:stretch>
        </p:blipFill>
        <p:spPr>
          <a:xfrm>
            <a:off x="8964363" y="5326622"/>
            <a:ext cx="1554480" cy="321259"/>
          </a:xfrm>
          <a:prstGeom prst="rect">
            <a:avLst/>
          </a:prstGeom>
        </p:spPr>
      </p:pic>
      <p:pic>
        <p:nvPicPr>
          <p:cNvPr id="32" name="Picture 31">
            <a:extLst>
              <a:ext uri="{FF2B5EF4-FFF2-40B4-BE49-F238E27FC236}">
                <a16:creationId xmlns:a16="http://schemas.microsoft.com/office/drawing/2014/main" id="{91DEC2DB-BCA7-3FE2-CB57-AB1B821F323F}"/>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2678972" y="5846076"/>
            <a:ext cx="532014" cy="731520"/>
          </a:xfrm>
          <a:prstGeom prst="rect">
            <a:avLst/>
          </a:prstGeom>
        </p:spPr>
      </p:pic>
      <p:pic>
        <p:nvPicPr>
          <p:cNvPr id="33" name="Picture 32">
            <a:extLst>
              <a:ext uri="{FF2B5EF4-FFF2-40B4-BE49-F238E27FC236}">
                <a16:creationId xmlns:a16="http://schemas.microsoft.com/office/drawing/2014/main" id="{52321056-273F-E68B-19D1-57AF101821FE}"/>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10233196" y="6163652"/>
            <a:ext cx="1463040" cy="413944"/>
          </a:xfrm>
          <a:prstGeom prst="rect">
            <a:avLst/>
          </a:prstGeom>
        </p:spPr>
      </p:pic>
    </p:spTree>
    <p:extLst>
      <p:ext uri="{BB962C8B-B14F-4D97-AF65-F5344CB8AC3E}">
        <p14:creationId xmlns:p14="http://schemas.microsoft.com/office/powerpoint/2010/main" val="30461329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slideLayout" Target="../slideLayouts/slideLayout27.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slideLayout" Target="../slideLayouts/slideLayout26.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theme" Target="../theme/theme2.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365651-282E-586C-B06B-5DB5D99446FF}"/>
              </a:ext>
            </a:extLst>
          </p:cNvPr>
          <p:cNvSpPr>
            <a:spLocks noGrp="1"/>
          </p:cNvSpPr>
          <p:nvPr>
            <p:ph type="title"/>
          </p:nvPr>
        </p:nvSpPr>
        <p:spPr>
          <a:xfrm>
            <a:off x="838200" y="365126"/>
            <a:ext cx="10515600" cy="792466"/>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6913A01-90A4-D2D1-24E8-69DD5F53470F}"/>
              </a:ext>
            </a:extLst>
          </p:cNvPr>
          <p:cNvSpPr>
            <a:spLocks noGrp="1"/>
          </p:cNvSpPr>
          <p:nvPr>
            <p:ph type="body" idx="1"/>
          </p:nvPr>
        </p:nvSpPr>
        <p:spPr>
          <a:xfrm>
            <a:off x="838200" y="1507787"/>
            <a:ext cx="10515600" cy="466917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212510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9" r:id="rId5"/>
    <p:sldLayoutId id="2147483652" r:id="rId6"/>
    <p:sldLayoutId id="2147483653" r:id="rId7"/>
    <p:sldLayoutId id="2147483654" r:id="rId8"/>
    <p:sldLayoutId id="2147483655" r:id="rId9"/>
    <p:sldLayoutId id="2147483656" r:id="rId10"/>
    <p:sldLayoutId id="2147483657" r:id="rId11"/>
    <p:sldLayoutId id="2147483673" r:id="rId12"/>
    <p:sldLayoutId id="2147483663" r:id="rId13"/>
    <p:sldLayoutId id="2147483664" r:id="rId14"/>
  </p:sldLayoutIdLst>
  <p:txStyles>
    <p:titleStyle>
      <a:lvl1pPr algn="l" defTabSz="914400" rtl="0" eaLnBrk="1" latinLnBrk="0" hangingPunct="1">
        <a:lnSpc>
          <a:spcPct val="90000"/>
        </a:lnSpc>
        <a:spcBef>
          <a:spcPct val="0"/>
        </a:spcBef>
        <a:buNone/>
        <a:defRPr sz="4400" b="1" kern="1200">
          <a:solidFill>
            <a:schemeClr val="bg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Wingdings" panose="05000000000000000000" pitchFamily="2" charset="2"/>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Wingdings" panose="05000000000000000000" pitchFamily="2" charset="2"/>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B0B1B4-6987-442E-8B11-D82B4992D52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2265E00-A27D-612F-8389-A5568AC246D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161DDB-CC2B-D54B-7517-E715290C3E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8B7999B-38B3-40EF-826B-655A64799C1B}" type="datetimeFigureOut">
              <a:rPr lang="en-US" smtClean="0"/>
              <a:t>4/15/2026</a:t>
            </a:fld>
            <a:endParaRPr lang="en-US"/>
          </a:p>
        </p:txBody>
      </p:sp>
      <p:sp>
        <p:nvSpPr>
          <p:cNvPr id="5" name="Footer Placeholder 4">
            <a:extLst>
              <a:ext uri="{FF2B5EF4-FFF2-40B4-BE49-F238E27FC236}">
                <a16:creationId xmlns:a16="http://schemas.microsoft.com/office/drawing/2014/main" id="{E7F5C2E2-4322-B373-CCC7-8621FF671F7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D4BCAAE-4B09-81E1-1FAE-84D1734873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51C39E-9AC5-4998-B89E-D6011DDB7CF1}" type="slidenum">
              <a:rPr lang="en-US" smtClean="0"/>
              <a:t>‹#›</a:t>
            </a:fld>
            <a:endParaRPr lang="en-US"/>
          </a:p>
        </p:txBody>
      </p:sp>
    </p:spTree>
    <p:extLst>
      <p:ext uri="{BB962C8B-B14F-4D97-AF65-F5344CB8AC3E}">
        <p14:creationId xmlns:p14="http://schemas.microsoft.com/office/powerpoint/2010/main" val="1480271088"/>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62"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90" r:id="rId12"/>
    <p:sldLayoutId id="2147483691" r:id="rId13"/>
    <p:sldLayoutId id="214748368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2.xml"/><Relationship Id="rId4" Type="http://schemas.openxmlformats.org/officeDocument/2006/relationships/image" Target="../media/image3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hyperlink" Target="https://www.imab.dk/windows-10-toast-notification-script/"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8" Type="http://schemas.openxmlformats.org/officeDocument/2006/relationships/hyperlink" Target="https://tcsmug.org/blogs/sherry-kissinger/551-windows-10-inplace-update-history-inventory" TargetMode="External"/><Relationship Id="rId3" Type="http://schemas.openxmlformats.org/officeDocument/2006/relationships/hyperlink" Target="https://tcsmug.org/blogs/sherry-kissinger/572-cm-disable-inventory-throttling" TargetMode="External"/><Relationship Id="rId7" Type="http://schemas.openxmlformats.org/officeDocument/2006/relationships/hyperlink" Target="https://tcsmug.org/blogs/sherry-kissinger/568-cm-all-members-of-all-local-groups-powershell" TargetMode="External"/><Relationship Id="rId2" Type="http://schemas.openxmlformats.org/officeDocument/2006/relationships/hyperlink" Target="https://tcsmug.org/blogs/sherry-kissinger/515-configmgr-refreshservercompliancestate-as-a-configuration-item" TargetMode="External"/><Relationship Id="rId1" Type="http://schemas.openxmlformats.org/officeDocument/2006/relationships/slideLayout" Target="../slideLayouts/slideLayout3.xml"/><Relationship Id="rId6" Type="http://schemas.openxmlformats.org/officeDocument/2006/relationships/hyperlink" Target="https://tcsmug.org/blogs/sherry-kissinger/575-cm-inventory-per-user-browser-extensions" TargetMode="External"/><Relationship Id="rId5" Type="http://schemas.openxmlformats.org/officeDocument/2006/relationships/hyperlink" Target="https://tcsmug.org/blogs/sherry-kissinger/574-cm-inventory-per-user-installed-applications" TargetMode="External"/><Relationship Id="rId4" Type="http://schemas.openxmlformats.org/officeDocument/2006/relationships/hyperlink" Target="https://tcsmug.org/blogs/sherry-kissinger/355-selectively-disable-software-distributions-and-application-deployments-on-clients" TargetMode="External"/></Relationships>
</file>

<file path=ppt/slides/_rels/slide24.xml.rels><?xml version="1.0" encoding="UTF-8" standalone="yes"?>
<Relationships xmlns="http://schemas.openxmlformats.org/package/2006/relationships"><Relationship Id="rId2" Type="http://schemas.openxmlformats.org/officeDocument/2006/relationships/hyperlink" Target="https://www.informit.com/store/system-center-configuration-manager-reporting-unleashed-9780134466811" TargetMode="Externa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microsoft.com/office/2018/10/relationships/comments" Target="../comments/modernComment_11D_C37BF49C.xml"/><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hyperlink" Target="https://www.recastsoftware.com/resources/my-two-favorite-configmgr-run-scripts/" TargetMode="Externa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hyperlink" Target="https://github.com/svschmit/CMPivot-Queries" TargetMode="External"/><Relationship Id="rId5" Type="http://schemas.openxmlformats.org/officeDocument/2006/relationships/hyperlink" Target="https://learn.microsoft.com/en-us/mem/configmgr/core/servers/manage/cmpivot-sample-scripts" TargetMode="External"/><Relationship Id="rId4" Type="http://schemas.openxmlformats.org/officeDocument/2006/relationships/hyperlink" Target="https://www.systemcenterdudes.com/sccm-cmpivot-query/"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hyperlink" Target="https://ideas.recastsoftware.com/?sort=recent" TargetMode="External"/><Relationship Id="rId2" Type="http://schemas.openxmlformats.org/officeDocument/2006/relationships/hyperlink" Target="https://www.recastsoftware.com/free-tool-download/" TargetMode="External"/><Relationship Id="rId1" Type="http://schemas.openxmlformats.org/officeDocument/2006/relationships/slideLayout" Target="../slideLayouts/slideLayout3.xml"/><Relationship Id="rId4" Type="http://schemas.openxmlformats.org/officeDocument/2006/relationships/image" Target="../media/image41.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hyperlink" Target="https://docs.microsoft.com/en-us/mem/configmgr/sum/plan-design/plan-for-software-updates"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42.png"/></Relationships>
</file>

<file path=ppt/slides/_rels/slide32.xml.rels><?xml version="1.0" encoding="UTF-8" standalone="yes"?>
<Relationships xmlns="http://schemas.openxmlformats.org/package/2006/relationships"><Relationship Id="rId3" Type="http://schemas.openxmlformats.org/officeDocument/2006/relationships/hyperlink" Target="https://www.recastsoftware.com/free-tool-download" TargetMode="External"/><Relationship Id="rId2" Type="http://schemas.openxmlformats.org/officeDocument/2006/relationships/hyperlink" Target="https://www.recastsoftware.com/resources/updated-troubleshoot-configmgr-hardware-inventory-issues/" TargetMode="External"/><Relationship Id="rId1" Type="http://schemas.openxmlformats.org/officeDocument/2006/relationships/slideLayout" Target="../slideLayouts/slideLayout3.xml"/><Relationship Id="rId4" Type="http://schemas.openxmlformats.org/officeDocument/2006/relationships/hyperlink" Target="https://github.com/rzander/sccmclictr"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thehttps/learn.microsoft.com/en-us/training/browse/" TargetMode="External"/><Relationship Id="rId2" Type="http://schemas.openxmlformats.org/officeDocument/2006/relationships/hyperlink" Target="https://learn.microsoft.com/en-us/intune/configmgr/core/understand/fundamentals" TargetMode="Externa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hyperlink" Target="https://techcommunity.microsoft.com/category/microsoftintune/discussions/configurationmanager" TargetMode="External"/><Relationship Id="rId3" Type="http://schemas.openxmlformats.org/officeDocument/2006/relationships/hyperlink" Target="https://discord.com/channels/618712310185197588/618713403518615552" TargetMode="External"/><Relationship Id="rId7" Type="http://schemas.openxmlformats.org/officeDocument/2006/relationships/hyperlink" Target="https://www.windows-noob.com/forum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hyperlink" Target="https://forums.prajwaldesai.com/" TargetMode="External"/><Relationship Id="rId5" Type="http://schemas.openxmlformats.org/officeDocument/2006/relationships/hyperlink" Target="https://www.reddit.com/r/intune/new/" TargetMode="External"/><Relationship Id="rId4" Type="http://schemas.openxmlformats.org/officeDocument/2006/relationships/hyperlink" Target="https://www.reddit.com/r/SCCM/new/" TargetMode="External"/><Relationship Id="rId9" Type="http://schemas.openxmlformats.org/officeDocument/2006/relationships/hyperlink" Target="https://learn.microsoft.com/en-us/answers/tags/417/configuration-manager" TargetMode="External"/></Relationships>
</file>

<file path=ppt/slides/_rels/slide35.xml.rels><?xml version="1.0" encoding="UTF-8" standalone="yes"?>
<Relationships xmlns="http://schemas.openxmlformats.org/package/2006/relationships"><Relationship Id="rId3" Type="http://schemas.openxmlformats.org/officeDocument/2006/relationships/hyperlink" Target="https://bsky.app/profile/andrewj.net" TargetMode="External"/><Relationship Id="rId7" Type="http://schemas.openxmlformats.org/officeDocument/2006/relationships/hyperlink" Target="https://tcsmug.org/misc/other-user-groups"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hyperlink" Target="https://discord.com/invite/winadmins" TargetMode="External"/><Relationship Id="rId5" Type="http://schemas.openxmlformats.org/officeDocument/2006/relationships/hyperlink" Target="https://www.linkedin.com/groups/8761296/" TargetMode="External"/><Relationship Id="rId4" Type="http://schemas.openxmlformats.org/officeDocument/2006/relationships/hyperlink" Target="https://bsky.app/starter-pack/mattzaske.com/3lhpauu56q72c"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B669-2341-DF39-C682-5CB469879095}"/>
              </a:ext>
            </a:extLst>
          </p:cNvPr>
          <p:cNvSpPr>
            <a:spLocks noGrp="1"/>
          </p:cNvSpPr>
          <p:nvPr>
            <p:ph type="ctrTitle"/>
          </p:nvPr>
        </p:nvSpPr>
        <p:spPr/>
        <p:txBody>
          <a:bodyPr/>
          <a:lstStyle/>
          <a:p>
            <a:r>
              <a:rPr lang="en-US" err="1"/>
              <a:t>ConfigMgr</a:t>
            </a:r>
            <a:r>
              <a:rPr lang="en-US"/>
              <a:t> Fundamentals</a:t>
            </a:r>
          </a:p>
        </p:txBody>
      </p:sp>
      <p:sp>
        <p:nvSpPr>
          <p:cNvPr id="3" name="Subtitle 2">
            <a:extLst>
              <a:ext uri="{FF2B5EF4-FFF2-40B4-BE49-F238E27FC236}">
                <a16:creationId xmlns:a16="http://schemas.microsoft.com/office/drawing/2014/main" id="{B7806C1F-6D02-FA11-F860-B05CFAC0C160}"/>
              </a:ext>
            </a:extLst>
          </p:cNvPr>
          <p:cNvSpPr>
            <a:spLocks noGrp="1"/>
          </p:cNvSpPr>
          <p:nvPr>
            <p:ph type="subTitle" idx="1"/>
          </p:nvPr>
        </p:nvSpPr>
        <p:spPr/>
        <p:txBody>
          <a:bodyPr/>
          <a:lstStyle/>
          <a:p>
            <a:r>
              <a:rPr lang="en-US"/>
              <a:t>Advanced Techniques</a:t>
            </a:r>
          </a:p>
        </p:txBody>
      </p:sp>
    </p:spTree>
    <p:extLst>
      <p:ext uri="{BB962C8B-B14F-4D97-AF65-F5344CB8AC3E}">
        <p14:creationId xmlns:p14="http://schemas.microsoft.com/office/powerpoint/2010/main" val="40189521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AA5B3-89D5-147C-A57E-6754B8093C4B}"/>
              </a:ext>
            </a:extLst>
          </p:cNvPr>
          <p:cNvSpPr>
            <a:spLocks noGrp="1"/>
          </p:cNvSpPr>
          <p:nvPr>
            <p:ph type="title"/>
          </p:nvPr>
        </p:nvSpPr>
        <p:spPr/>
        <p:txBody>
          <a:bodyPr/>
          <a:lstStyle/>
          <a:p>
            <a:r>
              <a:rPr lang="en-US"/>
              <a:t>Attention</a:t>
            </a:r>
          </a:p>
        </p:txBody>
      </p:sp>
      <p:sp>
        <p:nvSpPr>
          <p:cNvPr id="3" name="Content Placeholder 2">
            <a:extLst>
              <a:ext uri="{FF2B5EF4-FFF2-40B4-BE49-F238E27FC236}">
                <a16:creationId xmlns:a16="http://schemas.microsoft.com/office/drawing/2014/main" id="{C595F291-B9CB-60BF-7307-F3FFC90C9734}"/>
              </a:ext>
            </a:extLst>
          </p:cNvPr>
          <p:cNvSpPr>
            <a:spLocks noGrp="1"/>
          </p:cNvSpPr>
          <p:nvPr>
            <p:ph idx="1"/>
          </p:nvPr>
        </p:nvSpPr>
        <p:spPr/>
        <p:txBody>
          <a:bodyPr/>
          <a:lstStyle/>
          <a:p>
            <a:r>
              <a:rPr lang="en-US" sz="2800"/>
              <a:t>MMS sessions are 60-75 minutes followed by LONG Q&amp;A</a:t>
            </a:r>
          </a:p>
          <a:p>
            <a:r>
              <a:rPr lang="en-US" sz="2800"/>
              <a:t>Please hold detailed questions until that Q&amp;A starts</a:t>
            </a:r>
          </a:p>
          <a:p>
            <a:r>
              <a:rPr lang="en-US" sz="2800"/>
              <a:t>Feel free to ask clarification questions</a:t>
            </a:r>
          </a:p>
          <a:p>
            <a:r>
              <a:rPr lang="en-US" sz="2800"/>
              <a:t>Remind the speakers to use Zoom It when you can’t see</a:t>
            </a:r>
          </a:p>
        </p:txBody>
      </p:sp>
    </p:spTree>
    <p:extLst>
      <p:ext uri="{BB962C8B-B14F-4D97-AF65-F5344CB8AC3E}">
        <p14:creationId xmlns:p14="http://schemas.microsoft.com/office/powerpoint/2010/main" val="37431490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a:extLst>
              <a:ext uri="{FF2B5EF4-FFF2-40B4-BE49-F238E27FC236}">
                <a16:creationId xmlns:a16="http://schemas.microsoft.com/office/drawing/2014/main" id="{62CD6E66-EAB9-E15A-71BD-FB2D4F9AE9AD}"/>
              </a:ext>
            </a:extLst>
          </p:cNvPr>
          <p:cNvPicPr>
            <a:picLocks noGrp="1" noChangeAspect="1"/>
          </p:cNvPicPr>
          <p:nvPr>
            <p:ph type="pic" sz="quarter" idx="11"/>
          </p:nvPr>
        </p:nvPicPr>
        <p:blipFill>
          <a:blip r:embed="rId2"/>
          <a:srcRect/>
          <a:stretch/>
        </p:blipFill>
        <p:spPr>
          <a:xfrm>
            <a:off x="2461077" y="1662310"/>
            <a:ext cx="2703513" cy="2538413"/>
          </a:xfrm>
        </p:spPr>
      </p:pic>
      <p:sp>
        <p:nvSpPr>
          <p:cNvPr id="4" name="Text Placeholder 3">
            <a:extLst>
              <a:ext uri="{FF2B5EF4-FFF2-40B4-BE49-F238E27FC236}">
                <a16:creationId xmlns:a16="http://schemas.microsoft.com/office/drawing/2014/main" id="{1BFB68CD-CB12-32EF-1CFE-54C294C3E92D}"/>
              </a:ext>
            </a:extLst>
          </p:cNvPr>
          <p:cNvSpPr>
            <a:spLocks noGrp="1"/>
          </p:cNvSpPr>
          <p:nvPr>
            <p:ph type="body" sz="quarter" idx="12"/>
          </p:nvPr>
        </p:nvSpPr>
        <p:spPr>
          <a:xfrm>
            <a:off x="1523999" y="4206239"/>
            <a:ext cx="4572000" cy="457200"/>
          </a:xfrm>
        </p:spPr>
        <p:txBody>
          <a:bodyPr>
            <a:normAutofit/>
          </a:bodyPr>
          <a:lstStyle/>
          <a:p>
            <a:r>
              <a:rPr lang="en-US"/>
              <a:t>Sherry Kissinger</a:t>
            </a:r>
          </a:p>
        </p:txBody>
      </p:sp>
      <p:sp>
        <p:nvSpPr>
          <p:cNvPr id="5" name="Text Placeholder 4">
            <a:extLst>
              <a:ext uri="{FF2B5EF4-FFF2-40B4-BE49-F238E27FC236}">
                <a16:creationId xmlns:a16="http://schemas.microsoft.com/office/drawing/2014/main" id="{BE1E5CAD-23FE-A4D7-B096-3334A7D79C8B}"/>
              </a:ext>
            </a:extLst>
          </p:cNvPr>
          <p:cNvSpPr>
            <a:spLocks noGrp="1"/>
          </p:cNvSpPr>
          <p:nvPr>
            <p:ph type="body" sz="quarter" idx="13"/>
          </p:nvPr>
        </p:nvSpPr>
        <p:spPr>
          <a:xfrm>
            <a:off x="6095999" y="4200723"/>
            <a:ext cx="4572000" cy="457200"/>
          </a:xfrm>
        </p:spPr>
        <p:txBody>
          <a:bodyPr vert="horz" lIns="91440" tIns="45720" rIns="91440" bIns="45720" rtlCol="0" anchor="t">
            <a:normAutofit/>
          </a:bodyPr>
          <a:lstStyle/>
          <a:p>
            <a:r>
              <a:rPr lang="en-US">
                <a:ea typeface="Calibri"/>
                <a:cs typeface="Calibri"/>
              </a:rPr>
              <a:t>Matt Wreede</a:t>
            </a:r>
          </a:p>
        </p:txBody>
      </p:sp>
      <p:sp>
        <p:nvSpPr>
          <p:cNvPr id="6" name="Text Placeholder 5">
            <a:extLst>
              <a:ext uri="{FF2B5EF4-FFF2-40B4-BE49-F238E27FC236}">
                <a16:creationId xmlns:a16="http://schemas.microsoft.com/office/drawing/2014/main" id="{86485DDC-10A4-A946-6EE8-700508002C72}"/>
              </a:ext>
            </a:extLst>
          </p:cNvPr>
          <p:cNvSpPr>
            <a:spLocks noGrp="1"/>
          </p:cNvSpPr>
          <p:nvPr>
            <p:ph type="body" sz="quarter" idx="14"/>
          </p:nvPr>
        </p:nvSpPr>
        <p:spPr>
          <a:xfrm>
            <a:off x="1523999" y="5303520"/>
            <a:ext cx="4572000" cy="914400"/>
          </a:xfrm>
        </p:spPr>
        <p:txBody>
          <a:bodyPr/>
          <a:lstStyle/>
          <a:p>
            <a:r>
              <a:rPr lang="en-US" err="1"/>
              <a:t>slkissinger</a:t>
            </a:r>
            <a:endParaRPr lang="en-US"/>
          </a:p>
        </p:txBody>
      </p:sp>
      <p:sp>
        <p:nvSpPr>
          <p:cNvPr id="7" name="Text Placeholder 6">
            <a:extLst>
              <a:ext uri="{FF2B5EF4-FFF2-40B4-BE49-F238E27FC236}">
                <a16:creationId xmlns:a16="http://schemas.microsoft.com/office/drawing/2014/main" id="{9FC71F19-CB0D-6056-8B2E-7670D5A913DD}"/>
              </a:ext>
            </a:extLst>
          </p:cNvPr>
          <p:cNvSpPr>
            <a:spLocks noGrp="1"/>
          </p:cNvSpPr>
          <p:nvPr>
            <p:ph type="body" sz="quarter" idx="15"/>
          </p:nvPr>
        </p:nvSpPr>
        <p:spPr>
          <a:xfrm>
            <a:off x="6095998" y="5261408"/>
            <a:ext cx="5509847" cy="914400"/>
          </a:xfrm>
        </p:spPr>
        <p:txBody>
          <a:bodyPr vert="horz" lIns="91440" tIns="45720" rIns="91440" bIns="45720" rtlCol="0" anchor="t">
            <a:normAutofit/>
          </a:bodyPr>
          <a:lstStyle/>
          <a:p>
            <a:r>
              <a:rPr lang="en-US"/>
              <a:t>Hotdog453</a:t>
            </a:r>
          </a:p>
          <a:p>
            <a:r>
              <a:rPr lang="en-US"/>
              <a:t>   </a:t>
            </a:r>
            <a:endParaRPr lang="en-US">
              <a:ea typeface="Calibri"/>
              <a:cs typeface="Calibri"/>
            </a:endParaRPr>
          </a:p>
        </p:txBody>
      </p:sp>
      <p:sp>
        <p:nvSpPr>
          <p:cNvPr id="8" name="Text Placeholder 7">
            <a:extLst>
              <a:ext uri="{FF2B5EF4-FFF2-40B4-BE49-F238E27FC236}">
                <a16:creationId xmlns:a16="http://schemas.microsoft.com/office/drawing/2014/main" id="{20280E57-51A9-979B-C838-5F016A209FD7}"/>
              </a:ext>
            </a:extLst>
          </p:cNvPr>
          <p:cNvSpPr>
            <a:spLocks noGrp="1"/>
          </p:cNvSpPr>
          <p:nvPr>
            <p:ph type="body" sz="quarter" idx="16"/>
          </p:nvPr>
        </p:nvSpPr>
        <p:spPr>
          <a:xfrm>
            <a:off x="1523999" y="4760396"/>
            <a:ext cx="4572000" cy="457200"/>
          </a:xfrm>
        </p:spPr>
        <p:txBody>
          <a:bodyPr>
            <a:normAutofit/>
          </a:bodyPr>
          <a:lstStyle/>
          <a:p>
            <a:r>
              <a:rPr lang="en-US"/>
              <a:t>Cardinal Health</a:t>
            </a:r>
          </a:p>
        </p:txBody>
      </p:sp>
      <p:sp>
        <p:nvSpPr>
          <p:cNvPr id="9" name="Text Placeholder 8">
            <a:extLst>
              <a:ext uri="{FF2B5EF4-FFF2-40B4-BE49-F238E27FC236}">
                <a16:creationId xmlns:a16="http://schemas.microsoft.com/office/drawing/2014/main" id="{F7177573-C298-FAF8-2140-0326B263D0A5}"/>
              </a:ext>
            </a:extLst>
          </p:cNvPr>
          <p:cNvSpPr>
            <a:spLocks noGrp="1"/>
          </p:cNvSpPr>
          <p:nvPr>
            <p:ph type="body" sz="quarter" idx="17"/>
          </p:nvPr>
        </p:nvSpPr>
        <p:spPr>
          <a:xfrm>
            <a:off x="6095999" y="4754880"/>
            <a:ext cx="4572000" cy="457200"/>
          </a:xfrm>
        </p:spPr>
        <p:txBody>
          <a:bodyPr vert="horz" lIns="91440" tIns="45720" rIns="91440" bIns="45720" rtlCol="0" anchor="t">
            <a:normAutofit/>
          </a:bodyPr>
          <a:lstStyle/>
          <a:p>
            <a:r>
              <a:rPr lang="en-US">
                <a:ea typeface="Calibri"/>
                <a:cs typeface="Calibri"/>
              </a:rPr>
              <a:t>Cardinal Health</a:t>
            </a:r>
          </a:p>
          <a:p>
            <a:endParaRPr lang="en-US"/>
          </a:p>
        </p:txBody>
      </p:sp>
      <p:pic>
        <p:nvPicPr>
          <p:cNvPr id="12" name="Picture 5">
            <a:extLst>
              <a:ext uri="{FF2B5EF4-FFF2-40B4-BE49-F238E27FC236}">
                <a16:creationId xmlns:a16="http://schemas.microsoft.com/office/drawing/2014/main" id="{B6D8CCF2-2E36-8B6A-8052-6F2D4F345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61077" y="5303520"/>
            <a:ext cx="501681" cy="38223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5">
            <a:extLst>
              <a:ext uri="{FF2B5EF4-FFF2-40B4-BE49-F238E27FC236}">
                <a16:creationId xmlns:a16="http://schemas.microsoft.com/office/drawing/2014/main" id="{5D3BDC75-15C3-F2E8-BF28-CFD2E9BC3B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11778" y="5261400"/>
            <a:ext cx="501681" cy="382234"/>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Placeholder 1" descr="A person wearing sunglasses and a hat smoking a cigar&#10;&#10;AI-generated content may be incorrect.">
            <a:extLst>
              <a:ext uri="{FF2B5EF4-FFF2-40B4-BE49-F238E27FC236}">
                <a16:creationId xmlns:a16="http://schemas.microsoft.com/office/drawing/2014/main" id="{AC94C9B7-6CDF-78E6-5A48-51CAF2FFA73F}"/>
              </a:ext>
            </a:extLst>
          </p:cNvPr>
          <p:cNvPicPr>
            <a:picLocks noGrp="1" noChangeAspect="1"/>
          </p:cNvPicPr>
          <p:nvPr>
            <p:ph type="pic" sz="quarter" idx="10"/>
          </p:nvPr>
        </p:nvPicPr>
        <p:blipFill>
          <a:blip r:embed="rId4"/>
          <a:srcRect l="1712" r="1712"/>
          <a:stretch/>
        </p:blipFill>
        <p:spPr>
          <a:xfrm>
            <a:off x="7056573" y="1663298"/>
            <a:ext cx="2690546" cy="2532880"/>
          </a:xfrm>
          <a:prstGeom prst="rect">
            <a:avLst/>
          </a:prstGeom>
        </p:spPr>
      </p:pic>
    </p:spTree>
    <p:extLst>
      <p:ext uri="{BB962C8B-B14F-4D97-AF65-F5344CB8AC3E}">
        <p14:creationId xmlns:p14="http://schemas.microsoft.com/office/powerpoint/2010/main" val="3240864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22CE4-212B-3490-737C-99DC57748DFC}"/>
              </a:ext>
            </a:extLst>
          </p:cNvPr>
          <p:cNvSpPr>
            <a:spLocks noGrp="1"/>
          </p:cNvSpPr>
          <p:nvPr>
            <p:ph type="title"/>
          </p:nvPr>
        </p:nvSpPr>
        <p:spPr/>
        <p:txBody>
          <a:bodyPr/>
          <a:lstStyle/>
          <a:p>
            <a:r>
              <a:rPr lang="en-US"/>
              <a:t>Questions for you?</a:t>
            </a:r>
          </a:p>
        </p:txBody>
      </p:sp>
      <p:sp>
        <p:nvSpPr>
          <p:cNvPr id="3" name="Content Placeholder 2">
            <a:extLst>
              <a:ext uri="{FF2B5EF4-FFF2-40B4-BE49-F238E27FC236}">
                <a16:creationId xmlns:a16="http://schemas.microsoft.com/office/drawing/2014/main" id="{C044FAE8-1F63-9F6E-59AB-CDFD9D791122}"/>
              </a:ext>
            </a:extLst>
          </p:cNvPr>
          <p:cNvSpPr>
            <a:spLocks noGrp="1"/>
          </p:cNvSpPr>
          <p:nvPr>
            <p:ph idx="1"/>
          </p:nvPr>
        </p:nvSpPr>
        <p:spPr/>
        <p:txBody>
          <a:bodyPr>
            <a:normAutofit/>
          </a:bodyPr>
          <a:lstStyle/>
          <a:p>
            <a:pPr algn="l" rtl="0" fontAlgn="base">
              <a:lnSpc>
                <a:spcPts val="352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Where are you on your co-management journey?</a:t>
            </a:r>
          </a:p>
          <a:p>
            <a:pPr lvl="1" fontAlgn="base">
              <a:lnSpc>
                <a:spcPts val="3525"/>
              </a:lnSpc>
              <a:buFont typeface="Arial" panose="020B0604020202020204" pitchFamily="34" charset="0"/>
              <a:buChar char="•"/>
            </a:pPr>
            <a:r>
              <a:rPr lang="en-US" sz="2000">
                <a:solidFill>
                  <a:srgbClr val="FFFFFF"/>
                </a:solidFill>
                <a:latin typeface="Calibri" panose="020F0502020204030204" pitchFamily="34" charset="0"/>
              </a:rPr>
              <a:t>There’s a journey?</a:t>
            </a:r>
          </a:p>
          <a:p>
            <a:pPr lvl="1" fontAlgn="base">
              <a:lnSpc>
                <a:spcPts val="3525"/>
              </a:lnSpc>
              <a:buFont typeface="Arial" panose="020B0604020202020204" pitchFamily="34" charset="0"/>
              <a:buChar char="•"/>
            </a:pPr>
            <a:r>
              <a:rPr lang="en-US" sz="2000" b="0" i="0" u="none" strike="noStrike">
                <a:solidFill>
                  <a:srgbClr val="FFFFFF"/>
                </a:solidFill>
                <a:effectLst/>
                <a:latin typeface="Calibri" panose="020F0502020204030204" pitchFamily="34" charset="0"/>
              </a:rPr>
              <a:t>We can see the forest but not the trees, and the mountains are far </a:t>
            </a:r>
            <a:r>
              <a:rPr lang="en-US" sz="2000" b="0" i="0" u="none" strike="noStrike" err="1">
                <a:solidFill>
                  <a:srgbClr val="FFFFFF"/>
                </a:solidFill>
                <a:effectLst/>
                <a:latin typeface="Calibri" panose="020F0502020204030204" pitchFamily="34" charset="0"/>
              </a:rPr>
              <a:t>far</a:t>
            </a:r>
            <a:r>
              <a:rPr lang="en-US" sz="2000" b="0" i="0" u="none" strike="noStrike">
                <a:solidFill>
                  <a:srgbClr val="FFFFFF"/>
                </a:solidFill>
                <a:effectLst/>
                <a:latin typeface="Calibri" panose="020F0502020204030204" pitchFamily="34" charset="0"/>
              </a:rPr>
              <a:t> away</a:t>
            </a:r>
            <a:endParaRPr lang="en-US" sz="2400">
              <a:solidFill>
                <a:srgbClr val="FFFFFF"/>
              </a:solidFill>
              <a:latin typeface="Calibri" panose="020F0502020204030204" pitchFamily="34" charset="0"/>
            </a:endParaRPr>
          </a:p>
          <a:p>
            <a:pPr algn="l" rtl="0" fontAlgn="base">
              <a:lnSpc>
                <a:spcPts val="3525"/>
              </a:lnSpc>
              <a:buFont typeface="Arial" panose="020B0604020202020204" pitchFamily="34" charset="0"/>
              <a:buChar char="•"/>
            </a:pPr>
            <a:r>
              <a:rPr lang="en-US" sz="2400">
                <a:solidFill>
                  <a:srgbClr val="FFFFFF"/>
                </a:solidFill>
                <a:latin typeface="Calibri" panose="020F0502020204030204" pitchFamily="34" charset="0"/>
              </a:rPr>
              <a:t>Any Tricks and tips when Deploying software?</a:t>
            </a:r>
            <a:endParaRPr lang="en-US" sz="2400" b="0" i="0">
              <a:solidFill>
                <a:srgbClr val="000000"/>
              </a:solidFill>
              <a:effectLst/>
              <a:latin typeface="Arial" panose="020B0604020202020204" pitchFamily="34" charset="0"/>
            </a:endParaRPr>
          </a:p>
          <a:p>
            <a:pPr marL="0" indent="0">
              <a:buNone/>
            </a:pPr>
            <a:endParaRPr lang="en-US"/>
          </a:p>
        </p:txBody>
      </p:sp>
    </p:spTree>
    <p:extLst>
      <p:ext uri="{BB962C8B-B14F-4D97-AF65-F5344CB8AC3E}">
        <p14:creationId xmlns:p14="http://schemas.microsoft.com/office/powerpoint/2010/main" val="3313556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B54686-E403-224A-570D-6AD1962FEB8C}"/>
              </a:ext>
            </a:extLst>
          </p:cNvPr>
          <p:cNvSpPr>
            <a:spLocks noGrp="1"/>
          </p:cNvSpPr>
          <p:nvPr>
            <p:ph type="title"/>
          </p:nvPr>
        </p:nvSpPr>
        <p:spPr/>
        <p:txBody>
          <a:bodyPr/>
          <a:lstStyle/>
          <a:p>
            <a:r>
              <a:rPr lang="en-US"/>
              <a:t>Welcome</a:t>
            </a:r>
          </a:p>
        </p:txBody>
      </p:sp>
      <p:sp>
        <p:nvSpPr>
          <p:cNvPr id="3" name="Content Placeholder 2">
            <a:extLst>
              <a:ext uri="{FF2B5EF4-FFF2-40B4-BE49-F238E27FC236}">
                <a16:creationId xmlns:a16="http://schemas.microsoft.com/office/drawing/2014/main" id="{2E47C443-A519-CA6C-F515-F098DE1D8E32}"/>
              </a:ext>
            </a:extLst>
          </p:cNvPr>
          <p:cNvSpPr>
            <a:spLocks noGrp="1"/>
          </p:cNvSpPr>
          <p:nvPr>
            <p:ph idx="1"/>
          </p:nvPr>
        </p:nvSpPr>
        <p:spPr/>
        <p:txBody>
          <a:bodyPr vert="horz" lIns="91440" tIns="45720" rIns="91440" bIns="45720" rtlCol="0" anchor="t">
            <a:normAutofit/>
          </a:bodyPr>
          <a:lstStyle/>
          <a:p>
            <a:r>
              <a:rPr lang="en-US"/>
              <a:t>Don’t be shy</a:t>
            </a:r>
          </a:p>
          <a:p>
            <a:pPr algn="l" rtl="0" fontAlgn="base">
              <a:lnSpc>
                <a:spcPts val="3525"/>
              </a:lnSpc>
              <a:buFont typeface="Arial" panose="020B0604020202020204" pitchFamily="34" charset="0"/>
              <a:buChar char="•"/>
            </a:pPr>
            <a:r>
              <a:rPr lang="en-US" b="0" i="0" u="none" strike="noStrike">
                <a:solidFill>
                  <a:srgbClr val="FFFFFF"/>
                </a:solidFill>
                <a:effectLst/>
                <a:latin typeface="Calibri"/>
                <a:ea typeface="Calibri"/>
                <a:cs typeface="Calibri"/>
              </a:rPr>
              <a:t>Long live … Co-Management!</a:t>
            </a:r>
            <a:r>
              <a:rPr lang="en-US" b="0" i="0">
                <a:solidFill>
                  <a:srgbClr val="000000"/>
                </a:solidFill>
                <a:effectLst/>
                <a:latin typeface="Calibri"/>
                <a:ea typeface="Calibri"/>
                <a:cs typeface="Calibri"/>
              </a:rPr>
              <a:t>​</a:t>
            </a:r>
          </a:p>
          <a:p>
            <a:pPr algn="l" rtl="0" fontAlgn="base">
              <a:lnSpc>
                <a:spcPts val="3525"/>
              </a:lnSpc>
              <a:buFont typeface="Arial" panose="020B0604020202020204" pitchFamily="34" charset="0"/>
              <a:buChar char="•"/>
            </a:pPr>
            <a:r>
              <a:rPr lang="en-US" b="0" i="0" u="none" strike="noStrike">
                <a:solidFill>
                  <a:srgbClr val="FFFFFF"/>
                </a:solidFill>
                <a:effectLst/>
                <a:latin typeface="Calibri"/>
                <a:ea typeface="Calibri"/>
                <a:cs typeface="Calibri"/>
              </a:rPr>
              <a:t>Collections</a:t>
            </a:r>
            <a:r>
              <a:rPr lang="en-US" b="0" i="0">
                <a:solidFill>
                  <a:srgbClr val="000000"/>
                </a:solidFill>
                <a:effectLst/>
                <a:latin typeface="Calibri"/>
                <a:ea typeface="Calibri"/>
                <a:cs typeface="Calibri"/>
              </a:rPr>
              <a:t>​</a:t>
            </a:r>
          </a:p>
          <a:p>
            <a:pPr algn="l" rtl="0" fontAlgn="base">
              <a:lnSpc>
                <a:spcPts val="3525"/>
              </a:lnSpc>
              <a:buFont typeface="Arial" panose="020B0604020202020204" pitchFamily="34" charset="0"/>
              <a:buChar char="•"/>
            </a:pPr>
            <a:r>
              <a:rPr lang="en-US" b="0" i="0" u="none" strike="noStrike">
                <a:solidFill>
                  <a:srgbClr val="FFFFFF"/>
                </a:solidFill>
                <a:effectLst/>
                <a:latin typeface="Calibri"/>
                <a:ea typeface="Calibri"/>
                <a:cs typeface="Calibri"/>
              </a:rPr>
              <a:t>Deployments</a:t>
            </a:r>
            <a:r>
              <a:rPr lang="en-US" b="0" i="0">
                <a:solidFill>
                  <a:srgbClr val="000000"/>
                </a:solidFill>
                <a:effectLst/>
                <a:latin typeface="Calibri"/>
                <a:ea typeface="Calibri"/>
                <a:cs typeface="Calibri"/>
              </a:rPr>
              <a:t>​</a:t>
            </a:r>
          </a:p>
          <a:p>
            <a:pPr algn="l" rtl="0" fontAlgn="base">
              <a:lnSpc>
                <a:spcPts val="3525"/>
              </a:lnSpc>
              <a:buFont typeface="Arial" panose="020B0604020202020204" pitchFamily="34" charset="0"/>
              <a:buChar char="•"/>
            </a:pPr>
            <a:r>
              <a:rPr lang="en-US" b="0" i="0" u="none" strike="noStrike">
                <a:solidFill>
                  <a:srgbClr val="FFFFFF"/>
                </a:solidFill>
                <a:effectLst/>
                <a:latin typeface="Calibri"/>
                <a:ea typeface="Calibri"/>
                <a:cs typeface="Calibri"/>
              </a:rPr>
              <a:t>The ways to affecting a Client, vs query a client</a:t>
            </a:r>
            <a:r>
              <a:rPr lang="en-US" b="0" i="0">
                <a:solidFill>
                  <a:srgbClr val="000000"/>
                </a:solidFill>
                <a:effectLst/>
                <a:latin typeface="Calibri"/>
                <a:ea typeface="Calibri"/>
                <a:cs typeface="Calibri"/>
              </a:rPr>
              <a:t>​</a:t>
            </a:r>
          </a:p>
          <a:p>
            <a:pPr algn="l" rtl="0" fontAlgn="base">
              <a:lnSpc>
                <a:spcPts val="3525"/>
              </a:lnSpc>
              <a:buFont typeface="Arial" panose="020B0604020202020204" pitchFamily="34" charset="0"/>
              <a:buChar char="•"/>
            </a:pPr>
            <a:r>
              <a:rPr lang="en-US" b="0" i="0" u="none" strike="noStrike">
                <a:solidFill>
                  <a:srgbClr val="FFFFFF"/>
                </a:solidFill>
                <a:effectLst/>
                <a:latin typeface="Calibri"/>
                <a:ea typeface="Calibri"/>
                <a:cs typeface="Calibri"/>
              </a:rPr>
              <a:t>Baselines and Compliance</a:t>
            </a:r>
            <a:r>
              <a:rPr lang="en-US" b="0" i="0">
                <a:solidFill>
                  <a:srgbClr val="000000"/>
                </a:solidFill>
                <a:effectLst/>
                <a:latin typeface="Calibri"/>
                <a:ea typeface="Calibri"/>
                <a:cs typeface="Calibri"/>
              </a:rPr>
              <a:t>​</a:t>
            </a:r>
          </a:p>
          <a:p>
            <a:pPr algn="l" rtl="0" fontAlgn="base">
              <a:lnSpc>
                <a:spcPts val="3525"/>
              </a:lnSpc>
              <a:buFont typeface="Arial" panose="020B0604020202020204" pitchFamily="34" charset="0"/>
              <a:buChar char="•"/>
            </a:pPr>
            <a:r>
              <a:rPr lang="en-US" b="0" i="0" u="none" strike="noStrike">
                <a:solidFill>
                  <a:srgbClr val="FFFFFF"/>
                </a:solidFill>
                <a:effectLst/>
                <a:latin typeface="Calibri"/>
                <a:ea typeface="Calibri"/>
                <a:cs typeface="Calibri"/>
              </a:rPr>
              <a:t>Custom Reports for on-prem</a:t>
            </a:r>
          </a:p>
          <a:p>
            <a:pPr>
              <a:lnSpc>
                <a:spcPts val="3525"/>
              </a:lnSpc>
              <a:buFont typeface="Arial" panose="020B0604020202020204" pitchFamily="34" charset="0"/>
              <a:buChar char="•"/>
            </a:pPr>
            <a:r>
              <a:rPr lang="en-US">
                <a:ea typeface="Calibri"/>
                <a:cs typeface="Calibri"/>
              </a:rPr>
              <a:t>Client Settings</a:t>
            </a:r>
          </a:p>
        </p:txBody>
      </p:sp>
    </p:spTree>
    <p:extLst>
      <p:ext uri="{BB962C8B-B14F-4D97-AF65-F5344CB8AC3E}">
        <p14:creationId xmlns:p14="http://schemas.microsoft.com/office/powerpoint/2010/main" val="34061377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71BFD-3FDF-8CAC-371E-5DCD17BD9D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898062-B8D8-4201-AE6E-07628AE4568C}"/>
              </a:ext>
            </a:extLst>
          </p:cNvPr>
          <p:cNvSpPr>
            <a:spLocks noGrp="1"/>
          </p:cNvSpPr>
          <p:nvPr>
            <p:ph type="title"/>
          </p:nvPr>
        </p:nvSpPr>
        <p:spPr/>
        <p:txBody>
          <a:bodyPr/>
          <a:lstStyle/>
          <a:p>
            <a:r>
              <a:rPr lang="en-US"/>
              <a:t>Collections</a:t>
            </a:r>
          </a:p>
        </p:txBody>
      </p:sp>
      <p:sp>
        <p:nvSpPr>
          <p:cNvPr id="3" name="Content Placeholder 2">
            <a:extLst>
              <a:ext uri="{FF2B5EF4-FFF2-40B4-BE49-F238E27FC236}">
                <a16:creationId xmlns:a16="http://schemas.microsoft.com/office/drawing/2014/main" id="{0F180B56-17CD-2EFE-5ABC-E82B5EDB7090}"/>
              </a:ext>
            </a:extLst>
          </p:cNvPr>
          <p:cNvSpPr>
            <a:spLocks noGrp="1"/>
          </p:cNvSpPr>
          <p:nvPr>
            <p:ph idx="1"/>
          </p:nvPr>
        </p:nvSpPr>
        <p:spPr/>
        <p:txBody>
          <a:bodyPr/>
          <a:lstStyle/>
          <a:p>
            <a:pPr algn="l" rtl="0" fontAlgn="base">
              <a:lnSpc>
                <a:spcPts val="352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Device vs. User/</a:t>
            </a:r>
            <a:r>
              <a:rPr lang="en-US" sz="2400" b="0" i="0" u="none" strike="noStrike" err="1">
                <a:solidFill>
                  <a:srgbClr val="FFFFFF"/>
                </a:solidFill>
                <a:effectLst/>
                <a:latin typeface="Calibri" panose="020F0502020204030204" pitchFamily="34" charset="0"/>
              </a:rPr>
              <a:t>Usergroup</a:t>
            </a:r>
            <a:r>
              <a:rPr lang="en-US" sz="2400" b="0" i="0" u="none" strike="noStrike">
                <a:solidFill>
                  <a:srgbClr val="FFFFFF"/>
                </a:solidFill>
                <a:effectLst/>
                <a:latin typeface="Calibri" panose="020F0502020204030204" pitchFamily="34" charset="0"/>
              </a:rPr>
              <a:t> Collections</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lvl="1" fontAlgn="base">
              <a:lnSpc>
                <a:spcPts val="3075"/>
              </a:lnSpc>
              <a:buFont typeface="Arial" panose="020B0604020202020204" pitchFamily="34" charset="0"/>
              <a:buChar char="•"/>
            </a:pPr>
            <a:r>
              <a:rPr lang="en-US" b="0" i="0" u="none" strike="noStrike">
                <a:solidFill>
                  <a:srgbClr val="FFFFFF"/>
                </a:solidFill>
                <a:effectLst/>
                <a:latin typeface="Calibri" panose="020F0502020204030204" pitchFamily="34" charset="0"/>
              </a:rPr>
              <a:t>Device collections based on Hardware Inventory</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3075"/>
              </a:lnSpc>
              <a:buFont typeface="Arial" panose="020B0604020202020204" pitchFamily="34" charset="0"/>
              <a:buChar char="•"/>
            </a:pPr>
            <a:r>
              <a:rPr lang="en-US" b="0" i="0" u="none" strike="noStrike" err="1">
                <a:solidFill>
                  <a:srgbClr val="FFFFFF"/>
                </a:solidFill>
                <a:effectLst/>
                <a:latin typeface="Calibri" panose="020F0502020204030204" pitchFamily="34" charset="0"/>
              </a:rPr>
              <a:t>Usergroup</a:t>
            </a:r>
            <a:r>
              <a:rPr lang="en-US" b="0" i="0" u="none" strike="noStrike">
                <a:solidFill>
                  <a:srgbClr val="FFFFFF"/>
                </a:solidFill>
                <a:effectLst/>
                <a:latin typeface="Calibri" panose="020F0502020204030204" pitchFamily="34" charset="0"/>
              </a:rPr>
              <a:t> collections, especially for domain joined users are excellent for ‘target where the logged in user is a member of the group “deserves </a:t>
            </a:r>
            <a:r>
              <a:rPr lang="en-US" b="0" i="0" u="none" strike="noStrike" err="1">
                <a:solidFill>
                  <a:srgbClr val="FFFFFF"/>
                </a:solidFill>
                <a:effectLst/>
                <a:latin typeface="Calibri" panose="020F0502020204030204" pitchFamily="34" charset="0"/>
              </a:rPr>
              <a:t>NotePad</a:t>
            </a:r>
            <a:r>
              <a:rPr lang="en-US" b="0" i="0" u="none" strike="noStrike">
                <a:solidFill>
                  <a:srgbClr val="FFFFFF"/>
                </a:solidFill>
                <a:effectLst/>
                <a:latin typeface="Calibri" panose="020F0502020204030204" pitchFamily="34" charset="0"/>
              </a:rPr>
              <a:t>++”’</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3075"/>
              </a:lnSpc>
              <a:buFont typeface="Arial" panose="020B0604020202020204" pitchFamily="34" charset="0"/>
              <a:buChar char="•"/>
            </a:pPr>
            <a:r>
              <a:rPr lang="en-US" b="0" i="0" u="none" strike="noStrike">
                <a:solidFill>
                  <a:srgbClr val="FFFFFF"/>
                </a:solidFill>
                <a:effectLst/>
                <a:latin typeface="Calibri" panose="020F0502020204030204" pitchFamily="34" charset="0"/>
              </a:rPr>
              <a:t>Cannot have users in a device collection, and vice versa.</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352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RBA (Role Based Access)</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algn="l" rtl="0" fontAlgn="base">
              <a:lnSpc>
                <a:spcPts val="352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Use a special account for access to the console, even if you do not use RBA Roles</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algn="l" rtl="0" fontAlgn="base">
              <a:lnSpc>
                <a:spcPts val="352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Sync’ing collections to Intune</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marL="0" indent="0">
              <a:buNone/>
            </a:pPr>
            <a:endParaRPr lang="en-US"/>
          </a:p>
        </p:txBody>
      </p:sp>
    </p:spTree>
    <p:extLst>
      <p:ext uri="{BB962C8B-B14F-4D97-AF65-F5344CB8AC3E}">
        <p14:creationId xmlns:p14="http://schemas.microsoft.com/office/powerpoint/2010/main" val="1495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right)">
                                      <p:cBhvr>
                                        <p:cTn id="13" dur="500"/>
                                        <p:tgtEl>
                                          <p:spTgt spid="3">
                                            <p:txEl>
                                              <p:pRg st="2" end="2"/>
                                            </p:txEl>
                                          </p:spTgt>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right)">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2"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right)">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2" fill="hold" grpId="0"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wipe(right)">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wipe(right)">
                                      <p:cBhvr>
                                        <p:cTn id="31"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DE815-C319-FEBC-EE94-3A4FD81F6703}"/>
              </a:ext>
            </a:extLst>
          </p:cNvPr>
          <p:cNvSpPr>
            <a:spLocks noGrp="1"/>
          </p:cNvSpPr>
          <p:nvPr>
            <p:ph type="title"/>
          </p:nvPr>
        </p:nvSpPr>
        <p:spPr/>
        <p:txBody>
          <a:bodyPr/>
          <a:lstStyle/>
          <a:p>
            <a:r>
              <a:rPr lang="en-US"/>
              <a:t>Collections</a:t>
            </a:r>
          </a:p>
        </p:txBody>
      </p:sp>
      <p:sp>
        <p:nvSpPr>
          <p:cNvPr id="3" name="Content Placeholder 2">
            <a:extLst>
              <a:ext uri="{FF2B5EF4-FFF2-40B4-BE49-F238E27FC236}">
                <a16:creationId xmlns:a16="http://schemas.microsoft.com/office/drawing/2014/main" id="{252BCBCA-E9B6-ED49-4745-1EA9BC7946ED}"/>
              </a:ext>
            </a:extLst>
          </p:cNvPr>
          <p:cNvSpPr>
            <a:spLocks noGrp="1"/>
          </p:cNvSpPr>
          <p:nvPr>
            <p:ph idx="1"/>
          </p:nvPr>
        </p:nvSpPr>
        <p:spPr/>
        <p:txBody>
          <a:bodyPr>
            <a:normAutofit fontScale="62500" lnSpcReduction="20000"/>
          </a:bodyPr>
          <a:lstStyle/>
          <a:p>
            <a:pPr algn="l" rtl="0" fontAlgn="base">
              <a:lnSpc>
                <a:spcPts val="3525"/>
              </a:lnSpc>
              <a:buFont typeface="Arial" panose="020B0604020202020204" pitchFamily="34" charset="0"/>
              <a:buChar char="•"/>
            </a:pPr>
            <a:r>
              <a:rPr lang="en-US" b="0" i="0" u="none" strike="noStrike">
                <a:solidFill>
                  <a:srgbClr val="FFFFFF"/>
                </a:solidFill>
                <a:effectLst/>
                <a:latin typeface="Calibri" panose="020F0502020204030204" pitchFamily="34" charset="0"/>
              </a:rPr>
              <a:t>Review Administration, Management Insights, Collections.</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307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Just because a collection is listed in their results does not mean something is ‘wrong’, it’s there for your review.</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algn="l" rtl="0" fontAlgn="base">
              <a:lnSpc>
                <a:spcPts val="3525"/>
              </a:lnSpc>
              <a:buFont typeface="Arial" panose="020B0604020202020204" pitchFamily="34" charset="0"/>
              <a:buChar char="•"/>
            </a:pPr>
            <a:r>
              <a:rPr lang="en-US" b="0" i="0" u="none" strike="noStrike">
                <a:solidFill>
                  <a:srgbClr val="FFFFFF"/>
                </a:solidFill>
                <a:effectLst/>
                <a:latin typeface="Calibri" panose="020F0502020204030204" pitchFamily="34" charset="0"/>
              </a:rPr>
              <a:t>Review Monitoring, Collection Evaluation, Full Evaluation Status, and Incremental Evaluation Status</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307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Full: Sort by </a:t>
            </a:r>
            <a:r>
              <a:rPr lang="en-US" sz="2800" b="0" i="0" u="none" strike="noStrike" err="1">
                <a:solidFill>
                  <a:srgbClr val="FFFFFF"/>
                </a:solidFill>
                <a:effectLst/>
                <a:latin typeface="Calibri" panose="020F0502020204030204" pitchFamily="34" charset="0"/>
              </a:rPr>
              <a:t>RunTime</a:t>
            </a:r>
            <a:r>
              <a:rPr lang="en-US" sz="2800" b="0" i="0" u="none" strike="noStrike">
                <a:solidFill>
                  <a:srgbClr val="FFFFFF"/>
                </a:solidFill>
                <a:effectLst/>
                <a:latin typeface="Calibri" panose="020F0502020204030204" pitchFamily="34" charset="0"/>
              </a:rPr>
              <a:t>. For any collection taking more than, say… 5 minutes (300,000 </a:t>
            </a:r>
            <a:r>
              <a:rPr lang="en-US" sz="2800" b="0" i="0" u="none" strike="noStrike" err="1">
                <a:solidFill>
                  <a:srgbClr val="FFFFFF"/>
                </a:solidFill>
                <a:effectLst/>
                <a:latin typeface="Calibri" panose="020F0502020204030204" pitchFamily="34" charset="0"/>
              </a:rPr>
              <a:t>ms</a:t>
            </a:r>
            <a:r>
              <a:rPr lang="en-US" sz="2800" b="0" i="0" u="none" strike="noStrike">
                <a:solidFill>
                  <a:srgbClr val="FFFFFF"/>
                </a:solidFill>
                <a:effectLst/>
                <a:latin typeface="Calibri" panose="020F0502020204030204" pitchFamily="34" charset="0"/>
              </a:rPr>
              <a:t>) when NOT a SMS* </a:t>
            </a:r>
            <a:r>
              <a:rPr lang="en-US" sz="2800" b="0" i="0" u="none" strike="noStrike" err="1">
                <a:solidFill>
                  <a:srgbClr val="FFFFFF"/>
                </a:solidFill>
                <a:effectLst/>
                <a:latin typeface="Calibri" panose="020F0502020204030204" pitchFamily="34" charset="0"/>
              </a:rPr>
              <a:t>collectionID</a:t>
            </a:r>
            <a:r>
              <a:rPr lang="en-US" sz="2800" b="0" i="0" u="none" strike="noStrike">
                <a:solidFill>
                  <a:srgbClr val="FFFFFF"/>
                </a:solidFill>
                <a:effectLst/>
                <a:latin typeface="Calibri" panose="020F0502020204030204" pitchFamily="34" charset="0"/>
              </a:rPr>
              <a:t>, review the collection.</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lvl="1" fontAlgn="base">
              <a:lnSpc>
                <a:spcPts val="307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Incremental: it is recommended to try to keep your total number of incremental collections less than 50. Be mindful of the reasons behind having a collection be incremental.</a:t>
            </a:r>
            <a:r>
              <a:rPr lang="en-US" sz="2800" b="0" i="0">
                <a:solidFill>
                  <a:srgbClr val="000000"/>
                </a:solidFill>
                <a:effectLst/>
                <a:latin typeface="Calibri" panose="020F0502020204030204" pitchFamily="34" charset="0"/>
              </a:rPr>
              <a:t>​</a:t>
            </a:r>
            <a:endParaRPr lang="en-US" sz="2800">
              <a:solidFill>
                <a:srgbClr val="000000"/>
              </a:solidFill>
              <a:latin typeface="Calibri" panose="020F0502020204030204" pitchFamily="34" charset="0"/>
            </a:endParaRPr>
          </a:p>
          <a:p>
            <a:pPr lvl="1" fontAlgn="base">
              <a:lnSpc>
                <a:spcPts val="3075"/>
              </a:lnSpc>
              <a:buFont typeface="Arial" panose="020B0604020202020204" pitchFamily="34" charset="0"/>
              <a:buChar char="•"/>
            </a:pPr>
            <a:r>
              <a:rPr lang="en-US" sz="2800">
                <a:latin typeface="Calibri" panose="020F0502020204030204" pitchFamily="34" charset="0"/>
              </a:rPr>
              <a:t>https://learn.microsoft.com/en-us/intune/configmgr/core/clients/manage/collections/best-practices-for-collections</a:t>
            </a:r>
            <a:endParaRPr lang="en-US" sz="2800" b="0" i="0">
              <a:effectLst/>
              <a:latin typeface="Arial" panose="020B0604020202020204" pitchFamily="34" charset="0"/>
            </a:endParaRPr>
          </a:p>
          <a:p>
            <a:pPr marL="0" indent="0">
              <a:buNone/>
            </a:pPr>
            <a:endParaRPr lang="en-US"/>
          </a:p>
        </p:txBody>
      </p:sp>
    </p:spTree>
    <p:extLst>
      <p:ext uri="{BB962C8B-B14F-4D97-AF65-F5344CB8AC3E}">
        <p14:creationId xmlns:p14="http://schemas.microsoft.com/office/powerpoint/2010/main" val="353729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wipe(right)">
                                      <p:cBhvr>
                                        <p:cTn id="15" dur="500"/>
                                        <p:tgtEl>
                                          <p:spTgt spid="3">
                                            <p:txEl>
                                              <p:pRg st="2" end="2"/>
                                            </p:txEl>
                                          </p:spTgt>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right)">
                                      <p:cBhvr>
                                        <p:cTn id="18" dur="500"/>
                                        <p:tgtEl>
                                          <p:spTgt spid="3">
                                            <p:txEl>
                                              <p:pRg st="3" end="3"/>
                                            </p:txEl>
                                          </p:spTgt>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right)">
                                      <p:cBhvr>
                                        <p:cTn id="21" dur="500"/>
                                        <p:tgtEl>
                                          <p:spTgt spid="3">
                                            <p:txEl>
                                              <p:pRg st="4" end="4"/>
                                            </p:txEl>
                                          </p:spTgt>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right)">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A2E1D-2DF1-69E2-51E3-668DE47282E7}"/>
              </a:ext>
            </a:extLst>
          </p:cNvPr>
          <p:cNvSpPr>
            <a:spLocks noGrp="1"/>
          </p:cNvSpPr>
          <p:nvPr>
            <p:ph type="title"/>
          </p:nvPr>
        </p:nvSpPr>
        <p:spPr/>
        <p:txBody>
          <a:bodyPr/>
          <a:lstStyle/>
          <a:p>
            <a:r>
              <a:rPr lang="en-US"/>
              <a:t>Collections – Role Based Access (RBA)</a:t>
            </a:r>
          </a:p>
        </p:txBody>
      </p:sp>
      <p:sp>
        <p:nvSpPr>
          <p:cNvPr id="3" name="Content Placeholder 2">
            <a:extLst>
              <a:ext uri="{FF2B5EF4-FFF2-40B4-BE49-F238E27FC236}">
                <a16:creationId xmlns:a16="http://schemas.microsoft.com/office/drawing/2014/main" id="{75AD89C0-29FB-3B94-6C8A-98F1F7B89543}"/>
              </a:ext>
            </a:extLst>
          </p:cNvPr>
          <p:cNvSpPr>
            <a:spLocks noGrp="1"/>
          </p:cNvSpPr>
          <p:nvPr>
            <p:ph idx="1"/>
          </p:nvPr>
        </p:nvSpPr>
        <p:spPr/>
        <p:txBody>
          <a:bodyPr/>
          <a:lstStyle/>
          <a:p>
            <a:pPr algn="l" rtl="0" fontAlgn="base">
              <a:lnSpc>
                <a:spcPts val="3525"/>
              </a:lnSpc>
              <a:buFont typeface="Arial" panose="020B0604020202020204" pitchFamily="34" charset="0"/>
              <a:buChar char="•"/>
            </a:pPr>
            <a:r>
              <a:rPr lang="en-US" b="0" i="0" u="none" strike="noStrike">
                <a:solidFill>
                  <a:srgbClr val="FFFFFF"/>
                </a:solidFill>
                <a:effectLst/>
                <a:latin typeface="Calibri" panose="020F0502020204030204" pitchFamily="34" charset="0"/>
              </a:rPr>
              <a:t>If you have multiple teams access your console, and they need to be split into “Supports Europe” vs. “Supports Canada” (for example). You need to plan AND TEST!! Those rights as soon as you stand up your environment, so RBA is working right from the beginning.</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3525"/>
              </a:lnSpc>
              <a:buFont typeface="Arial" panose="020B0604020202020204" pitchFamily="34" charset="0"/>
              <a:buChar char="•"/>
            </a:pPr>
            <a:r>
              <a:rPr lang="en-US" b="0" i="0" u="none" strike="noStrike">
                <a:solidFill>
                  <a:srgbClr val="FFFFFF"/>
                </a:solidFill>
                <a:effectLst/>
                <a:latin typeface="Calibri" panose="020F0502020204030204" pitchFamily="34" charset="0"/>
              </a:rPr>
              <a:t>If it is only a few people in your console, all on one team, then likely no special RBA rights. Generally, people split things into “workstations” vs. “servers” as a base.</a:t>
            </a:r>
            <a:r>
              <a:rPr lang="en-US" b="0" i="0">
                <a:solidFill>
                  <a:srgbClr val="000000"/>
                </a:solidFill>
                <a:effectLst/>
                <a:latin typeface="Calibri" panose="020F0502020204030204" pitchFamily="34" charset="0"/>
              </a:rPr>
              <a:t>​</a:t>
            </a:r>
          </a:p>
          <a:p>
            <a:pPr algn="l" rtl="0" fontAlgn="base">
              <a:lnSpc>
                <a:spcPts val="3525"/>
              </a:lnSpc>
              <a:buFont typeface="Arial" panose="020B0604020202020204" pitchFamily="34" charset="0"/>
              <a:buChar char="•"/>
            </a:pPr>
            <a:r>
              <a:rPr lang="en-US">
                <a:solidFill>
                  <a:srgbClr val="FFFFFF"/>
                </a:solidFill>
                <a:latin typeface="Calibri" panose="020F0502020204030204" pitchFamily="34" charset="0"/>
              </a:rPr>
              <a:t>Make sure that one team has access to everything!</a:t>
            </a:r>
          </a:p>
          <a:p>
            <a:pPr marL="0" indent="0">
              <a:buNone/>
            </a:pPr>
            <a:endParaRPr lang="en-US"/>
          </a:p>
        </p:txBody>
      </p:sp>
    </p:spTree>
    <p:extLst>
      <p:ext uri="{BB962C8B-B14F-4D97-AF65-F5344CB8AC3E}">
        <p14:creationId xmlns:p14="http://schemas.microsoft.com/office/powerpoint/2010/main" val="1347966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righ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right)">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26BC2B6-AE2C-3E1D-788D-592ABCDC14E7}"/>
              </a:ext>
            </a:extLst>
          </p:cNvPr>
          <p:cNvSpPr>
            <a:spLocks noGrp="1"/>
          </p:cNvSpPr>
          <p:nvPr>
            <p:ph type="title"/>
          </p:nvPr>
        </p:nvSpPr>
        <p:spPr/>
        <p:txBody>
          <a:bodyPr/>
          <a:lstStyle/>
          <a:p>
            <a:r>
              <a:rPr lang="en-US"/>
              <a:t>Collections</a:t>
            </a:r>
          </a:p>
        </p:txBody>
      </p:sp>
      <p:sp>
        <p:nvSpPr>
          <p:cNvPr id="5" name="Text Placeholder 4">
            <a:extLst>
              <a:ext uri="{FF2B5EF4-FFF2-40B4-BE49-F238E27FC236}">
                <a16:creationId xmlns:a16="http://schemas.microsoft.com/office/drawing/2014/main" id="{CE5050AF-7D60-7B16-0E17-6467A67E504A}"/>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621621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EAF90DBA-7FA4-99A3-D606-BD2CF9032DB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02574C2-C518-06A9-DB09-3F22EF2D1559}"/>
              </a:ext>
            </a:extLst>
          </p:cNvPr>
          <p:cNvSpPr>
            <a:spLocks noGrp="1"/>
          </p:cNvSpPr>
          <p:nvPr>
            <p:ph type="title"/>
          </p:nvPr>
        </p:nvSpPr>
        <p:spPr/>
        <p:txBody>
          <a:bodyPr/>
          <a:lstStyle/>
          <a:p>
            <a:endParaRPr lang="en-US">
              <a:ea typeface="Calibri"/>
              <a:cs typeface="Calibri"/>
            </a:endParaRPr>
          </a:p>
        </p:txBody>
      </p:sp>
      <p:sp>
        <p:nvSpPr>
          <p:cNvPr id="5" name="Text Placeholder 4">
            <a:extLst>
              <a:ext uri="{FF2B5EF4-FFF2-40B4-BE49-F238E27FC236}">
                <a16:creationId xmlns:a16="http://schemas.microsoft.com/office/drawing/2014/main" id="{C8FA42B3-B9C1-1E23-3A01-D5A9DBC0EF92}"/>
              </a:ext>
            </a:extLst>
          </p:cNvPr>
          <p:cNvSpPr>
            <a:spLocks noGrp="1"/>
          </p:cNvSpPr>
          <p:nvPr>
            <p:ph type="body" idx="1"/>
          </p:nvPr>
        </p:nvSpPr>
        <p:spPr/>
        <p:txBody>
          <a:bodyPr/>
          <a:lstStyle/>
          <a:p>
            <a:endParaRPr lang="en-US"/>
          </a:p>
        </p:txBody>
      </p:sp>
      <p:pic>
        <p:nvPicPr>
          <p:cNvPr id="2" name="Picture 1" descr="A screenshot of a computer&#10;&#10;AI-generated content may be incorrect.">
            <a:extLst>
              <a:ext uri="{FF2B5EF4-FFF2-40B4-BE49-F238E27FC236}">
                <a16:creationId xmlns:a16="http://schemas.microsoft.com/office/drawing/2014/main" id="{3A68A0B9-27A8-51E1-3FE6-D6BFCABD779D}"/>
              </a:ext>
            </a:extLst>
          </p:cNvPr>
          <p:cNvPicPr>
            <a:picLocks noChangeAspect="1"/>
          </p:cNvPicPr>
          <p:nvPr/>
        </p:nvPicPr>
        <p:blipFill>
          <a:blip r:embed="rId3"/>
          <a:stretch>
            <a:fillRect/>
          </a:stretch>
        </p:blipFill>
        <p:spPr>
          <a:xfrm>
            <a:off x="2529837" y="1335639"/>
            <a:ext cx="9576088" cy="3965825"/>
          </a:xfrm>
          <a:prstGeom prst="rect">
            <a:avLst/>
          </a:prstGeom>
        </p:spPr>
      </p:pic>
    </p:spTree>
    <p:extLst>
      <p:ext uri="{BB962C8B-B14F-4D97-AF65-F5344CB8AC3E}">
        <p14:creationId xmlns:p14="http://schemas.microsoft.com/office/powerpoint/2010/main" val="22592156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E5342D9-BD52-0EFB-2A97-F84BCB515C4A}"/>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7EE29D8-EC9C-6048-0238-25CA34CC67BC}"/>
              </a:ext>
            </a:extLst>
          </p:cNvPr>
          <p:cNvSpPr>
            <a:spLocks noGrp="1"/>
          </p:cNvSpPr>
          <p:nvPr>
            <p:ph type="title"/>
          </p:nvPr>
        </p:nvSpPr>
        <p:spPr/>
        <p:txBody>
          <a:bodyPr/>
          <a:lstStyle/>
          <a:p>
            <a:endParaRPr lang="en-US">
              <a:ea typeface="Calibri"/>
              <a:cs typeface="Calibri"/>
            </a:endParaRPr>
          </a:p>
        </p:txBody>
      </p:sp>
      <p:sp>
        <p:nvSpPr>
          <p:cNvPr id="5" name="Text Placeholder 4">
            <a:extLst>
              <a:ext uri="{FF2B5EF4-FFF2-40B4-BE49-F238E27FC236}">
                <a16:creationId xmlns:a16="http://schemas.microsoft.com/office/drawing/2014/main" id="{2B0637AA-FB54-9BE6-156A-76020FA01E71}"/>
              </a:ext>
            </a:extLst>
          </p:cNvPr>
          <p:cNvSpPr>
            <a:spLocks noGrp="1"/>
          </p:cNvSpPr>
          <p:nvPr>
            <p:ph type="body" idx="1"/>
          </p:nvPr>
        </p:nvSpPr>
        <p:spPr/>
        <p:txBody>
          <a:bodyPr/>
          <a:lstStyle/>
          <a:p>
            <a:endParaRPr lang="en-US"/>
          </a:p>
        </p:txBody>
      </p:sp>
      <p:pic>
        <p:nvPicPr>
          <p:cNvPr id="3" name="Picture 2">
            <a:extLst>
              <a:ext uri="{FF2B5EF4-FFF2-40B4-BE49-F238E27FC236}">
                <a16:creationId xmlns:a16="http://schemas.microsoft.com/office/drawing/2014/main" id="{96D5D2C1-0162-557A-B332-5636AC4EC6BD}"/>
              </a:ext>
            </a:extLst>
          </p:cNvPr>
          <p:cNvPicPr>
            <a:picLocks noChangeAspect="1"/>
          </p:cNvPicPr>
          <p:nvPr/>
        </p:nvPicPr>
        <p:blipFill>
          <a:blip r:embed="rId3"/>
          <a:stretch>
            <a:fillRect/>
          </a:stretch>
        </p:blipFill>
        <p:spPr>
          <a:xfrm>
            <a:off x="876300" y="962025"/>
            <a:ext cx="10439400" cy="4933950"/>
          </a:xfrm>
          <a:prstGeom prst="rect">
            <a:avLst/>
          </a:prstGeom>
        </p:spPr>
      </p:pic>
    </p:spTree>
    <p:extLst>
      <p:ext uri="{BB962C8B-B14F-4D97-AF65-F5344CB8AC3E}">
        <p14:creationId xmlns:p14="http://schemas.microsoft.com/office/powerpoint/2010/main" val="925713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9266D-2F5A-533F-1998-6B61084C8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93A0BC-8427-0ECF-9C84-88AF4496F864}"/>
              </a:ext>
            </a:extLst>
          </p:cNvPr>
          <p:cNvSpPr>
            <a:spLocks noGrp="1"/>
          </p:cNvSpPr>
          <p:nvPr>
            <p:ph type="title"/>
          </p:nvPr>
        </p:nvSpPr>
        <p:spPr/>
        <p:txBody>
          <a:bodyPr/>
          <a:lstStyle/>
          <a:p>
            <a:r>
              <a:rPr lang="en-US"/>
              <a:t>Application (or Classic Advertisement)</a:t>
            </a:r>
          </a:p>
        </p:txBody>
      </p:sp>
      <p:sp>
        <p:nvSpPr>
          <p:cNvPr id="3" name="Content Placeholder 2">
            <a:extLst>
              <a:ext uri="{FF2B5EF4-FFF2-40B4-BE49-F238E27FC236}">
                <a16:creationId xmlns:a16="http://schemas.microsoft.com/office/drawing/2014/main" id="{22125403-F907-B121-0D7E-CBCEDE595E6D}"/>
              </a:ext>
            </a:extLst>
          </p:cNvPr>
          <p:cNvSpPr>
            <a:spLocks noGrp="1"/>
          </p:cNvSpPr>
          <p:nvPr>
            <p:ph idx="1"/>
          </p:nvPr>
        </p:nvSpPr>
        <p:spPr/>
        <p:txBody>
          <a:bodyPr/>
          <a:lstStyle/>
          <a:p>
            <a:pPr marL="0" indent="0">
              <a:buNone/>
            </a:pPr>
            <a:endParaRPr lang="en-US"/>
          </a:p>
        </p:txBody>
      </p:sp>
      <p:pic>
        <p:nvPicPr>
          <p:cNvPr id="4" name="Picture 2">
            <a:extLst>
              <a:ext uri="{FF2B5EF4-FFF2-40B4-BE49-F238E27FC236}">
                <a16:creationId xmlns:a16="http://schemas.microsoft.com/office/drawing/2014/main" id="{DD9F3FA0-7C6A-B4D9-7B0B-D0DEC17697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609725"/>
            <a:ext cx="10972800" cy="3638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00955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969DD-B829-FBAA-5F95-636440E6C788}"/>
              </a:ext>
            </a:extLst>
          </p:cNvPr>
          <p:cNvSpPr>
            <a:spLocks noGrp="1"/>
          </p:cNvSpPr>
          <p:nvPr>
            <p:ph type="title"/>
          </p:nvPr>
        </p:nvSpPr>
        <p:spPr/>
        <p:txBody>
          <a:bodyPr/>
          <a:lstStyle/>
          <a:p>
            <a:r>
              <a:rPr lang="en-US"/>
              <a:t>Inside an Application</a:t>
            </a:r>
          </a:p>
        </p:txBody>
      </p:sp>
      <p:sp>
        <p:nvSpPr>
          <p:cNvPr id="3" name="Content Placeholder 2">
            <a:extLst>
              <a:ext uri="{FF2B5EF4-FFF2-40B4-BE49-F238E27FC236}">
                <a16:creationId xmlns:a16="http://schemas.microsoft.com/office/drawing/2014/main" id="{DEF6CAAE-FF7C-CC1A-8E81-00B9AD331224}"/>
              </a:ext>
            </a:extLst>
          </p:cNvPr>
          <p:cNvSpPr>
            <a:spLocks noGrp="1"/>
          </p:cNvSpPr>
          <p:nvPr>
            <p:ph idx="1"/>
          </p:nvPr>
        </p:nvSpPr>
        <p:spPr/>
        <p:txBody>
          <a:bodyPr/>
          <a:lstStyle/>
          <a:p>
            <a:endParaRPr lang="en-US"/>
          </a:p>
        </p:txBody>
      </p:sp>
      <p:graphicFrame>
        <p:nvGraphicFramePr>
          <p:cNvPr id="4" name="Content Placeholder 3">
            <a:extLst>
              <a:ext uri="{FF2B5EF4-FFF2-40B4-BE49-F238E27FC236}">
                <a16:creationId xmlns:a16="http://schemas.microsoft.com/office/drawing/2014/main" id="{A0FE28CA-74E1-0F3C-D2A2-1EE18E51C181}"/>
              </a:ext>
            </a:extLst>
          </p:cNvPr>
          <p:cNvGraphicFramePr>
            <a:graphicFrameLocks/>
          </p:cNvGraphicFramePr>
          <p:nvPr/>
        </p:nvGraphicFramePr>
        <p:xfrm>
          <a:off x="838201" y="1522966"/>
          <a:ext cx="10515599" cy="4675223"/>
        </p:xfrm>
        <a:graphic>
          <a:graphicData uri="http://schemas.openxmlformats.org/drawingml/2006/table">
            <a:tbl>
              <a:tblPr/>
              <a:tblGrid>
                <a:gridCol w="1423988">
                  <a:extLst>
                    <a:ext uri="{9D8B030D-6E8A-4147-A177-3AD203B41FA5}">
                      <a16:colId xmlns:a16="http://schemas.microsoft.com/office/drawing/2014/main" val="2109612426"/>
                    </a:ext>
                  </a:extLst>
                </a:gridCol>
                <a:gridCol w="2229344">
                  <a:extLst>
                    <a:ext uri="{9D8B030D-6E8A-4147-A177-3AD203B41FA5}">
                      <a16:colId xmlns:a16="http://schemas.microsoft.com/office/drawing/2014/main" val="4192068279"/>
                    </a:ext>
                  </a:extLst>
                </a:gridCol>
                <a:gridCol w="6862267">
                  <a:extLst>
                    <a:ext uri="{9D8B030D-6E8A-4147-A177-3AD203B41FA5}">
                      <a16:colId xmlns:a16="http://schemas.microsoft.com/office/drawing/2014/main" val="3135419606"/>
                    </a:ext>
                  </a:extLst>
                </a:gridCol>
              </a:tblGrid>
              <a:tr h="262015">
                <a:tc>
                  <a:txBody>
                    <a:bodyPr/>
                    <a:lstStyle/>
                    <a:p>
                      <a:pPr algn="l" fontAlgn="base">
                        <a:lnSpc>
                          <a:spcPts val="1425"/>
                        </a:lnSpc>
                      </a:pPr>
                      <a:r>
                        <a:rPr lang="en-US" sz="1100" b="1" i="0">
                          <a:solidFill>
                            <a:srgbClr val="FFFFFF"/>
                          </a:solidFill>
                          <a:effectLst/>
                          <a:latin typeface="Aptos" panose="020B0004020202020204" pitchFamily="34" charset="0"/>
                        </a:rPr>
                        <a:t>Concepts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2494"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1" i="0">
                          <a:solidFill>
                            <a:srgbClr val="FFFFFF"/>
                          </a:solidFill>
                          <a:effectLst/>
                          <a:latin typeface="Aptos" panose="020B0004020202020204" pitchFamily="34" charset="0"/>
                        </a:rPr>
                        <a:t>Tab</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2494"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1" i="0">
                          <a:solidFill>
                            <a:srgbClr val="FFFFFF"/>
                          </a:solidFill>
                          <a:effectLst/>
                          <a:latin typeface="Aptos" panose="020B0004020202020204" pitchFamily="34" charset="0"/>
                        </a:rPr>
                        <a:t>Meaning</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2494"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3506361419"/>
                  </a:ext>
                </a:extLst>
              </a:tr>
              <a:tr h="439095">
                <a:tc>
                  <a:txBody>
                    <a:bodyPr/>
                    <a:lstStyle/>
                    <a:p>
                      <a:pPr algn="l" fontAlgn="base">
                        <a:lnSpc>
                          <a:spcPts val="1425"/>
                        </a:lnSpc>
                      </a:pPr>
                      <a:r>
                        <a:rPr lang="en-US" sz="1100" b="1" i="0">
                          <a:solidFill>
                            <a:srgbClr val="FFFFFF"/>
                          </a:solidFill>
                          <a:effectLst/>
                          <a:latin typeface="Aptos" panose="020B0004020202020204" pitchFamily="34" charset="0"/>
                        </a:rPr>
                        <a:t>Admin Properties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2494"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General</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2494"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r>
                        <a:rPr lang="en-US" sz="1100" b="0" i="0">
                          <a:solidFill>
                            <a:srgbClr val="000000"/>
                          </a:solidFill>
                          <a:effectLst/>
                          <a:latin typeface="Aptos" panose="020B0004020202020204" pitchFamily="34" charset="0"/>
                        </a:rPr>
                        <a:t>Organization and Management</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2494"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4080341958"/>
                  </a:ext>
                </a:extLst>
              </a:tr>
              <a:tr h="447759">
                <a:tc>
                  <a:txBody>
                    <a:bodyPr/>
                    <a:lstStyle/>
                    <a:p>
                      <a:pPr algn="l" fontAlgn="base">
                        <a:lnSpc>
                          <a:spcPts val="1425"/>
                        </a:lnSpc>
                      </a:pPr>
                      <a:r>
                        <a:rPr lang="en-US" sz="1100" b="1" i="0">
                          <a:solidFill>
                            <a:srgbClr val="FFFFFF"/>
                          </a:solidFill>
                          <a:effectLst/>
                          <a:latin typeface="Aptos" panose="020B0004020202020204" pitchFamily="34" charset="0"/>
                        </a:rPr>
                        <a:t>End User Metadata</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Software Center</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r>
                        <a:rPr lang="en-US" sz="1100" b="0" i="0">
                          <a:solidFill>
                            <a:srgbClr val="000000"/>
                          </a:solidFill>
                          <a:effectLst/>
                          <a:latin typeface="Aptos" panose="020B0004020202020204" pitchFamily="34" charset="0"/>
                        </a:rPr>
                        <a:t>Exposed in Software Center, friendly information visible to users.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216008272"/>
                  </a:ext>
                </a:extLst>
              </a:tr>
              <a:tr h="439095">
                <a:tc>
                  <a:txBody>
                    <a:bodyPr/>
                    <a:lstStyle/>
                    <a:p>
                      <a:pPr algn="l" fontAlgn="base">
                        <a:lnSpc>
                          <a:spcPts val="1425"/>
                        </a:lnSpc>
                      </a:pPr>
                      <a:r>
                        <a:rPr lang="en-US" sz="1100" b="1" i="0">
                          <a:solidFill>
                            <a:srgbClr val="FFFFFF"/>
                          </a:solidFill>
                          <a:effectLst/>
                          <a:latin typeface="Aptos" panose="020B0004020202020204" pitchFamily="34" charset="0"/>
                        </a:rPr>
                        <a:t>Deployment Type</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Deployment Types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r>
                        <a:rPr lang="en-US" sz="1100" b="0" i="0">
                          <a:solidFill>
                            <a:srgbClr val="000000"/>
                          </a:solidFill>
                          <a:effectLst/>
                          <a:latin typeface="Aptos" panose="020B0004020202020204" pitchFamily="34" charset="0"/>
                        </a:rPr>
                        <a:t>Framework for the application</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033047336"/>
                  </a:ext>
                </a:extLst>
              </a:tr>
              <a:tr h="793255">
                <a:tc>
                  <a:txBody>
                    <a:bodyPr/>
                    <a:lstStyle/>
                    <a:p>
                      <a:pPr algn="l" fontAlgn="base">
                        <a:lnSpc>
                          <a:spcPts val="1425"/>
                        </a:lnSpc>
                      </a:pPr>
                      <a:r>
                        <a:rPr lang="en-US" sz="1100" b="1" i="0">
                          <a:solidFill>
                            <a:srgbClr val="FFFFFF"/>
                          </a:solidFill>
                          <a:effectLst/>
                          <a:latin typeface="Aptos" panose="020B0004020202020204" pitchFamily="34" charset="0"/>
                        </a:rPr>
                        <a:t>Requirement Rules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Within a Deployment Type, Edit, the Requirements Tab</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r>
                        <a:rPr lang="en-US" sz="1100" b="0" i="0">
                          <a:solidFill>
                            <a:srgbClr val="000000"/>
                          </a:solidFill>
                          <a:effectLst/>
                          <a:latin typeface="Aptos" panose="020B0004020202020204" pitchFamily="34" charset="0"/>
                        </a:rPr>
                        <a:t>Requirements for a deployment type, this is where you can differentiate a deployment based on criteria, example: x64 vs x86, or Laptop vs. Desktop​​</a:t>
                      </a:r>
                      <a:br>
                        <a:rPr lang="en-US" sz="1100" b="0" i="0">
                          <a:solidFill>
                            <a:srgbClr val="000000"/>
                          </a:solidFill>
                          <a:effectLst/>
                          <a:latin typeface="Aptos" panose="020B0004020202020204" pitchFamily="34" charset="0"/>
                        </a:rPr>
                      </a:br>
                      <a:r>
                        <a:rPr lang="en-US" sz="1100" b="0" i="0">
                          <a:solidFill>
                            <a:srgbClr val="000000"/>
                          </a:solidFill>
                          <a:effectLst/>
                          <a:latin typeface="Aptos" panose="020B0004020202020204" pitchFamily="34" charset="0"/>
                        </a:rPr>
                        <a:t>- Custom Requirements are possible. Create custom ones under Software Library, Applications, Global Conditions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495417948"/>
                  </a:ext>
                </a:extLst>
              </a:tr>
              <a:tr h="616175">
                <a:tc>
                  <a:txBody>
                    <a:bodyPr/>
                    <a:lstStyle/>
                    <a:p>
                      <a:pPr algn="l" fontAlgn="base">
                        <a:lnSpc>
                          <a:spcPts val="1425"/>
                        </a:lnSpc>
                      </a:pPr>
                      <a:r>
                        <a:rPr lang="en-US" sz="1100" b="1" i="0">
                          <a:solidFill>
                            <a:srgbClr val="FFFFFF"/>
                          </a:solidFill>
                          <a:effectLst/>
                          <a:latin typeface="Aptos" panose="020B0004020202020204" pitchFamily="34" charset="0"/>
                        </a:rPr>
                        <a:t>Dependencies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Within a Deployment Type, Edit, the Dependencies Tab</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r>
                        <a:rPr lang="en-US" sz="1100" b="0" i="0">
                          <a:solidFill>
                            <a:srgbClr val="000000"/>
                          </a:solidFill>
                          <a:effectLst/>
                          <a:latin typeface="Aptos" panose="020B0004020202020204" pitchFamily="34" charset="0"/>
                        </a:rPr>
                        <a:t>Applications that must be present prior to installing this Application (.net, java, are common examples)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732218865"/>
                  </a:ext>
                </a:extLst>
              </a:tr>
              <a:tr h="793255">
                <a:tc>
                  <a:txBody>
                    <a:bodyPr/>
                    <a:lstStyle/>
                    <a:p>
                      <a:pPr algn="l" fontAlgn="base">
                        <a:lnSpc>
                          <a:spcPts val="1425"/>
                        </a:lnSpc>
                      </a:pPr>
                      <a:r>
                        <a:rPr lang="en-US" sz="1100" b="1" i="0">
                          <a:solidFill>
                            <a:srgbClr val="FFFFFF"/>
                          </a:solidFill>
                          <a:effectLst/>
                          <a:latin typeface="Aptos" panose="020B0004020202020204" pitchFamily="34" charset="0"/>
                        </a:rPr>
                        <a:t>Detection Method</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Within a Deployment Type, Edit, Detection Method</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r>
                        <a:rPr lang="en-US" sz="1100" b="0" i="0">
                          <a:solidFill>
                            <a:srgbClr val="000000"/>
                          </a:solidFill>
                          <a:effectLst/>
                          <a:latin typeface="Aptos" panose="020B0004020202020204" pitchFamily="34" charset="0"/>
                        </a:rPr>
                        <a:t>What means ‘application is installed’, MSI code, a specific file with a version more than x.x.x.x are examples. Custom scripts (powershell as an example) can also be used. If using a custom script ANY result means a success. So you need to be careful for error handling if using a script.</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329779148"/>
                  </a:ext>
                </a:extLst>
              </a:tr>
              <a:tr h="439095">
                <a:tc>
                  <a:txBody>
                    <a:bodyPr/>
                    <a:lstStyle/>
                    <a:p>
                      <a:pPr algn="l" fontAlgn="base">
                        <a:lnSpc>
                          <a:spcPts val="1425"/>
                        </a:lnSpc>
                      </a:pPr>
                      <a:r>
                        <a:rPr lang="en-US" sz="1100" b="1" i="0">
                          <a:solidFill>
                            <a:srgbClr val="FFFFFF"/>
                          </a:solidFill>
                          <a:effectLst/>
                          <a:latin typeface="Aptos" panose="020B0004020202020204" pitchFamily="34" charset="0"/>
                        </a:rPr>
                        <a:t>Install Command</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Within a Deployment Type, Edit, Programs</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r>
                        <a:rPr lang="en-US" sz="1100" b="0" i="0">
                          <a:solidFill>
                            <a:srgbClr val="000000"/>
                          </a:solidFill>
                          <a:effectLst/>
                          <a:latin typeface="Aptos" panose="020B0004020202020204" pitchFamily="34" charset="0"/>
                        </a:rPr>
                        <a:t>Command Line and Options​​</a:t>
                      </a:r>
                      <a:br>
                        <a:rPr lang="en-US" sz="1100" b="0" i="0">
                          <a:solidFill>
                            <a:srgbClr val="000000"/>
                          </a:solidFill>
                          <a:effectLst/>
                          <a:latin typeface="Aptos" panose="020B0004020202020204" pitchFamily="34" charset="0"/>
                        </a:rPr>
                      </a:br>
                      <a:r>
                        <a:rPr lang="en-US" sz="1100" b="0" i="0">
                          <a:solidFill>
                            <a:srgbClr val="000000"/>
                          </a:solidFill>
                          <a:effectLst/>
                          <a:latin typeface="Aptos" panose="020B0004020202020204" pitchFamily="34" charset="0"/>
                        </a:rPr>
                        <a:t>- Powershell App Deployment Toolkit is an option</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46554447"/>
                  </a:ext>
                </a:extLst>
              </a:tr>
              <a:tr h="439095">
                <a:tc>
                  <a:txBody>
                    <a:bodyPr/>
                    <a:lstStyle/>
                    <a:p>
                      <a:pPr algn="l" fontAlgn="base">
                        <a:lnSpc>
                          <a:spcPts val="1425"/>
                        </a:lnSpc>
                      </a:pPr>
                      <a:r>
                        <a:rPr lang="en-US" sz="1100" b="1" i="0">
                          <a:solidFill>
                            <a:srgbClr val="FFFFFF"/>
                          </a:solidFill>
                          <a:effectLst/>
                          <a:latin typeface="Aptos" panose="020B0004020202020204" pitchFamily="34" charset="0"/>
                        </a:rPr>
                        <a:t>Content</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1100" b="0" i="0">
                          <a:solidFill>
                            <a:srgbClr val="000000"/>
                          </a:solidFill>
                          <a:effectLst/>
                          <a:latin typeface="Aptos" panose="020B0004020202020204" pitchFamily="34" charset="0"/>
                        </a:rPr>
                        <a:t>Within a Deployment Type, Edit, Content</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r>
                        <a:rPr lang="en-US" sz="1100" b="0" i="0">
                          <a:solidFill>
                            <a:srgbClr val="000000"/>
                          </a:solidFill>
                          <a:effectLst/>
                          <a:latin typeface="Aptos" panose="020B0004020202020204" pitchFamily="34" charset="0"/>
                        </a:rPr>
                        <a:t>Source files for the deployment Type</a:t>
                      </a:r>
                      <a:endParaRPr lang="en-US" sz="1800" b="0" i="0">
                        <a:solidFill>
                          <a:srgbClr val="000000"/>
                        </a:solidFill>
                        <a:effectLst/>
                      </a:endParaRPr>
                    </a:p>
                  </a:txBody>
                  <a:tcPr marL="91070" marR="91070" marT="45535" marB="45535">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61574762"/>
                  </a:ext>
                </a:extLst>
              </a:tr>
            </a:tbl>
          </a:graphicData>
        </a:graphic>
      </p:graphicFrame>
    </p:spTree>
    <p:extLst>
      <p:ext uri="{BB962C8B-B14F-4D97-AF65-F5344CB8AC3E}">
        <p14:creationId xmlns:p14="http://schemas.microsoft.com/office/powerpoint/2010/main" val="3252281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60DD77-197B-0FB0-D8E3-E25FA675B4DD}"/>
              </a:ext>
            </a:extLst>
          </p:cNvPr>
          <p:cNvSpPr>
            <a:spLocks noGrp="1"/>
          </p:cNvSpPr>
          <p:nvPr>
            <p:ph type="title"/>
          </p:nvPr>
        </p:nvSpPr>
        <p:spPr/>
        <p:txBody>
          <a:bodyPr/>
          <a:lstStyle/>
          <a:p>
            <a:r>
              <a:rPr lang="en-US"/>
              <a:t>Deployment Flow at a Client</a:t>
            </a:r>
          </a:p>
        </p:txBody>
      </p:sp>
      <p:sp>
        <p:nvSpPr>
          <p:cNvPr id="3" name="Content Placeholder 2">
            <a:extLst>
              <a:ext uri="{FF2B5EF4-FFF2-40B4-BE49-F238E27FC236}">
                <a16:creationId xmlns:a16="http://schemas.microsoft.com/office/drawing/2014/main" id="{96CB8885-1428-FF03-57EB-4EE0B6F4BD9D}"/>
              </a:ext>
            </a:extLst>
          </p:cNvPr>
          <p:cNvSpPr>
            <a:spLocks noGrp="1"/>
          </p:cNvSpPr>
          <p:nvPr>
            <p:ph idx="1"/>
          </p:nvPr>
        </p:nvSpPr>
        <p:spPr/>
        <p:txBody>
          <a:bodyPr/>
          <a:lstStyle/>
          <a:p>
            <a:endParaRPr lang="en-US"/>
          </a:p>
        </p:txBody>
      </p:sp>
      <p:graphicFrame>
        <p:nvGraphicFramePr>
          <p:cNvPr id="4" name="Content Placeholder 6">
            <a:extLst>
              <a:ext uri="{FF2B5EF4-FFF2-40B4-BE49-F238E27FC236}">
                <a16:creationId xmlns:a16="http://schemas.microsoft.com/office/drawing/2014/main" id="{96829ED2-2910-2B74-3C93-67071E354F69}"/>
              </a:ext>
            </a:extLst>
          </p:cNvPr>
          <p:cNvGraphicFramePr>
            <a:graphicFrameLocks/>
          </p:cNvGraphicFramePr>
          <p:nvPr/>
        </p:nvGraphicFramePr>
        <p:xfrm>
          <a:off x="838200" y="1580196"/>
          <a:ext cx="10087708" cy="4738544"/>
        </p:xfrm>
        <a:graphic>
          <a:graphicData uri="http://schemas.openxmlformats.org/drawingml/2006/table">
            <a:tbl>
              <a:tblPr/>
              <a:tblGrid>
                <a:gridCol w="1876990">
                  <a:extLst>
                    <a:ext uri="{9D8B030D-6E8A-4147-A177-3AD203B41FA5}">
                      <a16:colId xmlns:a16="http://schemas.microsoft.com/office/drawing/2014/main" val="2705220963"/>
                    </a:ext>
                  </a:extLst>
                </a:gridCol>
                <a:gridCol w="2766558">
                  <a:extLst>
                    <a:ext uri="{9D8B030D-6E8A-4147-A177-3AD203B41FA5}">
                      <a16:colId xmlns:a16="http://schemas.microsoft.com/office/drawing/2014/main" val="636117445"/>
                    </a:ext>
                  </a:extLst>
                </a:gridCol>
                <a:gridCol w="5444160">
                  <a:extLst>
                    <a:ext uri="{9D8B030D-6E8A-4147-A177-3AD203B41FA5}">
                      <a16:colId xmlns:a16="http://schemas.microsoft.com/office/drawing/2014/main" val="484394183"/>
                    </a:ext>
                  </a:extLst>
                </a:gridCol>
              </a:tblGrid>
              <a:tr h="264542">
                <a:tc>
                  <a:txBody>
                    <a:bodyPr/>
                    <a:lstStyle/>
                    <a:p>
                      <a:pPr algn="l" fontAlgn="base">
                        <a:lnSpc>
                          <a:spcPts val="1425"/>
                        </a:lnSpc>
                      </a:pPr>
                      <a:r>
                        <a:rPr lang="en-US" sz="800" b="1" i="0">
                          <a:solidFill>
                            <a:srgbClr val="FFFFFF"/>
                          </a:solidFill>
                          <a:effectLst/>
                          <a:latin typeface="Aptos" panose="020B0004020202020204" pitchFamily="34" charset="0"/>
                        </a:rPr>
                        <a:t>Client 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2494"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1" i="0">
                          <a:solidFill>
                            <a:srgbClr val="FFFFFF"/>
                          </a:solidFill>
                          <a:effectLst/>
                          <a:latin typeface="Aptos" panose="020B0004020202020204" pitchFamily="34" charset="0"/>
                        </a:rPr>
                        <a:t>Action</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2494"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1" i="0">
                          <a:solidFill>
                            <a:srgbClr val="FFFFFF"/>
                          </a:solidFill>
                          <a:effectLst/>
                          <a:latin typeface="Aptos" panose="020B0004020202020204" pitchFamily="34" charset="0"/>
                        </a:rPr>
                        <a:t>Potential errors and what it might mean</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22494" cap="flat" cmpd="sng" algn="ctr">
                      <a:solidFill>
                        <a:srgbClr val="FFFFFF"/>
                      </a:solidFill>
                      <a:prstDash val="solid"/>
                      <a:round/>
                      <a:headEnd type="none" w="med" len="med"/>
                      <a:tailEnd type="none" w="med" len="med"/>
                    </a:lnB>
                    <a:solidFill>
                      <a:srgbClr val="156082"/>
                    </a:solidFill>
                  </a:tcPr>
                </a:tc>
                <a:extLst>
                  <a:ext uri="{0D108BD9-81ED-4DB2-BD59-A6C34878D82A}">
                    <a16:rowId xmlns:a16="http://schemas.microsoft.com/office/drawing/2014/main" val="1494715039"/>
                  </a:ext>
                </a:extLst>
              </a:tr>
              <a:tr h="450745">
                <a:tc>
                  <a:txBody>
                    <a:bodyPr/>
                    <a:lstStyle/>
                    <a:p>
                      <a:pPr algn="l" fontAlgn="base">
                        <a:lnSpc>
                          <a:spcPts val="1425"/>
                        </a:lnSpc>
                      </a:pPr>
                      <a:r>
                        <a:rPr lang="en-US" sz="800" b="1" i="0">
                          <a:solidFill>
                            <a:srgbClr val="FFFFFF"/>
                          </a:solidFill>
                          <a:effectLst/>
                          <a:latin typeface="Aptos" panose="020B0004020202020204" pitchFamily="34" charset="0"/>
                        </a:rPr>
                        <a:t>PolicyAgent.log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2494"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Machine or User Policy Retrieval, Schedule based on policy (available, vs Deadline)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2494"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endParaRPr lang="en-US" sz="1300" b="0" i="0">
                        <a:solidFill>
                          <a:srgbClr val="000000"/>
                        </a:solidFill>
                        <a:effectLst/>
                        <a:latin typeface="Aptos" panose="020B00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22494"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71993127"/>
                  </a:ext>
                </a:extLst>
              </a:tr>
              <a:tr h="283362">
                <a:tc>
                  <a:txBody>
                    <a:bodyPr/>
                    <a:lstStyle/>
                    <a:p>
                      <a:pPr algn="l" fontAlgn="base">
                        <a:lnSpc>
                          <a:spcPts val="1425"/>
                        </a:lnSpc>
                      </a:pPr>
                      <a:r>
                        <a:rPr lang="en-US" sz="800" b="1" i="0">
                          <a:solidFill>
                            <a:srgbClr val="FFFFFF"/>
                          </a:solidFill>
                          <a:effectLst/>
                          <a:latin typeface="Aptos" panose="020B0004020202020204" pitchFamily="34" charset="0"/>
                        </a:rPr>
                        <a:t>AppDiscovery.log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Is the Application Installed? If yes, done.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endParaRPr lang="en-US" sz="1300" b="0" i="0">
                        <a:solidFill>
                          <a:srgbClr val="000000"/>
                        </a:solidFill>
                        <a:effectLst/>
                        <a:latin typeface="Aptos" panose="020B00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1551396365"/>
                  </a:ext>
                </a:extLst>
              </a:tr>
              <a:tr h="264542">
                <a:tc>
                  <a:txBody>
                    <a:bodyPr/>
                    <a:lstStyle/>
                    <a:p>
                      <a:pPr algn="l" fontAlgn="base">
                        <a:lnSpc>
                          <a:spcPts val="1425"/>
                        </a:lnSpc>
                      </a:pPr>
                      <a:r>
                        <a:rPr lang="en-US" sz="800" b="1" i="0">
                          <a:solidFill>
                            <a:srgbClr val="FFFFFF"/>
                          </a:solidFill>
                          <a:effectLst/>
                          <a:latin typeface="Aptos" panose="020B0004020202020204" pitchFamily="34" charset="0"/>
                        </a:rPr>
                        <a:t>AppIntentEval.log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Check Requirements</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r>
                        <a:rPr lang="en-US" sz="800" b="0" i="0">
                          <a:solidFill>
                            <a:srgbClr val="000000"/>
                          </a:solidFill>
                          <a:effectLst/>
                          <a:latin typeface="Aptos" panose="020B0004020202020204" pitchFamily="34" charset="0"/>
                        </a:rPr>
                        <a:t>0x87D00325 (Requirements Not Met)</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710496843"/>
                  </a:ext>
                </a:extLst>
              </a:tr>
              <a:tr h="822287">
                <a:tc>
                  <a:txBody>
                    <a:bodyPr/>
                    <a:lstStyle/>
                    <a:p>
                      <a:pPr algn="l" fontAlgn="base">
                        <a:lnSpc>
                          <a:spcPts val="1425"/>
                        </a:lnSpc>
                      </a:pPr>
                      <a:r>
                        <a:rPr lang="en-US" sz="800" b="1" i="0">
                          <a:solidFill>
                            <a:srgbClr val="FFFFFF"/>
                          </a:solidFill>
                          <a:effectLst/>
                          <a:latin typeface="Aptos" panose="020B0004020202020204" pitchFamily="34" charset="0"/>
                        </a:rPr>
                        <a:t>CAS.log (Content Access Service)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buFont typeface="Arial" panose="020B0604020202020204" pitchFamily="34" charset="0"/>
                        <a:buChar char="•"/>
                      </a:pPr>
                      <a:r>
                        <a:rPr lang="en-US" sz="800" b="0" i="0">
                          <a:solidFill>
                            <a:srgbClr val="000000"/>
                          </a:solidFill>
                          <a:effectLst/>
                          <a:latin typeface="Aptos" panose="020B0004020202020204" pitchFamily="34" charset="0"/>
                        </a:rPr>
                        <a:t>Detect if content already in client cache (if so, continue directly to AppEnforce.log)</a:t>
                      </a:r>
                      <a:endParaRPr lang="en-US" sz="640" b="0" i="0">
                        <a:solidFill>
                          <a:srgbClr val="000000"/>
                        </a:solidFill>
                        <a:effectLst/>
                        <a:latin typeface="Arial" panose="020B0604020202020204" pitchFamily="34" charset="0"/>
                      </a:endParaRPr>
                    </a:p>
                    <a:p>
                      <a:pPr algn="l" fontAlgn="base">
                        <a:lnSpc>
                          <a:spcPts val="1425"/>
                        </a:lnSpc>
                        <a:buFont typeface="Arial" panose="020B0604020202020204" pitchFamily="34" charset="0"/>
                        <a:buChar char="•"/>
                      </a:pPr>
                      <a:r>
                        <a:rPr lang="en-US" sz="800" b="0" i="0">
                          <a:solidFill>
                            <a:srgbClr val="000000"/>
                          </a:solidFill>
                          <a:effectLst/>
                          <a:latin typeface="Aptos" panose="020B0004020202020204" pitchFamily="34" charset="0"/>
                        </a:rPr>
                        <a:t>Find Distribution Points with Content</a:t>
                      </a:r>
                      <a:endParaRPr lang="en-US" sz="640" b="0" i="0">
                        <a:solidFill>
                          <a:srgbClr val="000000"/>
                        </a:solidFill>
                        <a:effectLst/>
                        <a:latin typeface="Arial" panose="020B0604020202020204" pitchFamily="34" charset="0"/>
                      </a:endParaRPr>
                    </a:p>
                    <a:p>
                      <a:pPr algn="l" fontAlgn="base">
                        <a:lnSpc>
                          <a:spcPts val="1425"/>
                        </a:lnSpc>
                        <a:buFont typeface="Arial" panose="020B0604020202020204" pitchFamily="34" charset="0"/>
                        <a:buChar char="•"/>
                      </a:pPr>
                      <a:r>
                        <a:rPr lang="en-US" sz="800" b="0" i="0">
                          <a:solidFill>
                            <a:srgbClr val="000000"/>
                          </a:solidFill>
                          <a:effectLst/>
                          <a:latin typeface="Aptos" panose="020B0004020202020204" pitchFamily="34" charset="0"/>
                        </a:rPr>
                        <a:t>Submit Content Transfer Manager Job (CTM)</a:t>
                      </a:r>
                      <a:endParaRPr lang="en-US" sz="640" b="0" i="0">
                        <a:solidFill>
                          <a:srgbClr val="000000"/>
                        </a:solidFill>
                        <a:effectLst/>
                        <a:latin typeface="Arial" panose="020B06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endParaRPr lang="en-US" sz="1300" b="0" i="0">
                        <a:solidFill>
                          <a:srgbClr val="000000"/>
                        </a:solidFill>
                        <a:effectLst/>
                        <a:latin typeface="Aptos" panose="020B00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488528894"/>
                  </a:ext>
                </a:extLst>
              </a:tr>
              <a:tr h="283362">
                <a:tc>
                  <a:txBody>
                    <a:bodyPr/>
                    <a:lstStyle/>
                    <a:p>
                      <a:pPr algn="l" fontAlgn="base">
                        <a:lnSpc>
                          <a:spcPts val="1425"/>
                        </a:lnSpc>
                      </a:pPr>
                      <a:r>
                        <a:rPr lang="en-US" sz="800" b="1" i="0">
                          <a:solidFill>
                            <a:srgbClr val="FFFFFF"/>
                          </a:solidFill>
                          <a:effectLst/>
                          <a:latin typeface="Aptos" panose="020B0004020202020204" pitchFamily="34" charset="0"/>
                        </a:rPr>
                        <a:t>ContentTransferManager.log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Create Data Transfer Service Job (DTS)</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endParaRPr lang="en-US" sz="1300" b="0" i="0">
                        <a:solidFill>
                          <a:srgbClr val="000000"/>
                        </a:solidFill>
                        <a:effectLst/>
                        <a:latin typeface="Aptos" panose="020B00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1674799436"/>
                  </a:ext>
                </a:extLst>
              </a:tr>
              <a:tr h="823151">
                <a:tc>
                  <a:txBody>
                    <a:bodyPr/>
                    <a:lstStyle/>
                    <a:p>
                      <a:pPr algn="l" fontAlgn="base">
                        <a:lnSpc>
                          <a:spcPts val="1425"/>
                        </a:lnSpc>
                      </a:pPr>
                      <a:r>
                        <a:rPr lang="en-US" sz="800" b="1" i="0">
                          <a:solidFill>
                            <a:srgbClr val="FFFFFF"/>
                          </a:solidFill>
                          <a:effectLst/>
                          <a:latin typeface="Aptos" panose="020B0004020202020204" pitchFamily="34" charset="0"/>
                        </a:rPr>
                        <a:t>DataTransferService.log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buFont typeface="Arial" panose="020B0604020202020204" pitchFamily="34" charset="0"/>
                        <a:buChar char="•"/>
                      </a:pPr>
                      <a:r>
                        <a:rPr lang="en-US" sz="800" b="0" i="0">
                          <a:solidFill>
                            <a:srgbClr val="000000"/>
                          </a:solidFill>
                          <a:effectLst/>
                          <a:latin typeface="Aptos" panose="020B0004020202020204" pitchFamily="34" charset="0"/>
                        </a:rPr>
                        <a:t>Track Download</a:t>
                      </a:r>
                      <a:endParaRPr lang="en-US" sz="640" b="0" i="0">
                        <a:solidFill>
                          <a:srgbClr val="000000"/>
                        </a:solidFill>
                        <a:effectLst/>
                        <a:latin typeface="Arial" panose="020B0604020202020204" pitchFamily="34" charset="0"/>
                      </a:endParaRPr>
                    </a:p>
                    <a:p>
                      <a:pPr algn="l" fontAlgn="base">
                        <a:lnSpc>
                          <a:spcPts val="1425"/>
                        </a:lnSpc>
                        <a:buFont typeface="Arial" panose="020B0604020202020204" pitchFamily="34" charset="0"/>
                        <a:buChar char="•"/>
                      </a:pPr>
                      <a:r>
                        <a:rPr lang="en-US" sz="800" b="0" i="0">
                          <a:solidFill>
                            <a:srgbClr val="000000"/>
                          </a:solidFill>
                          <a:effectLst/>
                          <a:latin typeface="Aptos" panose="020B0004020202020204" pitchFamily="34" charset="0"/>
                        </a:rPr>
                        <a:t>BITS job Created</a:t>
                      </a:r>
                      <a:endParaRPr lang="en-US" sz="640" b="0" i="0">
                        <a:solidFill>
                          <a:srgbClr val="000000"/>
                        </a:solidFill>
                        <a:effectLst/>
                        <a:latin typeface="Arial" panose="020B0604020202020204" pitchFamily="34" charset="0"/>
                      </a:endParaRPr>
                    </a:p>
                    <a:p>
                      <a:pPr algn="l" fontAlgn="base">
                        <a:lnSpc>
                          <a:spcPts val="1425"/>
                        </a:lnSpc>
                        <a:buFont typeface="Arial" panose="020B0604020202020204" pitchFamily="34" charset="0"/>
                        <a:buChar char="•"/>
                      </a:pPr>
                      <a:r>
                        <a:rPr lang="en-US" sz="800" b="0" i="0">
                          <a:solidFill>
                            <a:srgbClr val="000000"/>
                          </a:solidFill>
                          <a:effectLst/>
                          <a:latin typeface="Aptos" panose="020B0004020202020204" pitchFamily="34" charset="0"/>
                        </a:rPr>
                        <a:t>Send Status to Content Transfer Manager</a:t>
                      </a:r>
                      <a:endParaRPr lang="en-US" sz="640" b="0" i="0">
                        <a:solidFill>
                          <a:srgbClr val="000000"/>
                        </a:solidFill>
                        <a:effectLst/>
                        <a:latin typeface="Arial" panose="020B06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r>
                        <a:rPr lang="en-US" sz="800" b="0" i="0">
                          <a:solidFill>
                            <a:srgbClr val="000000"/>
                          </a:solidFill>
                          <a:effectLst/>
                          <a:latin typeface="Aptos" panose="020B0004020202020204" pitchFamily="34" charset="0"/>
                        </a:rPr>
                        <a:t>0x87D00323 (Content Download Error, verify content is on a DP)​​</a:t>
                      </a:r>
                      <a:br>
                        <a:rPr lang="en-US" sz="800" b="0" i="0">
                          <a:solidFill>
                            <a:srgbClr val="000000"/>
                          </a:solidFill>
                          <a:effectLst/>
                          <a:latin typeface="Aptos" panose="020B0004020202020204" pitchFamily="34" charset="0"/>
                        </a:rPr>
                      </a:br>
                      <a:r>
                        <a:rPr lang="en-US" sz="800" b="0" i="0">
                          <a:solidFill>
                            <a:srgbClr val="000000"/>
                          </a:solidFill>
                          <a:effectLst/>
                          <a:latin typeface="Aptos" panose="020B0004020202020204" pitchFamily="34" charset="0"/>
                        </a:rPr>
                        <a:t>0x87D00326 (download failed, check the DP)​​</a:t>
                      </a:r>
                      <a:br>
                        <a:rPr lang="en-US" sz="800" b="0" i="0">
                          <a:solidFill>
                            <a:srgbClr val="000000"/>
                          </a:solidFill>
                          <a:effectLst/>
                          <a:latin typeface="Aptos" panose="020B0004020202020204" pitchFamily="34" charset="0"/>
                        </a:rPr>
                      </a:br>
                      <a:r>
                        <a:rPr lang="en-US" sz="800" b="0" i="0">
                          <a:solidFill>
                            <a:srgbClr val="000000"/>
                          </a:solidFill>
                          <a:effectLst/>
                          <a:latin typeface="Aptos" panose="020B0004020202020204" pitchFamily="34" charset="0"/>
                        </a:rPr>
                        <a:t>0x87D00327 (Bad Source, check paths and access rights)​​</a:t>
                      </a:r>
                      <a:br>
                        <a:rPr lang="en-US" sz="800" b="0" i="0">
                          <a:solidFill>
                            <a:srgbClr val="000000"/>
                          </a:solidFill>
                          <a:effectLst/>
                          <a:latin typeface="Aptos" panose="020B0004020202020204" pitchFamily="34" charset="0"/>
                        </a:rPr>
                      </a:br>
                      <a:r>
                        <a:rPr lang="en-US" sz="800" b="0" i="0">
                          <a:solidFill>
                            <a:srgbClr val="000000"/>
                          </a:solidFill>
                          <a:effectLst/>
                          <a:latin typeface="Aptos" panose="020B0004020202020204" pitchFamily="34" charset="0"/>
                        </a:rPr>
                        <a:t>0x87D01201 (Cache full, adjust cache size or clean cache)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727706307"/>
                  </a:ext>
                </a:extLst>
              </a:tr>
              <a:tr h="283362">
                <a:tc>
                  <a:txBody>
                    <a:bodyPr/>
                    <a:lstStyle/>
                    <a:p>
                      <a:pPr algn="l" fontAlgn="base">
                        <a:lnSpc>
                          <a:spcPts val="1425"/>
                        </a:lnSpc>
                      </a:pPr>
                      <a:r>
                        <a:rPr lang="en-US" sz="800" b="1" i="0">
                          <a:solidFill>
                            <a:srgbClr val="FFFFFF"/>
                          </a:solidFill>
                          <a:effectLst/>
                          <a:latin typeface="Aptos" panose="020B0004020202020204" pitchFamily="34" charset="0"/>
                        </a:rPr>
                        <a:t>ContentTransferManager.log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Notified of download complete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endParaRPr lang="en-US" sz="1300" b="0" i="0">
                        <a:solidFill>
                          <a:srgbClr val="000000"/>
                        </a:solidFill>
                        <a:effectLst/>
                        <a:latin typeface="Aptos" panose="020B00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724912614"/>
                  </a:ext>
                </a:extLst>
              </a:tr>
              <a:tr h="283362">
                <a:tc>
                  <a:txBody>
                    <a:bodyPr/>
                    <a:lstStyle/>
                    <a:p>
                      <a:pPr algn="l" fontAlgn="base">
                        <a:lnSpc>
                          <a:spcPts val="1425"/>
                        </a:lnSpc>
                      </a:pPr>
                      <a:r>
                        <a:rPr lang="en-US" sz="800" b="1" i="0">
                          <a:solidFill>
                            <a:srgbClr val="FFFFFF"/>
                          </a:solidFill>
                          <a:effectLst/>
                          <a:latin typeface="Aptos" panose="020B0004020202020204" pitchFamily="34" charset="0"/>
                        </a:rPr>
                        <a:t>CAS.log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Notified of download complete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endParaRPr lang="en-US" sz="1300" b="0" i="0">
                        <a:solidFill>
                          <a:srgbClr val="000000"/>
                        </a:solidFill>
                        <a:effectLst/>
                        <a:latin typeface="Aptos" panose="020B0004020202020204" pitchFamily="34" charset="0"/>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3160365539"/>
                  </a:ext>
                </a:extLst>
              </a:tr>
              <a:tr h="264542">
                <a:tc>
                  <a:txBody>
                    <a:bodyPr/>
                    <a:lstStyle/>
                    <a:p>
                      <a:pPr algn="l" fontAlgn="base">
                        <a:lnSpc>
                          <a:spcPts val="1425"/>
                        </a:lnSpc>
                      </a:pPr>
                      <a:r>
                        <a:rPr lang="en-US" sz="800" b="1" i="0">
                          <a:solidFill>
                            <a:srgbClr val="FFFFFF"/>
                          </a:solidFill>
                          <a:effectLst/>
                          <a:latin typeface="Aptos" panose="020B0004020202020204" pitchFamily="34" charset="0"/>
                        </a:rPr>
                        <a:t>AppEnforce.log (execmgr.log)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Install the application</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r>
                        <a:rPr lang="en-US" sz="800" b="0" i="0">
                          <a:solidFill>
                            <a:srgbClr val="000000"/>
                          </a:solidFill>
                          <a:effectLst/>
                          <a:latin typeface="Aptos" panose="020B0004020202020204" pitchFamily="34" charset="0"/>
                        </a:rPr>
                        <a:t>0x87D00322 (install failed, review the installation command)</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3892048935"/>
                  </a:ext>
                </a:extLst>
              </a:tr>
              <a:tr h="450745">
                <a:tc>
                  <a:txBody>
                    <a:bodyPr/>
                    <a:lstStyle/>
                    <a:p>
                      <a:pPr algn="l" fontAlgn="base">
                        <a:lnSpc>
                          <a:spcPts val="1425"/>
                        </a:lnSpc>
                      </a:pPr>
                      <a:r>
                        <a:rPr lang="en-US" sz="800" b="1" i="0">
                          <a:solidFill>
                            <a:srgbClr val="FFFFFF"/>
                          </a:solidFill>
                          <a:effectLst/>
                          <a:latin typeface="Aptos" panose="020B0004020202020204" pitchFamily="34" charset="0"/>
                        </a:rPr>
                        <a:t>AppDiscovery.log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Verify App is installed according to Detection Method</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tc>
                  <a:txBody>
                    <a:bodyPr/>
                    <a:lstStyle/>
                    <a:p>
                      <a:pPr algn="l" fontAlgn="base">
                        <a:lnSpc>
                          <a:spcPts val="1425"/>
                        </a:lnSpc>
                      </a:pPr>
                      <a:r>
                        <a:rPr lang="en-US" sz="800" b="0" i="0">
                          <a:solidFill>
                            <a:srgbClr val="000000"/>
                          </a:solidFill>
                          <a:effectLst/>
                          <a:latin typeface="Aptos" panose="020B0004020202020204" pitchFamily="34" charset="0"/>
                        </a:rPr>
                        <a:t>0x87D00320, 0x87D00324 (detection logic did not verify success, verify what means detection success in the Deployment Type)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E7EAED"/>
                    </a:solidFill>
                  </a:tcPr>
                </a:tc>
                <a:extLst>
                  <a:ext uri="{0D108BD9-81ED-4DB2-BD59-A6C34878D82A}">
                    <a16:rowId xmlns:a16="http://schemas.microsoft.com/office/drawing/2014/main" val="295779130"/>
                  </a:ext>
                </a:extLst>
              </a:tr>
              <a:tr h="264542">
                <a:tc>
                  <a:txBody>
                    <a:bodyPr/>
                    <a:lstStyle/>
                    <a:p>
                      <a:pPr algn="l" fontAlgn="base">
                        <a:lnSpc>
                          <a:spcPts val="1425"/>
                        </a:lnSpc>
                      </a:pPr>
                      <a:r>
                        <a:rPr lang="en-US" sz="800" b="1" i="0">
                          <a:solidFill>
                            <a:srgbClr val="FFFFFF"/>
                          </a:solidFill>
                          <a:effectLst/>
                          <a:latin typeface="Aptos" panose="020B0004020202020204" pitchFamily="34" charset="0"/>
                        </a:rPr>
                        <a:t>StateMessage.log</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156082"/>
                    </a:solidFill>
                  </a:tcPr>
                </a:tc>
                <a:tc>
                  <a:txBody>
                    <a:bodyPr/>
                    <a:lstStyle/>
                    <a:p>
                      <a:pPr algn="l" fontAlgn="base">
                        <a:lnSpc>
                          <a:spcPts val="1425"/>
                        </a:lnSpc>
                      </a:pPr>
                      <a:r>
                        <a:rPr lang="en-US" sz="800" b="0" i="0">
                          <a:solidFill>
                            <a:srgbClr val="000000"/>
                          </a:solidFill>
                          <a:effectLst/>
                          <a:latin typeface="Aptos" panose="020B0004020202020204" pitchFamily="34" charset="0"/>
                        </a:rPr>
                        <a:t>Report success or failure</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tc>
                  <a:txBody>
                    <a:bodyPr/>
                    <a:lstStyle/>
                    <a:p>
                      <a:pPr algn="l" fontAlgn="base">
                        <a:lnSpc>
                          <a:spcPts val="1425"/>
                        </a:lnSpc>
                      </a:pPr>
                      <a:r>
                        <a:rPr lang="en-US" sz="800" b="0" i="0">
                          <a:solidFill>
                            <a:srgbClr val="000000"/>
                          </a:solidFill>
                          <a:effectLst/>
                          <a:latin typeface="Aptos" panose="020B0004020202020204" pitchFamily="34" charset="0"/>
                        </a:rPr>
                        <a:t> </a:t>
                      </a:r>
                      <a:endParaRPr lang="en-US" b="0" i="0">
                        <a:solidFill>
                          <a:srgbClr val="000000"/>
                        </a:solidFill>
                        <a:effectLst/>
                      </a:endParaRPr>
                    </a:p>
                  </a:txBody>
                  <a:tcPr>
                    <a:lnL w="7620" cap="flat" cmpd="sng" algn="ctr">
                      <a:solidFill>
                        <a:srgbClr val="FFFFFF"/>
                      </a:solidFill>
                      <a:prstDash val="solid"/>
                      <a:round/>
                      <a:headEnd type="none" w="med" len="med"/>
                      <a:tailEnd type="none" w="med" len="med"/>
                    </a:lnL>
                    <a:lnR w="7620" cap="flat" cmpd="sng" algn="ctr">
                      <a:solidFill>
                        <a:srgbClr val="FFFFFF"/>
                      </a:solidFill>
                      <a:prstDash val="solid"/>
                      <a:round/>
                      <a:headEnd type="none" w="med" len="med"/>
                      <a:tailEnd type="none" w="med" len="med"/>
                    </a:lnR>
                    <a:lnT w="7620" cap="flat" cmpd="sng" algn="ctr">
                      <a:solidFill>
                        <a:srgbClr val="FFFFFF"/>
                      </a:solidFill>
                      <a:prstDash val="solid"/>
                      <a:round/>
                      <a:headEnd type="none" w="med" len="med"/>
                      <a:tailEnd type="none" w="med" len="med"/>
                    </a:lnT>
                    <a:lnB w="7620" cap="flat" cmpd="sng" algn="ctr">
                      <a:solidFill>
                        <a:srgbClr val="FFFFFF"/>
                      </a:solidFill>
                      <a:prstDash val="solid"/>
                      <a:round/>
                      <a:headEnd type="none" w="med" len="med"/>
                      <a:tailEnd type="none" w="med" len="med"/>
                    </a:lnB>
                    <a:solidFill>
                      <a:srgbClr val="CCD2D8"/>
                    </a:solidFill>
                  </a:tcPr>
                </a:tc>
                <a:extLst>
                  <a:ext uri="{0D108BD9-81ED-4DB2-BD59-A6C34878D82A}">
                    <a16:rowId xmlns:a16="http://schemas.microsoft.com/office/drawing/2014/main" val="2041418745"/>
                  </a:ext>
                </a:extLst>
              </a:tr>
            </a:tbl>
          </a:graphicData>
        </a:graphic>
      </p:graphicFrame>
    </p:spTree>
    <p:extLst>
      <p:ext uri="{BB962C8B-B14F-4D97-AF65-F5344CB8AC3E}">
        <p14:creationId xmlns:p14="http://schemas.microsoft.com/office/powerpoint/2010/main" val="40365704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C6A34-95A5-5B98-3152-0B6835AAE849}"/>
              </a:ext>
            </a:extLst>
          </p:cNvPr>
          <p:cNvSpPr>
            <a:spLocks noGrp="1"/>
          </p:cNvSpPr>
          <p:nvPr>
            <p:ph type="title"/>
          </p:nvPr>
        </p:nvSpPr>
        <p:spPr/>
        <p:txBody>
          <a:bodyPr/>
          <a:lstStyle/>
          <a:p>
            <a:r>
              <a:rPr lang="en-US"/>
              <a:t>Scenario Basics, what to use</a:t>
            </a:r>
          </a:p>
        </p:txBody>
      </p:sp>
      <p:sp>
        <p:nvSpPr>
          <p:cNvPr id="3" name="Content Placeholder 2">
            <a:extLst>
              <a:ext uri="{FF2B5EF4-FFF2-40B4-BE49-F238E27FC236}">
                <a16:creationId xmlns:a16="http://schemas.microsoft.com/office/drawing/2014/main" id="{4AB38093-65D8-5B30-7B09-6FC877B0AEF0}"/>
              </a:ext>
            </a:extLst>
          </p:cNvPr>
          <p:cNvSpPr>
            <a:spLocks noGrp="1"/>
          </p:cNvSpPr>
          <p:nvPr>
            <p:ph idx="1"/>
          </p:nvPr>
        </p:nvSpPr>
        <p:spPr/>
        <p:txBody>
          <a:bodyPr/>
          <a:lstStyle/>
          <a:p>
            <a:pPr algn="l" rtl="0" fontAlgn="base">
              <a:lnSpc>
                <a:spcPts val="2775"/>
              </a:lnSpc>
              <a:buFont typeface="Arial" panose="020B0604020202020204" pitchFamily="34" charset="0"/>
              <a:buChar char="•"/>
            </a:pPr>
            <a:r>
              <a:rPr lang="en-US" b="0" i="0" u="none" strike="noStrike">
                <a:solidFill>
                  <a:srgbClr val="FFFFFF"/>
                </a:solidFill>
                <a:effectLst/>
                <a:latin typeface="Calibri" panose="020F0502020204030204" pitchFamily="34" charset="0"/>
              </a:rPr>
              <a:t>Applications in CM: Re-evaluation, your logic for ‘what means it is installed’ is solid. Content possible.</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b="0" i="0" u="none" strike="noStrike">
                <a:solidFill>
                  <a:srgbClr val="FFFFFF"/>
                </a:solidFill>
                <a:effectLst/>
                <a:latin typeface="Calibri" panose="020F0502020204030204" pitchFamily="34" charset="0"/>
              </a:rPr>
              <a:t>Applications in Intune: Content possible.</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b="0" i="0" u="none" strike="noStrike">
                <a:solidFill>
                  <a:srgbClr val="FFFFFF"/>
                </a:solidFill>
                <a:effectLst/>
                <a:latin typeface="Calibri" panose="020F0502020204030204" pitchFamily="34" charset="0"/>
              </a:rPr>
              <a:t>Package/Programs in CM: Potentially more useful when exact order of implementation is required (run another program first). Content possible. Solid detection logic not possible.</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b="0" i="0" u="none" strike="noStrike">
                <a:solidFill>
                  <a:srgbClr val="FFFFFF"/>
                </a:solidFill>
                <a:effectLst/>
                <a:latin typeface="Calibri" panose="020F0502020204030204" pitchFamily="34" charset="0"/>
              </a:rPr>
              <a:t>Baseline/Configuration item in CM: Re-evaluation frequency important. Content not possible.</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b="0" i="0" u="none" strike="noStrike">
                <a:solidFill>
                  <a:srgbClr val="FFFFFF"/>
                </a:solidFill>
                <a:effectLst/>
                <a:latin typeface="Calibri" panose="020F0502020204030204" pitchFamily="34" charset="0"/>
              </a:rPr>
              <a:t>Scripts in CM: Run on demand (or a schedule). Targets only devices online at run time. Content not possible.</a:t>
            </a:r>
            <a:endParaRPr lang="en-US"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050134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righ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righ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righ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right)">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5EEEC-4E82-EA03-EE0E-1DFD29043172}"/>
              </a:ext>
            </a:extLst>
          </p:cNvPr>
          <p:cNvSpPr>
            <a:spLocks noGrp="1"/>
          </p:cNvSpPr>
          <p:nvPr>
            <p:ph type="title"/>
          </p:nvPr>
        </p:nvSpPr>
        <p:spPr/>
        <p:txBody>
          <a:bodyPr/>
          <a:lstStyle/>
          <a:p>
            <a:r>
              <a:rPr lang="en-US"/>
              <a:t>Deployment Logs	</a:t>
            </a:r>
          </a:p>
        </p:txBody>
      </p:sp>
      <p:sp>
        <p:nvSpPr>
          <p:cNvPr id="3" name="Text Placeholder 2">
            <a:extLst>
              <a:ext uri="{FF2B5EF4-FFF2-40B4-BE49-F238E27FC236}">
                <a16:creationId xmlns:a16="http://schemas.microsoft.com/office/drawing/2014/main" id="{66A23814-7A4F-11D9-5B32-3F8C05EC94F7}"/>
              </a:ext>
            </a:extLst>
          </p:cNvPr>
          <p:cNvSpPr>
            <a:spLocks noGrp="1"/>
          </p:cNvSpPr>
          <p:nvPr>
            <p:ph type="body" idx="1"/>
          </p:nvPr>
        </p:nvSpPr>
        <p:spPr/>
        <p:txBody>
          <a:bodyPr/>
          <a:lstStyle/>
          <a:p>
            <a:r>
              <a:rPr lang="en-US"/>
              <a:t>Bonus: run as System without </a:t>
            </a:r>
            <a:r>
              <a:rPr lang="en-US" err="1"/>
              <a:t>PSExec</a:t>
            </a:r>
            <a:endParaRPr lang="en-US"/>
          </a:p>
        </p:txBody>
      </p:sp>
    </p:spTree>
    <p:extLst>
      <p:ext uri="{BB962C8B-B14F-4D97-AF65-F5344CB8AC3E}">
        <p14:creationId xmlns:p14="http://schemas.microsoft.com/office/powerpoint/2010/main" val="1908789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D4E30A-124D-E6E8-7780-D95ABF917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962392-F1E5-FAB3-DC7A-5849F249561E}"/>
              </a:ext>
            </a:extLst>
          </p:cNvPr>
          <p:cNvSpPr>
            <a:spLocks noGrp="1"/>
          </p:cNvSpPr>
          <p:nvPr>
            <p:ph type="title"/>
          </p:nvPr>
        </p:nvSpPr>
        <p:spPr/>
        <p:txBody>
          <a:bodyPr/>
          <a:lstStyle/>
          <a:p>
            <a:r>
              <a:rPr lang="en-US"/>
              <a:t>ConfigMgr Configuration Items</a:t>
            </a:r>
          </a:p>
        </p:txBody>
      </p:sp>
      <p:sp>
        <p:nvSpPr>
          <p:cNvPr id="3" name="Content Placeholder 2">
            <a:extLst>
              <a:ext uri="{FF2B5EF4-FFF2-40B4-BE49-F238E27FC236}">
                <a16:creationId xmlns:a16="http://schemas.microsoft.com/office/drawing/2014/main" id="{CBCA806A-B93B-3A36-5840-46187F36EAFC}"/>
              </a:ext>
            </a:extLst>
          </p:cNvPr>
          <p:cNvSpPr>
            <a:spLocks noGrp="1"/>
          </p:cNvSpPr>
          <p:nvPr>
            <p:ph idx="1"/>
          </p:nvPr>
        </p:nvSpPr>
        <p:spPr/>
        <p:txBody>
          <a:bodyPr vert="horz" lIns="91440" tIns="45720" rIns="91440" bIns="45720" rtlCol="0" anchor="t">
            <a:normAutofit/>
          </a:bodyPr>
          <a:lstStyle/>
          <a:p>
            <a:pPr marL="0" indent="0" fontAlgn="base">
              <a:lnSpc>
                <a:spcPts val="3075"/>
              </a:lnSpc>
              <a:buNone/>
            </a:pPr>
            <a:r>
              <a:rPr lang="en-US" b="1"/>
              <a:t>Configuration Items (CIs)</a:t>
            </a:r>
            <a:endParaRPr lang="en-US">
              <a:latin typeface="Calibri"/>
              <a:ea typeface="Calibri"/>
              <a:cs typeface="Calibri"/>
            </a:endParaRPr>
          </a:p>
          <a:p>
            <a:pPr lvl="1">
              <a:buFont typeface="Arial" panose="020B0604020202020204" pitchFamily="34" charset="0"/>
              <a:buChar char="•"/>
            </a:pPr>
            <a:r>
              <a:rPr lang="en-US">
                <a:ea typeface="+mn-lt"/>
                <a:cs typeface="+mn-lt"/>
              </a:rPr>
              <a:t>Think of </a:t>
            </a:r>
            <a:r>
              <a:rPr lang="en-US" b="1">
                <a:ea typeface="+mn-lt"/>
                <a:cs typeface="+mn-lt"/>
              </a:rPr>
              <a:t>Configuration Items</a:t>
            </a:r>
            <a:r>
              <a:rPr lang="en-US">
                <a:ea typeface="+mn-lt"/>
                <a:cs typeface="+mn-lt"/>
              </a:rPr>
              <a:t> as individual building blocks used to define system settings, compliance rules, or application settings.</a:t>
            </a:r>
            <a:endParaRPr lang="en-US">
              <a:ea typeface="Calibri"/>
              <a:cs typeface="Calibri"/>
            </a:endParaRPr>
          </a:p>
          <a:p>
            <a:pPr lvl="1">
              <a:buFont typeface="Arial" panose="020B0604020202020204" pitchFamily="34" charset="0"/>
              <a:buChar char="•"/>
            </a:pPr>
            <a:r>
              <a:rPr lang="en-US">
                <a:ea typeface="+mn-lt"/>
                <a:cs typeface="+mn-lt"/>
              </a:rPr>
              <a:t>They can check OS configurations, security settings, registry keys, files, or application settings.</a:t>
            </a:r>
            <a:endParaRPr lang="en-US">
              <a:ea typeface="Calibri"/>
              <a:cs typeface="Calibri"/>
            </a:endParaRPr>
          </a:p>
          <a:p>
            <a:pPr lvl="1">
              <a:buFont typeface="Arial" panose="020B0604020202020204" pitchFamily="34" charset="0"/>
              <a:buChar char="•"/>
            </a:pPr>
            <a:r>
              <a:rPr lang="en-US">
                <a:ea typeface="+mn-lt"/>
                <a:cs typeface="+mn-lt"/>
              </a:rPr>
              <a:t>Each CI has defined parameters—like versions, expected values, or compliance rules—to monitor deviations.</a:t>
            </a:r>
            <a:endParaRPr lang="en-US">
              <a:ea typeface="Calibri"/>
              <a:cs typeface="Calibri"/>
            </a:endParaRPr>
          </a:p>
          <a:p>
            <a:pPr lvl="1">
              <a:buFont typeface="Arial" panose="020B0604020202020204" pitchFamily="34" charset="0"/>
              <a:buChar char="•"/>
            </a:pPr>
            <a:r>
              <a:rPr lang="en-US">
                <a:ea typeface="+mn-lt"/>
                <a:cs typeface="+mn-lt"/>
              </a:rPr>
              <a:t>Can be used standalone or grouped into </a:t>
            </a:r>
            <a:r>
              <a:rPr lang="en-US" b="1">
                <a:ea typeface="+mn-lt"/>
                <a:cs typeface="+mn-lt"/>
              </a:rPr>
              <a:t>Baselines</a:t>
            </a:r>
            <a:r>
              <a:rPr lang="en-US">
                <a:ea typeface="+mn-lt"/>
                <a:cs typeface="+mn-lt"/>
              </a:rPr>
              <a:t> for broader enforcement.</a:t>
            </a:r>
            <a:endParaRPr lang="en-US">
              <a:ea typeface="Calibri"/>
              <a:cs typeface="Calibri"/>
            </a:endParaRPr>
          </a:p>
          <a:p>
            <a:pPr lvl="1" fontAlgn="base">
              <a:lnSpc>
                <a:spcPts val="3075"/>
              </a:lnSpc>
              <a:buFont typeface="Arial" panose="020B0604020202020204" pitchFamily="34" charset="0"/>
              <a:buChar char="•"/>
            </a:pPr>
            <a:endParaRPr lang="en-US">
              <a:latin typeface="Calibri"/>
              <a:ea typeface="Calibri"/>
              <a:cs typeface="Calibri"/>
            </a:endParaRPr>
          </a:p>
        </p:txBody>
      </p:sp>
    </p:spTree>
    <p:extLst>
      <p:ext uri="{BB962C8B-B14F-4D97-AF65-F5344CB8AC3E}">
        <p14:creationId xmlns:p14="http://schemas.microsoft.com/office/powerpoint/2010/main" val="9730401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right)">
                                      <p:cBhvr>
                                        <p:cTn id="13" dur="500"/>
                                        <p:tgtEl>
                                          <p:spTgt spid="3">
                                            <p:txEl>
                                              <p:pRg st="2" end="2"/>
                                            </p:txEl>
                                          </p:spTgt>
                                        </p:tgtEl>
                                      </p:cBhvr>
                                    </p:animEffect>
                                  </p:childTnLst>
                                </p:cTn>
                              </p:par>
                              <p:par>
                                <p:cTn id="14" presetID="22" presetClass="entr" presetSubtype="2"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wipe(right)">
                                      <p:cBhvr>
                                        <p:cTn id="16" dur="500"/>
                                        <p:tgtEl>
                                          <p:spTgt spid="3">
                                            <p:txEl>
                                              <p:pRg st="3" end="3"/>
                                            </p:txEl>
                                          </p:spTgt>
                                        </p:tgtEl>
                                      </p:cBhvr>
                                    </p:animEffect>
                                  </p:childTnLst>
                                </p:cTn>
                              </p:par>
                              <p:par>
                                <p:cTn id="17" presetID="22" presetClass="entr" presetSubtype="2"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wipe(right)">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62B3C-D01C-3DC3-7268-BF30BEB85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F4026B-8451-E34A-34E0-A3000F0C4D72}"/>
              </a:ext>
            </a:extLst>
          </p:cNvPr>
          <p:cNvSpPr>
            <a:spLocks noGrp="1"/>
          </p:cNvSpPr>
          <p:nvPr>
            <p:ph type="title"/>
          </p:nvPr>
        </p:nvSpPr>
        <p:spPr/>
        <p:txBody>
          <a:bodyPr/>
          <a:lstStyle/>
          <a:p>
            <a:r>
              <a:rPr lang="en-US" err="1"/>
              <a:t>ConfigMgr</a:t>
            </a:r>
            <a:r>
              <a:rPr lang="en-US"/>
              <a:t> Configuration Baselines</a:t>
            </a:r>
          </a:p>
        </p:txBody>
      </p:sp>
      <p:sp>
        <p:nvSpPr>
          <p:cNvPr id="3" name="Content Placeholder 2">
            <a:extLst>
              <a:ext uri="{FF2B5EF4-FFF2-40B4-BE49-F238E27FC236}">
                <a16:creationId xmlns:a16="http://schemas.microsoft.com/office/drawing/2014/main" id="{947AFB67-51BE-7592-C62A-79B7A1D1D846}"/>
              </a:ext>
            </a:extLst>
          </p:cNvPr>
          <p:cNvSpPr>
            <a:spLocks noGrp="1"/>
          </p:cNvSpPr>
          <p:nvPr>
            <p:ph idx="1"/>
          </p:nvPr>
        </p:nvSpPr>
        <p:spPr/>
        <p:txBody>
          <a:bodyPr vert="horz" lIns="91440" tIns="45720" rIns="91440" bIns="45720" rtlCol="0" anchor="t">
            <a:normAutofit lnSpcReduction="10000"/>
          </a:bodyPr>
          <a:lstStyle/>
          <a:p>
            <a:pPr>
              <a:buNone/>
            </a:pPr>
            <a:r>
              <a:rPr lang="en-US" b="1"/>
              <a:t>Configuration Baselines</a:t>
            </a:r>
            <a:endParaRPr lang="en-US"/>
          </a:p>
          <a:p>
            <a:pPr>
              <a:buFont typeface="Wingdings"/>
              <a:buChar char=""/>
            </a:pPr>
            <a:r>
              <a:rPr lang="en-US">
                <a:ea typeface="+mn-lt"/>
                <a:cs typeface="+mn-lt"/>
              </a:rPr>
              <a:t>A </a:t>
            </a:r>
            <a:r>
              <a:rPr lang="en-US" b="1">
                <a:ea typeface="+mn-lt"/>
                <a:cs typeface="+mn-lt"/>
              </a:rPr>
              <a:t>Baseline</a:t>
            </a:r>
            <a:r>
              <a:rPr lang="en-US">
                <a:ea typeface="+mn-lt"/>
                <a:cs typeface="+mn-lt"/>
              </a:rPr>
              <a:t> is a collection of CIs bundled together to enforce compliance across devices.</a:t>
            </a:r>
          </a:p>
          <a:p>
            <a:pPr>
              <a:buFont typeface="Wingdings"/>
              <a:buChar char=""/>
            </a:pPr>
            <a:r>
              <a:rPr lang="en-US">
                <a:ea typeface="+mn-lt"/>
                <a:cs typeface="+mn-lt"/>
              </a:rPr>
              <a:t>Used to ensure systems meet security policies, performance standards, or regulatory requirements.</a:t>
            </a:r>
          </a:p>
          <a:p>
            <a:pPr>
              <a:buFont typeface="Wingdings"/>
              <a:buChar char=""/>
            </a:pPr>
            <a:r>
              <a:rPr lang="en-US">
                <a:ea typeface="+mn-lt"/>
                <a:cs typeface="+mn-lt"/>
              </a:rPr>
              <a:t>Admins can set Baselines to </a:t>
            </a:r>
            <a:r>
              <a:rPr lang="en-US" b="1">
                <a:ea typeface="+mn-lt"/>
                <a:cs typeface="+mn-lt"/>
              </a:rPr>
              <a:t>monitor</a:t>
            </a:r>
            <a:r>
              <a:rPr lang="en-US">
                <a:ea typeface="+mn-lt"/>
                <a:cs typeface="+mn-lt"/>
              </a:rPr>
              <a:t> or </a:t>
            </a:r>
            <a:r>
              <a:rPr lang="en-US" b="1">
                <a:ea typeface="+mn-lt"/>
                <a:cs typeface="+mn-lt"/>
              </a:rPr>
              <a:t>auto-remediate</a:t>
            </a:r>
            <a:r>
              <a:rPr lang="en-US">
                <a:ea typeface="+mn-lt"/>
                <a:cs typeface="+mn-lt"/>
              </a:rPr>
              <a:t> non-compliant systems.</a:t>
            </a:r>
          </a:p>
          <a:p>
            <a:pPr>
              <a:buFont typeface="Wingdings"/>
              <a:buChar char=""/>
            </a:pPr>
            <a:r>
              <a:rPr lang="en-US">
                <a:ea typeface="+mn-lt"/>
                <a:cs typeface="+mn-lt"/>
              </a:rPr>
              <a:t>Deploy Baselines to devices via </a:t>
            </a:r>
            <a:r>
              <a:rPr lang="en-US" b="1">
                <a:ea typeface="+mn-lt"/>
                <a:cs typeface="+mn-lt"/>
              </a:rPr>
              <a:t>Configuration Manager Collections</a:t>
            </a:r>
            <a:r>
              <a:rPr lang="en-US">
                <a:ea typeface="+mn-lt"/>
                <a:cs typeface="+mn-lt"/>
              </a:rPr>
              <a:t> to track compliance status.</a:t>
            </a:r>
          </a:p>
          <a:p>
            <a:pPr>
              <a:buFont typeface="Wingdings"/>
              <a:buChar char=""/>
            </a:pPr>
            <a:r>
              <a:rPr lang="en-US">
                <a:ea typeface="+mn-lt"/>
                <a:cs typeface="+mn-lt"/>
              </a:rPr>
              <a:t>Helps streamline audits, security enforcement, and operational consistency</a:t>
            </a:r>
            <a:endParaRPr lang="en-US"/>
          </a:p>
          <a:p>
            <a:pPr marL="0" indent="0">
              <a:lnSpc>
                <a:spcPts val="3075"/>
              </a:lnSpc>
              <a:buNone/>
            </a:pPr>
            <a:endParaRPr lang="en-US" b="1">
              <a:latin typeface="Calibri"/>
              <a:ea typeface="Calibri"/>
              <a:cs typeface="Calibri"/>
            </a:endParaRPr>
          </a:p>
        </p:txBody>
      </p:sp>
    </p:spTree>
    <p:extLst>
      <p:ext uri="{BB962C8B-B14F-4D97-AF65-F5344CB8AC3E}">
        <p14:creationId xmlns:p14="http://schemas.microsoft.com/office/powerpoint/2010/main" val="605270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righ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righ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right)">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2"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ipe(right)">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2"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right)">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769A5-6C95-40E1-E941-39A202BA62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5F3734-32C7-A34F-79DC-581AFE4B3FFC}"/>
              </a:ext>
            </a:extLst>
          </p:cNvPr>
          <p:cNvSpPr>
            <a:spLocks noGrp="1"/>
          </p:cNvSpPr>
          <p:nvPr>
            <p:ph type="title"/>
          </p:nvPr>
        </p:nvSpPr>
        <p:spPr/>
        <p:txBody>
          <a:bodyPr/>
          <a:lstStyle/>
          <a:p>
            <a:r>
              <a:rPr lang="en-US"/>
              <a:t>Configuration Baselines (in CM)</a:t>
            </a:r>
          </a:p>
        </p:txBody>
      </p:sp>
      <p:sp>
        <p:nvSpPr>
          <p:cNvPr id="3" name="Content Placeholder 2">
            <a:extLst>
              <a:ext uri="{FF2B5EF4-FFF2-40B4-BE49-F238E27FC236}">
                <a16:creationId xmlns:a16="http://schemas.microsoft.com/office/drawing/2014/main" id="{AA7B5140-7A42-FE60-0A19-A51164B8B487}"/>
              </a:ext>
            </a:extLst>
          </p:cNvPr>
          <p:cNvSpPr>
            <a:spLocks noGrp="1"/>
          </p:cNvSpPr>
          <p:nvPr>
            <p:ph idx="1"/>
          </p:nvPr>
        </p:nvSpPr>
        <p:spPr/>
        <p:txBody>
          <a:bodyPr/>
          <a:lstStyle/>
          <a:p>
            <a:pPr algn="l" rtl="0" fontAlgn="base">
              <a:lnSpc>
                <a:spcPts val="2775"/>
              </a:lnSpc>
              <a:buFont typeface="Arial" panose="020B0604020202020204" pitchFamily="34" charset="0"/>
              <a:buChar char="•"/>
            </a:pPr>
            <a:r>
              <a:rPr lang="en-US" b="0" i="0" u="none" strike="noStrike">
                <a:solidFill>
                  <a:srgbClr val="FFFFFF"/>
                </a:solidFill>
                <a:effectLst/>
                <a:latin typeface="Calibri" panose="020F0502020204030204" pitchFamily="34" charset="0"/>
              </a:rPr>
              <a:t>Basics​</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Detect only: Registry Key = 1, or 'one of' these values, just report​</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Remediate: If Registry Key &lt;&gt; 1, make it = 1​</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b="0" i="0" u="none" strike="noStrike">
                <a:solidFill>
                  <a:srgbClr val="FFFFFF"/>
                </a:solidFill>
                <a:effectLst/>
                <a:latin typeface="Calibri" panose="020F0502020204030204" pitchFamily="34" charset="0"/>
              </a:rPr>
              <a:t>Intermediate to Advanced​</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Run a script repeatedly, simply to populate WMI (for example) for later inventory.​</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Create a script to check 4 things, if 3 of the 4 are good, report compliant. Based on criteria, modify &lt;this text file&gt; and &lt;change this </a:t>
            </a:r>
            <a:r>
              <a:rPr lang="en-US" sz="2800" b="0" i="0" u="none" strike="noStrike" err="1">
                <a:solidFill>
                  <a:srgbClr val="FFFFFF"/>
                </a:solidFill>
                <a:effectLst/>
                <a:latin typeface="Calibri" panose="020F0502020204030204" pitchFamily="34" charset="0"/>
              </a:rPr>
              <a:t>regkey</a:t>
            </a:r>
            <a:r>
              <a:rPr lang="en-US" sz="2800" b="0" i="0" u="none" strike="noStrike">
                <a:solidFill>
                  <a:srgbClr val="FFFFFF"/>
                </a:solidFill>
                <a:effectLst/>
                <a:latin typeface="Calibri" panose="020F0502020204030204" pitchFamily="34" charset="0"/>
              </a:rPr>
              <a:t>&gt; to get to compliance. ​</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fontAlgn="base">
              <a:lnSpc>
                <a:spcPts val="2325"/>
              </a:lnSpc>
              <a:buFont typeface="Arial" panose="020B0604020202020204" pitchFamily="34" charset="0"/>
              <a:buChar char="•"/>
            </a:pPr>
            <a:r>
              <a:rPr lang="en-US" b="0" i="0" u="none" strike="noStrike">
                <a:solidFill>
                  <a:srgbClr val="FFFFFF"/>
                </a:solidFill>
                <a:effectLst/>
                <a:latin typeface="Calibri" panose="020F0502020204030204" pitchFamily="34" charset="0"/>
              </a:rPr>
              <a:t>Remember, you cannot deliver 'content'. If your intent is to 'install the latest version of XYZ Software', then you need an Application for the XYZ software, with requirements (possibly custom requirements), and solid Detection Logic (possibly custom script for detection logic)</a:t>
            </a:r>
            <a:endParaRPr lang="en-US"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874599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right)">
                                      <p:cBhvr>
                                        <p:cTn id="7" dur="500"/>
                                        <p:tgtEl>
                                          <p:spTgt spid="3">
                                            <p:txEl>
                                              <p:pRg st="0" end="0"/>
                                            </p:txEl>
                                          </p:spTgt>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wipe(right)">
                                      <p:cBhvr>
                                        <p:cTn id="10" dur="500"/>
                                        <p:tgtEl>
                                          <p:spTgt spid="3">
                                            <p:txEl>
                                              <p:pRg st="1" end="1"/>
                                            </p:txEl>
                                          </p:spTgt>
                                        </p:tgtEl>
                                      </p:cBhvr>
                                    </p:animEffect>
                                  </p:childTnLst>
                                </p:cTn>
                              </p:par>
                              <p:par>
                                <p:cTn id="11" presetID="22" presetClass="entr" presetSubtype="2"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right)">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2" fill="hold" grpId="0"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right)">
                                      <p:cBhvr>
                                        <p:cTn id="18" dur="500"/>
                                        <p:tgtEl>
                                          <p:spTgt spid="3">
                                            <p:txEl>
                                              <p:pRg st="3" end="3"/>
                                            </p:txEl>
                                          </p:spTgt>
                                        </p:tgtEl>
                                      </p:cBhvr>
                                    </p:animEffect>
                                  </p:childTnLst>
                                </p:cTn>
                              </p:par>
                              <p:par>
                                <p:cTn id="19" presetID="22" presetClass="entr" presetSubtype="2"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wipe(right)">
                                      <p:cBhvr>
                                        <p:cTn id="21" dur="500"/>
                                        <p:tgtEl>
                                          <p:spTgt spid="3">
                                            <p:txEl>
                                              <p:pRg st="4" end="4"/>
                                            </p:txEl>
                                          </p:spTgt>
                                        </p:tgtEl>
                                      </p:cBhvr>
                                    </p:animEffect>
                                  </p:childTnLst>
                                </p:cTn>
                              </p:par>
                              <p:par>
                                <p:cTn id="22" presetID="22" presetClass="entr" presetSubtype="2"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wipe(right)">
                                      <p:cBhvr>
                                        <p:cTn id="24" dur="500"/>
                                        <p:tgtEl>
                                          <p:spTgt spid="3">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grpId="0"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wipe(right)">
                                      <p:cBhvr>
                                        <p:cTn id="2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C0C11-455F-53AA-3B18-336D8FB08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142CE-6179-7D09-ADB0-9741EC28FFE5}"/>
              </a:ext>
            </a:extLst>
          </p:cNvPr>
          <p:cNvSpPr>
            <a:spLocks noGrp="1"/>
          </p:cNvSpPr>
          <p:nvPr>
            <p:ph type="title"/>
          </p:nvPr>
        </p:nvSpPr>
        <p:spPr/>
        <p:txBody>
          <a:bodyPr>
            <a:normAutofit fontScale="90000"/>
          </a:bodyPr>
          <a:lstStyle/>
          <a:p>
            <a:r>
              <a:rPr lang="en-US" b="0">
                <a:ea typeface="+mn-lt"/>
                <a:cs typeface="+mn-lt"/>
              </a:rPr>
              <a:t>Microsoft Intune: Remediations &amp; Compliance</a:t>
            </a:r>
            <a:endParaRPr lang="en-US"/>
          </a:p>
        </p:txBody>
      </p:sp>
      <p:sp>
        <p:nvSpPr>
          <p:cNvPr id="3" name="Content Placeholder 2">
            <a:extLst>
              <a:ext uri="{FF2B5EF4-FFF2-40B4-BE49-F238E27FC236}">
                <a16:creationId xmlns:a16="http://schemas.microsoft.com/office/drawing/2014/main" id="{0618FB99-D93D-7C9E-F158-3DACDA8AC23C}"/>
              </a:ext>
            </a:extLst>
          </p:cNvPr>
          <p:cNvSpPr>
            <a:spLocks noGrp="1"/>
          </p:cNvSpPr>
          <p:nvPr>
            <p:ph idx="1"/>
          </p:nvPr>
        </p:nvSpPr>
        <p:spPr/>
        <p:txBody>
          <a:bodyPr vert="horz" lIns="91440" tIns="45720" rIns="91440" bIns="45720" rtlCol="0" anchor="t">
            <a:normAutofit/>
          </a:bodyPr>
          <a:lstStyle/>
          <a:p>
            <a:pPr marL="0" indent="0">
              <a:buNone/>
            </a:pPr>
            <a:endParaRPr lang="en-US" b="1" i="0">
              <a:solidFill>
                <a:srgbClr val="000000"/>
              </a:solidFill>
              <a:effectLst/>
              <a:latin typeface="Calibri"/>
              <a:ea typeface="Calibri"/>
              <a:cs typeface="Calibri"/>
            </a:endParaRPr>
          </a:p>
          <a:p>
            <a:pPr>
              <a:buFont typeface="Wingdings" panose="020B0604020202020204" pitchFamily="34" charset="0"/>
              <a:buChar char=""/>
            </a:pPr>
            <a:r>
              <a:rPr lang="en-US">
                <a:ea typeface="+mn-lt"/>
                <a:cs typeface="+mn-lt"/>
              </a:rPr>
              <a:t>Intune </a:t>
            </a:r>
            <a:r>
              <a:rPr lang="en-US" b="1">
                <a:ea typeface="+mn-lt"/>
                <a:cs typeface="+mn-lt"/>
              </a:rPr>
              <a:t>remediations</a:t>
            </a:r>
            <a:r>
              <a:rPr lang="en-US">
                <a:ea typeface="+mn-lt"/>
                <a:cs typeface="+mn-lt"/>
              </a:rPr>
              <a:t> help IT admins automatically detect and fix configuration issues on endpoints</a:t>
            </a:r>
            <a:r>
              <a:rPr lang="en-US" sz="2800" b="0" i="0" u="none" strike="noStrike">
                <a:effectLst/>
                <a:ea typeface="+mn-lt"/>
                <a:cs typeface="+mn-lt"/>
              </a:rPr>
              <a:t>.</a:t>
            </a:r>
            <a:endParaRPr lang="en-US">
              <a:ea typeface="+mn-lt"/>
              <a:cs typeface="+mn-lt"/>
            </a:endParaRPr>
          </a:p>
          <a:p>
            <a:pPr>
              <a:buFont typeface="Wingdings" panose="020B0604020202020204" pitchFamily="34" charset="0"/>
              <a:buChar char=""/>
            </a:pPr>
            <a:r>
              <a:rPr lang="en-US">
                <a:ea typeface="+mn-lt"/>
                <a:cs typeface="+mn-lt"/>
              </a:rPr>
              <a:t>Used </a:t>
            </a:r>
            <a:r>
              <a:rPr lang="en-US" sz="2800" b="0" i="0" u="none" strike="noStrike">
                <a:effectLst/>
                <a:ea typeface="+mn-lt"/>
                <a:cs typeface="+mn-lt"/>
              </a:rPr>
              <a:t>to </a:t>
            </a:r>
            <a:r>
              <a:rPr lang="en-US">
                <a:ea typeface="+mn-lt"/>
                <a:cs typeface="+mn-lt"/>
              </a:rPr>
              <a:t>enforce security settings</a:t>
            </a:r>
            <a:r>
              <a:rPr lang="en-US" sz="2800" b="0" i="0" u="none" strike="noStrike">
                <a:effectLst/>
                <a:ea typeface="+mn-lt"/>
                <a:cs typeface="+mn-lt"/>
              </a:rPr>
              <a:t>, </a:t>
            </a:r>
            <a:r>
              <a:rPr lang="en-US">
                <a:ea typeface="+mn-lt"/>
                <a:cs typeface="+mn-lt"/>
              </a:rPr>
              <a:t>correct misconfigurations</a:t>
            </a:r>
            <a:r>
              <a:rPr lang="en-US" sz="2800" b="0" i="0" u="none" strike="noStrike">
                <a:effectLst/>
                <a:ea typeface="+mn-lt"/>
                <a:cs typeface="+mn-lt"/>
              </a:rPr>
              <a:t>, </a:t>
            </a:r>
            <a:r>
              <a:rPr lang="en-US">
                <a:ea typeface="+mn-lt"/>
                <a:cs typeface="+mn-lt"/>
              </a:rPr>
              <a:t>and ensure devices meet compliance policies</a:t>
            </a:r>
            <a:r>
              <a:rPr lang="en-US" sz="2800" b="0" i="0" u="none" strike="noStrike">
                <a:effectLst/>
                <a:ea typeface="+mn-lt"/>
                <a:cs typeface="+mn-lt"/>
              </a:rPr>
              <a:t>.</a:t>
            </a:r>
            <a:endParaRPr lang="en-US">
              <a:ea typeface="+mn-lt"/>
              <a:cs typeface="+mn-lt"/>
            </a:endParaRPr>
          </a:p>
          <a:p>
            <a:pPr>
              <a:buFont typeface="Wingdings" panose="020B0604020202020204" pitchFamily="34" charset="0"/>
              <a:buChar char=""/>
            </a:pPr>
            <a:r>
              <a:rPr lang="en-US" dirty="0" err="1">
                <a:latin typeface="Aptos"/>
                <a:ea typeface="+mn-lt"/>
                <a:cs typeface="+mn-lt"/>
              </a:rPr>
              <a:t>Powershell</a:t>
            </a:r>
            <a:r>
              <a:rPr lang="en-US" dirty="0">
                <a:latin typeface="Aptos"/>
                <a:ea typeface="+mn-lt"/>
                <a:cs typeface="+mn-lt"/>
              </a:rPr>
              <a:t> scripts return a 0 or a 1</a:t>
            </a:r>
          </a:p>
          <a:p>
            <a:pPr>
              <a:buFont typeface="Wingdings" panose="020B0604020202020204" pitchFamily="34" charset="0"/>
              <a:buChar char=""/>
            </a:pPr>
            <a:r>
              <a:rPr lang="en-US" dirty="0">
                <a:solidFill>
                  <a:srgbClr val="FFFFFF"/>
                </a:solidFill>
                <a:latin typeface="Aptos"/>
                <a:ea typeface="Calibri"/>
                <a:cs typeface="Calibri"/>
              </a:rPr>
              <a:t>Like </a:t>
            </a:r>
            <a:r>
              <a:rPr lang="en-US" dirty="0" err="1">
                <a:solidFill>
                  <a:srgbClr val="FFFFFF"/>
                </a:solidFill>
                <a:latin typeface="Aptos"/>
                <a:ea typeface="Calibri"/>
                <a:cs typeface="Calibri"/>
              </a:rPr>
              <a:t>ConfigMgr</a:t>
            </a:r>
            <a:r>
              <a:rPr lang="en-US" dirty="0">
                <a:solidFill>
                  <a:srgbClr val="FFFFFF"/>
                </a:solidFill>
                <a:latin typeface="Aptos"/>
                <a:ea typeface="Calibri"/>
                <a:cs typeface="Calibri"/>
              </a:rPr>
              <a:t>, but simpler, as if we're children.</a:t>
            </a:r>
            <a:endParaRPr lang="en-US" b="0" i="0" dirty="0">
              <a:solidFill>
                <a:srgbClr val="FFFFFF"/>
              </a:solidFill>
              <a:effectLst/>
              <a:latin typeface="Aptos"/>
              <a:ea typeface="Calibri"/>
              <a:cs typeface="Calibri"/>
            </a:endParaRPr>
          </a:p>
          <a:p>
            <a:pPr>
              <a:lnSpc>
                <a:spcPts val="2775"/>
              </a:lnSpc>
              <a:buFont typeface="Arial" panose="020B0604020202020204" pitchFamily="34" charset="0"/>
              <a:buChar char="•"/>
            </a:pPr>
            <a:endParaRPr lang="en-US">
              <a:solidFill>
                <a:srgbClr val="000000"/>
              </a:solidFill>
              <a:latin typeface="Calibri"/>
              <a:ea typeface="Calibri"/>
              <a:cs typeface="Calibri"/>
            </a:endParaRPr>
          </a:p>
        </p:txBody>
      </p:sp>
    </p:spTree>
    <p:extLst>
      <p:ext uri="{BB962C8B-B14F-4D97-AF65-F5344CB8AC3E}">
        <p14:creationId xmlns:p14="http://schemas.microsoft.com/office/powerpoint/2010/main" val="204322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right)">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righ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right)">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right)">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A3212E-52A8-350B-8F0A-BCEE0CD3E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5C5262-359C-0294-2775-DB03F5127DE5}"/>
              </a:ext>
            </a:extLst>
          </p:cNvPr>
          <p:cNvSpPr>
            <a:spLocks noGrp="1"/>
          </p:cNvSpPr>
          <p:nvPr>
            <p:ph type="title"/>
          </p:nvPr>
        </p:nvSpPr>
        <p:spPr/>
        <p:txBody>
          <a:bodyPr/>
          <a:lstStyle/>
          <a:p>
            <a:r>
              <a:rPr lang="en-US"/>
              <a:t>Intune Cis/Proactive Remediations	</a:t>
            </a:r>
          </a:p>
        </p:txBody>
      </p:sp>
      <p:sp>
        <p:nvSpPr>
          <p:cNvPr id="3" name="Text Placeholder 2">
            <a:extLst>
              <a:ext uri="{FF2B5EF4-FFF2-40B4-BE49-F238E27FC236}">
                <a16:creationId xmlns:a16="http://schemas.microsoft.com/office/drawing/2014/main" id="{557D5C3D-F36F-2298-1B25-C1B99BB34A5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0207161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DCBDE-A5AD-0EEE-BE0D-116A7DE94B63}"/>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930784A-2A33-ECC2-54F5-1FABEB4DDA97}"/>
              </a:ext>
            </a:extLst>
          </p:cNvPr>
          <p:cNvSpPr>
            <a:spLocks noGrp="1"/>
          </p:cNvSpPr>
          <p:nvPr>
            <p:ph type="body" idx="1"/>
          </p:nvPr>
        </p:nvSpPr>
        <p:spPr>
          <a:xfrm>
            <a:off x="2155824" y="4879399"/>
            <a:ext cx="7933041" cy="1500187"/>
          </a:xfrm>
        </p:spPr>
        <p:txBody>
          <a:bodyPr vert="horz" lIns="91440" tIns="45720" rIns="91440" bIns="45720" rtlCol="0" anchor="t">
            <a:normAutofit/>
          </a:bodyPr>
          <a:lstStyle/>
          <a:p>
            <a:r>
              <a:rPr lang="en-US" dirty="0">
                <a:latin typeface="Aptos"/>
              </a:rPr>
              <a:t>Straightforward one: Check for pending reboot. Use </a:t>
            </a:r>
            <a:r>
              <a:rPr lang="en-US" dirty="0" err="1">
                <a:latin typeface="Aptos"/>
              </a:rPr>
              <a:t>Powershell</a:t>
            </a:r>
            <a:r>
              <a:rPr lang="en-US" dirty="0">
                <a:latin typeface="Aptos"/>
              </a:rPr>
              <a:t> to present popup. Script based off of: </a:t>
            </a:r>
            <a:r>
              <a:rPr lang="en-US" dirty="0">
                <a:latin typeface="Aptos"/>
                <a:hlinkClick r:id="rId3"/>
              </a:rPr>
              <a:t>Windows 11 Toast Notification Script - imab.dk</a:t>
            </a:r>
            <a:endParaRPr lang="en-US"/>
          </a:p>
        </p:txBody>
      </p:sp>
      <p:pic>
        <p:nvPicPr>
          <p:cNvPr id="5" name="Picture 4" descr="A screenshot of a computer&#10;&#10;AI-generated content may be incorrect.">
            <a:extLst>
              <a:ext uri="{FF2B5EF4-FFF2-40B4-BE49-F238E27FC236}">
                <a16:creationId xmlns:a16="http://schemas.microsoft.com/office/drawing/2014/main" id="{4AB60A24-8297-5E35-4CB0-7B1F5140E255}"/>
              </a:ext>
            </a:extLst>
          </p:cNvPr>
          <p:cNvPicPr>
            <a:picLocks noChangeAspect="1"/>
          </p:cNvPicPr>
          <p:nvPr/>
        </p:nvPicPr>
        <p:blipFill>
          <a:blip r:embed="rId4"/>
          <a:stretch>
            <a:fillRect/>
          </a:stretch>
        </p:blipFill>
        <p:spPr>
          <a:xfrm>
            <a:off x="2020585" y="121425"/>
            <a:ext cx="8206484" cy="4556038"/>
          </a:xfrm>
          <a:prstGeom prst="rect">
            <a:avLst/>
          </a:prstGeom>
        </p:spPr>
      </p:pic>
    </p:spTree>
    <p:extLst>
      <p:ext uri="{BB962C8B-B14F-4D97-AF65-F5344CB8AC3E}">
        <p14:creationId xmlns:p14="http://schemas.microsoft.com/office/powerpoint/2010/main" val="42425847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FA5A1C-7F8A-7899-8E09-F76FEA085477}"/>
              </a:ext>
            </a:extLst>
          </p:cNvPr>
          <p:cNvSpPr>
            <a:spLocks noGrp="1"/>
          </p:cNvSpPr>
          <p:nvPr>
            <p:ph type="title"/>
          </p:nvPr>
        </p:nvSpPr>
        <p:spPr/>
        <p:txBody>
          <a:bodyPr/>
          <a:lstStyle/>
          <a:p>
            <a:r>
              <a:rPr lang="en-US"/>
              <a:t>Links to Interesting CM Baselines</a:t>
            </a:r>
          </a:p>
        </p:txBody>
      </p:sp>
      <p:sp>
        <p:nvSpPr>
          <p:cNvPr id="3" name="Content Placeholder 2">
            <a:extLst>
              <a:ext uri="{FF2B5EF4-FFF2-40B4-BE49-F238E27FC236}">
                <a16:creationId xmlns:a16="http://schemas.microsoft.com/office/drawing/2014/main" id="{48007B8C-6E1A-C265-E6A4-E1B8B9EAA774}"/>
              </a:ext>
            </a:extLst>
          </p:cNvPr>
          <p:cNvSpPr>
            <a:spLocks noGrp="1"/>
          </p:cNvSpPr>
          <p:nvPr>
            <p:ph idx="1"/>
          </p:nvPr>
        </p:nvSpPr>
        <p:spPr/>
        <p:txBody>
          <a:bodyPr/>
          <a:lstStyle/>
          <a:p>
            <a:pPr algn="l" rtl="0" fontAlgn="base">
              <a:lnSpc>
                <a:spcPts val="2775"/>
              </a:lnSpc>
              <a:buFont typeface="Arial" panose="020B0604020202020204" pitchFamily="34" charset="0"/>
              <a:buChar char="•"/>
            </a:pPr>
            <a:r>
              <a:rPr lang="en-US" sz="2400" b="0" i="0" u="none" strike="noStrike" err="1">
                <a:solidFill>
                  <a:srgbClr val="FFFFFF"/>
                </a:solidFill>
                <a:effectLst/>
                <a:latin typeface="Calibri" panose="020F0502020204030204" pitchFamily="34" charset="0"/>
              </a:rPr>
              <a:t>UpdateCompliance</a:t>
            </a:r>
            <a:r>
              <a:rPr lang="en-US" sz="2400" b="0" i="0" u="none" strike="noStrike">
                <a:solidFill>
                  <a:srgbClr val="FFFFFF"/>
                </a:solidFill>
                <a:effectLst/>
                <a:latin typeface="Calibri" panose="020F0502020204030204" pitchFamily="34" charset="0"/>
              </a:rPr>
              <a:t> randomizer: </a:t>
            </a:r>
            <a:r>
              <a:rPr lang="en-US" sz="2400" b="0" i="0" u="sng" strike="noStrike">
                <a:solidFill>
                  <a:srgbClr val="A38637"/>
                </a:solidFill>
                <a:effectLst/>
                <a:latin typeface="Aptos" panose="020B0004020202020204" pitchFamily="34" charset="0"/>
                <a:hlinkClick r:id="rId2"/>
              </a:rPr>
              <a:t>CM </a:t>
            </a:r>
            <a:r>
              <a:rPr lang="en-US" sz="2400" b="0" i="0" u="sng" strike="noStrike" err="1">
                <a:solidFill>
                  <a:srgbClr val="A38637"/>
                </a:solidFill>
                <a:effectLst/>
                <a:latin typeface="Aptos" panose="020B0004020202020204" pitchFamily="34" charset="0"/>
                <a:hlinkClick r:id="rId2"/>
              </a:rPr>
              <a:t>RefreshServerComplianceState</a:t>
            </a:r>
            <a:r>
              <a:rPr lang="en-US" sz="2400" b="0" i="0" u="sng" strike="noStrike">
                <a:solidFill>
                  <a:srgbClr val="A38637"/>
                </a:solidFill>
                <a:effectLst/>
                <a:latin typeface="Aptos" panose="020B0004020202020204" pitchFamily="34" charset="0"/>
                <a:hlinkClick r:id="rId2"/>
              </a:rPr>
              <a:t> as a Configuration Item​</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Disable Software Inventory Throttling: </a:t>
            </a:r>
            <a:r>
              <a:rPr lang="en-US" sz="2400" b="0" i="0" u="sng" strike="noStrike">
                <a:solidFill>
                  <a:srgbClr val="A38637"/>
                </a:solidFill>
                <a:effectLst/>
                <a:latin typeface="Calibri" panose="020F0502020204030204" pitchFamily="34" charset="0"/>
                <a:hlinkClick r:id="rId3"/>
              </a:rPr>
              <a:t>CM Disable Inventory Throttling​</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Disable Application Deployment Agent and Disable Software Distribution Agent: </a:t>
            </a:r>
            <a:r>
              <a:rPr lang="en-US" sz="2400" b="0" i="0" u="sng" strike="noStrike">
                <a:solidFill>
                  <a:srgbClr val="A38637"/>
                </a:solidFill>
                <a:effectLst/>
                <a:latin typeface="Calibri" panose="020F0502020204030204" pitchFamily="34" charset="0"/>
                <a:hlinkClick r:id="rId4"/>
              </a:rPr>
              <a:t>Selectively Disable Software Distributions and Application Deployments on Clients</a:t>
            </a:r>
            <a:r>
              <a:rPr lang="en-US" sz="2400" b="0" i="0" u="none" strike="noStrike">
                <a:solidFill>
                  <a:srgbClr val="FFFFFF"/>
                </a:solidFill>
                <a:effectLst/>
                <a:latin typeface="Calibri" panose="020F0502020204030204" pitchFamily="34" charset="0"/>
              </a:rPr>
              <a:t>​</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sz="2400" b="0" i="0" u="none" strike="noStrike">
                <a:solidFill>
                  <a:srgbClr val="FFFFFF"/>
                </a:solidFill>
                <a:effectLst/>
                <a:latin typeface="Calibri" panose="020F0502020204030204" pitchFamily="34" charset="0"/>
              </a:rPr>
              <a:t>Custom Hardware Inventory ​</a:t>
            </a:r>
            <a:r>
              <a:rPr lang="en-US" sz="2400" b="0" i="0">
                <a:solidFill>
                  <a:srgbClr val="000000"/>
                </a:solidFill>
                <a:effectLst/>
                <a:latin typeface="Calibri" panose="020F0502020204030204" pitchFamily="34" charset="0"/>
              </a:rPr>
              <a:t>​</a:t>
            </a:r>
            <a:endParaRPr lang="en-US" sz="2400"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000" b="0" i="0" u="none" strike="noStrike" err="1">
                <a:solidFill>
                  <a:srgbClr val="FFFFFF"/>
                </a:solidFill>
                <a:effectLst/>
                <a:latin typeface="Calibri" panose="020F0502020204030204" pitchFamily="34" charset="0"/>
              </a:rPr>
              <a:t>PerUser</a:t>
            </a:r>
            <a:r>
              <a:rPr lang="en-US" sz="2000" b="0" i="0" u="none" strike="noStrike">
                <a:solidFill>
                  <a:srgbClr val="FFFFFF"/>
                </a:solidFill>
                <a:effectLst/>
                <a:latin typeface="Calibri" panose="020F0502020204030204" pitchFamily="34" charset="0"/>
              </a:rPr>
              <a:t> installed applications: </a:t>
            </a:r>
            <a:r>
              <a:rPr lang="en-US" sz="2000" b="0" i="0" u="sng" strike="noStrike">
                <a:solidFill>
                  <a:srgbClr val="A38637"/>
                </a:solidFill>
                <a:effectLst/>
                <a:latin typeface="Calibri" panose="020F0502020204030204" pitchFamily="34" charset="0"/>
                <a:hlinkClick r:id="rId5"/>
              </a:rPr>
              <a:t>CM Inventory per-user installed applications</a:t>
            </a:r>
            <a:r>
              <a:rPr lang="en-US" sz="2000" b="0" i="0" u="none" strike="noStrike">
                <a:solidFill>
                  <a:srgbClr val="FFFFFF"/>
                </a:solidFill>
                <a:effectLst/>
                <a:latin typeface="Calibri" panose="020F0502020204030204" pitchFamily="34" charset="0"/>
              </a:rPr>
              <a:t>​</a:t>
            </a:r>
            <a:r>
              <a:rPr lang="en-US" sz="2000" b="0" i="0">
                <a:solidFill>
                  <a:srgbClr val="000000"/>
                </a:solidFill>
                <a:effectLst/>
                <a:latin typeface="Calibri" panose="020F0502020204030204" pitchFamily="34" charset="0"/>
              </a:rPr>
              <a:t>​</a:t>
            </a:r>
            <a:endParaRPr lang="en-US" sz="2000"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000" b="0" i="0" u="none" strike="noStrike">
                <a:solidFill>
                  <a:srgbClr val="FFFFFF"/>
                </a:solidFill>
                <a:effectLst/>
                <a:latin typeface="Calibri" panose="020F0502020204030204" pitchFamily="34" charset="0"/>
              </a:rPr>
              <a:t>Browser Extensions: </a:t>
            </a:r>
            <a:r>
              <a:rPr lang="en-US" sz="2000" b="0" i="0" u="sng" strike="noStrike">
                <a:solidFill>
                  <a:srgbClr val="A38637"/>
                </a:solidFill>
                <a:effectLst/>
                <a:latin typeface="Calibri" panose="020F0502020204030204" pitchFamily="34" charset="0"/>
                <a:hlinkClick r:id="rId6"/>
              </a:rPr>
              <a:t>CM Inventory per-user browser extensions</a:t>
            </a:r>
            <a:r>
              <a:rPr lang="en-US" sz="2000" b="0" i="0" u="none" strike="noStrike">
                <a:solidFill>
                  <a:srgbClr val="FFFFFF"/>
                </a:solidFill>
                <a:effectLst/>
                <a:latin typeface="Calibri" panose="020F0502020204030204" pitchFamily="34" charset="0"/>
              </a:rPr>
              <a:t>​</a:t>
            </a:r>
            <a:r>
              <a:rPr lang="en-US" sz="2000" b="0" i="0">
                <a:solidFill>
                  <a:srgbClr val="000000"/>
                </a:solidFill>
                <a:effectLst/>
                <a:latin typeface="Calibri" panose="020F0502020204030204" pitchFamily="34" charset="0"/>
              </a:rPr>
              <a:t>​</a:t>
            </a:r>
            <a:endParaRPr lang="en-US" sz="2000"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000" b="0" i="0" u="none" strike="noStrike">
                <a:solidFill>
                  <a:srgbClr val="FFFFFF"/>
                </a:solidFill>
                <a:effectLst/>
                <a:latin typeface="Calibri" panose="020F0502020204030204" pitchFamily="34" charset="0"/>
              </a:rPr>
              <a:t>All Members of all Local Groups: </a:t>
            </a:r>
            <a:r>
              <a:rPr lang="en-US" sz="2000" b="0" i="0" u="sng" strike="noStrike">
                <a:solidFill>
                  <a:srgbClr val="A38637"/>
                </a:solidFill>
                <a:effectLst/>
                <a:latin typeface="Calibri" panose="020F0502020204030204" pitchFamily="34" charset="0"/>
                <a:hlinkClick r:id="rId7"/>
              </a:rPr>
              <a:t>CM All Members of All Local Groups</a:t>
            </a:r>
            <a:r>
              <a:rPr lang="en-US" sz="2000" b="0" i="0">
                <a:solidFill>
                  <a:srgbClr val="000000"/>
                </a:solidFill>
                <a:effectLst/>
                <a:latin typeface="Calibri" panose="020F0502020204030204" pitchFamily="34" charset="0"/>
              </a:rPr>
              <a:t>​</a:t>
            </a:r>
            <a:endParaRPr lang="en-US" sz="2000"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sz="2000" b="0" i="0" u="none" strike="noStrike">
                <a:solidFill>
                  <a:srgbClr val="FFFFFF"/>
                </a:solidFill>
                <a:effectLst/>
                <a:latin typeface="Calibri" panose="020F0502020204030204" pitchFamily="34" charset="0"/>
              </a:rPr>
              <a:t>OS </a:t>
            </a:r>
            <a:r>
              <a:rPr lang="en-US" sz="2000" b="0" i="0" u="none" strike="noStrike" err="1">
                <a:solidFill>
                  <a:srgbClr val="FFFFFF"/>
                </a:solidFill>
                <a:effectLst/>
                <a:latin typeface="Calibri" panose="020F0502020204030204" pitchFamily="34" charset="0"/>
              </a:rPr>
              <a:t>inplace</a:t>
            </a:r>
            <a:r>
              <a:rPr lang="en-US" sz="2000" b="0" i="0" u="none" strike="noStrike">
                <a:solidFill>
                  <a:srgbClr val="FFFFFF"/>
                </a:solidFill>
                <a:effectLst/>
                <a:latin typeface="Calibri" panose="020F0502020204030204" pitchFamily="34" charset="0"/>
              </a:rPr>
              <a:t> upgrade history: </a:t>
            </a:r>
            <a:r>
              <a:rPr lang="en-US" sz="2000" b="0" i="0" u="sng" strike="noStrike">
                <a:solidFill>
                  <a:srgbClr val="A38637"/>
                </a:solidFill>
                <a:effectLst/>
                <a:latin typeface="Aptos" panose="020B0004020202020204" pitchFamily="34" charset="0"/>
                <a:hlinkClick r:id="rId8"/>
              </a:rPr>
              <a:t>Windows </a:t>
            </a:r>
            <a:r>
              <a:rPr lang="en-US" sz="2000" b="0" i="0" u="sng" strike="noStrike" err="1">
                <a:solidFill>
                  <a:srgbClr val="A38637"/>
                </a:solidFill>
                <a:effectLst/>
                <a:latin typeface="Aptos" panose="020B0004020202020204" pitchFamily="34" charset="0"/>
                <a:hlinkClick r:id="rId8"/>
              </a:rPr>
              <a:t>Inplace</a:t>
            </a:r>
            <a:r>
              <a:rPr lang="en-US" sz="2000" b="0" i="0" u="sng" strike="noStrike">
                <a:solidFill>
                  <a:srgbClr val="A38637"/>
                </a:solidFill>
                <a:effectLst/>
                <a:latin typeface="Aptos" panose="020B0004020202020204" pitchFamily="34" charset="0"/>
                <a:hlinkClick r:id="rId8"/>
              </a:rPr>
              <a:t> Upgrade History Inventory</a:t>
            </a:r>
            <a:r>
              <a:rPr lang="en-US" sz="2000" b="0" i="0" u="none" strike="noStrike">
                <a:solidFill>
                  <a:srgbClr val="FFFFFF"/>
                </a:solidFill>
                <a:effectLst/>
                <a:latin typeface="Aptos" panose="020B0004020202020204" pitchFamily="34" charset="0"/>
              </a:rPr>
              <a:t> </a:t>
            </a:r>
            <a:endParaRPr lang="en-US" sz="2000"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9756004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C0E5D-D6E5-2366-691C-1976A79C2AE5}"/>
              </a:ext>
            </a:extLst>
          </p:cNvPr>
          <p:cNvSpPr>
            <a:spLocks noGrp="1"/>
          </p:cNvSpPr>
          <p:nvPr>
            <p:ph type="title"/>
          </p:nvPr>
        </p:nvSpPr>
        <p:spPr/>
        <p:txBody>
          <a:bodyPr/>
          <a:lstStyle/>
          <a:p>
            <a:r>
              <a:rPr lang="en-US"/>
              <a:t>Custom Reporting in CM</a:t>
            </a:r>
          </a:p>
        </p:txBody>
      </p:sp>
      <p:sp>
        <p:nvSpPr>
          <p:cNvPr id="3" name="Content Placeholder 2">
            <a:extLst>
              <a:ext uri="{FF2B5EF4-FFF2-40B4-BE49-F238E27FC236}">
                <a16:creationId xmlns:a16="http://schemas.microsoft.com/office/drawing/2014/main" id="{85ACDEA9-EBA3-E3D8-EAAD-76DF98E3769C}"/>
              </a:ext>
            </a:extLst>
          </p:cNvPr>
          <p:cNvSpPr>
            <a:spLocks noGrp="1"/>
          </p:cNvSpPr>
          <p:nvPr>
            <p:ph idx="1"/>
          </p:nvPr>
        </p:nvSpPr>
        <p:spPr/>
        <p:txBody>
          <a:bodyPr vert="horz" lIns="91440" tIns="45720" rIns="91440" bIns="45720" rtlCol="0" anchor="t">
            <a:normAutofit/>
          </a:bodyPr>
          <a:lstStyle/>
          <a:p>
            <a:pPr algn="l" rtl="0" fontAlgn="base">
              <a:lnSpc>
                <a:spcPts val="3075"/>
              </a:lnSpc>
              <a:buFont typeface="Arial" panose="020B0604020202020204" pitchFamily="34" charset="0"/>
              <a:buChar char="•"/>
            </a:pPr>
            <a:r>
              <a:rPr lang="en-US" b="0" i="0" u="none" strike="noStrike">
                <a:solidFill>
                  <a:srgbClr val="FFFFFF"/>
                </a:solidFill>
                <a:effectLst/>
                <a:latin typeface="Calibri" panose="020F0502020204030204" pitchFamily="34" charset="0"/>
              </a:rPr>
              <a:t>Check the Built-in Report first</a:t>
            </a:r>
          </a:p>
          <a:p>
            <a:pPr algn="l" rtl="0" fontAlgn="base">
              <a:lnSpc>
                <a:spcPts val="3075"/>
              </a:lnSpc>
              <a:buFont typeface="Arial" panose="020B0604020202020204" pitchFamily="34" charset="0"/>
              <a:buChar char="•"/>
            </a:pPr>
            <a:r>
              <a:rPr lang="en-US" b="0" i="0" u="none" strike="noStrike">
                <a:solidFill>
                  <a:srgbClr val="FFFFFF"/>
                </a:solidFill>
                <a:effectLst/>
                <a:latin typeface="Calibri" panose="020F0502020204030204" pitchFamily="34" charset="0"/>
              </a:rPr>
              <a:t>SSMS (SQL Server Management Studio) is your friend​</a:t>
            </a:r>
            <a:r>
              <a:rPr lang="en-US" b="0" i="0">
                <a:solidFill>
                  <a:srgbClr val="000000"/>
                </a:solidFill>
                <a:effectLst/>
                <a:latin typeface="Calibri" panose="020F0502020204030204" pitchFamily="34" charset="0"/>
              </a:rPr>
              <a:t>​</a:t>
            </a:r>
          </a:p>
          <a:p>
            <a:pPr algn="l" rtl="0" fontAlgn="base">
              <a:lnSpc>
                <a:spcPts val="3075"/>
              </a:lnSpc>
              <a:buFont typeface="Arial" panose="020B0604020202020204" pitchFamily="34" charset="0"/>
              <a:buChar char="•"/>
            </a:pPr>
            <a:r>
              <a:rPr lang="en-US" b="0" i="0" u="none" strike="noStrike">
                <a:solidFill>
                  <a:srgbClr val="FFFFFF"/>
                </a:solidFill>
                <a:effectLst/>
                <a:latin typeface="Calibri" panose="020F0502020204030204" pitchFamily="34" charset="0"/>
              </a:rPr>
              <a:t>Basic queries​</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26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Devices which do NOT have </a:t>
            </a:r>
            <a:r>
              <a:rPr lang="en-US" sz="2800" b="0" i="0" u="none" strike="noStrike" err="1">
                <a:solidFill>
                  <a:srgbClr val="FFFFFF"/>
                </a:solidFill>
                <a:effectLst/>
                <a:latin typeface="Calibri" panose="020F0502020204030204" pitchFamily="34" charset="0"/>
              </a:rPr>
              <a:t>xyz</a:t>
            </a:r>
            <a:r>
              <a:rPr lang="en-US" sz="2800" b="0" i="0" u="none" strike="noStrike">
                <a:solidFill>
                  <a:srgbClr val="FFFFFF"/>
                </a:solidFill>
                <a:effectLst/>
                <a:latin typeface="Calibri" panose="020F0502020204030204" pitchFamily="34" charset="0"/>
              </a:rPr>
              <a:t> Software​</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lvl="1" fontAlgn="base">
              <a:lnSpc>
                <a:spcPts val="26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Custom Inventory results​</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algn="l" rtl="0" fontAlgn="base">
              <a:lnSpc>
                <a:spcPts val="3075"/>
              </a:lnSpc>
              <a:buFont typeface="Arial" panose="020B0604020202020204" pitchFamily="34" charset="0"/>
              <a:buChar char="•"/>
            </a:pPr>
            <a:r>
              <a:rPr lang="en-US" b="0" i="0" u="none" strike="noStrike">
                <a:solidFill>
                  <a:srgbClr val="FFFFFF"/>
                </a:solidFill>
                <a:effectLst/>
                <a:latin typeface="Calibri" panose="020F0502020204030204" pitchFamily="34" charset="0"/>
              </a:rPr>
              <a:t>Advanced query​</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26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Devices that are non-compliance for a CI, and the exact reason why not (if your CI was designed to do so)​</a:t>
            </a:r>
            <a:r>
              <a:rPr lang="en-US" sz="2800" b="0" i="0">
                <a:solidFill>
                  <a:srgbClr val="000000"/>
                </a:solidFill>
                <a:effectLst/>
                <a:latin typeface="Calibri" panose="020F0502020204030204" pitchFamily="34" charset="0"/>
              </a:rPr>
              <a:t>​</a:t>
            </a:r>
            <a:endParaRPr lang="en-US" sz="2800" b="0" i="0">
              <a:solidFill>
                <a:srgbClr val="000000"/>
              </a:solidFill>
              <a:effectLst/>
              <a:latin typeface="Arial" panose="020B0604020202020204" pitchFamily="34" charset="0"/>
            </a:endParaRPr>
          </a:p>
          <a:p>
            <a:pPr lvl="1" fontAlgn="base">
              <a:lnSpc>
                <a:spcPts val="2625"/>
              </a:lnSpc>
              <a:buFont typeface="Arial" panose="020B0604020202020204" pitchFamily="34" charset="0"/>
              <a:buChar char="•"/>
            </a:pPr>
            <a:r>
              <a:rPr lang="en-US" sz="2800" b="0" i="0" u="none" strike="noStrike">
                <a:solidFill>
                  <a:srgbClr val="FFFFFF"/>
                </a:solidFill>
                <a:effectLst/>
                <a:latin typeface="Calibri" panose="020F0502020204030204" pitchFamily="34" charset="0"/>
              </a:rPr>
              <a:t>Client Status (in the console, and reports)​</a:t>
            </a:r>
            <a:r>
              <a:rPr lang="en-US" sz="2800" b="0" i="0">
                <a:solidFill>
                  <a:srgbClr val="000000"/>
                </a:solidFill>
                <a:effectLst/>
                <a:latin typeface="Calibri" panose="020F0502020204030204" pitchFamily="34" charset="0"/>
              </a:rPr>
              <a:t>​</a:t>
            </a:r>
          </a:p>
          <a:p>
            <a:pPr fontAlgn="base">
              <a:lnSpc>
                <a:spcPts val="2625"/>
              </a:lnSpc>
              <a:buFont typeface="Arial" panose="020B0604020202020204" pitchFamily="34" charset="0"/>
              <a:buChar char="•"/>
            </a:pPr>
            <a:r>
              <a:rPr lang="en-US">
                <a:solidFill>
                  <a:srgbClr val="FFFFFF"/>
                </a:solidFill>
                <a:latin typeface="Calibri" panose="020F0502020204030204" pitchFamily="34" charset="0"/>
                <a:hlinkClick r:id="rId2"/>
              </a:rPr>
              <a:t>System Center Configuration Manager Reporting Unleashed</a:t>
            </a:r>
            <a:endParaRPr lang="en-US">
              <a:solidFill>
                <a:srgbClr val="FFFFFF"/>
              </a:solidFill>
              <a:latin typeface="Calibri" panose="020F0502020204030204" pitchFamily="34" charset="0"/>
            </a:endParaRPr>
          </a:p>
          <a:p>
            <a:pPr fontAlgn="base">
              <a:lnSpc>
                <a:spcPts val="2625"/>
              </a:lnSpc>
              <a:buFont typeface="Arial" panose="020B0604020202020204" pitchFamily="34" charset="0"/>
              <a:buChar char="•"/>
            </a:pPr>
            <a:endParaRPr lang="en-US" sz="3200" b="0" i="0">
              <a:solidFill>
                <a:srgbClr val="000000"/>
              </a:solidFill>
              <a:effectLst/>
              <a:latin typeface="Arial" panose="020B0604020202020204" pitchFamily="34" charset="0"/>
            </a:endParaRPr>
          </a:p>
          <a:p>
            <a:pPr algn="l" rtl="0" fontAlgn="base">
              <a:lnSpc>
                <a:spcPts val="3075"/>
              </a:lnSpc>
              <a:buFont typeface="Arial" panose="020B0604020202020204" pitchFamily="34" charset="0"/>
              <a:buChar char="•"/>
            </a:pPr>
            <a:endParaRPr lang="en-US" b="0" i="0">
              <a:solidFill>
                <a:srgbClr val="FFFFFF"/>
              </a:solidFill>
              <a:effectLst/>
              <a:latin typeface="Calibri"/>
              <a:ea typeface="Calibri"/>
              <a:cs typeface="Calibri"/>
            </a:endParaRPr>
          </a:p>
        </p:txBody>
      </p:sp>
    </p:spTree>
    <p:extLst>
      <p:ext uri="{BB962C8B-B14F-4D97-AF65-F5344CB8AC3E}">
        <p14:creationId xmlns:p14="http://schemas.microsoft.com/office/powerpoint/2010/main" val="12485891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668E1F-BE6A-2EF9-50BB-1AA179890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7DA4A-F7FA-0F31-7751-5FBAFE2CE212}"/>
              </a:ext>
            </a:extLst>
          </p:cNvPr>
          <p:cNvSpPr>
            <a:spLocks noGrp="1"/>
          </p:cNvSpPr>
          <p:nvPr>
            <p:ph type="title"/>
          </p:nvPr>
        </p:nvSpPr>
        <p:spPr/>
        <p:txBody>
          <a:bodyPr/>
          <a:lstStyle/>
          <a:p>
            <a:r>
              <a:rPr lang="en-US"/>
              <a:t>SQL Server Management Studio Queries	</a:t>
            </a:r>
          </a:p>
        </p:txBody>
      </p:sp>
      <p:sp>
        <p:nvSpPr>
          <p:cNvPr id="3" name="Text Placeholder 2">
            <a:extLst>
              <a:ext uri="{FF2B5EF4-FFF2-40B4-BE49-F238E27FC236}">
                <a16:creationId xmlns:a16="http://schemas.microsoft.com/office/drawing/2014/main" id="{763B7767-9135-797D-47A3-2E3EDF50C77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9680668"/>
      </p:ext>
    </p:extLst>
  </p:cSld>
  <p:clrMapOvr>
    <a:masterClrMapping/>
  </p:clrMapOvr>
  <p:extLst>
    <p:ext uri="{6950BFC3-D8DA-4A85-94F7-54DA5524770B}">
      <p188:commentRel xmlns:p188="http://schemas.microsoft.com/office/powerpoint/2018/8/main" r:id="rId3"/>
    </p:ext>
  </p:extLs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FAA1D-DD4B-30D7-7DC2-3EE6B13EF4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73560-4ADD-6674-23A5-A8DDA14BEB8F}"/>
              </a:ext>
            </a:extLst>
          </p:cNvPr>
          <p:cNvSpPr>
            <a:spLocks noGrp="1"/>
          </p:cNvSpPr>
          <p:nvPr>
            <p:ph type="title"/>
          </p:nvPr>
        </p:nvSpPr>
        <p:spPr/>
        <p:txBody>
          <a:bodyPr/>
          <a:lstStyle/>
          <a:p>
            <a:r>
              <a:rPr lang="en-US"/>
              <a:t>Scripts Node and </a:t>
            </a:r>
            <a:r>
              <a:rPr lang="en-US" err="1"/>
              <a:t>CMPivot</a:t>
            </a:r>
            <a:endParaRPr lang="en-US"/>
          </a:p>
        </p:txBody>
      </p:sp>
      <p:sp>
        <p:nvSpPr>
          <p:cNvPr id="3" name="Content Placeholder 2">
            <a:extLst>
              <a:ext uri="{FF2B5EF4-FFF2-40B4-BE49-F238E27FC236}">
                <a16:creationId xmlns:a16="http://schemas.microsoft.com/office/drawing/2014/main" id="{CCE98959-7683-5436-8C16-2C09B253A807}"/>
              </a:ext>
            </a:extLst>
          </p:cNvPr>
          <p:cNvSpPr>
            <a:spLocks noGrp="1"/>
          </p:cNvSpPr>
          <p:nvPr>
            <p:ph idx="1"/>
          </p:nvPr>
        </p:nvSpPr>
        <p:spPr/>
        <p:txBody>
          <a:bodyPr vert="horz" lIns="91440" tIns="45720" rIns="91440" bIns="45720" rtlCol="0" anchor="t">
            <a:normAutofit fontScale="92500"/>
          </a:bodyPr>
          <a:lstStyle/>
          <a:p>
            <a:pPr fontAlgn="base">
              <a:lnSpc>
                <a:spcPts val="2775"/>
              </a:lnSpc>
              <a:buFont typeface="Arial" panose="020B0604020202020204" pitchFamily="34" charset="0"/>
              <a:buChar char="•"/>
            </a:pPr>
            <a:r>
              <a:rPr lang="en-US">
                <a:solidFill>
                  <a:srgbClr val="FFFFFF"/>
                </a:solidFill>
                <a:latin typeface="Calibri"/>
                <a:ea typeface="Calibri"/>
                <a:cs typeface="Calibri"/>
              </a:rPr>
              <a:t>Why </a:t>
            </a:r>
            <a:r>
              <a:rPr lang="en-US" err="1">
                <a:solidFill>
                  <a:srgbClr val="FFFFFF"/>
                </a:solidFill>
                <a:latin typeface="Calibri"/>
                <a:ea typeface="Calibri"/>
                <a:cs typeface="Calibri"/>
              </a:rPr>
              <a:t>FastChannel</a:t>
            </a:r>
            <a:r>
              <a:rPr lang="en-US">
                <a:solidFill>
                  <a:srgbClr val="FFFFFF"/>
                </a:solidFill>
                <a:latin typeface="Calibri"/>
                <a:ea typeface="Calibri"/>
                <a:cs typeface="Calibri"/>
              </a:rPr>
              <a:t> is cool beans</a:t>
            </a:r>
            <a:endParaRPr lang="en-US"/>
          </a:p>
          <a:p>
            <a:pPr>
              <a:lnSpc>
                <a:spcPts val="2775"/>
              </a:lnSpc>
              <a:buFont typeface="Arial" panose="020B0604020202020204" pitchFamily="34" charset="0"/>
              <a:buChar char="•"/>
            </a:pPr>
            <a:r>
              <a:rPr lang="en-US" sz="2400">
                <a:solidFill>
                  <a:srgbClr val="FFFFFF"/>
                </a:solidFill>
                <a:latin typeface="Calibri"/>
                <a:ea typeface="Calibri"/>
                <a:cs typeface="Calibri"/>
              </a:rPr>
              <a:t>If</a:t>
            </a:r>
            <a:r>
              <a:rPr lang="en-US" sz="2400" b="0" i="0" u="none" strike="noStrike">
                <a:solidFill>
                  <a:srgbClr val="FFFFFF"/>
                </a:solidFill>
                <a:effectLst/>
                <a:latin typeface="Calibri"/>
                <a:ea typeface="Calibri"/>
                <a:cs typeface="Calibri"/>
              </a:rPr>
              <a:t> for whatever reason you are not 'allowed' to install the Right-Click Tools, some things can be done via Script node. Examples (code will be provided in session downloads)​</a:t>
            </a:r>
            <a:r>
              <a:rPr lang="en-US" sz="2400" b="0" i="0">
                <a:solidFill>
                  <a:srgbClr val="000000"/>
                </a:solidFill>
                <a:effectLst/>
                <a:latin typeface="Calibri"/>
                <a:ea typeface="Calibri"/>
                <a:cs typeface="Calibri"/>
              </a:rPr>
              <a:t>​</a:t>
            </a:r>
            <a:endParaRPr lang="en-US"/>
          </a:p>
          <a:p>
            <a:pPr lvl="1" fontAlgn="base">
              <a:lnSpc>
                <a:spcPts val="2325"/>
              </a:lnSpc>
              <a:buFont typeface="Arial" panose="020B0604020202020204" pitchFamily="34" charset="0"/>
              <a:buChar char="•"/>
            </a:pPr>
            <a:r>
              <a:rPr lang="en-US" b="0" i="0" u="none" strike="noStrike">
                <a:solidFill>
                  <a:srgbClr val="FFFFFF"/>
                </a:solidFill>
                <a:effectLst/>
                <a:latin typeface="Calibri" panose="020F0502020204030204" pitchFamily="34" charset="0"/>
                <a:hlinkClick r:id="rId3"/>
              </a:rPr>
              <a:t>Full Hardware Inventory Request​</a:t>
            </a:r>
            <a:r>
              <a:rPr lang="en-US" b="0" i="0">
                <a:solidFill>
                  <a:srgbClr val="000000"/>
                </a:solidFill>
                <a:effectLst/>
                <a:latin typeface="Calibri" panose="020F0502020204030204" pitchFamily="34" charset="0"/>
                <a:hlinkClick r:id="rId3"/>
              </a:rPr>
              <a:t>​</a:t>
            </a:r>
          </a:p>
          <a:p>
            <a:pPr lvl="1" fontAlgn="base">
              <a:lnSpc>
                <a:spcPts val="2325"/>
              </a:lnSpc>
              <a:buFont typeface="Arial" panose="020B0604020202020204" pitchFamily="34" charset="0"/>
              <a:buChar char="•"/>
            </a:pPr>
            <a:r>
              <a:rPr lang="en-US" b="0" i="0" u="none" strike="noStrike">
                <a:solidFill>
                  <a:srgbClr val="FFFFFF"/>
                </a:solidFill>
                <a:effectLst/>
                <a:latin typeface="Calibri" panose="020F0502020204030204" pitchFamily="34" charset="0"/>
                <a:hlinkClick r:id="rId3"/>
              </a:rPr>
              <a:t>Refresh Updates Compliance State​</a:t>
            </a:r>
            <a:r>
              <a:rPr lang="en-US" b="0" i="0">
                <a:solidFill>
                  <a:srgbClr val="000000"/>
                </a:solidFill>
                <a:effectLst/>
                <a:latin typeface="Calibri" panose="020F0502020204030204" pitchFamily="34" charset="0"/>
                <a:hlinkClick r:id="rId3"/>
              </a:rPr>
              <a:t>​</a:t>
            </a:r>
            <a:endParaRPr lang="en-US"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b="0" i="0" u="none" strike="noStrike">
                <a:solidFill>
                  <a:srgbClr val="FFFFFF"/>
                </a:solidFill>
                <a:effectLst/>
                <a:latin typeface="Calibri" panose="020F0502020204030204" pitchFamily="34" charset="0"/>
              </a:rPr>
              <a:t>Group Policy Update​</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b="0" i="0" u="none" strike="noStrike">
                <a:solidFill>
                  <a:srgbClr val="FFFFFF"/>
                </a:solidFill>
                <a:effectLst/>
                <a:latin typeface="Calibri" panose="020F0502020204030204" pitchFamily="34" charset="0"/>
              </a:rPr>
              <a:t>Reboot –force​</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lvl="1" fontAlgn="base">
              <a:lnSpc>
                <a:spcPts val="2325"/>
              </a:lnSpc>
              <a:buFont typeface="Arial" panose="020B0604020202020204" pitchFamily="34" charset="0"/>
              <a:buChar char="•"/>
            </a:pPr>
            <a:r>
              <a:rPr lang="en-US" b="0" i="0" u="none" strike="noStrike">
                <a:solidFill>
                  <a:srgbClr val="FFFFFF"/>
                </a:solidFill>
                <a:effectLst/>
                <a:latin typeface="Calibri" panose="020F0502020204030204" pitchFamily="34" charset="0"/>
              </a:rPr>
              <a:t>Run any Client Action​</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2775"/>
              </a:lnSpc>
              <a:buFont typeface="Arial" panose="020B0604020202020204" pitchFamily="34" charset="0"/>
              <a:buChar char="•"/>
            </a:pPr>
            <a:r>
              <a:rPr lang="en-US" sz="2400" b="0" i="0" u="none" strike="noStrike">
                <a:solidFill>
                  <a:srgbClr val="FFFFFF"/>
                </a:solidFill>
                <a:effectLst/>
                <a:latin typeface="Calibri"/>
                <a:ea typeface="Calibri"/>
                <a:cs typeface="Calibri"/>
              </a:rPr>
              <a:t>Don't forget about </a:t>
            </a:r>
            <a:r>
              <a:rPr lang="en-US" sz="2400" b="0" i="0" u="none" strike="noStrike" err="1">
                <a:solidFill>
                  <a:srgbClr val="FFFFFF"/>
                </a:solidFill>
                <a:effectLst/>
                <a:latin typeface="Calibri"/>
                <a:ea typeface="Calibri"/>
                <a:cs typeface="Calibri"/>
              </a:rPr>
              <a:t>CMPivot</a:t>
            </a:r>
            <a:r>
              <a:rPr lang="en-US" sz="2400" b="0" i="0" u="none" strike="noStrike">
                <a:solidFill>
                  <a:srgbClr val="FFFFFF"/>
                </a:solidFill>
                <a:effectLst/>
                <a:latin typeface="Calibri"/>
                <a:ea typeface="Calibri"/>
                <a:cs typeface="Calibri"/>
              </a:rPr>
              <a:t>!​</a:t>
            </a:r>
            <a:r>
              <a:rPr lang="en-US" sz="2400" b="0" i="0">
                <a:solidFill>
                  <a:srgbClr val="000000"/>
                </a:solidFill>
                <a:effectLst/>
                <a:latin typeface="Calibri"/>
                <a:ea typeface="Calibri"/>
                <a:cs typeface="Calibri"/>
              </a:rPr>
              <a:t>​</a:t>
            </a:r>
          </a:p>
          <a:p>
            <a:pPr lvl="1" fontAlgn="base">
              <a:lnSpc>
                <a:spcPts val="2325"/>
              </a:lnSpc>
              <a:buFont typeface="Arial" panose="020B0604020202020204" pitchFamily="34" charset="0"/>
              <a:buChar char="•"/>
            </a:pPr>
            <a:r>
              <a:rPr lang="en-US" b="0" i="0" u="sng" strike="noStrike">
                <a:solidFill>
                  <a:srgbClr val="A38637"/>
                </a:solidFill>
                <a:effectLst/>
                <a:latin typeface="Calibri"/>
                <a:ea typeface="Calibri"/>
                <a:cs typeface="Calibri"/>
                <a:hlinkClick r:id="rId4"/>
              </a:rPr>
              <a:t>SCCM </a:t>
            </a:r>
            <a:r>
              <a:rPr lang="en-US" b="0" i="0" u="sng" strike="noStrike" err="1">
                <a:solidFill>
                  <a:srgbClr val="A38637"/>
                </a:solidFill>
                <a:effectLst/>
                <a:latin typeface="Calibri"/>
                <a:ea typeface="Calibri"/>
                <a:cs typeface="Calibri"/>
                <a:hlinkClick r:id="rId4"/>
              </a:rPr>
              <a:t>CMPivot</a:t>
            </a:r>
            <a:r>
              <a:rPr lang="en-US" b="0" i="0" u="sng" strike="noStrike">
                <a:solidFill>
                  <a:srgbClr val="A38637"/>
                </a:solidFill>
                <a:effectLst/>
                <a:latin typeface="Calibri"/>
                <a:ea typeface="Calibri"/>
                <a:cs typeface="Calibri"/>
                <a:hlinkClick r:id="rId4"/>
              </a:rPr>
              <a:t> Query Examples</a:t>
            </a:r>
            <a:r>
              <a:rPr lang="en-US" b="0" i="0" u="none" strike="noStrike">
                <a:solidFill>
                  <a:srgbClr val="FFFFFF"/>
                </a:solidFill>
                <a:effectLst/>
                <a:latin typeface="Calibri"/>
                <a:ea typeface="Calibri"/>
                <a:cs typeface="Calibri"/>
              </a:rPr>
              <a:t>​</a:t>
            </a:r>
            <a:r>
              <a:rPr lang="en-US" b="0" i="0">
                <a:solidFill>
                  <a:srgbClr val="000000"/>
                </a:solidFill>
                <a:effectLst/>
                <a:latin typeface="Calibri"/>
                <a:ea typeface="Calibri"/>
                <a:cs typeface="Calibri"/>
              </a:rPr>
              <a:t>​</a:t>
            </a:r>
          </a:p>
          <a:p>
            <a:pPr lvl="1" fontAlgn="base">
              <a:lnSpc>
                <a:spcPts val="2325"/>
              </a:lnSpc>
              <a:buFont typeface="Arial" panose="020B0604020202020204" pitchFamily="34" charset="0"/>
              <a:buChar char="•"/>
            </a:pPr>
            <a:r>
              <a:rPr lang="en-US" b="0" i="0" u="sng" strike="noStrike" err="1">
                <a:solidFill>
                  <a:srgbClr val="A38637"/>
                </a:solidFill>
                <a:effectLst/>
                <a:latin typeface="Aptos"/>
                <a:hlinkClick r:id="rId5"/>
              </a:rPr>
              <a:t>CMPivot</a:t>
            </a:r>
            <a:r>
              <a:rPr lang="en-US" b="0" i="0" u="sng" strike="noStrike">
                <a:solidFill>
                  <a:srgbClr val="A38637"/>
                </a:solidFill>
                <a:effectLst/>
                <a:latin typeface="Aptos"/>
                <a:hlinkClick r:id="rId5"/>
              </a:rPr>
              <a:t> sample scripts | Microsoft Learn</a:t>
            </a:r>
            <a:r>
              <a:rPr lang="en-US" b="0" i="0" u="none" strike="noStrike">
                <a:solidFill>
                  <a:srgbClr val="FFFFFF"/>
                </a:solidFill>
                <a:effectLst/>
                <a:latin typeface="Calibri"/>
                <a:ea typeface="Calibri"/>
                <a:cs typeface="Calibri"/>
              </a:rPr>
              <a:t>​</a:t>
            </a:r>
            <a:r>
              <a:rPr lang="en-US" b="0" i="0">
                <a:solidFill>
                  <a:srgbClr val="000000"/>
                </a:solidFill>
                <a:effectLst/>
                <a:latin typeface="Calibri"/>
                <a:ea typeface="Calibri"/>
                <a:cs typeface="Calibri"/>
              </a:rPr>
              <a:t>​</a:t>
            </a:r>
          </a:p>
          <a:p>
            <a:pPr lvl="1" fontAlgn="base">
              <a:lnSpc>
                <a:spcPts val="2325"/>
              </a:lnSpc>
              <a:buFont typeface="Arial" panose="020B0604020202020204" pitchFamily="34" charset="0"/>
              <a:buChar char="•"/>
            </a:pPr>
            <a:r>
              <a:rPr lang="en-US" b="0" i="0" u="sng" strike="noStrike">
                <a:solidFill>
                  <a:srgbClr val="A38637"/>
                </a:solidFill>
                <a:effectLst/>
                <a:latin typeface="Calibri"/>
                <a:ea typeface="Calibri"/>
                <a:cs typeface="Calibri"/>
                <a:hlinkClick r:id="rId6"/>
              </a:rPr>
              <a:t>GitHub - </a:t>
            </a:r>
            <a:r>
              <a:rPr lang="en-US" b="0" i="0" u="sng" strike="noStrike" err="1">
                <a:solidFill>
                  <a:srgbClr val="A38637"/>
                </a:solidFill>
                <a:effectLst/>
                <a:latin typeface="Calibri"/>
                <a:ea typeface="Calibri"/>
                <a:cs typeface="Calibri"/>
                <a:hlinkClick r:id="rId6"/>
              </a:rPr>
              <a:t>svschmit</a:t>
            </a:r>
            <a:r>
              <a:rPr lang="en-US" b="0" i="0" u="sng" strike="noStrike">
                <a:solidFill>
                  <a:srgbClr val="A38637"/>
                </a:solidFill>
                <a:effectLst/>
                <a:latin typeface="Calibri"/>
                <a:ea typeface="Calibri"/>
                <a:cs typeface="Calibri"/>
                <a:hlinkClick r:id="rId6"/>
              </a:rPr>
              <a:t>/</a:t>
            </a:r>
            <a:r>
              <a:rPr lang="en-US" b="0" i="0" u="sng" strike="noStrike" err="1">
                <a:solidFill>
                  <a:srgbClr val="A38637"/>
                </a:solidFill>
                <a:effectLst/>
                <a:latin typeface="Calibri"/>
                <a:ea typeface="Calibri"/>
                <a:cs typeface="Calibri"/>
                <a:hlinkClick r:id="rId6"/>
              </a:rPr>
              <a:t>CMPivot</a:t>
            </a:r>
            <a:r>
              <a:rPr lang="en-US" b="0" i="0" u="sng" strike="noStrike">
                <a:solidFill>
                  <a:srgbClr val="A38637"/>
                </a:solidFill>
                <a:effectLst/>
                <a:latin typeface="Calibri"/>
                <a:ea typeface="Calibri"/>
                <a:cs typeface="Calibri"/>
                <a:hlinkClick r:id="rId6"/>
              </a:rPr>
              <a:t>-Queries: Collection of helpful </a:t>
            </a:r>
            <a:r>
              <a:rPr lang="en-US" b="0" i="0" u="sng" strike="noStrike" err="1">
                <a:solidFill>
                  <a:srgbClr val="A38637"/>
                </a:solidFill>
                <a:effectLst/>
                <a:latin typeface="Calibri"/>
                <a:ea typeface="Calibri"/>
                <a:cs typeface="Calibri"/>
                <a:hlinkClick r:id="rId6"/>
              </a:rPr>
              <a:t>CMPivot</a:t>
            </a:r>
            <a:r>
              <a:rPr lang="en-US" b="0" i="0" u="sng" strike="noStrike">
                <a:solidFill>
                  <a:srgbClr val="A38637"/>
                </a:solidFill>
                <a:effectLst/>
                <a:latin typeface="Calibri"/>
                <a:ea typeface="Calibri"/>
                <a:cs typeface="Calibri"/>
                <a:hlinkClick r:id="rId6"/>
              </a:rPr>
              <a:t> Queries</a:t>
            </a:r>
            <a:r>
              <a:rPr lang="en-US" b="0" i="0" u="none" strike="noStrike">
                <a:solidFill>
                  <a:srgbClr val="FFFFFF"/>
                </a:solidFill>
                <a:effectLst/>
                <a:latin typeface="Calibri"/>
                <a:ea typeface="Calibri"/>
                <a:cs typeface="Calibri"/>
              </a:rPr>
              <a:t>​</a:t>
            </a:r>
            <a:endParaRPr lang="en-US" b="0" i="0">
              <a:solidFill>
                <a:srgbClr val="000000"/>
              </a:solidFill>
              <a:effectLst/>
              <a:latin typeface="Calibri"/>
              <a:ea typeface="Calibri"/>
              <a:cs typeface="Calibri"/>
            </a:endParaRPr>
          </a:p>
        </p:txBody>
      </p:sp>
    </p:spTree>
    <p:extLst>
      <p:ext uri="{BB962C8B-B14F-4D97-AF65-F5344CB8AC3E}">
        <p14:creationId xmlns:p14="http://schemas.microsoft.com/office/powerpoint/2010/main" val="1622682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C8BB7-2B2C-ECAA-46B9-D778C46E8B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C7771C-6A98-4EF0-2AE5-E46353E4B350}"/>
              </a:ext>
            </a:extLst>
          </p:cNvPr>
          <p:cNvSpPr>
            <a:spLocks noGrp="1"/>
          </p:cNvSpPr>
          <p:nvPr>
            <p:ph type="title"/>
          </p:nvPr>
        </p:nvSpPr>
        <p:spPr/>
        <p:txBody>
          <a:bodyPr/>
          <a:lstStyle/>
          <a:p>
            <a:r>
              <a:rPr lang="en-US"/>
              <a:t>Scripts and </a:t>
            </a:r>
            <a:r>
              <a:rPr lang="en-US" err="1"/>
              <a:t>CMPivot</a:t>
            </a:r>
            <a:r>
              <a:rPr lang="en-US"/>
              <a:t>	</a:t>
            </a:r>
          </a:p>
        </p:txBody>
      </p:sp>
      <p:sp>
        <p:nvSpPr>
          <p:cNvPr id="3" name="Text Placeholder 2">
            <a:extLst>
              <a:ext uri="{FF2B5EF4-FFF2-40B4-BE49-F238E27FC236}">
                <a16:creationId xmlns:a16="http://schemas.microsoft.com/office/drawing/2014/main" id="{0FF96F1B-38AE-8227-4A72-B66EE655B77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62222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5C68930-3139-A8F7-E01D-4BD443990FA4}"/>
              </a:ext>
            </a:extLst>
          </p:cNvPr>
          <p:cNvSpPr>
            <a:spLocks noGrp="1"/>
          </p:cNvSpPr>
          <p:nvPr>
            <p:ph type="title"/>
          </p:nvPr>
        </p:nvSpPr>
        <p:spPr/>
        <p:txBody>
          <a:bodyPr/>
          <a:lstStyle/>
          <a:p>
            <a:r>
              <a:rPr lang="en-US"/>
              <a:t>Recast Right-Click Tools</a:t>
            </a:r>
          </a:p>
        </p:txBody>
      </p:sp>
      <p:sp>
        <p:nvSpPr>
          <p:cNvPr id="5" name="Content Placeholder 4">
            <a:extLst>
              <a:ext uri="{FF2B5EF4-FFF2-40B4-BE49-F238E27FC236}">
                <a16:creationId xmlns:a16="http://schemas.microsoft.com/office/drawing/2014/main" id="{581B598A-CB65-7993-3FCF-42623BB7A3BE}"/>
              </a:ext>
            </a:extLst>
          </p:cNvPr>
          <p:cNvSpPr>
            <a:spLocks noGrp="1"/>
          </p:cNvSpPr>
          <p:nvPr>
            <p:ph idx="1"/>
          </p:nvPr>
        </p:nvSpPr>
        <p:spPr>
          <a:xfrm>
            <a:off x="1096755" y="5654674"/>
            <a:ext cx="10515600" cy="879748"/>
          </a:xfrm>
        </p:spPr>
        <p:txBody>
          <a:bodyPr>
            <a:noAutofit/>
          </a:bodyPr>
          <a:lstStyle/>
          <a:p>
            <a:pPr lvl="1" fontAlgn="base">
              <a:lnSpc>
                <a:spcPts val="2325"/>
              </a:lnSpc>
              <a:buFont typeface="Arial" panose="020B0604020202020204" pitchFamily="34" charset="0"/>
              <a:buChar char="•"/>
            </a:pPr>
            <a:endParaRPr lang="en-US" sz="2800">
              <a:solidFill>
                <a:srgbClr val="FFFFFF"/>
              </a:solidFill>
              <a:latin typeface="Calibri" panose="020F0502020204030204" pitchFamily="34" charset="0"/>
              <a:hlinkClick r:id="rId2"/>
            </a:endParaRPr>
          </a:p>
          <a:p>
            <a:pPr lvl="1" fontAlgn="base">
              <a:lnSpc>
                <a:spcPts val="2325"/>
              </a:lnSpc>
              <a:buFont typeface="Arial" panose="020B0604020202020204" pitchFamily="34" charset="0"/>
              <a:buChar char="•"/>
            </a:pPr>
            <a:r>
              <a:rPr lang="en-US" sz="2800">
                <a:solidFill>
                  <a:srgbClr val="FFFFFF"/>
                </a:solidFill>
                <a:latin typeface="Calibri" panose="020F0502020204030204" pitchFamily="34" charset="0"/>
                <a:hlinkClick r:id="rId2"/>
              </a:rPr>
              <a:t>https://www.recastsoftware.com/free-tool-download/</a:t>
            </a:r>
            <a:r>
              <a:rPr lang="en-US" sz="2800">
                <a:solidFill>
                  <a:srgbClr val="FFFFFF"/>
                </a:solidFill>
                <a:latin typeface="Calibri" panose="020F0502020204030204" pitchFamily="34" charset="0"/>
              </a:rPr>
              <a:t> </a:t>
            </a:r>
          </a:p>
          <a:p>
            <a:pPr lvl="1" fontAlgn="base">
              <a:lnSpc>
                <a:spcPts val="2325"/>
              </a:lnSpc>
              <a:buFont typeface="Arial" panose="020B0604020202020204" pitchFamily="34" charset="0"/>
              <a:buChar char="•"/>
            </a:pPr>
            <a:r>
              <a:rPr lang="en-US" sz="2800">
                <a:solidFill>
                  <a:srgbClr val="FFFFFF"/>
                </a:solidFill>
                <a:latin typeface="Calibri" panose="020F0502020204030204" pitchFamily="34" charset="0"/>
                <a:hlinkClick r:id="rId3"/>
              </a:rPr>
              <a:t>https://ideas.recastsoftware.com/?sort=recent</a:t>
            </a:r>
            <a:endParaRPr lang="en-US" sz="2800">
              <a:solidFill>
                <a:srgbClr val="FFFFFF"/>
              </a:solidFill>
              <a:latin typeface="Calibri" panose="020F0502020204030204" pitchFamily="34" charset="0"/>
            </a:endParaRPr>
          </a:p>
          <a:p>
            <a:pPr lvl="1" fontAlgn="base">
              <a:lnSpc>
                <a:spcPts val="2325"/>
              </a:lnSpc>
              <a:buFont typeface="Arial" panose="020B0604020202020204" pitchFamily="34" charset="0"/>
              <a:buChar char="•"/>
            </a:pPr>
            <a:endParaRPr lang="en-US" sz="2800">
              <a:solidFill>
                <a:srgbClr val="FFFFFF"/>
              </a:solidFill>
              <a:latin typeface="Calibri" panose="020F0502020204030204" pitchFamily="34" charset="0"/>
            </a:endParaRPr>
          </a:p>
        </p:txBody>
      </p:sp>
      <p:pic>
        <p:nvPicPr>
          <p:cNvPr id="3" name="Picture 2">
            <a:extLst>
              <a:ext uri="{FF2B5EF4-FFF2-40B4-BE49-F238E27FC236}">
                <a16:creationId xmlns:a16="http://schemas.microsoft.com/office/drawing/2014/main" id="{108AA829-7306-76C7-2A5E-5810E04051E1}"/>
              </a:ext>
            </a:extLst>
          </p:cNvPr>
          <p:cNvPicPr>
            <a:picLocks noChangeAspect="1"/>
          </p:cNvPicPr>
          <p:nvPr/>
        </p:nvPicPr>
        <p:blipFill>
          <a:blip r:embed="rId4"/>
          <a:stretch>
            <a:fillRect/>
          </a:stretch>
        </p:blipFill>
        <p:spPr>
          <a:xfrm>
            <a:off x="1157134" y="1468187"/>
            <a:ext cx="9726382" cy="4363059"/>
          </a:xfrm>
          <a:prstGeom prst="rect">
            <a:avLst/>
          </a:prstGeom>
        </p:spPr>
      </p:pic>
    </p:spTree>
    <p:extLst>
      <p:ext uri="{BB962C8B-B14F-4D97-AF65-F5344CB8AC3E}">
        <p14:creationId xmlns:p14="http://schemas.microsoft.com/office/powerpoint/2010/main" val="899656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E0180F-7DCE-EA7E-A963-98099060C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5D6D65-FAEF-FAB5-6CE8-680865A2768B}"/>
              </a:ext>
            </a:extLst>
          </p:cNvPr>
          <p:cNvSpPr>
            <a:spLocks noGrp="1"/>
          </p:cNvSpPr>
          <p:nvPr>
            <p:ph type="title"/>
          </p:nvPr>
        </p:nvSpPr>
        <p:spPr/>
        <p:txBody>
          <a:bodyPr/>
          <a:lstStyle/>
          <a:p>
            <a:r>
              <a:rPr lang="en-US"/>
              <a:t>Console Right-click	</a:t>
            </a:r>
          </a:p>
        </p:txBody>
      </p:sp>
      <p:sp>
        <p:nvSpPr>
          <p:cNvPr id="3" name="Text Placeholder 2">
            <a:extLst>
              <a:ext uri="{FF2B5EF4-FFF2-40B4-BE49-F238E27FC236}">
                <a16:creationId xmlns:a16="http://schemas.microsoft.com/office/drawing/2014/main" id="{C8A575C4-0F21-430A-FD22-8ECF6E9C000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447057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D0EA4-1CEE-00F0-5851-38EAFA630130}"/>
              </a:ext>
            </a:extLst>
          </p:cNvPr>
          <p:cNvSpPr>
            <a:spLocks noGrp="1"/>
          </p:cNvSpPr>
          <p:nvPr>
            <p:ph type="title"/>
          </p:nvPr>
        </p:nvSpPr>
        <p:spPr/>
        <p:txBody>
          <a:bodyPr/>
          <a:lstStyle/>
          <a:p>
            <a:r>
              <a:rPr lang="en-US">
                <a:ea typeface="Calibri"/>
                <a:cs typeface="Calibri"/>
              </a:rPr>
              <a:t>Client Settings</a:t>
            </a:r>
            <a:endParaRPr lang="en-US"/>
          </a:p>
        </p:txBody>
      </p:sp>
      <p:sp>
        <p:nvSpPr>
          <p:cNvPr id="3" name="Content Placeholder 2">
            <a:extLst>
              <a:ext uri="{FF2B5EF4-FFF2-40B4-BE49-F238E27FC236}">
                <a16:creationId xmlns:a16="http://schemas.microsoft.com/office/drawing/2014/main" id="{272A8EC1-C2ED-6225-52EF-2F18B3948C1D}"/>
              </a:ext>
            </a:extLst>
          </p:cNvPr>
          <p:cNvSpPr>
            <a:spLocks noGrp="1"/>
          </p:cNvSpPr>
          <p:nvPr>
            <p:ph idx="1"/>
          </p:nvPr>
        </p:nvSpPr>
        <p:spPr/>
        <p:txBody>
          <a:bodyPr vert="horz" lIns="91440" tIns="45720" rIns="91440" bIns="45720" rtlCol="0" anchor="t">
            <a:normAutofit/>
          </a:bodyPr>
          <a:lstStyle/>
          <a:p>
            <a:r>
              <a:rPr lang="en-US">
                <a:ea typeface="Calibri"/>
                <a:cs typeface="Calibri"/>
              </a:rPr>
              <a:t>Like GPO's But Different</a:t>
            </a:r>
          </a:p>
          <a:p>
            <a:r>
              <a:rPr lang="en-US">
                <a:ea typeface="Calibri"/>
                <a:cs typeface="Calibri"/>
              </a:rPr>
              <a:t>Resultant Client Settings are your Friend</a:t>
            </a:r>
          </a:p>
          <a:p>
            <a:r>
              <a:rPr lang="en-US">
                <a:ea typeface="Calibri"/>
                <a:cs typeface="Calibri"/>
              </a:rPr>
              <a:t>Reboots – Everyone does it</a:t>
            </a:r>
          </a:p>
          <a:p>
            <a:pPr marL="0" indent="0">
              <a:buNone/>
            </a:pPr>
            <a:endParaRPr lang="en-US">
              <a:ea typeface="Calibri"/>
              <a:cs typeface="Calibri"/>
            </a:endParaRPr>
          </a:p>
          <a:p>
            <a:pPr marL="0" indent="0">
              <a:buNone/>
            </a:pPr>
            <a:endParaRPr lang="en-US">
              <a:ea typeface="Calibri"/>
              <a:cs typeface="Calibri"/>
            </a:endParaRPr>
          </a:p>
        </p:txBody>
      </p:sp>
    </p:spTree>
    <p:extLst>
      <p:ext uri="{BB962C8B-B14F-4D97-AF65-F5344CB8AC3E}">
        <p14:creationId xmlns:p14="http://schemas.microsoft.com/office/powerpoint/2010/main" val="15665509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DE110-92EB-907C-9108-01F08E896587}"/>
              </a:ext>
            </a:extLst>
          </p:cNvPr>
          <p:cNvSpPr>
            <a:spLocks noGrp="1"/>
          </p:cNvSpPr>
          <p:nvPr>
            <p:ph type="title"/>
          </p:nvPr>
        </p:nvSpPr>
        <p:spPr/>
        <p:txBody>
          <a:bodyPr/>
          <a:lstStyle/>
          <a:p>
            <a:r>
              <a:rPr lang="en-US">
                <a:ea typeface="Calibri"/>
                <a:cs typeface="Calibri"/>
              </a:rPr>
              <a:t>Software Updates</a:t>
            </a:r>
            <a:endParaRPr lang="en-US"/>
          </a:p>
        </p:txBody>
      </p:sp>
      <p:sp>
        <p:nvSpPr>
          <p:cNvPr id="3" name="Content Placeholder 2">
            <a:extLst>
              <a:ext uri="{FF2B5EF4-FFF2-40B4-BE49-F238E27FC236}">
                <a16:creationId xmlns:a16="http://schemas.microsoft.com/office/drawing/2014/main" id="{5F6F85BE-14BB-BB91-21A1-A4EEECD3E34E}"/>
              </a:ext>
            </a:extLst>
          </p:cNvPr>
          <p:cNvSpPr>
            <a:spLocks noGrp="1"/>
          </p:cNvSpPr>
          <p:nvPr>
            <p:ph idx="1"/>
          </p:nvPr>
        </p:nvSpPr>
        <p:spPr/>
        <p:txBody>
          <a:bodyPr vert="horz" lIns="91440" tIns="45720" rIns="91440" bIns="45720" rtlCol="0" anchor="t">
            <a:normAutofit/>
          </a:bodyPr>
          <a:lstStyle/>
          <a:p>
            <a:r>
              <a:rPr lang="en-US" sz="1600" b="1">
                <a:latin typeface="Poppins"/>
                <a:cs typeface="Poppins"/>
              </a:rPr>
              <a:t>Software Update Scan Schedule – STOP DDOSING YOURSELF</a:t>
            </a:r>
            <a:endParaRPr lang="en-US">
              <a:ea typeface="Calibri" panose="020F0502020204030204"/>
              <a:cs typeface="Calibri" panose="020F0502020204030204"/>
            </a:endParaRPr>
          </a:p>
          <a:p>
            <a:pPr lvl="1">
              <a:buFont typeface="Courier New" panose="05000000000000000000" pitchFamily="2" charset="2"/>
              <a:buChar char="o"/>
            </a:pPr>
            <a:r>
              <a:rPr lang="en-US" sz="1600">
                <a:latin typeface="Poppins"/>
                <a:cs typeface="Poppins"/>
              </a:rPr>
              <a:t>Anytime a NEW software update group is assigned AND machine policy Runs</a:t>
            </a:r>
            <a:endParaRPr lang="en-US" sz="4400">
              <a:ea typeface="Calibri"/>
              <a:cs typeface="Calibri"/>
            </a:endParaRPr>
          </a:p>
          <a:p>
            <a:pPr lvl="1">
              <a:buFont typeface="Courier New" panose="05000000000000000000" pitchFamily="2" charset="2"/>
              <a:buChar char="o"/>
            </a:pPr>
            <a:r>
              <a:rPr lang="en-US" sz="1600">
                <a:latin typeface="Poppins"/>
                <a:cs typeface="Poppins"/>
              </a:rPr>
              <a:t>Anytime a scheduled instance of Software Update Scan Schedule Hits</a:t>
            </a:r>
            <a:endParaRPr lang="en-US" sz="4400">
              <a:ea typeface="Calibri"/>
              <a:cs typeface="Calibri"/>
            </a:endParaRPr>
          </a:p>
          <a:p>
            <a:pPr lvl="1">
              <a:buFont typeface="Courier New" panose="05000000000000000000" pitchFamily="2" charset="2"/>
              <a:buChar char="o"/>
            </a:pPr>
            <a:r>
              <a:rPr lang="en-US" sz="1600">
                <a:latin typeface="Poppins"/>
                <a:cs typeface="Poppins"/>
              </a:rPr>
              <a:t>Anytime a Deployment is completed</a:t>
            </a:r>
            <a:endParaRPr lang="en-US" sz="4400">
              <a:ea typeface="Calibri"/>
              <a:cs typeface="Calibri"/>
            </a:endParaRPr>
          </a:p>
          <a:p>
            <a:pPr lvl="1">
              <a:buFont typeface="Courier New" panose="05000000000000000000" pitchFamily="2" charset="2"/>
              <a:buChar char="o"/>
            </a:pPr>
            <a:r>
              <a:rPr lang="en-US" sz="1600">
                <a:latin typeface="Poppins"/>
                <a:cs typeface="Poppins"/>
              </a:rPr>
              <a:t>Sometimes after a reboot is completed - Depends on assignment configuration</a:t>
            </a:r>
            <a:endParaRPr lang="en-US" sz="4400">
              <a:ea typeface="Calibri"/>
              <a:cs typeface="Calibri"/>
            </a:endParaRPr>
          </a:p>
          <a:p>
            <a:pPr lvl="1">
              <a:buFont typeface="Courier New" panose="05000000000000000000" pitchFamily="2" charset="2"/>
              <a:buChar char="o"/>
            </a:pPr>
            <a:r>
              <a:rPr lang="en-US" sz="1600">
                <a:latin typeface="Poppins"/>
                <a:cs typeface="Poppins"/>
              </a:rPr>
              <a:t>After a servicing stack update </a:t>
            </a:r>
            <a:r>
              <a:rPr lang="en-US" sz="1600">
                <a:latin typeface="Poppins"/>
                <a:cs typeface="Poppins"/>
                <a:hlinkClick r:id="rId3"/>
              </a:rPr>
              <a:t>https://docs.microsoft.com/en-us/mem/configmgr/sum/plan-design/plan-for-software-updates#bkmk_ssu</a:t>
            </a:r>
            <a:endParaRPr lang="en-US" sz="4400">
              <a:ea typeface="Calibri"/>
              <a:cs typeface="Calibri"/>
            </a:endParaRPr>
          </a:p>
          <a:p>
            <a:pPr marL="457200" lvl="1" indent="0">
              <a:buNone/>
            </a:pPr>
            <a:endParaRPr lang="en-US">
              <a:ea typeface="Calibri"/>
              <a:cs typeface="Calibri"/>
            </a:endParaRPr>
          </a:p>
        </p:txBody>
      </p:sp>
      <p:pic>
        <p:nvPicPr>
          <p:cNvPr id="4" name="Picture 3" descr="A screenshot of a computer screen&#10;&#10;AI-generated content may be incorrect.">
            <a:extLst>
              <a:ext uri="{FF2B5EF4-FFF2-40B4-BE49-F238E27FC236}">
                <a16:creationId xmlns:a16="http://schemas.microsoft.com/office/drawing/2014/main" id="{F8F8E756-2A91-2A8A-787D-1072DF994BA0}"/>
              </a:ext>
            </a:extLst>
          </p:cNvPr>
          <p:cNvPicPr>
            <a:picLocks noChangeAspect="1"/>
          </p:cNvPicPr>
          <p:nvPr/>
        </p:nvPicPr>
        <p:blipFill>
          <a:blip r:embed="rId4"/>
          <a:stretch>
            <a:fillRect/>
          </a:stretch>
        </p:blipFill>
        <p:spPr>
          <a:xfrm>
            <a:off x="2286392" y="3566838"/>
            <a:ext cx="7951837" cy="2166142"/>
          </a:xfrm>
          <a:prstGeom prst="rect">
            <a:avLst/>
          </a:prstGeom>
        </p:spPr>
      </p:pic>
    </p:spTree>
    <p:extLst>
      <p:ext uri="{BB962C8B-B14F-4D97-AF65-F5344CB8AC3E}">
        <p14:creationId xmlns:p14="http://schemas.microsoft.com/office/powerpoint/2010/main" val="20740834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68757-870E-3CFC-3BF2-5B8C7BD7DC7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B639872-ED51-B062-CCBB-877925C38545}"/>
              </a:ext>
            </a:extLst>
          </p:cNvPr>
          <p:cNvSpPr>
            <a:spLocks noGrp="1"/>
          </p:cNvSpPr>
          <p:nvPr>
            <p:ph type="title"/>
          </p:nvPr>
        </p:nvSpPr>
        <p:spPr/>
        <p:txBody>
          <a:bodyPr/>
          <a:lstStyle/>
          <a:p>
            <a:r>
              <a:rPr lang="en-US"/>
              <a:t>Helpful Links</a:t>
            </a:r>
          </a:p>
        </p:txBody>
      </p:sp>
      <p:sp>
        <p:nvSpPr>
          <p:cNvPr id="5" name="Content Placeholder 4">
            <a:extLst>
              <a:ext uri="{FF2B5EF4-FFF2-40B4-BE49-F238E27FC236}">
                <a16:creationId xmlns:a16="http://schemas.microsoft.com/office/drawing/2014/main" id="{F0DDE254-19A0-0720-01B0-ABCD15EC542C}"/>
              </a:ext>
            </a:extLst>
          </p:cNvPr>
          <p:cNvSpPr>
            <a:spLocks noGrp="1"/>
          </p:cNvSpPr>
          <p:nvPr>
            <p:ph idx="1"/>
          </p:nvPr>
        </p:nvSpPr>
        <p:spPr/>
        <p:txBody>
          <a:bodyPr/>
          <a:lstStyle/>
          <a:p>
            <a:pPr algn="l" rtl="0" fontAlgn="base">
              <a:lnSpc>
                <a:spcPts val="3075"/>
              </a:lnSpc>
              <a:buFont typeface="Arial" panose="020B0604020202020204" pitchFamily="34" charset="0"/>
              <a:buChar char="•"/>
            </a:pPr>
            <a:r>
              <a:rPr lang="en-US" b="0" i="0" u="sng" strike="noStrike">
                <a:solidFill>
                  <a:srgbClr val="A38637"/>
                </a:solidFill>
                <a:effectLst/>
                <a:latin typeface="Calibri" panose="020F0502020204030204" pitchFamily="34" charset="0"/>
                <a:hlinkClick r:id="rId2"/>
              </a:rPr>
              <a:t>Troubleshooting Hardware Inventory Flow in CM</a:t>
            </a:r>
            <a:r>
              <a:rPr lang="en-US" b="0" i="0" u="none" strike="noStrike">
                <a:solidFill>
                  <a:srgbClr val="FFFFFF"/>
                </a:solidFill>
                <a:effectLst/>
                <a:latin typeface="Calibri" panose="020F0502020204030204" pitchFamily="34" charset="0"/>
              </a:rPr>
              <a:t>​</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3075"/>
              </a:lnSpc>
              <a:buFont typeface="Arial" panose="020B0604020202020204" pitchFamily="34" charset="0"/>
              <a:buChar char="•"/>
            </a:pPr>
            <a:r>
              <a:rPr lang="en-US" b="0" i="0" u="none" strike="noStrike">
                <a:solidFill>
                  <a:srgbClr val="FFFFFF"/>
                </a:solidFill>
                <a:effectLst/>
                <a:latin typeface="Calibri" panose="020F0502020204030204" pitchFamily="34" charset="0"/>
              </a:rPr>
              <a:t>Community Tools​</a:t>
            </a:r>
            <a:r>
              <a:rPr lang="en-US" b="0" i="0">
                <a:solidFill>
                  <a:srgbClr val="000000"/>
                </a:solidFill>
                <a:effectLst/>
                <a:latin typeface="Calibri" panose="020F0502020204030204" pitchFamily="34" charset="0"/>
              </a:rPr>
              <a:t>​</a:t>
            </a:r>
            <a:endParaRPr lang="en-US" b="0" i="0">
              <a:solidFill>
                <a:srgbClr val="000000"/>
              </a:solidFill>
              <a:effectLst/>
              <a:latin typeface="Arial" panose="020B0604020202020204" pitchFamily="34" charset="0"/>
            </a:endParaRPr>
          </a:p>
          <a:p>
            <a:pPr algn="l" rtl="0" fontAlgn="base">
              <a:lnSpc>
                <a:spcPts val="3075"/>
              </a:lnSpc>
              <a:buFont typeface="Arial" panose="020B0604020202020204" pitchFamily="34" charset="0"/>
              <a:buChar char="•"/>
            </a:pPr>
            <a:r>
              <a:rPr lang="en-US" b="0" i="0" u="sng" strike="noStrike">
                <a:solidFill>
                  <a:srgbClr val="A38637"/>
                </a:solidFill>
                <a:effectLst/>
                <a:latin typeface="Calibri" panose="020F0502020204030204" pitchFamily="34" charset="0"/>
                <a:hlinkClick r:id="rId3"/>
              </a:rPr>
              <a:t>Recast Right-click Tools for CM and Intune</a:t>
            </a:r>
            <a:r>
              <a:rPr lang="en-US" b="0" i="0" u="none" strike="noStrike">
                <a:solidFill>
                  <a:srgbClr val="FFFFFF"/>
                </a:solidFill>
                <a:effectLst/>
                <a:latin typeface="Calibri" panose="020F0502020204030204" pitchFamily="34" charset="0"/>
              </a:rPr>
              <a:t>​</a:t>
            </a:r>
          </a:p>
          <a:p>
            <a:pPr algn="l" rtl="0" fontAlgn="base">
              <a:lnSpc>
                <a:spcPts val="3075"/>
              </a:lnSpc>
              <a:buFont typeface="Arial" panose="020B0604020202020204" pitchFamily="34" charset="0"/>
              <a:buChar char="•"/>
            </a:pPr>
            <a:r>
              <a:rPr lang="en-US">
                <a:solidFill>
                  <a:srgbClr val="FFFFFF"/>
                </a:solidFill>
                <a:latin typeface="Calibri" panose="020F0502020204030204" pitchFamily="34" charset="0"/>
                <a:hlinkClick r:id="rId4"/>
              </a:rPr>
              <a:t>Client Center for Configuration Manager</a:t>
            </a:r>
            <a:endParaRPr lang="en-US"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208532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F72F1-E8E7-F693-77BC-16250B9301A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2064CC8-4F9B-E929-D823-35DC1DBACBE9}"/>
              </a:ext>
            </a:extLst>
          </p:cNvPr>
          <p:cNvSpPr>
            <a:spLocks noGrp="1"/>
          </p:cNvSpPr>
          <p:nvPr>
            <p:ph type="title"/>
          </p:nvPr>
        </p:nvSpPr>
        <p:spPr/>
        <p:txBody>
          <a:bodyPr/>
          <a:lstStyle/>
          <a:p>
            <a:r>
              <a:rPr lang="en-US"/>
              <a:t>Educational Resources</a:t>
            </a:r>
          </a:p>
        </p:txBody>
      </p:sp>
      <p:sp>
        <p:nvSpPr>
          <p:cNvPr id="5" name="Content Placeholder 4">
            <a:extLst>
              <a:ext uri="{FF2B5EF4-FFF2-40B4-BE49-F238E27FC236}">
                <a16:creationId xmlns:a16="http://schemas.microsoft.com/office/drawing/2014/main" id="{A19EF17C-A87E-9E18-9C3A-4D6010FA6D9B}"/>
              </a:ext>
            </a:extLst>
          </p:cNvPr>
          <p:cNvSpPr>
            <a:spLocks noGrp="1"/>
          </p:cNvSpPr>
          <p:nvPr>
            <p:ph idx="1"/>
          </p:nvPr>
        </p:nvSpPr>
        <p:spPr/>
        <p:txBody>
          <a:bodyPr vert="horz" lIns="91440" tIns="45720" rIns="91440" bIns="45720" rtlCol="0" anchor="t">
            <a:normAutofit fontScale="70000" lnSpcReduction="20000"/>
          </a:bodyPr>
          <a:lstStyle/>
          <a:p>
            <a:pPr marL="0" indent="0" fontAlgn="base">
              <a:lnSpc>
                <a:spcPts val="3075"/>
              </a:lnSpc>
              <a:buNone/>
            </a:pPr>
            <a:r>
              <a:rPr lang="en-US">
                <a:solidFill>
                  <a:srgbClr val="FFFFFF"/>
                </a:solidFill>
                <a:ea typeface="+mn-lt"/>
                <a:cs typeface="+mn-lt"/>
              </a:rPr>
              <a:t>Read and summarize the following </a:t>
            </a:r>
            <a:r>
              <a:rPr lang="en-US">
                <a:solidFill>
                  <a:srgbClr val="FFFFFF"/>
                </a:solidFill>
                <a:ea typeface="+mn-lt"/>
                <a:cs typeface="+mn-lt"/>
                <a:hlinkClick r:id="" action="ppaction://noaction">
                  <a:extLst>
                    <a:ext uri="{A12FA001-AC4F-418D-AE19-62706E023703}">
                      <ahyp:hlinkClr xmlns:ahyp="http://schemas.microsoft.com/office/drawing/2018/hyperlinkcolor" val="tx"/>
                    </a:ext>
                  </a:extLst>
                </a:hlinkClick>
              </a:rPr>
              <a:t>https://learn.microsoft.com/en-us/intune/configmgr/</a:t>
            </a:r>
            <a:r>
              <a:rPr lang="en-US" sz="2800">
                <a:solidFill>
                  <a:srgbClr val="FFFFFF"/>
                </a:solidFill>
                <a:ea typeface="+mn-lt"/>
                <a:cs typeface="+mn-lt"/>
              </a:rPr>
              <a:t> including all links and subpages.</a:t>
            </a:r>
            <a:endParaRPr lang="en-US">
              <a:solidFill>
                <a:srgbClr val="FFFFFF"/>
              </a:solidFill>
              <a:ea typeface="+mn-lt"/>
              <a:cs typeface="+mn-lt"/>
            </a:endParaRPr>
          </a:p>
          <a:p>
            <a:pPr marL="0" indent="0">
              <a:lnSpc>
                <a:spcPts val="3075"/>
              </a:lnSpc>
              <a:buNone/>
            </a:pPr>
            <a:endParaRPr lang="en-US">
              <a:solidFill>
                <a:srgbClr val="FFFFFF"/>
              </a:solidFill>
              <a:ea typeface="+mn-lt"/>
              <a:cs typeface="+mn-lt"/>
            </a:endParaRPr>
          </a:p>
          <a:p>
            <a:pPr marL="0" indent="0">
              <a:lnSpc>
                <a:spcPts val="3075"/>
              </a:lnSpc>
              <a:buNone/>
            </a:pPr>
            <a:r>
              <a:rPr lang="en-US" sz="2800">
                <a:solidFill>
                  <a:srgbClr val="FFFFFF"/>
                </a:solidFill>
                <a:ea typeface="+mn-lt"/>
                <a:cs typeface="+mn-lt"/>
              </a:rPr>
              <a:t>The </a:t>
            </a:r>
            <a:r>
              <a:rPr lang="en-US">
                <a:solidFill>
                  <a:srgbClr val="FFFFFF"/>
                </a:solidFill>
                <a:ea typeface="+mn-lt"/>
                <a:cs typeface="+mn-lt"/>
              </a:rPr>
              <a:t>Fundamentals - </a:t>
            </a:r>
            <a:r>
              <a:rPr lang="en-US" sz="2900">
                <a:solidFill>
                  <a:srgbClr val="FFFFFF"/>
                </a:solidFill>
                <a:ea typeface="+mn-lt"/>
                <a:cs typeface="+mn-lt"/>
                <a:hlinkClick r:id="rId2">
                  <a:extLst>
                    <a:ext uri="{A12FA001-AC4F-418D-AE19-62706E023703}">
                      <ahyp:hlinkClr xmlns:ahyp="http://schemas.microsoft.com/office/drawing/2018/hyperlinkcolor" val="tx"/>
                    </a:ext>
                  </a:extLst>
                </a:hlinkClick>
              </a:rPr>
              <a:t>https://learn.microsoft.com/en-us/intune/configmgr/core/understand/fundamentals</a:t>
            </a:r>
            <a:endParaRPr lang="en-US" sz="2900">
              <a:solidFill>
                <a:srgbClr val="FFFFFF"/>
              </a:solidFill>
              <a:ea typeface="+mn-lt"/>
              <a:cs typeface="+mn-lt"/>
            </a:endParaRPr>
          </a:p>
          <a:p>
            <a:pPr marL="0" indent="0">
              <a:lnSpc>
                <a:spcPts val="3075"/>
              </a:lnSpc>
              <a:buNone/>
            </a:pPr>
            <a:endParaRPr lang="en-US">
              <a:ea typeface="Calibri"/>
              <a:cs typeface="Calibri"/>
            </a:endParaRPr>
          </a:p>
          <a:p>
            <a:pPr marL="0" indent="0">
              <a:lnSpc>
                <a:spcPts val="3075"/>
              </a:lnSpc>
              <a:buNone/>
            </a:pPr>
            <a:r>
              <a:rPr lang="en-US">
                <a:solidFill>
                  <a:srgbClr val="FFFFFF"/>
                </a:solidFill>
                <a:ea typeface="+mn-lt"/>
                <a:cs typeface="+mn-lt"/>
              </a:rPr>
              <a:t>The Learning - </a:t>
            </a:r>
            <a:r>
              <a:rPr lang="en-US" sz="2900">
                <a:solidFill>
                  <a:srgbClr val="FFFFFF"/>
                </a:solidFill>
                <a:ea typeface="+mn-lt"/>
                <a:cs typeface="+mn-lt"/>
                <a:hlinkClick r:id="rId3">
                  <a:extLst>
                    <a:ext uri="{A12FA001-AC4F-418D-AE19-62706E023703}">
                      <ahyp:hlinkClr xmlns:ahyp="http://schemas.microsoft.com/office/drawing/2018/hyperlinkcolor" val="tx"/>
                    </a:ext>
                  </a:extLst>
                </a:hlinkClick>
              </a:rPr>
              <a:t>https://learn.microsoft.com/en-us/training/browse/</a:t>
            </a:r>
            <a:endParaRPr lang="en-US" sz="2900">
              <a:solidFill>
                <a:srgbClr val="FFFFFF"/>
              </a:solidFill>
              <a:ea typeface="+mn-lt"/>
              <a:cs typeface="+mn-lt"/>
            </a:endParaRPr>
          </a:p>
          <a:p>
            <a:pPr marL="0" indent="0">
              <a:lnSpc>
                <a:spcPts val="3075"/>
              </a:lnSpc>
              <a:buNone/>
            </a:pPr>
            <a:endParaRPr lang="en-US">
              <a:solidFill>
                <a:srgbClr val="FFFFFF"/>
              </a:solidFill>
              <a:ea typeface="+mn-lt"/>
              <a:cs typeface="+mn-lt"/>
            </a:endParaRPr>
          </a:p>
          <a:p>
            <a:pPr marL="0" indent="0">
              <a:lnSpc>
                <a:spcPts val="3075"/>
              </a:lnSpc>
              <a:buNone/>
            </a:pPr>
            <a:r>
              <a:rPr lang="en-US">
                <a:solidFill>
                  <a:srgbClr val="FFFFFF"/>
                </a:solidFill>
                <a:ea typeface="+mn-lt"/>
                <a:cs typeface="+mn-lt"/>
              </a:rPr>
              <a:t>The certs. https://arch-center.azureedge.net/Credentials/Certification-Poster-en-us.pdf</a:t>
            </a:r>
          </a:p>
        </p:txBody>
      </p:sp>
    </p:spTree>
    <p:extLst>
      <p:ext uri="{BB962C8B-B14F-4D97-AF65-F5344CB8AC3E}">
        <p14:creationId xmlns:p14="http://schemas.microsoft.com/office/powerpoint/2010/main" val="14737620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6FA192-6AC8-E45B-9B22-E935EB1868F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3F5C2A2-3107-B225-47F6-AEF010FD31B9}"/>
              </a:ext>
            </a:extLst>
          </p:cNvPr>
          <p:cNvSpPr>
            <a:spLocks noGrp="1"/>
          </p:cNvSpPr>
          <p:nvPr>
            <p:ph type="title"/>
          </p:nvPr>
        </p:nvSpPr>
        <p:spPr/>
        <p:txBody>
          <a:bodyPr/>
          <a:lstStyle/>
          <a:p>
            <a:r>
              <a:rPr lang="en-US"/>
              <a:t>Forums</a:t>
            </a:r>
          </a:p>
        </p:txBody>
      </p:sp>
      <p:sp>
        <p:nvSpPr>
          <p:cNvPr id="5" name="Content Placeholder 4">
            <a:extLst>
              <a:ext uri="{FF2B5EF4-FFF2-40B4-BE49-F238E27FC236}">
                <a16:creationId xmlns:a16="http://schemas.microsoft.com/office/drawing/2014/main" id="{F1D37A6D-8324-4FF5-50BA-4B9D067DDBDB}"/>
              </a:ext>
            </a:extLst>
          </p:cNvPr>
          <p:cNvSpPr>
            <a:spLocks noGrp="1"/>
          </p:cNvSpPr>
          <p:nvPr>
            <p:ph idx="1"/>
          </p:nvPr>
        </p:nvSpPr>
        <p:spPr/>
        <p:txBody>
          <a:bodyPr>
            <a:normAutofit fontScale="77500" lnSpcReduction="20000"/>
          </a:bodyPr>
          <a:lstStyle/>
          <a:p>
            <a:pPr algn="l" rtl="0" fontAlgn="base">
              <a:lnSpc>
                <a:spcPts val="3075"/>
              </a:lnSpc>
              <a:buFont typeface="Arial" panose="020B0604020202020204" pitchFamily="34" charset="0"/>
              <a:buChar char="•"/>
            </a:pPr>
            <a:r>
              <a:rPr lang="en-US">
                <a:solidFill>
                  <a:srgbClr val="FFFFFF"/>
                </a:solidFill>
                <a:latin typeface="Calibri" panose="020F0502020204030204" pitchFamily="34" charset="0"/>
              </a:rPr>
              <a:t>Discord </a:t>
            </a:r>
            <a:r>
              <a:rPr lang="en-US" b="0" i="0" err="1">
                <a:solidFill>
                  <a:srgbClr val="FFFFFF"/>
                </a:solidFill>
                <a:effectLst/>
                <a:latin typeface="Calibri" panose="020F0502020204030204" pitchFamily="34" charset="0"/>
              </a:rPr>
              <a:t>ConfigMgr</a:t>
            </a:r>
            <a:r>
              <a:rPr lang="en-US">
                <a:solidFill>
                  <a:srgbClr val="FFFFFF"/>
                </a:solidFill>
                <a:latin typeface="Calibri" panose="020F0502020204030204" pitchFamily="34" charset="0"/>
              </a:rPr>
              <a:t> </a:t>
            </a:r>
            <a:r>
              <a:rPr lang="en-US" b="0" i="0">
                <a:solidFill>
                  <a:srgbClr val="FFFFFF"/>
                </a:solidFill>
                <a:effectLst/>
                <a:latin typeface="Calibri" panose="020F0502020204030204" pitchFamily="34" charset="0"/>
                <a:hlinkClick r:id="rId3"/>
              </a:rPr>
              <a:t>https://discord.com/channels/618712310185197588/618713403518615552</a:t>
            </a:r>
            <a:endParaRPr lang="en-US" b="0" i="0">
              <a:solidFill>
                <a:srgbClr val="FFFFFF"/>
              </a:solidFill>
              <a:effectLst/>
              <a:latin typeface="Calibri" panose="020F0502020204030204" pitchFamily="34" charset="0"/>
            </a:endParaRPr>
          </a:p>
          <a:p>
            <a:pPr fontAlgn="base">
              <a:lnSpc>
                <a:spcPts val="3075"/>
              </a:lnSpc>
              <a:buFont typeface="Arial" panose="020B0604020202020204" pitchFamily="34" charset="0"/>
              <a:buChar char="•"/>
            </a:pPr>
            <a:r>
              <a:rPr lang="en-US">
                <a:solidFill>
                  <a:srgbClr val="FFFFFF"/>
                </a:solidFill>
                <a:latin typeface="Calibri" panose="020F0502020204030204" pitchFamily="34" charset="0"/>
              </a:rPr>
              <a:t>Reddit </a:t>
            </a:r>
            <a:r>
              <a:rPr lang="en-US" b="0" i="0">
                <a:solidFill>
                  <a:srgbClr val="FFFFFF"/>
                </a:solidFill>
                <a:effectLst/>
                <a:latin typeface="Calibri" panose="020F0502020204030204" pitchFamily="34" charset="0"/>
                <a:hlinkClick r:id="rId4"/>
              </a:rPr>
              <a:t>https://www.reddit.com/r/SCCM/new/</a:t>
            </a:r>
            <a:r>
              <a:rPr lang="en-US" b="0" i="0">
                <a:solidFill>
                  <a:srgbClr val="FFFFFF"/>
                </a:solidFill>
                <a:effectLst/>
                <a:latin typeface="Calibri" panose="020F0502020204030204" pitchFamily="34" charset="0"/>
              </a:rPr>
              <a:t>, </a:t>
            </a:r>
            <a:r>
              <a:rPr lang="en-US">
                <a:solidFill>
                  <a:srgbClr val="FFFFFF"/>
                </a:solidFill>
                <a:latin typeface="Calibri" panose="020F0502020204030204" pitchFamily="34" charset="0"/>
                <a:hlinkClick r:id="rId5"/>
              </a:rPr>
              <a:t>https://www.reddit.com/r/intune/new/</a:t>
            </a:r>
            <a:endParaRPr lang="en-US" b="0" i="0">
              <a:solidFill>
                <a:srgbClr val="FFFFFF"/>
              </a:solidFill>
              <a:effectLst/>
              <a:latin typeface="Calibri" panose="020F0502020204030204" pitchFamily="34" charset="0"/>
            </a:endParaRPr>
          </a:p>
          <a:p>
            <a:pPr fontAlgn="base">
              <a:lnSpc>
                <a:spcPts val="3075"/>
              </a:lnSpc>
              <a:buFont typeface="Arial" panose="020B0604020202020204" pitchFamily="34" charset="0"/>
              <a:buChar char="•"/>
            </a:pPr>
            <a:r>
              <a:rPr lang="en-US" err="1">
                <a:solidFill>
                  <a:srgbClr val="FFFFFF"/>
                </a:solidFill>
                <a:latin typeface="Calibri" panose="020F0502020204030204" pitchFamily="34" charset="0"/>
              </a:rPr>
              <a:t>Prajwaldesia</a:t>
            </a:r>
            <a:r>
              <a:rPr lang="en-US">
                <a:solidFill>
                  <a:srgbClr val="FFFFFF"/>
                </a:solidFill>
                <a:latin typeface="Calibri" panose="020F0502020204030204" pitchFamily="34" charset="0"/>
              </a:rPr>
              <a:t> </a:t>
            </a:r>
            <a:r>
              <a:rPr lang="en-US">
                <a:solidFill>
                  <a:srgbClr val="FFFFFF"/>
                </a:solidFill>
                <a:latin typeface="Calibri" panose="020F0502020204030204" pitchFamily="34" charset="0"/>
                <a:hlinkClick r:id="rId6"/>
              </a:rPr>
              <a:t>https://forums.prajwaldesai.com/</a:t>
            </a:r>
            <a:r>
              <a:rPr lang="en-US">
                <a:solidFill>
                  <a:srgbClr val="FFFFFF"/>
                </a:solidFill>
                <a:latin typeface="Calibri" panose="020F0502020204030204" pitchFamily="34" charset="0"/>
              </a:rPr>
              <a:t> </a:t>
            </a:r>
          </a:p>
          <a:p>
            <a:pPr fontAlgn="base">
              <a:lnSpc>
                <a:spcPts val="3075"/>
              </a:lnSpc>
              <a:buFont typeface="Arial" panose="020B0604020202020204" pitchFamily="34" charset="0"/>
              <a:buChar char="•"/>
            </a:pPr>
            <a:r>
              <a:rPr lang="en-US">
                <a:solidFill>
                  <a:srgbClr val="FFFFFF"/>
                </a:solidFill>
                <a:latin typeface="Calibri" panose="020F0502020204030204" pitchFamily="34" charset="0"/>
              </a:rPr>
              <a:t>Windows Noob </a:t>
            </a:r>
            <a:r>
              <a:rPr lang="en-US">
                <a:solidFill>
                  <a:srgbClr val="FFFFFF"/>
                </a:solidFill>
                <a:latin typeface="Calibri" panose="020F0502020204030204" pitchFamily="34" charset="0"/>
                <a:hlinkClick r:id="rId7"/>
              </a:rPr>
              <a:t>https://www.windows-noob.com/forums/</a:t>
            </a:r>
            <a:endParaRPr lang="en-US">
              <a:solidFill>
                <a:srgbClr val="FFFFFF"/>
              </a:solidFill>
              <a:latin typeface="Calibri" panose="020F0502020204030204" pitchFamily="34" charset="0"/>
            </a:endParaRPr>
          </a:p>
          <a:p>
            <a:pPr fontAlgn="base">
              <a:lnSpc>
                <a:spcPts val="3075"/>
              </a:lnSpc>
              <a:buFont typeface="Arial" panose="020B0604020202020204" pitchFamily="34" charset="0"/>
              <a:buChar char="•"/>
            </a:pPr>
            <a:r>
              <a:rPr lang="en-US">
                <a:solidFill>
                  <a:srgbClr val="FFFFFF"/>
                </a:solidFill>
                <a:latin typeface="Calibri" panose="020F0502020204030204" pitchFamily="34" charset="0"/>
              </a:rPr>
              <a:t>MS </a:t>
            </a:r>
            <a:r>
              <a:rPr lang="en-US" err="1">
                <a:solidFill>
                  <a:srgbClr val="FFFFFF"/>
                </a:solidFill>
                <a:latin typeface="Calibri" panose="020F0502020204030204" pitchFamily="34" charset="0"/>
              </a:rPr>
              <a:t>TechCommunity</a:t>
            </a:r>
            <a:r>
              <a:rPr lang="en-US">
                <a:solidFill>
                  <a:srgbClr val="FFFFFF"/>
                </a:solidFill>
                <a:latin typeface="Calibri" panose="020F0502020204030204" pitchFamily="34" charset="0"/>
              </a:rPr>
              <a:t> Hub </a:t>
            </a:r>
            <a:r>
              <a:rPr lang="en-US">
                <a:solidFill>
                  <a:srgbClr val="FFFFFF"/>
                </a:solidFill>
                <a:latin typeface="Calibri" panose="020F0502020204030204" pitchFamily="34" charset="0"/>
                <a:hlinkClick r:id="rId8"/>
              </a:rPr>
              <a:t>https://techcommunity.microsoft.com/category/microsoftintune/discussions/configurationmanager</a:t>
            </a:r>
            <a:endParaRPr lang="en-US">
              <a:solidFill>
                <a:srgbClr val="FFFFFF"/>
              </a:solidFill>
              <a:latin typeface="Calibri" panose="020F0502020204030204" pitchFamily="34" charset="0"/>
            </a:endParaRPr>
          </a:p>
          <a:p>
            <a:pPr fontAlgn="base">
              <a:lnSpc>
                <a:spcPts val="3075"/>
              </a:lnSpc>
              <a:buFont typeface="Arial" panose="020B0604020202020204" pitchFamily="34" charset="0"/>
              <a:buChar char="•"/>
            </a:pPr>
            <a:r>
              <a:rPr lang="en-US">
                <a:solidFill>
                  <a:srgbClr val="FFFFFF"/>
                </a:solidFill>
                <a:latin typeface="Calibri" panose="020F0502020204030204" pitchFamily="34" charset="0"/>
              </a:rPr>
              <a:t>MS Q&amp;A </a:t>
            </a:r>
            <a:r>
              <a:rPr lang="en-US">
                <a:solidFill>
                  <a:srgbClr val="FFFFFF"/>
                </a:solidFill>
                <a:latin typeface="Calibri" panose="020F0502020204030204" pitchFamily="34" charset="0"/>
                <a:hlinkClick r:id="rId9"/>
              </a:rPr>
              <a:t>https://learn.microsoft.com/en-us/answers/tags/417/configuration-manager</a:t>
            </a:r>
            <a:endParaRPr lang="en-US">
              <a:solidFill>
                <a:srgbClr val="FFFFFF"/>
              </a:solidFill>
              <a:latin typeface="Calibri" panose="020F0502020204030204" pitchFamily="34" charset="0"/>
            </a:endParaRPr>
          </a:p>
          <a:p>
            <a:pPr fontAlgn="base">
              <a:lnSpc>
                <a:spcPts val="3075"/>
              </a:lnSpc>
              <a:buFont typeface="Arial" panose="020B0604020202020204" pitchFamily="34" charset="0"/>
              <a:buChar char="•"/>
            </a:pPr>
            <a:endParaRPr lang="en-US">
              <a:solidFill>
                <a:srgbClr val="FFFFFF"/>
              </a:solidFill>
              <a:latin typeface="Calibri" panose="020F0502020204030204" pitchFamily="34" charset="0"/>
            </a:endParaRPr>
          </a:p>
          <a:p>
            <a:pPr fontAlgn="base">
              <a:lnSpc>
                <a:spcPts val="3075"/>
              </a:lnSpc>
              <a:buFont typeface="Arial" panose="020B0604020202020204" pitchFamily="34" charset="0"/>
              <a:buChar char="•"/>
            </a:pPr>
            <a:endParaRPr lang="en-US" b="0" i="0">
              <a:solidFill>
                <a:srgbClr val="FFFFFF"/>
              </a:solidFill>
              <a:effectLst/>
              <a:latin typeface="Calibri" panose="020F0502020204030204" pitchFamily="34" charset="0"/>
            </a:endParaRPr>
          </a:p>
          <a:p>
            <a:pPr fontAlgn="base">
              <a:lnSpc>
                <a:spcPts val="3075"/>
              </a:lnSpc>
              <a:buFont typeface="Arial" panose="020B0604020202020204" pitchFamily="34" charset="0"/>
              <a:buChar char="•"/>
            </a:pPr>
            <a:endParaRPr lang="en-US" b="0" i="0">
              <a:solidFill>
                <a:srgbClr val="FFFFFF"/>
              </a:solidFill>
              <a:effectLst/>
              <a:latin typeface="Calibri" panose="020F0502020204030204" pitchFamily="34" charset="0"/>
            </a:endParaRPr>
          </a:p>
          <a:p>
            <a:pPr lvl="1" fontAlgn="base">
              <a:lnSpc>
                <a:spcPts val="3075"/>
              </a:lnSpc>
              <a:buFont typeface="Arial" panose="020B0604020202020204" pitchFamily="34" charset="0"/>
              <a:buChar char="•"/>
            </a:pPr>
            <a:endParaRPr lang="en-US" b="0" i="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56402039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D64AD-9C2E-7471-1F9E-F346944F1E0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3380546B-3CF0-CAAC-084B-47B4DF0FABB3}"/>
              </a:ext>
            </a:extLst>
          </p:cNvPr>
          <p:cNvSpPr>
            <a:spLocks noGrp="1"/>
          </p:cNvSpPr>
          <p:nvPr>
            <p:ph type="title"/>
          </p:nvPr>
        </p:nvSpPr>
        <p:spPr/>
        <p:txBody>
          <a:bodyPr/>
          <a:lstStyle/>
          <a:p>
            <a:r>
              <a:rPr lang="en-US"/>
              <a:t>Social Media you should follow</a:t>
            </a:r>
          </a:p>
        </p:txBody>
      </p:sp>
      <p:sp>
        <p:nvSpPr>
          <p:cNvPr id="5" name="Content Placeholder 4">
            <a:extLst>
              <a:ext uri="{FF2B5EF4-FFF2-40B4-BE49-F238E27FC236}">
                <a16:creationId xmlns:a16="http://schemas.microsoft.com/office/drawing/2014/main" id="{F6F363DF-7DEE-26A0-FA28-0802FF74323D}"/>
              </a:ext>
            </a:extLst>
          </p:cNvPr>
          <p:cNvSpPr>
            <a:spLocks noGrp="1"/>
          </p:cNvSpPr>
          <p:nvPr>
            <p:ph idx="1"/>
          </p:nvPr>
        </p:nvSpPr>
        <p:spPr/>
        <p:txBody>
          <a:bodyPr/>
          <a:lstStyle/>
          <a:p>
            <a:pPr fontAlgn="base">
              <a:lnSpc>
                <a:spcPts val="3075"/>
              </a:lnSpc>
              <a:buFont typeface="Arial" panose="020B0604020202020204" pitchFamily="34" charset="0"/>
              <a:buChar char="•"/>
            </a:pPr>
            <a:r>
              <a:rPr lang="en-US">
                <a:solidFill>
                  <a:srgbClr val="FFFFFF"/>
                </a:solidFill>
                <a:latin typeface="Calibri" panose="020F0502020204030204" pitchFamily="34" charset="0"/>
                <a:hlinkClick r:id="rId3"/>
              </a:rPr>
              <a:t>https://bsky.app/profile/andrewj.net</a:t>
            </a:r>
            <a:r>
              <a:rPr lang="en-US">
                <a:solidFill>
                  <a:srgbClr val="FFFFFF"/>
                </a:solidFill>
                <a:latin typeface="Calibri" panose="020F0502020204030204" pitchFamily="34" charset="0"/>
              </a:rPr>
              <a:t> - Author of the MMS session download script</a:t>
            </a:r>
            <a:endParaRPr lang="en-US">
              <a:solidFill>
                <a:srgbClr val="FFFFFF"/>
              </a:solidFill>
              <a:latin typeface="Calibri" panose="020F0502020204030204" pitchFamily="34" charset="0"/>
              <a:hlinkClick r:id="rId4"/>
            </a:endParaRPr>
          </a:p>
          <a:p>
            <a:pPr fontAlgn="base">
              <a:lnSpc>
                <a:spcPts val="3075"/>
              </a:lnSpc>
              <a:buFont typeface="Arial" panose="020B0604020202020204" pitchFamily="34" charset="0"/>
              <a:buChar char="•"/>
            </a:pPr>
            <a:r>
              <a:rPr lang="en-US">
                <a:solidFill>
                  <a:srgbClr val="FFFFFF"/>
                </a:solidFill>
                <a:latin typeface="Calibri" panose="020F0502020204030204" pitchFamily="34" charset="0"/>
                <a:hlinkClick r:id="rId4"/>
              </a:rPr>
              <a:t>Bluesky MMSMOA Starter Pack</a:t>
            </a:r>
            <a:r>
              <a:rPr lang="en-US">
                <a:solidFill>
                  <a:srgbClr val="FFFFFF"/>
                </a:solidFill>
                <a:latin typeface="Calibri" panose="020F0502020204030204" pitchFamily="34" charset="0"/>
              </a:rPr>
              <a:t> – From Matt Zaske</a:t>
            </a:r>
          </a:p>
          <a:p>
            <a:pPr fontAlgn="base">
              <a:lnSpc>
                <a:spcPts val="3075"/>
              </a:lnSpc>
              <a:buFont typeface="Arial" panose="020B0604020202020204" pitchFamily="34" charset="0"/>
              <a:buChar char="•"/>
            </a:pPr>
            <a:r>
              <a:rPr lang="en-US">
                <a:solidFill>
                  <a:srgbClr val="FFFFFF"/>
                </a:solidFill>
                <a:latin typeface="Calibri" panose="020F0502020204030204" pitchFamily="34" charset="0"/>
                <a:hlinkClick r:id="rId5"/>
              </a:rPr>
              <a:t>Modern Endpoint Management </a:t>
            </a:r>
            <a:r>
              <a:rPr lang="en-US">
                <a:solidFill>
                  <a:srgbClr val="FFFFFF"/>
                </a:solidFill>
                <a:latin typeface="Calibri" panose="020F0502020204030204" pitchFamily="34" charset="0"/>
                <a:hlinkClick r:id="rId6"/>
              </a:rPr>
              <a:t>–</a:t>
            </a:r>
            <a:r>
              <a:rPr lang="en-US">
                <a:solidFill>
                  <a:srgbClr val="FFFFFF"/>
                </a:solidFill>
                <a:latin typeface="Calibri" panose="020F0502020204030204" pitchFamily="34" charset="0"/>
                <a:hlinkClick r:id="rId5"/>
              </a:rPr>
              <a:t> LinkedIn</a:t>
            </a:r>
            <a:endParaRPr lang="en-US">
              <a:solidFill>
                <a:srgbClr val="FFFFFF"/>
              </a:solidFill>
              <a:latin typeface="Calibri" panose="020F0502020204030204" pitchFamily="34" charset="0"/>
            </a:endParaRPr>
          </a:p>
          <a:p>
            <a:pPr fontAlgn="base">
              <a:lnSpc>
                <a:spcPts val="3075"/>
              </a:lnSpc>
              <a:buFont typeface="Arial" panose="020B0604020202020204" pitchFamily="34" charset="0"/>
              <a:buChar char="•"/>
            </a:pPr>
            <a:r>
              <a:rPr lang="en-US" b="0" i="0">
                <a:solidFill>
                  <a:srgbClr val="FFFFFF"/>
                </a:solidFill>
                <a:effectLst/>
                <a:latin typeface="Calibri" panose="020F0502020204030204" pitchFamily="34" charset="0"/>
              </a:rPr>
              <a:t>The social media handles of all the amazing speakers you’ll see this week</a:t>
            </a:r>
          </a:p>
          <a:p>
            <a:pPr fontAlgn="base">
              <a:lnSpc>
                <a:spcPts val="3075"/>
              </a:lnSpc>
              <a:buFont typeface="Arial" panose="020B0604020202020204" pitchFamily="34" charset="0"/>
              <a:buChar char="•"/>
            </a:pPr>
            <a:r>
              <a:rPr lang="en-US" b="0" i="0">
                <a:solidFill>
                  <a:srgbClr val="FFFFFF"/>
                </a:solidFill>
                <a:effectLst/>
                <a:latin typeface="Calibri" panose="020F0502020204030204" pitchFamily="34" charset="0"/>
              </a:rPr>
              <a:t>Old fashioned social interaction – Local user groups</a:t>
            </a:r>
            <a:endParaRPr lang="en-US">
              <a:solidFill>
                <a:srgbClr val="FFFFFF"/>
              </a:solidFill>
              <a:latin typeface="Calibri" panose="020F0502020204030204" pitchFamily="34" charset="0"/>
            </a:endParaRPr>
          </a:p>
          <a:p>
            <a:pPr lvl="1" fontAlgn="base">
              <a:lnSpc>
                <a:spcPts val="3075"/>
              </a:lnSpc>
              <a:buFont typeface="Arial" panose="020B0604020202020204" pitchFamily="34" charset="0"/>
              <a:buChar char="•"/>
            </a:pPr>
            <a:r>
              <a:rPr lang="en-US">
                <a:solidFill>
                  <a:srgbClr val="FFFFFF"/>
                </a:solidFill>
                <a:latin typeface="Calibri" panose="020F0502020204030204" pitchFamily="34" charset="0"/>
                <a:hlinkClick r:id="rId7"/>
              </a:rPr>
              <a:t>https://tcsmug.org/misc/other-user-groups</a:t>
            </a:r>
            <a:endParaRPr lang="en-US">
              <a:solidFill>
                <a:srgbClr val="000000"/>
              </a:solidFill>
              <a:latin typeface="Arial" panose="020B0604020202020204" pitchFamily="34" charset="0"/>
            </a:endParaRPr>
          </a:p>
        </p:txBody>
      </p:sp>
    </p:spTree>
    <p:extLst>
      <p:ext uri="{BB962C8B-B14F-4D97-AF65-F5344CB8AC3E}">
        <p14:creationId xmlns:p14="http://schemas.microsoft.com/office/powerpoint/2010/main" val="489981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7C4865-A8EA-DE9B-A9E4-A479B9FE5284}"/>
              </a:ext>
            </a:extLst>
          </p:cNvPr>
          <p:cNvSpPr>
            <a:spLocks noGrp="1"/>
          </p:cNvSpPr>
          <p:nvPr>
            <p:ph type="body" sz="quarter" idx="10"/>
          </p:nvPr>
        </p:nvSpPr>
        <p:spPr/>
        <p:txBody>
          <a:bodyPr/>
          <a:lstStyle/>
          <a:p>
            <a:r>
              <a:rPr lang="en-US"/>
              <a:t>See Wally, he’ll find a mutual time for us to meet!</a:t>
            </a:r>
          </a:p>
        </p:txBody>
      </p:sp>
    </p:spTree>
    <p:extLst>
      <p:ext uri="{BB962C8B-B14F-4D97-AF65-F5344CB8AC3E}">
        <p14:creationId xmlns:p14="http://schemas.microsoft.com/office/powerpoint/2010/main" val="165170274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7818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55530864"/>
      </p:ext>
    </p:extLst>
  </p:cSld>
  <p:clrMapOvr>
    <a:masterClrMapping/>
  </p:clrMapOvr>
</p:sld>
</file>

<file path=ppt/theme/theme1.xml><?xml version="1.0" encoding="utf-8"?>
<a:theme xmlns:a="http://schemas.openxmlformats.org/drawingml/2006/main" name="Dark Mod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MS 2026 at MOA.potx" id="{D8842C19-AA0D-435F-9EEB-FA31630ABB9B}" vid="{B3EE2789-FD7D-46D1-B302-E8985430D9C8}"/>
    </a:ext>
  </a:extLst>
</a:theme>
</file>

<file path=ppt/theme/theme2.xml><?xml version="1.0" encoding="utf-8"?>
<a:theme xmlns:a="http://schemas.openxmlformats.org/drawingml/2006/main" name="Light Mod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MMS 2026 at MOA.potx" id="{D8842C19-AA0D-435F-9EEB-FA31630ABB9B}" vid="{5142D9BD-4495-4882-B39B-A8686CD3B067}"/>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66787FB9552CF40BFF026EAAC52FBCA" ma:contentTypeVersion="20" ma:contentTypeDescription="Create a new document." ma:contentTypeScope="" ma:versionID="edddbbb644e7c0bd6adf7ea50799224d">
  <xsd:schema xmlns:xsd="http://www.w3.org/2001/XMLSchema" xmlns:xs="http://www.w3.org/2001/XMLSchema" xmlns:p="http://schemas.microsoft.com/office/2006/metadata/properties" xmlns:ns2="0f628621-369a-46c7-83bd-de17ca407533" xmlns:ns3="994c1987-0261-432a-b2ef-a9da39f1b5e2" targetNamespace="http://schemas.microsoft.com/office/2006/metadata/properties" ma:root="true" ma:fieldsID="49108ad5585ca2305a1dbbeb1151d3a3" ns2:_="" ns3:_="">
    <xsd:import namespace="0f628621-369a-46c7-83bd-de17ca407533"/>
    <xsd:import namespace="994c1987-0261-432a-b2ef-a9da39f1b5e2"/>
    <xsd:element name="properties">
      <xsd:complexType>
        <xsd:sequence>
          <xsd:element name="documentManagement">
            <xsd:complexType>
              <xsd:all>
                <xsd:element ref="ns2:SharedWithUsers" minOccurs="0"/>
                <xsd:element ref="ns2:SharedWithDetails" minOccurs="0"/>
                <xsd:element ref="ns2:LastSharedByUser" minOccurs="0"/>
                <xsd:element ref="ns2:LastSharedByTime" minOccurs="0"/>
                <xsd:element ref="ns3:MediaServiceMetadata" minOccurs="0"/>
                <xsd:element ref="ns3:MediaServiceFastMetadata" minOccurs="0"/>
                <xsd:element ref="ns3:MediaServiceDateTaken"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lcf76f155ced4ddcb4097134ff3c332f" minOccurs="0"/>
                <xsd:element ref="ns2:TaxCatchAll" minOccurs="0"/>
                <xsd:element ref="ns3:MediaServiceSearchProperties" minOccurs="0"/>
                <xsd:element ref="ns3:MediaServiceObjectDetectorVersions"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628621-369a-46c7-83bd-de17ca407533"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0" nillable="true" ma:displayName="Last Shared By User" ma:description="" ma:internalName="LastSharedByUser" ma:readOnly="true">
      <xsd:simpleType>
        <xsd:restriction base="dms:Note">
          <xsd:maxLength value="255"/>
        </xsd:restriction>
      </xsd:simpleType>
    </xsd:element>
    <xsd:element name="LastSharedByTime" ma:index="11" nillable="true" ma:displayName="Last Shared By Time" ma:description="" ma:internalName="LastSharedByTime" ma:readOnly="true">
      <xsd:simpleType>
        <xsd:restriction base="dms:DateTime"/>
      </xsd:simpleType>
    </xsd:element>
    <xsd:element name="TaxCatchAll" ma:index="23" nillable="true" ma:displayName="Taxonomy Catch All Column" ma:hidden="true" ma:list="{373337a8-41f0-47ae-895f-b179ccc8878d}" ma:internalName="TaxCatchAll" ma:showField="CatchAllData" ma:web="0f628621-369a-46c7-83bd-de17ca40753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994c1987-0261-432a-b2ef-a9da39f1b5e2" elementFormDefault="qualified">
    <xsd:import namespace="http://schemas.microsoft.com/office/2006/documentManagement/types"/>
    <xsd:import namespace="http://schemas.microsoft.com/office/infopath/2007/PartnerControls"/>
    <xsd:element name="MediaServiceMetadata" ma:index="12" nillable="true" ma:displayName="MediaServiceMetadata" ma:description="" ma:hidden="true" ma:internalName="MediaServiceMetadata" ma:readOnly="true">
      <xsd:simpleType>
        <xsd:restriction base="dms:Note"/>
      </xsd:simpleType>
    </xsd:element>
    <xsd:element name="MediaServiceFastMetadata" ma:index="13" nillable="true" ma:displayName="MediaServiceFastMetadata" ma:description="" ma:hidden="true" ma:internalName="MediaServiceFastMetadata" ma:readOnly="true">
      <xsd:simpleType>
        <xsd:restriction base="dms:Note"/>
      </xsd:simpleType>
    </xsd:element>
    <xsd:element name="MediaServiceDateTaken" ma:index="14" nillable="true" ma:displayName="MediaServiceDateTaken" ma:hidden="true" ma:internalName="MediaServiceDateTaken"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04f3eb32-8128-4a7e-868e-0456b78e6ea9"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ObjectDetectorVersions" ma:index="25" nillable="true" ma:displayName="MediaServiceObjectDetectorVersions" ma:hidden="true" ma:indexed="true" ma:internalName="MediaServiceObjectDetectorVersions" ma:readOnly="true">
      <xsd:simpleType>
        <xsd:restriction base="dms:Text"/>
      </xsd:simpleType>
    </xsd:element>
    <xsd:element name="MediaLengthInSeconds" ma:index="26"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4c1987-0261-432a-b2ef-a9da39f1b5e2">
      <Terms xmlns="http://schemas.microsoft.com/office/infopath/2007/PartnerControls"/>
    </lcf76f155ced4ddcb4097134ff3c332f>
    <TaxCatchAll xmlns="0f628621-369a-46c7-83bd-de17ca407533" xsi:nil="true"/>
  </documentManagement>
</p:properties>
</file>

<file path=customXml/itemProps1.xml><?xml version="1.0" encoding="utf-8"?>
<ds:datastoreItem xmlns:ds="http://schemas.openxmlformats.org/officeDocument/2006/customXml" ds:itemID="{FBB99CDF-4DD1-4BCA-94A9-937C9978E90C}">
  <ds:schemaRefs>
    <ds:schemaRef ds:uri="http://schemas.microsoft.com/sharepoint/v3/contenttype/forms"/>
  </ds:schemaRefs>
</ds:datastoreItem>
</file>

<file path=customXml/itemProps2.xml><?xml version="1.0" encoding="utf-8"?>
<ds:datastoreItem xmlns:ds="http://schemas.openxmlformats.org/officeDocument/2006/customXml" ds:itemID="{72549C15-4E42-4D07-A4DB-8ECA1C2B5F12}">
  <ds:schemaRefs>
    <ds:schemaRef ds:uri="0f628621-369a-46c7-83bd-de17ca407533"/>
    <ds:schemaRef ds:uri="994c1987-0261-432a-b2ef-a9da39f1b5e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7CE0B4D4-529D-4984-8525-2DCCA1BEFF9D}">
  <ds:schemaRefs>
    <ds:schemaRef ds:uri="0f628621-369a-46c7-83bd-de17ca407533"/>
    <ds:schemaRef ds:uri="994c1987-0261-432a-b2ef-a9da39f1b5e2"/>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MMS 2026 at MOA-Office</Template>
  <Application>Microsoft Office PowerPoint</Application>
  <PresentationFormat>Widescreen</PresentationFormat>
  <Slides>38</Slides>
  <Notes>17</Notes>
  <HiddenSlides>2</HiddenSlides>
  <ScaleCrop>false</ScaleCrop>
  <HeadingPairs>
    <vt:vector size="4" baseType="variant">
      <vt:variant>
        <vt:lpstr>Theme</vt:lpstr>
      </vt:variant>
      <vt:variant>
        <vt:i4>2</vt:i4>
      </vt:variant>
      <vt:variant>
        <vt:lpstr>Slide Titles</vt:lpstr>
      </vt:variant>
      <vt:variant>
        <vt:i4>38</vt:i4>
      </vt:variant>
    </vt:vector>
  </HeadingPairs>
  <TitlesOfParts>
    <vt:vector size="40" baseType="lpstr">
      <vt:lpstr>Dark Mode</vt:lpstr>
      <vt:lpstr>Light Mode</vt:lpstr>
      <vt:lpstr>ConfigMgr Fundamentals</vt:lpstr>
      <vt:lpstr>Attention</vt:lpstr>
      <vt:lpstr>PowerPoint Presentation</vt:lpstr>
      <vt:lpstr>Questions for you?</vt:lpstr>
      <vt:lpstr>Welcome</vt:lpstr>
      <vt:lpstr>Collections</vt:lpstr>
      <vt:lpstr>Collections</vt:lpstr>
      <vt:lpstr>Collections – Role Based Access (RBA)</vt:lpstr>
      <vt:lpstr>Collections</vt:lpstr>
      <vt:lpstr>PowerPoint Presentation</vt:lpstr>
      <vt:lpstr>PowerPoint Presentation</vt:lpstr>
      <vt:lpstr>Application (or Classic Advertisement)</vt:lpstr>
      <vt:lpstr>Inside an Application</vt:lpstr>
      <vt:lpstr>Deployment Flow at a Client</vt:lpstr>
      <vt:lpstr>Scenario Basics, what to use</vt:lpstr>
      <vt:lpstr>Deployment Logs </vt:lpstr>
      <vt:lpstr>ConfigMgr Configuration Items</vt:lpstr>
      <vt:lpstr>ConfigMgr Configuration Baselines</vt:lpstr>
      <vt:lpstr>Configuration Baselines (in CM)</vt:lpstr>
      <vt:lpstr>Microsoft Intune: Remediations &amp; Compliance</vt:lpstr>
      <vt:lpstr>Intune Cis/Proactive Remediations </vt:lpstr>
      <vt:lpstr>PowerPoint Presentation</vt:lpstr>
      <vt:lpstr>Links to Interesting CM Baselines</vt:lpstr>
      <vt:lpstr>Custom Reporting in CM</vt:lpstr>
      <vt:lpstr>SQL Server Management Studio Queries </vt:lpstr>
      <vt:lpstr>Scripts Node and CMPivot</vt:lpstr>
      <vt:lpstr>Scripts and CMPivot </vt:lpstr>
      <vt:lpstr>Recast Right-Click Tools</vt:lpstr>
      <vt:lpstr>Console Right-click </vt:lpstr>
      <vt:lpstr>Client Settings</vt:lpstr>
      <vt:lpstr>Software Updates</vt:lpstr>
      <vt:lpstr>Helpful Links</vt:lpstr>
      <vt:lpstr>Educational Resources</vt:lpstr>
      <vt:lpstr>Forums</vt:lpstr>
      <vt:lpstr>Social Media you should follow</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MMS 2026 at MOA</dc:subject>
  <dc:creator>Sherry Kissinger</dc:creator>
  <cp:revision>22</cp:revision>
  <dcterms:created xsi:type="dcterms:W3CDTF">2026-02-26T13:51:33Z</dcterms:created>
  <dcterms:modified xsi:type="dcterms:W3CDTF">2026-04-15T09:39:21Z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0x010100066787FB9552CF40BFF026EAAC52FBCA</vt:lpwstr>
  </property>
  <property fmtid="{D5CDD505-2E9C-101B-9397-08002B2CF9AE}" pid="3" name="MediaServiceImageTags">
    <vt:lpwstr/>
  </property>
</Properties>
</file>