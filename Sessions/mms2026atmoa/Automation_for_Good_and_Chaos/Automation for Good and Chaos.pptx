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74" r:id="rId5"/>
  </p:sldMasterIdLst>
  <p:handoutMasterIdLst>
    <p:handoutMasterId r:id="rId47"/>
  </p:handoutMasterIdLst>
  <p:sldIdLst>
    <p:sldId id="256" r:id="rId6"/>
    <p:sldId id="264" r:id="rId7"/>
    <p:sldId id="260" r:id="rId8"/>
    <p:sldId id="303" r:id="rId9"/>
    <p:sldId id="304" r:id="rId10"/>
    <p:sldId id="305" r:id="rId11"/>
    <p:sldId id="351" r:id="rId12"/>
    <p:sldId id="366" r:id="rId13"/>
    <p:sldId id="321" r:id="rId14"/>
    <p:sldId id="344" r:id="rId15"/>
    <p:sldId id="326" r:id="rId16"/>
    <p:sldId id="332" r:id="rId17"/>
    <p:sldId id="322" r:id="rId18"/>
    <p:sldId id="355" r:id="rId19"/>
    <p:sldId id="358" r:id="rId20"/>
    <p:sldId id="359" r:id="rId21"/>
    <p:sldId id="363" r:id="rId22"/>
    <p:sldId id="367" r:id="rId23"/>
    <p:sldId id="365" r:id="rId24"/>
    <p:sldId id="311" r:id="rId25"/>
    <p:sldId id="312" r:id="rId26"/>
    <p:sldId id="368" r:id="rId27"/>
    <p:sldId id="371" r:id="rId28"/>
    <p:sldId id="333" r:id="rId29"/>
    <p:sldId id="330" r:id="rId30"/>
    <p:sldId id="338" r:id="rId31"/>
    <p:sldId id="323" r:id="rId32"/>
    <p:sldId id="339" r:id="rId33"/>
    <p:sldId id="328" r:id="rId34"/>
    <p:sldId id="324" r:id="rId35"/>
    <p:sldId id="340" r:id="rId36"/>
    <p:sldId id="346" r:id="rId37"/>
    <p:sldId id="349" r:id="rId38"/>
    <p:sldId id="348" r:id="rId39"/>
    <p:sldId id="329" r:id="rId40"/>
    <p:sldId id="325" r:id="rId41"/>
    <p:sldId id="319" r:id="rId42"/>
    <p:sldId id="320" r:id="rId43"/>
    <p:sldId id="266" r:id="rId44"/>
    <p:sldId id="263" r:id="rId45"/>
    <p:sldId id="341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7C90A1-52DE-4C0C-9748-AA4C35CE60DF}">
          <p14:sldIdLst>
            <p14:sldId id="256"/>
            <p14:sldId id="264"/>
            <p14:sldId id="260"/>
          </p14:sldIdLst>
        </p14:section>
        <p14:section name="Presentation" id="{88398753-748C-4CE7-B81D-D95829EA2652}">
          <p14:sldIdLst>
            <p14:sldId id="303"/>
            <p14:sldId id="304"/>
            <p14:sldId id="305"/>
            <p14:sldId id="351"/>
            <p14:sldId id="366"/>
            <p14:sldId id="321"/>
            <p14:sldId id="344"/>
            <p14:sldId id="326"/>
            <p14:sldId id="332"/>
            <p14:sldId id="322"/>
            <p14:sldId id="355"/>
            <p14:sldId id="358"/>
            <p14:sldId id="359"/>
            <p14:sldId id="363"/>
            <p14:sldId id="367"/>
            <p14:sldId id="365"/>
            <p14:sldId id="311"/>
            <p14:sldId id="312"/>
            <p14:sldId id="368"/>
            <p14:sldId id="371"/>
            <p14:sldId id="333"/>
            <p14:sldId id="330"/>
            <p14:sldId id="338"/>
            <p14:sldId id="323"/>
            <p14:sldId id="339"/>
            <p14:sldId id="328"/>
            <p14:sldId id="324"/>
            <p14:sldId id="340"/>
            <p14:sldId id="346"/>
            <p14:sldId id="349"/>
            <p14:sldId id="348"/>
            <p14:sldId id="329"/>
            <p14:sldId id="325"/>
            <p14:sldId id="319"/>
            <p14:sldId id="320"/>
          </p14:sldIdLst>
        </p14:section>
        <p14:section name="Closing" id="{35F0DD0F-C871-4339-9D6B-25AB6010E816}">
          <p14:sldIdLst>
            <p14:sldId id="266"/>
            <p14:sldId id="263"/>
            <p14:sldId id="341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1C2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12D3C08-7408-4D5F-8C28-B77344D0C1CF}" v="152" dt="2026-05-05T19:14:57.583"/>
  </p1510:revLst>
</p1510:revInfo>
</file>

<file path=ppt/tableStyles.xml><?xml version="1.0" encoding="utf-8"?>
<a:tblStyleLst xmlns:a="http://schemas.openxmlformats.org/drawingml/2006/main" def="{5C22544A-7EE6-4342-B048-85BDC9FD1C3A}"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92" autoAdjust="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148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Corio" userId="dbe1492c70b6d8a8" providerId="LiveId" clId="{1F7AD23D-5150-4B75-B652-DFAA0850FBF9}"/>
    <pc:docChg chg="modSld">
      <pc:chgData name="Scott Corio" userId="dbe1492c70b6d8a8" providerId="LiveId" clId="{1F7AD23D-5150-4B75-B652-DFAA0850FBF9}" dt="2026-05-05T19:15:47.785" v="156" actId="20577"/>
      <pc:docMkLst>
        <pc:docMk/>
      </pc:docMkLst>
      <pc:sldChg chg="modSp modAnim">
        <pc:chgData name="Scott Corio" userId="dbe1492c70b6d8a8" providerId="LiveId" clId="{1F7AD23D-5150-4B75-B652-DFAA0850FBF9}" dt="2026-05-05T19:14:57.583" v="151" actId="20577"/>
        <pc:sldMkLst>
          <pc:docMk/>
          <pc:sldMk cId="1126221174" sldId="338"/>
        </pc:sldMkLst>
        <pc:spChg chg="mod">
          <ac:chgData name="Scott Corio" userId="dbe1492c70b6d8a8" providerId="LiveId" clId="{1F7AD23D-5150-4B75-B652-DFAA0850FBF9}" dt="2026-05-05T19:14:57.583" v="151" actId="20577"/>
          <ac:spMkLst>
            <pc:docMk/>
            <pc:sldMk cId="1126221174" sldId="338"/>
            <ac:spMk id="10" creationId="{00000000-0000-0000-0000-000000000000}"/>
          </ac:spMkLst>
        </pc:spChg>
      </pc:sldChg>
      <pc:sldChg chg="modSp mod">
        <pc:chgData name="Scott Corio" userId="dbe1492c70b6d8a8" providerId="LiveId" clId="{1F7AD23D-5150-4B75-B652-DFAA0850FBF9}" dt="2026-05-05T19:15:47.785" v="156" actId="20577"/>
        <pc:sldMkLst>
          <pc:docMk/>
          <pc:sldMk cId="3132163734" sldId="339"/>
        </pc:sldMkLst>
        <pc:spChg chg="mod">
          <ac:chgData name="Scott Corio" userId="dbe1492c70b6d8a8" providerId="LiveId" clId="{1F7AD23D-5150-4B75-B652-DFAA0850FBF9}" dt="2026-05-05T19:15:47.785" v="156" actId="20577"/>
          <ac:spMkLst>
            <pc:docMk/>
            <pc:sldMk cId="3132163734" sldId="339"/>
            <ac:spMk id="4" creationId="{BAA5EBBC-3B2B-42CB-36A4-EE558826A4C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479DD7-BEB9-FB69-F785-68848A4099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1EC562-ED04-0689-F45A-C2EBCD3AFE6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59BDEA-31B7-4DB6-C40F-9DED321F516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DBB9A-3F38-44C9-81C4-CD9EE35AF0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14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30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9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1.sv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3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29.png"/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8.png"/><Relationship Id="rId2" Type="http://schemas.openxmlformats.org/officeDocument/2006/relationships/image" Target="../media/image15.svg"/><Relationship Id="rId16" Type="http://schemas.openxmlformats.org/officeDocument/2006/relationships/image" Target="../media/image2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microsoft.com/office/2007/relationships/hdphoto" Target="../media/hdphoto1.wdp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>
                <a:latin typeface="Aptos Display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latin typeface="Aptos" panose="020B00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891636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93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MMS" descr="MMS Logo">
            <a:extLst>
              <a:ext uri="{FF2B5EF4-FFF2-40B4-BE49-F238E27FC236}">
                <a16:creationId xmlns:a16="http://schemas.microsoft.com/office/drawing/2014/main" id="{B20E1BA0-F24A-EC19-2D43-C2AEF38D6F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6220684"/>
            <a:ext cx="1069571" cy="612648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4669" y="1258200"/>
            <a:ext cx="12264227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940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19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bg1">
                    <a:lumMod val="85000"/>
                    <a:alpha val="2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60278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881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latin typeface="Aptos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latin typeface="Aptos" panose="020B0004020202020204" pitchFamily="34" charset="0"/>
              </a:defRPr>
            </a:lvl1pPr>
            <a:lvl2pPr>
              <a:defRPr>
                <a:latin typeface="Aptos" panose="020B0004020202020204" pitchFamily="34" charset="0"/>
              </a:defRPr>
            </a:lvl2pPr>
            <a:lvl3pPr>
              <a:defRPr>
                <a:latin typeface="Aptos" panose="020B0004020202020204" pitchFamily="34" charset="0"/>
              </a:defRPr>
            </a:lvl3pPr>
            <a:lvl4pPr>
              <a:defRPr>
                <a:latin typeface="Aptos" panose="020B0004020202020204" pitchFamily="34" charset="0"/>
              </a:defRPr>
            </a:lvl4pPr>
            <a:lvl5pPr>
              <a:defRPr>
                <a:latin typeface="Aptos" panose="020B00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88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66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621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Aptos" panose="020B0004020202020204" pitchFamily="34" charset="0"/>
              </a:defRPr>
            </a:lvl1pPr>
            <a:lvl2pPr>
              <a:defRPr sz="2800">
                <a:latin typeface="Aptos" panose="020B0004020202020204" pitchFamily="34" charset="0"/>
              </a:defRPr>
            </a:lvl2pPr>
            <a:lvl3pPr>
              <a:defRPr sz="2400">
                <a:latin typeface="Aptos" panose="020B0004020202020204" pitchFamily="34" charset="0"/>
              </a:defRPr>
            </a:lvl3pPr>
            <a:lvl4pPr>
              <a:defRPr sz="2000">
                <a:latin typeface="Aptos" panose="020B0004020202020204" pitchFamily="34" charset="0"/>
              </a:defRPr>
            </a:lvl4pPr>
            <a:lvl5pPr>
              <a:defRPr sz="2000">
                <a:latin typeface="Aptos" panose="020B0004020202020204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70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Aptos" panose="020B00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Aptos" panose="020B00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Aptos" panose="020B0004020202020204" pitchFamily="34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0128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7894247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5928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141027-F066-B9AE-93FD-9C9448960CDB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1" name="Picture 10" descr="Patch My PC">
            <a:extLst>
              <a:ext uri="{FF2B5EF4-FFF2-40B4-BE49-F238E27FC236}">
                <a16:creationId xmlns:a16="http://schemas.microsoft.com/office/drawing/2014/main" id="{F837D305-2B1E-D93E-4951-99C287BF88B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9" name="Picture 8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9152F94A-4D91-121D-CEB4-524094EE7D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3" name="Picture 12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27436F92-854C-BEE9-ECD2-98D939DF1B9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9" name="Picture 28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5392E0A-C0E2-C291-444E-C2565C6FA04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FA7C4B9-2FE7-03A8-4C46-F9FB648245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4D6873-2AA5-65D0-992F-5D0CA23B99B8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CB20B0E-D4F5-70E8-7B88-CD98C80D632A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97EBA7-C89E-96EE-4748-7F907F81D9A5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20F4E334-22B5-F189-E4F0-E59467F9F9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E5F552A-9761-3A6C-8290-61044C88A9C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25" name="Picture 24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59AA4FF-6CFA-B105-B54C-8D9B21CA931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26" name="Picture 25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22BA2D5A-399C-36FF-E065-28AF7C39D808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92CA8F16-E2DC-59EF-D489-4FC3AB2CC38D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CDA09CD3-5E5E-7480-F81F-B86933B9DC69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019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8B2AB-1AF2-C3EC-A0DA-7900482B48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682"/>
            <a:ext cx="9144000" cy="2306637"/>
          </a:xfr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C045E-7E31-838B-3E84-BF7CAB2CBC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490281"/>
            <a:ext cx="9144000" cy="14202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C1C6F0CE-A001-978A-D698-EB6C97BB9B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5720" y="2310319"/>
            <a:ext cx="12298680" cy="734379"/>
          </a:xfrm>
          <a:prstGeom prst="rect">
            <a:avLst/>
          </a:prstGeom>
        </p:spPr>
      </p:pic>
      <p:pic>
        <p:nvPicPr>
          <p:cNvPr id="11" name="Picture 10" descr="A red and black logo&#10;&#10;Description automatically generated">
            <a:extLst>
              <a:ext uri="{FF2B5EF4-FFF2-40B4-BE49-F238E27FC236}">
                <a16:creationId xmlns:a16="http://schemas.microsoft.com/office/drawing/2014/main" id="{29BE2BE2-9E00-CB03-72C1-FF931FB7228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81552" y="3910518"/>
            <a:ext cx="4998416" cy="2858572"/>
          </a:xfrm>
          <a:prstGeom prst="rect">
            <a:avLst/>
          </a:prstGeom>
          <a:noFill/>
          <a:effectLst>
            <a:glow rad="406400">
              <a:schemeClr val="tx1">
                <a:alpha val="43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663052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0F2FDBB-FB45-8FD2-5F71-DB342D59755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396859" y="1581880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765F7A9-F279-484D-0F3B-4BB46B514D6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114594" y="1579653"/>
            <a:ext cx="2703513" cy="253841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6FE98B-7FAF-CBE0-DE78-7629C4DAC585}"/>
              </a:ext>
            </a:extLst>
          </p:cNvPr>
          <p:cNvSpPr/>
          <p:nvPr userDrawn="1"/>
        </p:nvSpPr>
        <p:spPr>
          <a:xfrm>
            <a:off x="4047202" y="195263"/>
            <a:ext cx="4097597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Speakers</a:t>
            </a:r>
          </a:p>
        </p:txBody>
      </p:sp>
      <p:pic>
        <p:nvPicPr>
          <p:cNvPr id="11" name="Graphic 10" descr="Radio microphone with solid fill">
            <a:extLst>
              <a:ext uri="{FF2B5EF4-FFF2-40B4-BE49-F238E27FC236}">
                <a16:creationId xmlns:a16="http://schemas.microsoft.com/office/drawing/2014/main" id="{081F717A-90EF-F96A-D83B-54E6307A315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59804" y="338227"/>
            <a:ext cx="914400" cy="914400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8946D3-04F0-0641-9424-10E785AD737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39693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Name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E852539-A3B0-BF16-FE8E-4CC8EFF8ACE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68867" y="4206239"/>
            <a:ext cx="4572000" cy="457200"/>
          </a:xfrm>
        </p:spPr>
        <p:txBody>
          <a:bodyPr/>
          <a:lstStyle>
            <a:lvl1pPr marL="0" indent="0" algn="ctr">
              <a:buFontTx/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Name</a:t>
            </a: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F8B8F0D3-A682-04D8-7E0B-F26D56163FA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439693" y="5303520"/>
            <a:ext cx="4572000" cy="9144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contact info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A3D27F1E-071E-F20C-9FA4-6FF3260A11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80307" y="5303520"/>
            <a:ext cx="4572000" cy="914400"/>
          </a:xfrm>
        </p:spPr>
        <p:txBody>
          <a:bodyPr/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contact info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725C257A-1E0B-90CB-FDAB-F164B5FB84B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439693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1 info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F028274B-3D73-8DB7-57F5-8758A576159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0350" y="4754880"/>
            <a:ext cx="4572000" cy="45720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Speaker 2 info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E3E2B6C-976C-B840-C89F-B4F3065660F9}"/>
              </a:ext>
            </a:extLst>
          </p:cNvPr>
          <p:cNvSpPr/>
          <p:nvPr userDrawn="1"/>
        </p:nvSpPr>
        <p:spPr>
          <a:xfrm>
            <a:off x="2286669" y="6401767"/>
            <a:ext cx="7618661" cy="25938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Can’t see our slides? Can’t hear? Need to repeat the question? Call us out!</a:t>
            </a:r>
          </a:p>
        </p:txBody>
      </p:sp>
      <p:pic>
        <p:nvPicPr>
          <p:cNvPr id="7" name="MMS" descr="A red and black logo&#10;&#10;Description automatically generated">
            <a:extLst>
              <a:ext uri="{FF2B5EF4-FFF2-40B4-BE49-F238E27FC236}">
                <a16:creationId xmlns:a16="http://schemas.microsoft.com/office/drawing/2014/main" id="{043E37BF-9604-7220-A931-A7BC5D053E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6245352"/>
            <a:ext cx="1071259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185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F2B3F-34C9-5D81-3C0A-03B2A2A13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A0340-D9A2-712E-B180-06395325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13F5F04C-5E3E-333C-217E-CEBF980C8D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30336" y="1258200"/>
            <a:ext cx="12264228" cy="645279"/>
          </a:xfrm>
          <a:prstGeom prst="rect">
            <a:avLst/>
          </a:prstGeom>
        </p:spPr>
      </p:pic>
      <p:pic>
        <p:nvPicPr>
          <p:cNvPr id="9" name="Picture 8" descr="A red and black logo&#10;&#10;Description automatically generated">
            <a:extLst>
              <a:ext uri="{FF2B5EF4-FFF2-40B4-BE49-F238E27FC236}">
                <a16:creationId xmlns:a16="http://schemas.microsoft.com/office/drawing/2014/main" id="{858ADF9C-553E-D4C9-65AD-8E508EBA9E1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1528"/>
            <a:ext cx="1077946" cy="6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87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245352"/>
            <a:ext cx="1069571" cy="612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49791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mo Header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EE4-0A4A-2B2C-119B-2F341C139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1700011"/>
            <a:ext cx="7933041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11DF5D-CB3B-BA76-1722-DD0D7E780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4579736"/>
            <a:ext cx="7933041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A94F116-969A-0346-AE10-98CF6F785B0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829" y="5943600"/>
            <a:ext cx="1596375" cy="9144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EF6BDD6-65D1-E9C5-ACC8-28AEF699CDAA}"/>
              </a:ext>
            </a:extLst>
          </p:cNvPr>
          <p:cNvSpPr/>
          <p:nvPr userDrawn="1"/>
        </p:nvSpPr>
        <p:spPr>
          <a:xfrm>
            <a:off x="1173627" y="1986560"/>
            <a:ext cx="1661993" cy="3585277"/>
          </a:xfrm>
          <a:prstGeom prst="rect">
            <a:avLst/>
          </a:prstGeom>
          <a:noFill/>
        </p:spPr>
        <p:txBody>
          <a:bodyPr vert="vert270" wrap="none" lIns="91440" tIns="45720" rIns="91440" bIns="45720">
            <a:spAutoFit/>
          </a:bodyPr>
          <a:lstStyle/>
          <a:p>
            <a:pPr algn="ctr"/>
            <a:r>
              <a:rPr lang="en-US" sz="9600" b="1" u="none" cap="none" spc="0" baseline="0" dirty="0">
                <a:ln w="0"/>
                <a:solidFill>
                  <a:schemeClr val="tx1">
                    <a:lumMod val="50000"/>
                    <a:lumOff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n-lt"/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4515838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2CA98-158E-037A-C94E-E38DC5348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AACDB-B0A5-F82A-E06F-F66C4B0C2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707E-1F23-C8BE-85CC-91A13D768C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498060"/>
            <a:ext cx="5181600" cy="4678903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2A1EA3AB-2287-A909-3F79-BFFF9117BF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012" y="5943600"/>
            <a:ext cx="1596375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004620A-8B56-621C-CE78-C55792A93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7731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43FC6-9D49-7EE7-65B3-940E59809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7955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8AD4CF-A6B7-AD69-E2EF-D5CF1E53C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515787"/>
            <a:ext cx="5157787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8C1A2-5CFB-9DDA-598C-3D6E4DB535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091448"/>
            <a:ext cx="5157787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7FFAF-6DE1-D7D2-9D0C-7DA4C93200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515787"/>
            <a:ext cx="5183188" cy="485239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2BCB2A-881F-6F25-A415-DE218744AF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091448"/>
            <a:ext cx="5183188" cy="4098216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  <a:lvl2pPr>
              <a:defRPr>
                <a:solidFill>
                  <a:schemeClr val="tx1"/>
                </a:solidFill>
                <a:latin typeface="+mn-lt"/>
              </a:defRPr>
            </a:lvl2pPr>
            <a:lvl3pPr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solidFill>
                  <a:schemeClr val="tx1"/>
                </a:solidFill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 descr="MMS Logo">
            <a:extLst>
              <a:ext uri="{FF2B5EF4-FFF2-40B4-BE49-F238E27FC236}">
                <a16:creationId xmlns:a16="http://schemas.microsoft.com/office/drawing/2014/main" id="{A3D86560-F6A7-2176-B497-5661E33D251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1359E03-5C70-33E3-CD0F-EA5EAB2271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35560" y="1258200"/>
            <a:ext cx="1226820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95360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19ACD-72B3-1EDF-3267-2C3F86B8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5" descr="MMS Logo">
            <a:extLst>
              <a:ext uri="{FF2B5EF4-FFF2-40B4-BE49-F238E27FC236}">
                <a16:creationId xmlns:a16="http://schemas.microsoft.com/office/drawing/2014/main" id="{58B90811-A51E-65F2-5CD6-98D6CF9811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E1CD3F-6E26-737A-C882-D9F7FE0E9F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519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MMS Logo">
            <a:extLst>
              <a:ext uri="{FF2B5EF4-FFF2-40B4-BE49-F238E27FC236}">
                <a16:creationId xmlns:a16="http://schemas.microsoft.com/office/drawing/2014/main" id="{7874FAA7-EB4D-5A79-909E-CB927AFCC6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95625" y="593059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626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3096-6483-1CC6-4263-E4B2B2BA6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1DBF5-0D97-AF7D-8580-655BDCEA9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  <a:lvl2pPr>
              <a:defRPr sz="2800">
                <a:solidFill>
                  <a:schemeClr val="tx1"/>
                </a:solidFill>
                <a:latin typeface="+mn-lt"/>
              </a:defRPr>
            </a:lvl2pPr>
            <a:lvl3pPr>
              <a:defRPr sz="2400">
                <a:solidFill>
                  <a:schemeClr val="tx1"/>
                </a:solidFill>
                <a:latin typeface="+mn-lt"/>
              </a:defRPr>
            </a:lvl3pPr>
            <a:lvl4pPr>
              <a:defRPr sz="2000">
                <a:solidFill>
                  <a:schemeClr val="tx1"/>
                </a:solidFill>
                <a:latin typeface="+mn-lt"/>
              </a:defRPr>
            </a:lvl4pPr>
            <a:lvl5pPr>
              <a:defRPr sz="2000">
                <a:solidFill>
                  <a:schemeClr val="tx1"/>
                </a:solidFill>
                <a:latin typeface="+mn-lt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CF4BF5-B720-F392-649B-33EED0985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871BDB1C-D88C-7CC2-5D66-47039F1538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91" y="5958516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3260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4F0-46DF-66A6-26A5-6711090CE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114DA3-16F3-B40E-F37B-43106F3CF9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123AD4-4C10-E69E-AE5E-B65F2FA789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 descr="MMS Logo">
            <a:extLst>
              <a:ext uri="{FF2B5EF4-FFF2-40B4-BE49-F238E27FC236}">
                <a16:creationId xmlns:a16="http://schemas.microsoft.com/office/drawing/2014/main" id="{BEAC8699-2117-4549-6791-6D861DDBC8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2188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shing Session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E2D7D29-7C84-65CA-6C03-C23E75B3244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0640" y="1258200"/>
            <a:ext cx="12273280" cy="64527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A8AAFD-A5FA-28E3-45D7-D91548749E63}"/>
              </a:ext>
            </a:extLst>
          </p:cNvPr>
          <p:cNvSpPr txBox="1"/>
          <p:nvPr userDrawn="1"/>
        </p:nvSpPr>
        <p:spPr>
          <a:xfrm>
            <a:off x="838200" y="1573109"/>
            <a:ext cx="10515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Be sure to find Wally and sign up for 1:1 time with a speaker</a:t>
            </a:r>
          </a:p>
          <a:p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If you'd like to "catch" us for a session, we are scheduled as follows:</a:t>
            </a:r>
            <a:endParaRPr lang="en-US" b="1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3C569-B7C9-FDB7-19D5-EC55A66F5A3E}"/>
              </a:ext>
            </a:extLst>
          </p:cNvPr>
          <p:cNvSpPr txBox="1"/>
          <p:nvPr userDrawn="1"/>
        </p:nvSpPr>
        <p:spPr>
          <a:xfrm>
            <a:off x="838200" y="6063492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b="1" dirty="0">
                <a:solidFill>
                  <a:schemeClr val="tx1"/>
                </a:solidFill>
                <a:latin typeface="Aptos" panose="020B0004020202020204" pitchFamily="34" charset="0"/>
              </a:rPr>
              <a:t>Don't forget to leave feedback for your speakers!</a:t>
            </a:r>
          </a:p>
        </p:txBody>
      </p:sp>
      <p:pic>
        <p:nvPicPr>
          <p:cNvPr id="7" name="Picture 6" descr="MMS Logo">
            <a:extLst>
              <a:ext uri="{FF2B5EF4-FFF2-40B4-BE49-F238E27FC236}">
                <a16:creationId xmlns:a16="http://schemas.microsoft.com/office/drawing/2014/main" id="{BC9A6E22-95AA-8F42-08D4-0DFD93E2EF5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600" y="5943600"/>
            <a:ext cx="1596375" cy="9144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7802D0-972C-1B48-9997-0F792E49CA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2514827"/>
            <a:ext cx="6278563" cy="325755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Session Times Here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15EFDD-BD4E-7F02-7FFC-7ADB7A8A9F2B}"/>
              </a:ext>
            </a:extLst>
          </p:cNvPr>
          <p:cNvSpPr txBox="1"/>
          <p:nvPr userDrawn="1"/>
        </p:nvSpPr>
        <p:spPr>
          <a:xfrm>
            <a:off x="838199" y="244262"/>
            <a:ext cx="10515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Aptos" panose="020B0004020202020204" pitchFamily="34" charset="0"/>
              </a:rPr>
              <a:t>Fishing Sessions</a:t>
            </a:r>
          </a:p>
        </p:txBody>
      </p:sp>
    </p:spTree>
    <p:extLst>
      <p:ext uri="{BB962C8B-B14F-4D97-AF65-F5344CB8AC3E}">
        <p14:creationId xmlns:p14="http://schemas.microsoft.com/office/powerpoint/2010/main" val="25281619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ave the Dates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MOA">
            <a:extLst>
              <a:ext uri="{FF2B5EF4-FFF2-40B4-BE49-F238E27FC236}">
                <a16:creationId xmlns:a16="http://schemas.microsoft.com/office/drawing/2014/main" id="{9CE8F994-3F43-B6B2-27DC-2BA65CDAD3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36424" y="2075955"/>
            <a:ext cx="2971800" cy="2980355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828A95-6D43-E388-3D4E-E5117E2A09F8}"/>
              </a:ext>
            </a:extLst>
          </p:cNvPr>
          <p:cNvSpPr txBox="1"/>
          <p:nvPr userDrawn="1"/>
        </p:nvSpPr>
        <p:spPr>
          <a:xfrm>
            <a:off x="402199" y="1431135"/>
            <a:ext cx="2973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25-28,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11CDB-CD01-841A-69AB-B3D3A5872802}"/>
              </a:ext>
            </a:extLst>
          </p:cNvPr>
          <p:cNvSpPr txBox="1"/>
          <p:nvPr userDrawn="1"/>
        </p:nvSpPr>
        <p:spPr>
          <a:xfrm>
            <a:off x="8849846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Oct 10-13, 2027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699D8C-C70E-FE1E-2A0F-D2D47884EE8D}"/>
              </a:ext>
            </a:extLst>
          </p:cNvPr>
          <p:cNvSpPr/>
          <p:nvPr userDrawn="1"/>
        </p:nvSpPr>
        <p:spPr>
          <a:xfrm>
            <a:off x="2535992" y="230806"/>
            <a:ext cx="712002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SAVE THE DATES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07CC49-AA2C-0E73-1A86-E77BA5C7526E}"/>
              </a:ext>
            </a:extLst>
          </p:cNvPr>
          <p:cNvSpPr txBox="1"/>
          <p:nvPr userDrawn="1"/>
        </p:nvSpPr>
        <p:spPr>
          <a:xfrm>
            <a:off x="4636424" y="1431135"/>
            <a:ext cx="2952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Aptos" panose="020B0004020202020204" pitchFamily="34" charset="0"/>
              </a:rPr>
              <a:t>May 2-6, 2027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C30B63-D045-B0E6-1A84-9D5B143DDE3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0674" y="2091583"/>
            <a:ext cx="2964728" cy="2964728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pic>
        <p:nvPicPr>
          <p:cNvPr id="13" name="Picture 12" descr="A black guitar with red text&#10;&#10;AI-generated content may be incorrect.">
            <a:extLst>
              <a:ext uri="{FF2B5EF4-FFF2-40B4-BE49-F238E27FC236}">
                <a16:creationId xmlns:a16="http://schemas.microsoft.com/office/drawing/2014/main" id="{424A81D4-437A-CD95-6B7C-A4349A47DD2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247" y="2075956"/>
            <a:ext cx="2980355" cy="2980355"/>
          </a:xfrm>
          <a:prstGeom prst="rect">
            <a:avLst/>
          </a:prstGeom>
          <a:ln w="28575">
            <a:solidFill>
              <a:schemeClr val="bg1">
                <a:lumMod val="9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260477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Q&amp;A"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MMS Logo">
            <a:extLst>
              <a:ext uri="{FF2B5EF4-FFF2-40B4-BE49-F238E27FC236}">
                <a16:creationId xmlns:a16="http://schemas.microsoft.com/office/drawing/2014/main" id="{46EAA7A9-8D45-D916-28B6-4E361AADC78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93937" y="1390152"/>
            <a:ext cx="2743200" cy="15712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CEB9E9-6A9D-3D7F-1D7E-64C798429A2C}"/>
              </a:ext>
            </a:extLst>
          </p:cNvPr>
          <p:cNvSpPr/>
          <p:nvPr userDrawn="1"/>
        </p:nvSpPr>
        <p:spPr>
          <a:xfrm>
            <a:off x="3062605" y="212625"/>
            <a:ext cx="6205866" cy="1200329"/>
          </a:xfrm>
          <a:prstGeom prst="rect">
            <a:avLst/>
          </a:prstGeom>
          <a:noFill/>
        </p:spPr>
        <p:txBody>
          <a:bodyPr vert="horz" wrap="none" lIns="91440" tIns="45720" rIns="91440" bIns="45720">
            <a:spAutoFit/>
          </a:bodyPr>
          <a:lstStyle/>
          <a:p>
            <a:pPr algn="ctr"/>
            <a:r>
              <a:rPr lang="en-US" sz="7200" b="1" u="none" cap="none" spc="0" baseline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ptos" panose="020B0004020202020204" pitchFamily="34" charset="0"/>
              </a:rPr>
              <a:t>Extended Q&amp;A</a:t>
            </a:r>
          </a:p>
        </p:txBody>
      </p:sp>
      <p:pic>
        <p:nvPicPr>
          <p:cNvPr id="15" name="Picture 14" descr="Patch My PC">
            <a:extLst>
              <a:ext uri="{FF2B5EF4-FFF2-40B4-BE49-F238E27FC236}">
                <a16:creationId xmlns:a16="http://schemas.microsoft.com/office/drawing/2014/main" id="{8A4E9904-CB45-3E0E-696F-D3FD79268A7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628" y="4135460"/>
            <a:ext cx="1258699" cy="914400"/>
          </a:xfrm>
          <a:prstGeom prst="rect">
            <a:avLst/>
          </a:prstGeom>
        </p:spPr>
      </p:pic>
      <p:pic>
        <p:nvPicPr>
          <p:cNvPr id="16" name="Picture 15" descr="A black and white logo&#10;&#10;Description automatically generated with low confidence">
            <a:extLst>
              <a:ext uri="{FF2B5EF4-FFF2-40B4-BE49-F238E27FC236}">
                <a16:creationId xmlns:a16="http://schemas.microsoft.com/office/drawing/2014/main" id="{43C261DF-C273-8B85-7BEA-3CB1DD08C69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4852" y="4226900"/>
            <a:ext cx="731520" cy="731520"/>
          </a:xfrm>
          <a:prstGeom prst="rect">
            <a:avLst/>
          </a:prstGeom>
        </p:spPr>
      </p:pic>
      <p:pic>
        <p:nvPicPr>
          <p:cNvPr id="18" name="Picture 17" descr="A grey rectangle with white and blue text&#10;&#10;Description automatically generated">
            <a:extLst>
              <a:ext uri="{FF2B5EF4-FFF2-40B4-BE49-F238E27FC236}">
                <a16:creationId xmlns:a16="http://schemas.microsoft.com/office/drawing/2014/main" id="{F8C63FAC-ABFA-70CE-8D89-D47ABA5CC26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15176" y="5249533"/>
            <a:ext cx="1188721" cy="457200"/>
          </a:xfrm>
          <a:prstGeom prst="rect">
            <a:avLst/>
          </a:prstGeom>
        </p:spPr>
      </p:pic>
      <p:pic>
        <p:nvPicPr>
          <p:cNvPr id="21" name="Picture 20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79FF2E51-F7AB-D3B9-AABE-FB46DCC3885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6251" y="6167385"/>
            <a:ext cx="901452" cy="410211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0A3AC7F1-3D93-C770-1878-626E2600894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08004" y="6348996"/>
            <a:ext cx="1503922" cy="2286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C9F9C7F-8CDE-12F1-8DD9-E08040FCF1BA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2255" y="6368384"/>
            <a:ext cx="1554480" cy="20921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6F3F9D-B490-FA74-DF0D-405DAA79C43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909" y="4306910"/>
            <a:ext cx="1554480" cy="6052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CCDFE6E-1CB9-DA2B-8122-2426251CA44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7703" y="5355030"/>
            <a:ext cx="1554480" cy="270344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E662A5E5-BEDF-2923-981A-FFD254ABA4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060619" y="4384263"/>
            <a:ext cx="1554480" cy="38862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A8F655CF-14A9-3C76-FB5B-5E772726C55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502" y="4409266"/>
            <a:ext cx="1554480" cy="366787"/>
          </a:xfrm>
          <a:prstGeom prst="rect">
            <a:avLst/>
          </a:prstGeom>
        </p:spPr>
      </p:pic>
      <p:pic>
        <p:nvPicPr>
          <p:cNvPr id="30" name="Picture 29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E42350D-8F9C-893D-D40A-C58551699BA9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saturation sat="0"/>
                    </a14:imgEffect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06890" y="5315255"/>
            <a:ext cx="1554480" cy="310119"/>
          </a:xfrm>
          <a:prstGeom prst="rect">
            <a:avLst/>
          </a:prstGeom>
        </p:spPr>
      </p:pic>
      <p:pic>
        <p:nvPicPr>
          <p:cNvPr id="31" name="Picture 30" descr="A white letters on a black background&#10;&#10;AI-generated content may be incorrect.">
            <a:extLst>
              <a:ext uri="{FF2B5EF4-FFF2-40B4-BE49-F238E27FC236}">
                <a16:creationId xmlns:a16="http://schemas.microsoft.com/office/drawing/2014/main" id="{9801BAC5-50DF-BA7A-DFD6-870E7DCE4D74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8964363" y="5326622"/>
            <a:ext cx="1554480" cy="32125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1DEC2DB-BCA7-3FE2-CB57-AB1B821F323F}"/>
              </a:ext>
            </a:extLst>
          </p:cNvPr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972" y="5846076"/>
            <a:ext cx="532014" cy="73152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2321056-273F-E68B-19D1-57AF101821FE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3196" y="6163652"/>
            <a:ext cx="1463040" cy="41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132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365651-282E-586C-B06B-5DB5D9944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24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913A01-90A4-D2D1-24E8-69DD5F5347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07787"/>
            <a:ext cx="10515600" cy="46691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12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9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73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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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B0B1B4-6987-442E-8B11-D82B4992D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5E00-A27D-612F-8389-A5568AC24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161DDB-CC2B-D54B-7517-E715290C3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B7999B-38B3-40EF-826B-655A64799C1B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F5C2E2-4322-B373-CCC7-8621FF671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BCAAE-4B09-81E1-1FAE-84D173487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51C39E-9AC5-4998-B89E-D6011DDB7C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71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62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90" r:id="rId12"/>
    <p:sldLayoutId id="2147483691" r:id="rId13"/>
    <p:sldLayoutId id="214748368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g"/><Relationship Id="rId4" Type="http://schemas.openxmlformats.org/officeDocument/2006/relationships/image" Target="../media/image3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sv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sv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sv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B669-2341-DF39-C682-5CB4698790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Automation for Good…</a:t>
            </a:r>
            <a:br>
              <a:rPr lang="en-US" dirty="0"/>
            </a:br>
            <a:r>
              <a:rPr lang="en-US" dirty="0"/>
              <a:t>and CHAOS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806C1F-6D02-FA11-F860-B05CFAC0C1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Will you help or hinder?</a:t>
            </a:r>
          </a:p>
        </p:txBody>
      </p:sp>
    </p:spTree>
    <p:extLst>
      <p:ext uri="{BB962C8B-B14F-4D97-AF65-F5344CB8AC3E}">
        <p14:creationId xmlns:p14="http://schemas.microsoft.com/office/powerpoint/2010/main" val="4018952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A5B3-89D5-147C-A57E-6754B809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5F291-B9CB-60BF-7307-F3FFC90C9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MMS sessions are 60-75 minutes followed by LONG Q&amp;A</a:t>
            </a:r>
          </a:p>
          <a:p>
            <a:r>
              <a:rPr lang="en-US" sz="2800" dirty="0"/>
              <a:t>Please hold detailed questions until that Q&amp;A starts</a:t>
            </a:r>
          </a:p>
          <a:p>
            <a:r>
              <a:rPr lang="en-US" sz="2800" dirty="0"/>
              <a:t>Feel free to ask clarification questions</a:t>
            </a:r>
          </a:p>
          <a:p>
            <a:r>
              <a:rPr lang="en-US" sz="2800" dirty="0"/>
              <a:t>Remind the speakers to use Zoom It when you can’t see</a:t>
            </a:r>
          </a:p>
        </p:txBody>
      </p:sp>
    </p:spTree>
    <p:extLst>
      <p:ext uri="{BB962C8B-B14F-4D97-AF65-F5344CB8AC3E}">
        <p14:creationId xmlns:p14="http://schemas.microsoft.com/office/powerpoint/2010/main" val="3743149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25A340F-1F9B-DA96-FDB6-3299A6F777AE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27412" y="1662310"/>
            <a:ext cx="2703513" cy="253841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1E5CAD-23FE-A4D7-B096-3334A7D79C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9" y="4200723"/>
            <a:ext cx="4572000" cy="457200"/>
          </a:xfrm>
        </p:spPr>
        <p:txBody>
          <a:bodyPr>
            <a:normAutofit/>
          </a:bodyPr>
          <a:lstStyle/>
          <a:p>
            <a:r>
              <a:rPr lang="en-US" dirty="0"/>
              <a:t>Scott Corio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FC71F19-CB0D-6056-8B2E-7670D5A913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95999" y="5261408"/>
            <a:ext cx="4572000" cy="914400"/>
          </a:xfrm>
        </p:spPr>
        <p:txBody>
          <a:bodyPr/>
          <a:lstStyle/>
          <a:p>
            <a:r>
              <a:rPr lang="en-US" dirty="0" err="1"/>
              <a:t>dumpsterdave</a:t>
            </a:r>
            <a:endParaRPr lang="en-US" dirty="0"/>
          </a:p>
          <a:p>
            <a:r>
              <a:rPr lang="en-US" dirty="0"/>
              <a:t>   in/</a:t>
            </a:r>
            <a:r>
              <a:rPr lang="en-US" dirty="0" err="1"/>
              <a:t>scottcorio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7177573-C298-FAF8-2140-0326B263D0A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9" y="4754880"/>
            <a:ext cx="4572000" cy="457200"/>
          </a:xfrm>
        </p:spPr>
        <p:txBody>
          <a:bodyPr/>
          <a:lstStyle/>
          <a:p>
            <a:r>
              <a:rPr lang="en-US" dirty="0"/>
              <a:t>Azure MVP, Chisel Noob</a:t>
            </a:r>
          </a:p>
        </p:txBody>
      </p:sp>
      <p:pic>
        <p:nvPicPr>
          <p:cNvPr id="20" name="Picture 19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E1AC05BA-1971-A281-7AFA-23F8D096912A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5275844"/>
            <a:ext cx="475488" cy="475488"/>
          </a:xfrm>
          <a:prstGeom prst="rect">
            <a:avLst/>
          </a:prstGeom>
        </p:spPr>
      </p:pic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EA575DEE-639D-0B06-B8E2-DFCDA35B9932}"/>
              </a:ext>
            </a:extLst>
          </p:cNvPr>
          <p:cNvSpPr txBox="1">
            <a:spLocks/>
          </p:cNvSpPr>
          <p:nvPr/>
        </p:nvSpPr>
        <p:spPr>
          <a:xfrm>
            <a:off x="1523999" y="4206239"/>
            <a:ext cx="45720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b="1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Donnie Taylor</a:t>
            </a:r>
            <a:endParaRPr lang="en-US" dirty="0"/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5DC9A53A-0365-AF5A-A57F-61A9944904E7}"/>
              </a:ext>
            </a:extLst>
          </p:cNvPr>
          <p:cNvSpPr txBox="1">
            <a:spLocks/>
          </p:cNvSpPr>
          <p:nvPr/>
        </p:nvSpPr>
        <p:spPr>
          <a:xfrm>
            <a:off x="1523999" y="5303520"/>
            <a:ext cx="4572000" cy="914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donnietaylor</a:t>
            </a:r>
          </a:p>
          <a:p>
            <a:r>
              <a:rPr lang="en-US"/>
              <a:t>in/donnietaylor</a:t>
            </a:r>
            <a:endParaRPr lang="en-US" dirty="0"/>
          </a:p>
        </p:txBody>
      </p:sp>
      <p:sp>
        <p:nvSpPr>
          <p:cNvPr id="32" name="Text Placeholder 7">
            <a:extLst>
              <a:ext uri="{FF2B5EF4-FFF2-40B4-BE49-F238E27FC236}">
                <a16:creationId xmlns:a16="http://schemas.microsoft.com/office/drawing/2014/main" id="{EA2F744D-B6CA-5540-18C8-7116946DFBE0}"/>
              </a:ext>
            </a:extLst>
          </p:cNvPr>
          <p:cNvSpPr txBox="1">
            <a:spLocks/>
          </p:cNvSpPr>
          <p:nvPr/>
        </p:nvSpPr>
        <p:spPr>
          <a:xfrm>
            <a:off x="1523999" y="4760396"/>
            <a:ext cx="4572000" cy="457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2400" kern="1200">
                <a:solidFill>
                  <a:schemeClr val="bg1"/>
                </a:solidFill>
                <a:latin typeface="Aptos" panose="020B0004020202020204" pitchFamily="34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MVP – Azure &amp; PowerShell</a:t>
            </a:r>
            <a:endParaRPr lang="en-US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69A9E38C-FF7C-9053-8AEA-1F31B8C511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79162" y="5718608"/>
            <a:ext cx="476250" cy="476250"/>
          </a:xfrm>
          <a:prstGeom prst="rect">
            <a:avLst/>
          </a:prstGeom>
        </p:spPr>
      </p:pic>
      <p:pic>
        <p:nvPicPr>
          <p:cNvPr id="34" name="Picture 33" descr="A blue face with black eyes&#10;&#10;AI-generated content may be incorrect.">
            <a:extLst>
              <a:ext uri="{FF2B5EF4-FFF2-40B4-BE49-F238E27FC236}">
                <a16:creationId xmlns:a16="http://schemas.microsoft.com/office/drawing/2014/main" id="{8B27E1C4-A6B3-6245-2456-1269978C46F0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924" y="5243120"/>
            <a:ext cx="475488" cy="475488"/>
          </a:xfrm>
          <a:prstGeom prst="rect">
            <a:avLst/>
          </a:prstGeom>
        </p:spPr>
      </p:pic>
      <p:pic>
        <p:nvPicPr>
          <p:cNvPr id="35" name="Picture 34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D54B6166-4A57-5C40-DE39-291BE7612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1988" y="1643504"/>
            <a:ext cx="2576023" cy="2576023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E125AC0-15DD-9BC3-4D06-023E80A799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5237" y="5741670"/>
            <a:ext cx="476250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782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75A6C-F8C4-DCAB-35E8-0B8D27F94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Automation Is 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EC0BFA-812A-E956-5478-91EA96849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2000" dirty="0"/>
              <a:t>It doesn't care what you build with it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Same trigger, same webhook, same AI node...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...could warn a community about a wildfire </a:t>
            </a:r>
            <a:r>
              <a:rPr lang="en-US" sz="2000" b="1" dirty="0">
                <a:solidFill>
                  <a:srgbClr val="10CF9B"/>
                </a:solidFill>
              </a:rPr>
              <a:t>OR</a:t>
            </a:r>
            <a:r>
              <a:rPr lang="en-US" sz="2000" dirty="0"/>
              <a:t> file a passive-aggressive GitHub issue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The code is the same. The </a:t>
            </a:r>
            <a:r>
              <a:rPr lang="en-US" sz="2000" i="1" dirty="0"/>
              <a:t>intent</a:t>
            </a:r>
            <a:r>
              <a:rPr lang="en-US" sz="2000" dirty="0"/>
              <a:t> is on you.</a:t>
            </a:r>
          </a:p>
          <a:p>
            <a:pPr marL="228600" indent="-228600">
              <a:buFont typeface="Arial"/>
              <a:buChar char="•"/>
            </a:pPr>
            <a:r>
              <a:rPr lang="en-US" sz="2000" dirty="0"/>
              <a:t>Tonight we explore </a:t>
            </a:r>
            <a:r>
              <a:rPr lang="en-US" sz="2000" b="1" dirty="0">
                <a:solidFill>
                  <a:srgbClr val="10CF9B"/>
                </a:solidFill>
              </a:rPr>
              <a:t>both</a:t>
            </a:r>
            <a:r>
              <a:rPr lang="en-US" sz="2000" dirty="0"/>
              <a:t>. No judgment. (Okay, a little judgment.)</a:t>
            </a:r>
          </a:p>
        </p:txBody>
      </p:sp>
    </p:spTree>
    <p:extLst>
      <p:ext uri="{BB962C8B-B14F-4D97-AF65-F5344CB8AC3E}">
        <p14:creationId xmlns:p14="http://schemas.microsoft.com/office/powerpoint/2010/main" val="2100830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45CC-8D37-B891-9DC4-B975ACDF9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n8n Building Blocks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2FCC5-FAFD-71A2-4289-2EBD99194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0BD0D9"/>
                </a:solidFill>
              </a:rPr>
              <a:t>Triggers</a:t>
            </a:r>
            <a:r>
              <a:rPr lang="en-US" sz="1600" dirty="0"/>
              <a:t>  — Webhook, Schedule, Event, or "someone did something dumb on GitHub"</a:t>
            </a:r>
          </a:p>
          <a:p>
            <a:pPr>
              <a:buNone/>
            </a:pP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800" b="1" dirty="0">
                <a:solidFill>
                  <a:srgbClr val="0BD0D9"/>
                </a:solidFill>
              </a:rPr>
              <a:t>Logic Nodes</a:t>
            </a:r>
            <a:r>
              <a:rPr lang="en-US" sz="1600" dirty="0"/>
              <a:t>  — IF, Switch, Merge, Loop, "keep escalating until someone cries"</a:t>
            </a:r>
          </a:p>
          <a:p>
            <a:pPr>
              <a:buNone/>
            </a:pP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800" b="1" dirty="0">
                <a:solidFill>
                  <a:srgbClr val="0BD0D9"/>
                </a:solidFill>
              </a:rPr>
              <a:t>AI Nodes</a:t>
            </a:r>
            <a:r>
              <a:rPr lang="en-US" sz="1600" dirty="0"/>
              <a:t>  — LLM calls, prompt chaining, structured output, righteous indignation</a:t>
            </a:r>
          </a:p>
          <a:p>
            <a:pPr>
              <a:buNone/>
            </a:pPr>
            <a:r>
              <a:rPr lang="en-US" sz="1400" dirty="0"/>
              <a:t> </a:t>
            </a:r>
          </a:p>
          <a:p>
            <a:pPr>
              <a:buNone/>
            </a:pPr>
            <a:r>
              <a:rPr lang="en-US" sz="1800" b="1" dirty="0">
                <a:solidFill>
                  <a:srgbClr val="0BD0D9"/>
                </a:solidFill>
              </a:rPr>
              <a:t>Actions</a:t>
            </a:r>
            <a:r>
              <a:rPr lang="en-US" sz="1600" dirty="0"/>
              <a:t>  — Email, Slack, GitHub API, spreadsheets, bureaucratic suffering</a:t>
            </a:r>
          </a:p>
        </p:txBody>
      </p:sp>
    </p:spTree>
    <p:extLst>
      <p:ext uri="{BB962C8B-B14F-4D97-AF65-F5344CB8AC3E}">
        <p14:creationId xmlns:p14="http://schemas.microsoft.com/office/powerpoint/2010/main" val="1035726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86EFE-07BC-78FB-261C-349939EAE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Tonight's Menu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ED0E4-012C-46B5-408C-909E77F670E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>
                <a:solidFill>
                  <a:srgbClr val="10CF9B"/>
                </a:solidFill>
              </a:rPr>
              <a:t>For Good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1600" b="1" dirty="0"/>
              <a:t>Simple Code Formatter</a:t>
            </a:r>
          </a:p>
          <a:p>
            <a:pPr marL="457200">
              <a:lnSpc>
                <a:spcPct val="100000"/>
              </a:lnSpc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Take the intern out of the codebase</a:t>
            </a:r>
          </a:p>
          <a:p>
            <a:pPr>
              <a:buNone/>
            </a:pPr>
            <a:endParaRPr lang="en-US" sz="1200" dirty="0"/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Community Risk Radar</a:t>
            </a:r>
          </a:p>
          <a:p>
            <a:pPr marL="457200" indent="-2286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Weather, FEMA, wildfire alerts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Daily IT Handoff</a:t>
            </a:r>
          </a:p>
          <a:p>
            <a:pPr marL="457200" indent="-2286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Email, Jira, GitHub — summarized</a:t>
            </a:r>
          </a:p>
          <a:p>
            <a:pPr marL="457200" indent="-228600">
              <a:buFont typeface="Arial"/>
              <a:buChar char="–"/>
            </a:pPr>
            <a:endParaRPr lang="en-US" sz="1400" i="1" dirty="0">
              <a:solidFill>
                <a:srgbClr val="A5C249"/>
              </a:solidFill>
            </a:endParaRPr>
          </a:p>
          <a:p>
            <a:pPr>
              <a:buFont typeface="Arial"/>
              <a:buChar char="•"/>
            </a:pPr>
            <a:r>
              <a:rPr lang="en-US" sz="1600" b="1" dirty="0"/>
              <a:t>Civic Data Brief</a:t>
            </a:r>
          </a:p>
          <a:p>
            <a:pPr marL="4572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Stay informed of your local government goings-on</a:t>
            </a:r>
          </a:p>
          <a:p>
            <a:pPr marL="457200">
              <a:buFont typeface="Arial"/>
              <a:buChar char="–"/>
            </a:pPr>
            <a:endParaRPr lang="en-US" sz="1400" i="1" dirty="0">
              <a:solidFill>
                <a:srgbClr val="A5C249"/>
              </a:solidFill>
            </a:endParaRPr>
          </a:p>
          <a:p>
            <a:pPr>
              <a:buFont typeface="Arial"/>
              <a:buChar char="•"/>
            </a:pPr>
            <a:r>
              <a:rPr lang="en-US" sz="1600" b="1" dirty="0"/>
              <a:t>Patch Tuesday for </a:t>
            </a:r>
            <a:r>
              <a:rPr lang="en-US" sz="1600" b="1" dirty="0" err="1"/>
              <a:t>NonProfits</a:t>
            </a:r>
            <a:endParaRPr lang="en-US" sz="1600" b="1" dirty="0"/>
          </a:p>
          <a:p>
            <a:pPr marL="4572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Stop the tech jargon when dealing with normal people</a:t>
            </a:r>
          </a:p>
          <a:p>
            <a:pPr marL="457200">
              <a:buFont typeface="Arial"/>
              <a:buChar char="–"/>
            </a:pPr>
            <a:endParaRPr lang="en-US" sz="1400" i="1" dirty="0">
              <a:solidFill>
                <a:srgbClr val="A5C249"/>
              </a:solidFill>
            </a:endParaRPr>
          </a:p>
          <a:p>
            <a:pPr marL="457200" indent="-228600">
              <a:buFont typeface="Arial"/>
              <a:buChar char="–"/>
            </a:pPr>
            <a:endParaRPr lang="en-US" sz="1400" i="1" dirty="0">
              <a:solidFill>
                <a:srgbClr val="A5C249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AEE4E9-FBAA-3829-4580-150146154BD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>
                <a:solidFill>
                  <a:srgbClr val="FF4444"/>
                </a:solidFill>
              </a:rPr>
              <a:t>For Chaos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GitHub Snark Bot</a:t>
            </a:r>
          </a:p>
          <a:p>
            <a:pPr marL="457200" indent="-2286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Someone's afternoon is about to get worse</a:t>
            </a:r>
          </a:p>
          <a:p>
            <a:pPr marL="457200" indent="-2286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Someone else’s is about to get yummy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HOA Asshole Engine</a:t>
            </a:r>
          </a:p>
          <a:p>
            <a:pPr marL="457200" indent="-2286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Your grass is 0.3" too tall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600" b="1" dirty="0"/>
              <a:t>IT Bureaucracy Machine</a:t>
            </a:r>
          </a:p>
          <a:p>
            <a:pPr marL="457200" indent="-228600">
              <a:buFont typeface="Arial"/>
              <a:buChar char="–"/>
            </a:pPr>
            <a:r>
              <a:rPr lang="en-US" sz="1400" i="1" dirty="0">
                <a:solidFill>
                  <a:srgbClr val="A5C249"/>
                </a:solidFill>
              </a:rPr>
              <a:t>Password reset? That'll be 3 meetings.</a:t>
            </a:r>
          </a:p>
        </p:txBody>
      </p:sp>
    </p:spTree>
    <p:extLst>
      <p:ext uri="{BB962C8B-B14F-4D97-AF65-F5344CB8AC3E}">
        <p14:creationId xmlns:p14="http://schemas.microsoft.com/office/powerpoint/2010/main" val="3275315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AF601-8253-A457-FF4A-F8BA10352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64FC5-A294-B7CF-ECF7-538328B8C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Simple Code Formatter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35D1E-54CF-D18B-B308-B4B947B939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Emojis never ever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belong in code</a:t>
            </a:r>
          </a:p>
        </p:txBody>
      </p:sp>
    </p:spTree>
    <p:extLst>
      <p:ext uri="{BB962C8B-B14F-4D97-AF65-F5344CB8AC3E}">
        <p14:creationId xmlns:p14="http://schemas.microsoft.com/office/powerpoint/2010/main" val="3945763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EBA0F-1299-0A2C-DF35-B9CDB1189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61E8E-122F-8BE7-78B6-2119E0543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95239"/>
            <a:ext cx="7933041" cy="2852737"/>
          </a:xfrm>
        </p:spPr>
        <p:txBody>
          <a:bodyPr/>
          <a:lstStyle/>
          <a:p>
            <a:pPr>
              <a:buNone/>
            </a:pPr>
            <a:r>
              <a:rPr lang="en-US" dirty="0"/>
              <a:t>AI Code </a:t>
            </a:r>
            <a:r>
              <a:rPr lang="en-US"/>
              <a:t>Formatter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808D2D-AA13-2772-9C92-3CF7D85A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3203564"/>
            <a:ext cx="7933041" cy="1500187"/>
          </a:xfrm>
        </p:spPr>
        <p:txBody>
          <a:bodyPr>
            <a:normAutofit fontScale="85000" lnSpcReduction="20000"/>
          </a:bodyPr>
          <a:lstStyle/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PowerShell, JavaScript &amp; TypeScript</a:t>
            </a:r>
            <a:r>
              <a:rPr lang="en-US" sz="1600" dirty="0"/>
              <a:t>  — One script, multiple languages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AI-powered formatting</a:t>
            </a:r>
            <a:r>
              <a:rPr lang="en-US" sz="1600" dirty="0"/>
              <a:t>  — Calls OpenAI to apply best practices &amp; style guides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Diff preview before applying</a:t>
            </a:r>
            <a:r>
              <a:rPr lang="en-US" sz="1600" dirty="0"/>
              <a:t>  — See every change in red/green before you commit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Dry-run &amp; auto-backup</a:t>
            </a:r>
            <a:r>
              <a:rPr lang="en-US" sz="1600" dirty="0"/>
              <a:t>  — Safe by default; .bak files unless you opt out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Recursive directory mode</a:t>
            </a:r>
            <a:r>
              <a:rPr lang="en-US" sz="1600" i="1" dirty="0"/>
              <a:t>  — Point it at a folder, walk the whole tree</a:t>
            </a:r>
          </a:p>
        </p:txBody>
      </p:sp>
      <p:pic>
        <p:nvPicPr>
          <p:cNvPr id="4" name="Graphic 4" descr="Code format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0" y="1778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433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7F995-B58B-14A6-9025-AE125408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Community Risk Radar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95FB8-7BB7-6265-A6C8-7463B14C9A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Because your neighborhood deserves better than a Facebook post</a:t>
            </a:r>
          </a:p>
        </p:txBody>
      </p:sp>
    </p:spTree>
    <p:extLst>
      <p:ext uri="{BB962C8B-B14F-4D97-AF65-F5344CB8AC3E}">
        <p14:creationId xmlns:p14="http://schemas.microsoft.com/office/powerpoint/2010/main" val="232965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A2816-4574-6395-D3A4-9613C9356A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9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83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24FAD-B2ED-5AD3-A9AC-DFE7060A9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95239"/>
            <a:ext cx="7933041" cy="2852737"/>
          </a:xfrm>
        </p:spPr>
        <p:txBody>
          <a:bodyPr/>
          <a:lstStyle/>
          <a:p>
            <a:pPr>
              <a:buNone/>
            </a:pPr>
            <a:r>
              <a:rPr lang="en-US" dirty="0"/>
              <a:t>What It Watches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DF9384-9E57-A9E5-FCEE-508AD1D4A6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3203564"/>
            <a:ext cx="7933041" cy="1500187"/>
          </a:xfrm>
        </p:spPr>
        <p:txBody>
          <a:bodyPr>
            <a:normAutofit fontScale="85000" lnSpcReduction="20000"/>
          </a:bodyPr>
          <a:lstStyle/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NWS Weather Alerts</a:t>
            </a:r>
            <a:r>
              <a:rPr lang="en-US" sz="1600" dirty="0"/>
              <a:t>  — Severe storms, tornadoes, frost events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USGS Flood Monitoring</a:t>
            </a:r>
            <a:r>
              <a:rPr lang="en-US" sz="1600" dirty="0"/>
              <a:t>  — River gauge levels, flood watches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Wildfire Alerts</a:t>
            </a:r>
            <a:r>
              <a:rPr lang="en-US" sz="1600" dirty="0"/>
              <a:t>  — Active incidents, perimeter updates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FEMA Declarations</a:t>
            </a:r>
            <a:r>
              <a:rPr lang="en-US" sz="1600" dirty="0"/>
              <a:t>  — Federal disaster declarations by county</a:t>
            </a:r>
          </a:p>
          <a:p>
            <a:pPr marL="228600" indent="-228600">
              <a:buFont typeface="Arial"/>
              <a:buChar char="•"/>
            </a:pPr>
            <a:r>
              <a:rPr lang="en-US" sz="1800" b="1" dirty="0">
                <a:solidFill>
                  <a:srgbClr val="10CF9B"/>
                </a:solidFill>
              </a:rPr>
              <a:t>Notifies your community via text, email, or Slack</a:t>
            </a:r>
            <a:r>
              <a:rPr lang="en-US" sz="1600" i="1" dirty="0"/>
              <a:t>  — No doomscrolling required</a:t>
            </a:r>
          </a:p>
        </p:txBody>
      </p:sp>
      <p:pic>
        <p:nvPicPr>
          <p:cNvPr id="4" name="Graphic 4" descr="Community risk aler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0" y="1778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20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D888B65-D1D1-CA41-9F5B-C0BECDDF3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Daily IT Handoff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305EC6-1224-F2AB-3276-B3EF440AF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morning standup you never have to actually have again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78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98F33-4243-9336-D204-FED7489F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61" y="474327"/>
            <a:ext cx="7933041" cy="2852737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Daily IT Handoff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0B9EB-C4F8-60E3-E8F6-01B8D64FA9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7" y="3495102"/>
            <a:ext cx="7933041" cy="1500187"/>
          </a:xfrm>
        </p:spPr>
        <p:txBody>
          <a:bodyPr>
            <a:normAutofit fontScale="70000" lnSpcReduction="20000"/>
          </a:bodyPr>
          <a:lstStyle/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Email</a:t>
            </a:r>
            <a:r>
              <a:rPr lang="en-US" dirty="0"/>
              <a:t>  — Unresolved threads, anything marked urgent (or yelled in caps)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GitHub Issues</a:t>
            </a:r>
            <a:r>
              <a:rPr lang="en-US" dirty="0"/>
              <a:t>  — Open PRs, stale issues, things that "should be a quick fix"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Jira Tasks</a:t>
            </a:r>
            <a:r>
              <a:rPr lang="en-US" dirty="0"/>
              <a:t>  — What's overdue, blocked, or "In Progress" since February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AI Summary</a:t>
            </a:r>
            <a:r>
              <a:rPr lang="en-US" dirty="0"/>
              <a:t>  — "Here's what actually matters today. You're welcome."</a:t>
            </a:r>
          </a:p>
          <a:p>
            <a:pPr algn="ctr">
              <a:buNone/>
            </a:pPr>
            <a:endParaRPr lang="en-US" dirty="0"/>
          </a:p>
        </p:txBody>
      </p:sp>
      <p:pic>
        <p:nvPicPr>
          <p:cNvPr id="5" name="Graphic 4" descr="IT handoff checklist icon">
            <a:extLst>
              <a:ext uri="{FF2B5EF4-FFF2-40B4-BE49-F238E27FC236}">
                <a16:creationId xmlns:a16="http://schemas.microsoft.com/office/drawing/2014/main" id="{D7CE0E65-F594-4248-E9C2-AE9FE007BA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5588" y="253675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245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1474-2C19-AAFF-5E92-7ECA9E5F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094F46-8D0C-F497-A4B6-6F7657F3F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Civic Briefer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EEF2F9-8F57-E6FD-7A76-F51FC4A093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have never in your life attended your local council.  You should.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0338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6D368-04F6-2FAA-B201-C1440A60E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8509-674A-00DA-6A32-14B6CA614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61" y="474327"/>
            <a:ext cx="7933041" cy="2852737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Civic Briefing 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B7D32-CFD1-4CCE-6053-D49BD87EE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7" y="3495102"/>
            <a:ext cx="7933041" cy="1500187"/>
          </a:xfrm>
        </p:spPr>
        <p:txBody>
          <a:bodyPr>
            <a:normAutofit fontScale="62500" lnSpcReduction="20000"/>
          </a:bodyPr>
          <a:lstStyle/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Legistar API</a:t>
            </a:r>
            <a:r>
              <a:rPr lang="en-US" dirty="0"/>
              <a:t>  — Pulls 90 days of Dallas City Council actions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Parse &amp; Categorize</a:t>
            </a:r>
            <a:r>
              <a:rPr lang="en-US" dirty="0"/>
              <a:t>  — Counts by type, status, flags what actually passed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AI Briefing</a:t>
            </a:r>
            <a:r>
              <a:rPr lang="en-US" dirty="0"/>
              <a:t>  — GPT writes a plain-English summary for nonprofits &amp; residents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Outlook Delivery</a:t>
            </a:r>
            <a:r>
              <a:rPr lang="en-US" dirty="0"/>
              <a:t>  — Hits your inbox with an Engagement Level: HIGH/MODERATE/ROUTINE</a:t>
            </a:r>
          </a:p>
          <a:p>
            <a:pPr algn="ctr">
              <a:buNone/>
            </a:pPr>
            <a:endParaRPr lang="en-US" dirty="0"/>
          </a:p>
        </p:txBody>
      </p:sp>
      <p:pic>
        <p:nvPicPr>
          <p:cNvPr id="4" name="Graphic 4" descr="City hall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54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76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63BF0-B963-9CC5-8D30-524D48EE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B62698-BDE7-BD72-D87B-97E3C1D6F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 Tuesday for Normal People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37F7A-62E8-AEF6-3FE9-A4C2660A1F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Working with non-IT people can be exhausting…..for them.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96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511E78-ABB8-755A-3653-80FDD113D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dirty="0"/>
              <a:t>Lost in Translation: Patch Tuesday Edition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84678A2-0216-266E-B7F9-59F0C4858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700" cy="127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 dirty="0"/>
          </a:p>
        </p:txBody>
      </p:sp>
      <p:sp>
        <p:nvSpPr>
          <p:cNvPr id="6" name="Hdr_IT"/>
          <p:cNvSpPr txBox="1"/>
          <p:nvPr/>
        </p:nvSpPr>
        <p:spPr>
          <a:xfrm>
            <a:off x="2367788" y="1524000"/>
            <a:ext cx="52705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spc="400" dirty="0">
                <a:solidFill>
                  <a:srgbClr val="FF3B30"/>
                </a:solidFill>
                <a:latin typeface="Courier New"/>
              </a:rPr>
              <a:t>WHAT IT READS</a:t>
            </a:r>
          </a:p>
        </p:txBody>
      </p:sp>
      <p:sp>
        <p:nvSpPr>
          <p:cNvPr id="7" name="Hdr_NP"/>
          <p:cNvSpPr txBox="1"/>
          <p:nvPr/>
        </p:nvSpPr>
        <p:spPr>
          <a:xfrm>
            <a:off x="7023608" y="1535176"/>
            <a:ext cx="53975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400" b="1" spc="400" dirty="0">
                <a:solidFill>
                  <a:srgbClr val="A5C249"/>
                </a:solidFill>
                <a:latin typeface="Courier New"/>
              </a:rPr>
              <a:t>WHAT THE DIRECTOR HEARS</a:t>
            </a:r>
          </a:p>
        </p:txBody>
      </p:sp>
      <p:sp>
        <p:nvSpPr>
          <p:cNvPr id="8" name="Row1_IT_BG"/>
          <p:cNvSpPr/>
          <p:nvPr/>
        </p:nvSpPr>
        <p:spPr>
          <a:xfrm>
            <a:off x="635000" y="1841500"/>
            <a:ext cx="5270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FF3B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Row1_IT_Text"/>
          <p:cNvSpPr txBox="1"/>
          <p:nvPr/>
        </p:nvSpPr>
        <p:spPr>
          <a:xfrm>
            <a:off x="635000" y="1841500"/>
            <a:ext cx="5270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chemeClr val="lt1"/>
                </a:solidFill>
                <a:latin typeface="Courier New"/>
              </a:rPr>
              <a:t>CVE-2025-21311: Unauthenticated RCE in HTTP.sys, CVSS 9.8, exploited in the wild. Patch immediately on all Windows Server 2022/2025 hosts.</a:t>
            </a:r>
          </a:p>
        </p:txBody>
      </p:sp>
      <p:sp>
        <p:nvSpPr>
          <p:cNvPr id="10" name="Row1_Arrow"/>
          <p:cNvSpPr/>
          <p:nvPr/>
        </p:nvSpPr>
        <p:spPr>
          <a:xfrm>
            <a:off x="5905500" y="2197100"/>
            <a:ext cx="228600" cy="177800"/>
          </a:xfrm>
          <a:prstGeom prst="rightArrow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Row1_NP_BG"/>
          <p:cNvSpPr/>
          <p:nvPr/>
        </p:nvSpPr>
        <p:spPr>
          <a:xfrm>
            <a:off x="6159500" y="1841500"/>
            <a:ext cx="5397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A5C2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Row1_NP_Text"/>
          <p:cNvSpPr txBox="1"/>
          <p:nvPr/>
        </p:nvSpPr>
        <p:spPr>
          <a:xfrm>
            <a:off x="6159500" y="1841500"/>
            <a:ext cx="5397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chemeClr val="lt2"/>
                </a:solidFill>
              </a:rPr>
              <a:t>“Something about a server. He said ‘HTTP’ twice and his eye started twitching.”</a:t>
            </a:r>
          </a:p>
        </p:txBody>
      </p:sp>
      <p:sp>
        <p:nvSpPr>
          <p:cNvPr id="13" name="Row2_IT_BG"/>
          <p:cNvSpPr/>
          <p:nvPr/>
        </p:nvSpPr>
        <p:spPr>
          <a:xfrm>
            <a:off x="635000" y="2806700"/>
            <a:ext cx="5270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FF3B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ow2_IT_Text"/>
          <p:cNvSpPr txBox="1"/>
          <p:nvPr/>
        </p:nvSpPr>
        <p:spPr>
          <a:xfrm>
            <a:off x="635000" y="2806700"/>
            <a:ext cx="5270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chemeClr val="lt1"/>
                </a:solidFill>
                <a:latin typeface="Courier New"/>
              </a:rPr>
              <a:t>Out-of-band patch supersedes KB5034441; reboot required, BitLocker recovery key prompt expected on UEFI fleet.</a:t>
            </a:r>
          </a:p>
        </p:txBody>
      </p:sp>
      <p:sp>
        <p:nvSpPr>
          <p:cNvPr id="15" name="Row2_Arrow"/>
          <p:cNvSpPr/>
          <p:nvPr/>
        </p:nvSpPr>
        <p:spPr>
          <a:xfrm>
            <a:off x="5905500" y="3162300"/>
            <a:ext cx="228600" cy="177800"/>
          </a:xfrm>
          <a:prstGeom prst="rightArrow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Row2_NP_BG"/>
          <p:cNvSpPr/>
          <p:nvPr/>
        </p:nvSpPr>
        <p:spPr>
          <a:xfrm>
            <a:off x="6159500" y="2806700"/>
            <a:ext cx="5397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A5C2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Row2_NP_Text"/>
          <p:cNvSpPr txBox="1"/>
          <p:nvPr/>
        </p:nvSpPr>
        <p:spPr>
          <a:xfrm>
            <a:off x="6159500" y="2806700"/>
            <a:ext cx="5397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chemeClr val="lt2"/>
                </a:solidFill>
              </a:rPr>
              <a:t>“He used the words ‘out of band’ and now nobody can log in. Should I be worried?”</a:t>
            </a:r>
          </a:p>
        </p:txBody>
      </p:sp>
      <p:sp>
        <p:nvSpPr>
          <p:cNvPr id="18" name="Row3_IT_BG"/>
          <p:cNvSpPr/>
          <p:nvPr/>
        </p:nvSpPr>
        <p:spPr>
          <a:xfrm>
            <a:off x="635000" y="3771900"/>
            <a:ext cx="5270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FF3B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Row3_IT_Text"/>
          <p:cNvSpPr txBox="1"/>
          <p:nvPr/>
        </p:nvSpPr>
        <p:spPr>
          <a:xfrm>
            <a:off x="635000" y="3771900"/>
            <a:ext cx="5270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chemeClr val="lt1"/>
                </a:solidFill>
                <a:latin typeface="Courier New"/>
              </a:rPr>
              <a:t>Mitigations available via registry workaround pending vendor hotfix; lateral movement via NTLM relay confirmed.</a:t>
            </a:r>
          </a:p>
        </p:txBody>
      </p:sp>
      <p:sp>
        <p:nvSpPr>
          <p:cNvPr id="20" name="Row3_Arrow"/>
          <p:cNvSpPr/>
          <p:nvPr/>
        </p:nvSpPr>
        <p:spPr>
          <a:xfrm>
            <a:off x="5905500" y="4127500"/>
            <a:ext cx="228600" cy="177800"/>
          </a:xfrm>
          <a:prstGeom prst="rightArrow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Row3_NP_BG"/>
          <p:cNvSpPr/>
          <p:nvPr/>
        </p:nvSpPr>
        <p:spPr>
          <a:xfrm>
            <a:off x="6159500" y="3771900"/>
            <a:ext cx="5397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A5C2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Row3_NP_Text"/>
          <p:cNvSpPr txBox="1"/>
          <p:nvPr/>
        </p:nvSpPr>
        <p:spPr>
          <a:xfrm>
            <a:off x="6159500" y="3771900"/>
            <a:ext cx="5397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chemeClr val="lt2"/>
                </a:solidFill>
              </a:rPr>
              <a:t>“He wants to edit the registry. Is that the thing the auditors said never to touch?”</a:t>
            </a:r>
          </a:p>
        </p:txBody>
      </p:sp>
      <p:sp>
        <p:nvSpPr>
          <p:cNvPr id="23" name="Row4_IT_BG"/>
          <p:cNvSpPr/>
          <p:nvPr/>
        </p:nvSpPr>
        <p:spPr>
          <a:xfrm>
            <a:off x="635000" y="4737100"/>
            <a:ext cx="5270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FF3B3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Row4_IT_Text"/>
          <p:cNvSpPr txBox="1"/>
          <p:nvPr/>
        </p:nvSpPr>
        <p:spPr>
          <a:xfrm>
            <a:off x="635000" y="4737100"/>
            <a:ext cx="5270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100" dirty="0">
                <a:solidFill>
                  <a:schemeClr val="lt1"/>
                </a:solidFill>
                <a:latin typeface="Courier New"/>
              </a:rPr>
              <a:t>13 Critical, 47 Important. One zero-day in Exchange. Defer non-essential patches to next maintenance window.</a:t>
            </a:r>
          </a:p>
        </p:txBody>
      </p:sp>
      <p:sp>
        <p:nvSpPr>
          <p:cNvPr id="25" name="Row4_Arrow"/>
          <p:cNvSpPr/>
          <p:nvPr/>
        </p:nvSpPr>
        <p:spPr>
          <a:xfrm>
            <a:off x="5905500" y="5092700"/>
            <a:ext cx="228600" cy="177800"/>
          </a:xfrm>
          <a:prstGeom prst="rightArrow">
            <a:avLst/>
          </a:prstGeom>
          <a:solidFill>
            <a:schemeClr val="lt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ow4_NP_BG"/>
          <p:cNvSpPr/>
          <p:nvPr/>
        </p:nvSpPr>
        <p:spPr>
          <a:xfrm>
            <a:off x="6159500" y="4737100"/>
            <a:ext cx="5397500" cy="889000"/>
          </a:xfrm>
          <a:prstGeom prst="roundRect">
            <a:avLst>
              <a:gd name="adj" fmla="val 8000"/>
            </a:avLst>
          </a:prstGeom>
          <a:solidFill>
            <a:srgbClr val="0F1A2E"/>
          </a:solidFill>
          <a:ln w="6350">
            <a:solidFill>
              <a:srgbClr val="A5C24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Row4_NP_Text"/>
          <p:cNvSpPr txBox="1"/>
          <p:nvPr/>
        </p:nvSpPr>
        <p:spPr>
          <a:xfrm>
            <a:off x="6159500" y="4737100"/>
            <a:ext cx="5397500" cy="889000"/>
          </a:xfrm>
          <a:prstGeom prst="rect">
            <a:avLst/>
          </a:prstGeom>
          <a:noFill/>
        </p:spPr>
        <p:txBody>
          <a:bodyPr wrap="square" lIns="115000" tIns="60000" rIns="115000" bIns="60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i="1" dirty="0">
                <a:solidFill>
                  <a:schemeClr val="lt2"/>
                </a:solidFill>
              </a:rPr>
              <a:t>“He sighed. He hasn't sighed like that since the printer thing. We’re definitely doomed.”</a:t>
            </a:r>
          </a:p>
        </p:txBody>
      </p:sp>
      <p:sp>
        <p:nvSpPr>
          <p:cNvPr id="28" name="Punchline_BG"/>
          <p:cNvSpPr/>
          <p:nvPr/>
        </p:nvSpPr>
        <p:spPr>
          <a:xfrm>
            <a:off x="1624955" y="5815376"/>
            <a:ext cx="9069089" cy="635000"/>
          </a:xfrm>
          <a:prstGeom prst="roundRect">
            <a:avLst>
              <a:gd name="adj" fmla="val 10000"/>
            </a:avLst>
          </a:prstGeom>
          <a:solidFill>
            <a:srgbClr val="10CF9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9" name="Punchline_Text"/>
          <p:cNvSpPr txBox="1"/>
          <p:nvPr/>
        </p:nvSpPr>
        <p:spPr>
          <a:xfrm>
            <a:off x="1624955" y="5815376"/>
            <a:ext cx="9069089" cy="635000"/>
          </a:xfrm>
          <a:prstGeom prst="rect">
            <a:avLst/>
          </a:prstGeom>
          <a:noFill/>
        </p:spPr>
        <p:txBody>
          <a:bodyPr wrap="square" lIns="180000" tIns="0" rIns="180000" bIns="0" anchor="ctr"/>
          <a:lstStyle/>
          <a:p>
            <a:pPr algn="ctr">
              <a:buNone/>
            </a:pPr>
            <a:r>
              <a:rPr lang="en-US" sz="1400" b="1" spc="200" dirty="0">
                <a:solidFill>
                  <a:srgbClr val="0F1A2E"/>
                </a:solidFill>
                <a:latin typeface="Courier New"/>
              </a:rPr>
              <a:t>WHAT THE BOT SENDS:  </a:t>
            </a:r>
            <a:br>
              <a:rPr lang="en-US" sz="1400" b="1" spc="200" dirty="0">
                <a:solidFill>
                  <a:srgbClr val="0F1A2E"/>
                </a:solidFill>
                <a:latin typeface="Courier New"/>
              </a:rPr>
            </a:br>
            <a:r>
              <a:rPr lang="en-US" sz="1400" b="1" dirty="0">
                <a:solidFill>
                  <a:srgbClr val="0F1A2E"/>
                </a:solidFill>
              </a:rPr>
              <a:t>“Patch your Windows servers this week. One thing is being actively attacked. Everything else can wait. Priority: HIGH.”</a:t>
            </a:r>
          </a:p>
        </p:txBody>
      </p:sp>
    </p:spTree>
    <p:extLst>
      <p:ext uri="{BB962C8B-B14F-4D97-AF65-F5344CB8AC3E}">
        <p14:creationId xmlns:p14="http://schemas.microsoft.com/office/powerpoint/2010/main" val="143423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0" grpId="0" animBg="1"/>
      <p:bldP spid="11" grpId="0" animBg="1"/>
      <p:bldP spid="12" grpId="0"/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 animBg="1"/>
      <p:bldP spid="22" grpId="0"/>
      <p:bldP spid="23" grpId="0" animBg="1"/>
      <p:bldP spid="24" grpId="0"/>
      <p:bldP spid="25" grpId="0" animBg="1"/>
      <p:bldP spid="26" grpId="0" animBg="1"/>
      <p:bldP spid="27" grpId="0"/>
      <p:bldP spid="28" grpId="0" animBg="1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C01A4E-0C15-8882-CD2D-3CA3FD71A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0781"/>
            <a:ext cx="12192000" cy="661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110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DF05-97B1-B033-57F9-BE21935C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5371C-8386-E7B3-F79F-50DAC45EF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7361" y="474327"/>
            <a:ext cx="7933041" cy="2852737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Patch Tuesday 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7F91C-40DC-6C46-4535-3768D21AB3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7" y="3495102"/>
            <a:ext cx="7933041" cy="1500187"/>
          </a:xfrm>
        </p:spPr>
        <p:txBody>
          <a:bodyPr>
            <a:normAutofit fontScale="62500" lnSpcReduction="20000"/>
          </a:bodyPr>
          <a:lstStyle/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MSRC API</a:t>
            </a:r>
            <a:r>
              <a:rPr lang="en-US" dirty="0"/>
              <a:t>  — Pulls the latest Patch Tuesday CVRF document from Microsoft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Parse &amp; Prioritize</a:t>
            </a:r>
            <a:r>
              <a:rPr lang="en-US" dirty="0"/>
              <a:t>  — Counts criticals, flags zero-days exploited in the wild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AI Briefing</a:t>
            </a:r>
            <a:r>
              <a:rPr lang="en-US" dirty="0"/>
              <a:t>  — GPT writes plain English: “patch now” vs. “this can wait”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10CF9B"/>
                </a:solidFill>
              </a:rPr>
              <a:t>Outlook Delivery</a:t>
            </a:r>
            <a:r>
              <a:rPr lang="en-US" dirty="0"/>
              <a:t>  — Hits your inbox with a Priority Level: CRITICAL/HIGH/MODERATE/ROUTINE</a:t>
            </a:r>
          </a:p>
          <a:p>
            <a:pPr algn="ctr">
              <a:buNone/>
            </a:pPr>
            <a:endParaRPr lang="en-US" dirty="0"/>
          </a:p>
        </p:txBody>
      </p:sp>
      <p:pic>
        <p:nvPicPr>
          <p:cNvPr id="5" name="Graphic 5" descr="Security shiel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79100" y="2540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68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AD021-0981-627A-4C5A-D7BED6BE6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"Good"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AF0BC-F54B-39E4-59C3-4D3BCCA16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600" b="1" dirty="0">
                <a:solidFill>
                  <a:srgbClr val="A5C249"/>
                </a:solidFill>
              </a:rPr>
              <a:t>Real-world signal  →  Aggregate  →  Summarize with AI  →  Notify humans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Schedule or webhook </a:t>
            </a:r>
            <a:r>
              <a:rPr lang="en-US" sz="1700" b="1" dirty="0">
                <a:solidFill>
                  <a:srgbClr val="0BD0D9"/>
                </a:solidFill>
              </a:rPr>
              <a:t>triggers</a:t>
            </a:r>
            <a:r>
              <a:rPr lang="en-US" sz="1700" dirty="0"/>
              <a:t> the workflow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HTTP nodes </a:t>
            </a:r>
            <a:r>
              <a:rPr lang="en-US" sz="1700" b="1" dirty="0">
                <a:solidFill>
                  <a:srgbClr val="0BD0D9"/>
                </a:solidFill>
              </a:rPr>
              <a:t>poll</a:t>
            </a:r>
            <a:r>
              <a:rPr lang="en-US" sz="1700" dirty="0"/>
              <a:t> multiple public APIs in parallel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IF nodes </a:t>
            </a:r>
            <a:r>
              <a:rPr lang="en-US" sz="1700" b="1" dirty="0">
                <a:solidFill>
                  <a:srgbClr val="0BD0D9"/>
                </a:solidFill>
              </a:rPr>
              <a:t>filter</a:t>
            </a:r>
            <a:r>
              <a:rPr lang="en-US" sz="1700" dirty="0"/>
              <a:t> noise — only act on real alerts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LLM node </a:t>
            </a:r>
            <a:r>
              <a:rPr lang="en-US" sz="1700" b="1" dirty="0">
                <a:solidFill>
                  <a:srgbClr val="0BD0D9"/>
                </a:solidFill>
              </a:rPr>
              <a:t>summarizes</a:t>
            </a:r>
            <a:r>
              <a:rPr lang="en-US" sz="1700" dirty="0"/>
              <a:t> and writes the human-readable message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Email/Slack/SMS node </a:t>
            </a:r>
            <a:r>
              <a:rPr lang="en-US" sz="1700" b="1" dirty="0">
                <a:solidFill>
                  <a:srgbClr val="0BD0D9"/>
                </a:solidFill>
              </a:rPr>
              <a:t>delivers</a:t>
            </a:r>
            <a:r>
              <a:rPr lang="en-US" sz="1700" dirty="0"/>
              <a:t> it</a:t>
            </a:r>
          </a:p>
        </p:txBody>
      </p:sp>
    </p:spTree>
    <p:extLst>
      <p:ext uri="{BB962C8B-B14F-4D97-AF65-F5344CB8AC3E}">
        <p14:creationId xmlns:p14="http://schemas.microsoft.com/office/powerpoint/2010/main" val="8913889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43C5F-16A5-9651-3BFB-055297B54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Automation for Chaos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EB5DE-2E9A-7E07-3A6C-061C28E9C0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Same techniques. Significantly worse intentions. Zero regrets.</a:t>
            </a:r>
          </a:p>
        </p:txBody>
      </p:sp>
    </p:spTree>
    <p:extLst>
      <p:ext uri="{BB962C8B-B14F-4D97-AF65-F5344CB8AC3E}">
        <p14:creationId xmlns:p14="http://schemas.microsoft.com/office/powerpoint/2010/main" val="7524923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0E3EA-D650-587F-FFE2-4855F3614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043A2-64B2-B075-B19B-8B9D910FCA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Simple Code F@#$@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99B83-7E1F-719C-F2C7-F62BB1555E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Emojis never ever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</a:t>
            </a:r>
            <a:r>
              <a:rPr lang="en-US" dirty="0" err="1"/>
              <a:t>ever</a:t>
            </a:r>
            <a:r>
              <a:rPr lang="en-US" dirty="0"/>
              <a:t> belong in code</a:t>
            </a:r>
          </a:p>
        </p:txBody>
      </p:sp>
    </p:spTree>
    <p:extLst>
      <p:ext uri="{BB962C8B-B14F-4D97-AF65-F5344CB8AC3E}">
        <p14:creationId xmlns:p14="http://schemas.microsoft.com/office/powerpoint/2010/main" val="26933910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E029F-F40E-903E-F71D-5218EA5A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8C117-206A-B811-A6F1-37C9E7B66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4408" y="95239"/>
            <a:ext cx="7933041" cy="2852737"/>
          </a:xfrm>
        </p:spPr>
        <p:txBody>
          <a:bodyPr/>
          <a:lstStyle/>
          <a:p>
            <a:pPr algn="ctr">
              <a:buNone/>
            </a:pPr>
            <a:r>
              <a:rPr lang="en-US" dirty="0"/>
              <a:t>Emoji Chaos 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A6ED-F5B0-26A0-4F9D-2ED5F565C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4408" y="3203564"/>
            <a:ext cx="7933041" cy="1500187"/>
          </a:xfrm>
        </p:spPr>
        <p:txBody>
          <a:bodyPr>
            <a:normAutofit fontScale="62500" lnSpcReduction="20000"/>
          </a:bodyPr>
          <a:lstStyle/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FF3B30"/>
                </a:solidFill>
              </a:rPr>
              <a:t>Read Code</a:t>
            </a:r>
            <a:r>
              <a:rPr lang="en-US" dirty="0"/>
              <a:t>  — Slurps your beautifully formatted .ps1, .js, or .ts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FF3B30"/>
                </a:solidFill>
              </a:rPr>
              <a:t>Summon GPT</a:t>
            </a:r>
            <a:r>
              <a:rPr lang="en-US" dirty="0"/>
              <a:t>  — Asks the AI to ruin it: cursed comments, emojis, RaNdOm CaSe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FF3B30"/>
                </a:solidFill>
              </a:rPr>
              <a:t>Validate</a:t>
            </a:r>
            <a:r>
              <a:rPr lang="en-US" dirty="0"/>
              <a:t>  — Parser confirms the chaos still runs (we're vandals, not monsters)</a:t>
            </a:r>
          </a:p>
          <a:p>
            <a:pPr>
              <a:buFont typeface="Arial"/>
              <a:buChar char="•"/>
            </a:pPr>
            <a:r>
              <a:rPr lang="en-US" sz="2800" b="1" dirty="0">
                <a:solidFill>
                  <a:srgbClr val="FF3B30"/>
                </a:solidFill>
              </a:rPr>
              <a:t>Apply Damage</a:t>
            </a:r>
            <a:r>
              <a:rPr lang="en-US" dirty="0"/>
              <a:t>  — Saves the abomination, keeps a .bak so you can undo your mistake</a:t>
            </a:r>
          </a:p>
          <a:p>
            <a:pPr algn="ctr">
              <a:buNone/>
            </a:pPr>
            <a:endParaRPr lang="en-US" dirty="0"/>
          </a:p>
        </p:txBody>
      </p:sp>
      <p:pic>
        <p:nvPicPr>
          <p:cNvPr id="4" name="Graphic 4" descr="Code formatting icon">
            <a:extLst>
              <a:ext uri="{FF2B5EF4-FFF2-40B4-BE49-F238E27FC236}">
                <a16:creationId xmlns:a16="http://schemas.microsoft.com/office/drawing/2014/main" id="{EA2E8104-0127-682C-5053-183B02AA70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0" y="1778000"/>
            <a:ext cx="914400" cy="914400"/>
          </a:xfrm>
          <a:prstGeom prst="rect">
            <a:avLst/>
          </a:prstGeom>
        </p:spPr>
      </p:pic>
      <p:pic>
        <p:nvPicPr>
          <p:cNvPr id="5" name="Graphic 5" descr="Skull icon for chao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0" y="1778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7697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BB6325D-5FD8-2BC0-7E63-B41AABF2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</a:t>
            </a:r>
            <a:r>
              <a:rPr lang="en-US" sz="1400" dirty="0"/>
              <a:t>(hub) </a:t>
            </a:r>
            <a:r>
              <a:rPr lang="en-US" dirty="0" err="1"/>
              <a:t>Outta</a:t>
            </a:r>
            <a:r>
              <a:rPr lang="en-US" dirty="0"/>
              <a:t>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32FFAA-0240-CEFF-9C05-6D18D5E00D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Something hype-worthy is about to happen...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1301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EB158-55A2-E56D-C737-A7A2C76D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861D4-D90E-FFC4-FD03-B132E993A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700" dirty="0"/>
              <a:t>Fetches </a:t>
            </a:r>
            <a:r>
              <a:rPr lang="en-US" sz="1700" b="1" dirty="0">
                <a:solidFill>
                  <a:srgbClr val="FF4444"/>
                </a:solidFill>
              </a:rPr>
              <a:t>all public repos</a:t>
            </a:r>
            <a:r>
              <a:rPr lang="en-US" sz="1700" dirty="0"/>
              <a:t> for a given GitHub username via API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AI reviews each repo — README, commit history, general vibes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Generates </a:t>
            </a:r>
            <a:r>
              <a:rPr lang="en-US" sz="1700" b="1" dirty="0">
                <a:solidFill>
                  <a:srgbClr val="FF4444"/>
                </a:solidFill>
              </a:rPr>
              <a:t>snarky, passive-aggressive GitHub issues</a:t>
            </a:r>
            <a:r>
              <a:rPr lang="en-US" sz="1700" dirty="0"/>
              <a:t> against their code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Files them automatically. </a:t>
            </a:r>
          </a:p>
          <a:p>
            <a:pPr marL="228600" indent="-228600">
              <a:buFont typeface="Arial"/>
              <a:buChar char="•"/>
            </a:pPr>
            <a:endParaRPr lang="en-US" sz="1200" dirty="0"/>
          </a:p>
          <a:p>
            <a:pPr>
              <a:buNone/>
            </a:pPr>
            <a:r>
              <a:rPr lang="en-US" sz="3200" i="1" dirty="0">
                <a:solidFill>
                  <a:srgbClr val="A5C249"/>
                </a:solidFill>
              </a:rPr>
              <a:t>This README has less documentation than a sticky note.</a:t>
            </a:r>
          </a:p>
          <a:p>
            <a:pPr>
              <a:buNone/>
            </a:pPr>
            <a:endParaRPr lang="en-US" sz="3200" i="1" dirty="0">
              <a:solidFill>
                <a:srgbClr val="A5C249"/>
              </a:solidFill>
            </a:endParaRPr>
          </a:p>
          <a:p>
            <a:pPr>
              <a:buNone/>
            </a:pPr>
            <a:r>
              <a:rPr lang="en-US" sz="3200" i="1" dirty="0">
                <a:solidFill>
                  <a:srgbClr val="A5C249"/>
                </a:solidFill>
              </a:rPr>
              <a:t>Bold choice.</a:t>
            </a:r>
          </a:p>
          <a:p>
            <a:pPr>
              <a:buNone/>
            </a:pPr>
            <a:endParaRPr lang="en-US" sz="3200" i="1" dirty="0">
              <a:solidFill>
                <a:srgbClr val="A5C249"/>
              </a:solidFill>
            </a:endParaRPr>
          </a:p>
        </p:txBody>
      </p:sp>
      <p:pic>
        <p:nvPicPr>
          <p:cNvPr id="4" name="Graphic 4" descr="Snark bot robot hand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0" y="1778000"/>
            <a:ext cx="914400" cy="914400"/>
          </a:xfrm>
          <a:prstGeom prst="rect">
            <a:avLst/>
          </a:prstGeom>
        </p:spPr>
      </p:pic>
      <p:pic>
        <p:nvPicPr>
          <p:cNvPr id="1028" name="Picture 4" descr="I'm not a jerk - I'M NOT A JERK I'M JUST PASSIONATE ABOUT MY WORK Grumpy Cat">
            <a:extLst>
              <a:ext uri="{FF2B5EF4-FFF2-40B4-BE49-F238E27FC236}">
                <a16:creationId xmlns:a16="http://schemas.microsoft.com/office/drawing/2014/main" id="{6F746A38-062E-5A9B-EDF2-021315104A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576" y="717177"/>
            <a:ext cx="7674069" cy="510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5210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bg>
      <p:bgPr>
        <a:solidFill>
          <a:srgbClr val="06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60E14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HeaderBg"/>
          <p:cNvSpPr/>
          <p:nvPr/>
        </p:nvSpPr>
        <p:spPr>
          <a:xfrm>
            <a:off x="0" y="0"/>
            <a:ext cx="12192000" cy="571800"/>
          </a:xfrm>
          <a:prstGeom prst="rect">
            <a:avLst/>
          </a:prstGeom>
          <a:solidFill>
            <a:srgbClr val="071F2E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Header"/>
          <p:cNvSpPr txBox="1"/>
          <p:nvPr/>
        </p:nvSpPr>
        <p:spPr>
          <a:xfrm>
            <a:off x="2790564" y="-19050"/>
            <a:ext cx="8000400" cy="57180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r>
              <a:rPr lang="en-US" sz="2000" b="1" dirty="0">
                <a:solidFill>
                  <a:srgbClr val="10CF9B"/>
                </a:solidFill>
                <a:latin typeface="Courier New"/>
              </a:rPr>
              <a:t>[ MMSMOA GITHUB TARGET SYSTEM v2.0 ]</a:t>
            </a:r>
          </a:p>
        </p:txBody>
      </p:sp>
      <p:sp>
        <p:nvSpPr>
          <p:cNvPr id="5" name="Div"/>
          <p:cNvSpPr/>
          <p:nvPr/>
        </p:nvSpPr>
        <p:spPr>
          <a:xfrm flipV="1">
            <a:off x="0" y="526081"/>
            <a:ext cx="12192000" cy="45719"/>
          </a:xfrm>
          <a:prstGeom prst="rect">
            <a:avLst/>
          </a:prstGeom>
          <a:solidFill>
            <a:srgbClr val="10CF9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Line1"/>
          <p:cNvSpPr txBox="1"/>
          <p:nvPr/>
        </p:nvSpPr>
        <p:spPr>
          <a:xfrm>
            <a:off x="571799" y="686100"/>
            <a:ext cx="11301954" cy="358902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000" dirty="0">
                <a:solidFill>
                  <a:srgbClr val="10CF9B"/>
                </a:solidFill>
                <a:latin typeface="Courier New"/>
              </a:rPr>
              <a:t>INITIATING TARGET SCAN...</a:t>
            </a:r>
          </a:p>
          <a:p>
            <a:endParaRPr lang="en-US" sz="2000" dirty="0">
              <a:solidFill>
                <a:srgbClr val="10CF9B"/>
              </a:solidFill>
              <a:latin typeface="Courier New"/>
            </a:endParaRPr>
          </a:p>
          <a:p>
            <a:r>
              <a:rPr lang="en-US" sz="2000" dirty="0">
                <a:solidFill>
                  <a:srgbClr val="6DBF6D"/>
                </a:solidFill>
                <a:latin typeface="Courier New"/>
              </a:rPr>
              <a:t>&gt; FUEL SOURCE............: Coffee (critical dependency)</a:t>
            </a:r>
            <a:br>
              <a:rPr lang="en-US" sz="2000" dirty="0">
                <a:solidFill>
                  <a:srgbClr val="6DBF6D"/>
                </a:solidFill>
                <a:latin typeface="Courier New"/>
              </a:rPr>
            </a:br>
            <a:br>
              <a:rPr lang="en-US" sz="2000" dirty="0">
                <a:solidFill>
                  <a:srgbClr val="6DBF6D"/>
                </a:solidFill>
                <a:latin typeface="Courier New"/>
              </a:rPr>
            </a:br>
            <a:r>
              <a:rPr lang="en-US" sz="2000" dirty="0">
                <a:solidFill>
                  <a:srgbClr val="6DBF6D"/>
                </a:solidFill>
                <a:latin typeface="Courier New"/>
              </a:rPr>
              <a:t>&gt; TECHNICAL CERTS .......: Microsoft MVP</a:t>
            </a:r>
            <a:br>
              <a:rPr lang="en-US" sz="2000" dirty="0">
                <a:solidFill>
                  <a:srgbClr val="6DBF6D"/>
                </a:solidFill>
                <a:latin typeface="Courier New"/>
              </a:rPr>
            </a:br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r>
              <a:rPr lang="en-US" sz="2000" dirty="0">
                <a:solidFill>
                  <a:srgbClr val="6DBF6D"/>
                </a:solidFill>
                <a:latin typeface="Courier New"/>
              </a:rPr>
              <a:t>&gt; PRIMARY LANGUAGE.......: PowerShell</a:t>
            </a: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r>
              <a:rPr lang="en-US" sz="2000" dirty="0">
                <a:solidFill>
                  <a:srgbClr val="6DBF6D"/>
                </a:solidFill>
                <a:latin typeface="Courier New"/>
              </a:rPr>
              <a:t>&gt; LAST GIST..............: Remove-AzArcAgent.ps1</a:t>
            </a: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r>
              <a:rPr lang="en-US" sz="2000" dirty="0">
                <a:solidFill>
                  <a:srgbClr val="6DBF6D"/>
                </a:solidFill>
                <a:latin typeface="Courier New"/>
              </a:rPr>
              <a:t>&gt; SPECIALIZATION.........: Intune / Endpoint / Azure Arc</a:t>
            </a:r>
            <a:br>
              <a:rPr lang="en-US" sz="2000" dirty="0">
                <a:solidFill>
                  <a:srgbClr val="6DBF6D"/>
                </a:solidFill>
                <a:latin typeface="Courier New"/>
              </a:rPr>
            </a:br>
            <a:br>
              <a:rPr lang="en-US" sz="2000" dirty="0">
                <a:solidFill>
                  <a:srgbClr val="6DBF6D"/>
                </a:solidFill>
                <a:latin typeface="Courier New"/>
              </a:rPr>
            </a:br>
            <a:r>
              <a:rPr lang="en-US" sz="2000" dirty="0">
                <a:solidFill>
                  <a:srgbClr val="6DBF6D"/>
                </a:solidFill>
                <a:latin typeface="Courier New"/>
              </a:rPr>
              <a:t>&gt; QUIRKS.................: Word Processing: 50Hz, Word Output: 200Hz</a:t>
            </a: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r>
              <a:rPr lang="en-US" sz="2000" dirty="0">
                <a:solidFill>
                  <a:srgbClr val="FF8C00"/>
                </a:solidFill>
                <a:latin typeface="Courier New"/>
              </a:rPr>
              <a:t>&gt; GITHUB HANDLE..........: ████████████</a:t>
            </a: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endParaRPr lang="en-US" sz="2000" dirty="0">
              <a:solidFill>
                <a:srgbClr val="6DBF6D"/>
              </a:solidFill>
              <a:latin typeface="Courier New"/>
            </a:endParaRPr>
          </a:p>
          <a:p>
            <a:endParaRPr lang="en-US" sz="2000" dirty="0">
              <a:solidFill>
                <a:srgbClr val="10CF9B"/>
              </a:solidFill>
              <a:latin typeface="Courier New"/>
            </a:endParaRPr>
          </a:p>
        </p:txBody>
      </p:sp>
      <p:sp>
        <p:nvSpPr>
          <p:cNvPr id="16" name="Line7"/>
          <p:cNvSpPr txBox="1"/>
          <p:nvPr/>
        </p:nvSpPr>
        <p:spPr>
          <a:xfrm>
            <a:off x="571800" y="3928410"/>
            <a:ext cx="8000400" cy="480060"/>
          </a:xfrm>
          <a:prstGeom prst="rect">
            <a:avLst/>
          </a:prstGeom>
          <a:noFill/>
        </p:spPr>
        <p:txBody>
          <a:bodyPr wrap="square" anchor="ctr"/>
          <a:lstStyle/>
          <a:p>
            <a:pPr>
              <a:buNone/>
            </a:pPr>
            <a:endParaRPr lang="en-US" sz="1800" dirty="0">
              <a:solidFill>
                <a:srgbClr val="FF8C00"/>
              </a:solidFill>
              <a:latin typeface="Courier New"/>
            </a:endParaRPr>
          </a:p>
        </p:txBody>
      </p:sp>
      <p:sp>
        <p:nvSpPr>
          <p:cNvPr id="20" name="RevealBox"/>
          <p:cNvSpPr/>
          <p:nvPr/>
        </p:nvSpPr>
        <p:spPr>
          <a:xfrm>
            <a:off x="1674459" y="5372174"/>
            <a:ext cx="8000400" cy="1447800"/>
          </a:xfrm>
          <a:prstGeom prst="roundRect">
            <a:avLst>
              <a:gd name="adj" fmla="val 10000"/>
            </a:avLst>
          </a:prstGeom>
          <a:solidFill>
            <a:srgbClr val="160404"/>
          </a:solidFill>
          <a:ln w="76200">
            <a:solidFill>
              <a:srgbClr val="FF4444"/>
            </a:solidFill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600" dirty="0">
                <a:solidFill>
                  <a:srgbClr val="FFBBBB"/>
                </a:solidFill>
                <a:latin typeface="Courier New"/>
              </a:rPr>
              <a:t>&gt; TARGET IDENTIFIED</a:t>
            </a:r>
          </a:p>
          <a:p>
            <a:pPr algn="ctr">
              <a:buNone/>
            </a:pPr>
            <a:r>
              <a:rPr lang="en-US" sz="5600" b="1" dirty="0">
                <a:solidFill>
                  <a:srgbClr val="10CF9B"/>
                </a:solidFill>
                <a:latin typeface="Courier New"/>
              </a:rPr>
              <a:t>@AllwaysHyPe</a:t>
            </a:r>
          </a:p>
        </p:txBody>
      </p:sp>
    </p:spTree>
    <p:extLst>
      <p:ext uri="{BB962C8B-B14F-4D97-AF65-F5344CB8AC3E}">
        <p14:creationId xmlns:p14="http://schemas.microsoft.com/office/powerpoint/2010/main" val="1126221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101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302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953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154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4605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5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6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27" dur="500" tmFilter="0, 0; .2, .5; .8, .5; 1, 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8" dur="250" autoRev="1" fill="hold"/>
                                        <p:tgtEl>
                                          <p:spTgt spid="2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allAtOnce"/>
      <p:bldP spid="20" grpId="0" animBg="1"/>
      <p:bldP spid="2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658FD-D1FC-6EB1-09E2-ABA182E57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GitHub Snark Bot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228A3B-3214-DB62-45A2-89679130F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510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5EBBC-3B2B-42CB-36A4-EE558826A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H.O.A-HOLE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7E4C46-E293-FE35-4675-90291DF09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1637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D1E0-E511-6113-D68E-01B214BE2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A3D5CA-7427-21FB-9275-915C67D9C6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700" b="1" dirty="0">
                <a:solidFill>
                  <a:srgbClr val="FF4444"/>
                </a:solidFill>
              </a:rPr>
              <a:t>Input:</a:t>
            </a:r>
            <a:r>
              <a:rPr lang="en-US" sz="1700" dirty="0"/>
              <a:t> a street address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Fetches </a:t>
            </a:r>
            <a:r>
              <a:rPr lang="en-US" sz="1700" b="1" dirty="0"/>
              <a:t>Google Street View</a:t>
            </a:r>
            <a:r>
              <a:rPr lang="en-US" sz="1700" dirty="0"/>
              <a:t> images of the property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Searches for </a:t>
            </a:r>
            <a:r>
              <a:rPr lang="en-US" sz="1700" b="1" dirty="0">
                <a:solidFill>
                  <a:srgbClr val="FF0000"/>
                </a:solidFill>
              </a:rPr>
              <a:t>HOA CC&amp;R guidelines </a:t>
            </a:r>
            <a:r>
              <a:rPr lang="en-US" sz="1700" dirty="0"/>
              <a:t>for that address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AI cross-references images vs. rules and </a:t>
            </a:r>
            <a:r>
              <a:rPr lang="en-US" sz="1700" b="1" dirty="0">
                <a:solidFill>
                  <a:srgbClr val="FF4444"/>
                </a:solidFill>
              </a:rPr>
              <a:t>suggests violations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Outputs a formal, extremely pedantic violation report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r>
              <a:rPr lang="en-US" sz="3200" i="1" dirty="0">
                <a:solidFill>
                  <a:srgbClr val="A5C249"/>
                </a:solidFill>
              </a:rPr>
              <a:t>"Lawn appears to exceed 3.5 inches. Section 4.2.1 weeps."</a:t>
            </a:r>
          </a:p>
        </p:txBody>
      </p:sp>
      <p:pic>
        <p:nvPicPr>
          <p:cNvPr id="4" name="Graphic 4" descr="HOA hous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68000" y="177800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287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98D0-2E40-CB78-EF4A-EB7BD761E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HOA Engine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4F52A-992E-2F3C-3478-E7A06C1E44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The automation your neighbor absolutely deserves</a:t>
            </a:r>
          </a:p>
        </p:txBody>
      </p:sp>
    </p:spTree>
    <p:extLst>
      <p:ext uri="{BB962C8B-B14F-4D97-AF65-F5344CB8AC3E}">
        <p14:creationId xmlns:p14="http://schemas.microsoft.com/office/powerpoint/2010/main" val="4038846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98DB10-6E1B-9B15-FDFB-CAC83A213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 Bureaucracy Machine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E11EBB-8EB2-4378-93C1-3D376478A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32732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22FA2-6465-4DDF-9A6D-233479CF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6800"/>
            <a:ext cx="10515600" cy="3048000"/>
          </a:xfrm>
        </p:spPr>
        <p:txBody>
          <a:bodyPr/>
          <a:lstStyle/>
          <a:p>
            <a:pPr algn="l">
              <a:lnSpc>
                <a:spcPct val="90000"/>
              </a:lnSpc>
              <a:buNone/>
            </a:pPr>
            <a:r>
              <a:rPr lang="en-US" sz="2000" b="1" spc="600" dirty="0">
                <a:solidFill>
                  <a:srgbClr val="FF3B30"/>
                </a:solidFill>
                <a:latin typeface="Courier New"/>
              </a:rPr>
              <a:t>// DECLASSIFIED // 1944</a:t>
            </a:r>
          </a:p>
          <a:p>
            <a:pPr algn="l">
              <a:lnSpc>
                <a:spcPct val="95000"/>
              </a:lnSpc>
              <a:spcBef>
                <a:spcPts val="600"/>
              </a:spcBef>
              <a:buNone/>
            </a:pPr>
            <a:r>
              <a:rPr lang="en-US" sz="6000" b="1" spc="-50" dirty="0">
                <a:solidFill>
                  <a:schemeClr val="lt1"/>
                </a:solidFill>
              </a:rPr>
              <a:t>How to Sabotage</a:t>
            </a:r>
          </a:p>
          <a:p>
            <a:pPr algn="l">
              <a:lnSpc>
                <a:spcPct val="95000"/>
              </a:lnSpc>
              <a:buNone/>
            </a:pPr>
            <a:r>
              <a:rPr lang="en-US" sz="6000" b="1" i="1" spc="-50" dirty="0">
                <a:solidFill>
                  <a:srgbClr val="FF3B30"/>
                </a:solidFill>
              </a:rPr>
              <a:t>an Organization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164D74-4AFB-31F1-4923-72F8B1442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4191000"/>
            <a:ext cx="9144000" cy="1524000"/>
          </a:xfrm>
        </p:spPr>
        <p:txBody>
          <a:bodyPr/>
          <a:lstStyle/>
          <a:p>
            <a:pPr algn="l">
              <a:lnSpc>
                <a:spcPct val="115000"/>
              </a:lnSpc>
              <a:buNone/>
            </a:pPr>
            <a:r>
              <a:rPr lang="en-US" sz="1400" b="1" spc="300" dirty="0">
                <a:solidFill>
                  <a:srgbClr val="A5C249"/>
                </a:solidFill>
                <a:latin typeface="Courier New"/>
              </a:rPr>
              <a:t>OSS FIELD MANUAL No. 3 — SECTION 11: GENERAL INTERFERENCE WITH ORGANIZATIONS &amp; PRODUCTION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sz="2000" i="1" dirty="0">
                <a:solidFill>
                  <a:schemeClr val="lt2"/>
                </a:solidFill>
              </a:rPr>
              <a:t>“Insist on doing everything through ‘channels.’ Never permit short-cuts to be taken in order to expedite decisions.”</a:t>
            </a:r>
          </a:p>
        </p:txBody>
      </p:sp>
      <p:sp>
        <p:nvSpPr>
          <p:cNvPr id="4" name="TopStripe"/>
          <p:cNvSpPr/>
          <p:nvPr/>
        </p:nvSpPr>
        <p:spPr>
          <a:xfrm>
            <a:off x="838200" y="635000"/>
            <a:ext cx="1524000" cy="50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tampBox"/>
          <p:cNvSpPr/>
          <p:nvPr/>
        </p:nvSpPr>
        <p:spPr>
          <a:xfrm rot="-900000">
            <a:off x="8763000" y="508000"/>
            <a:ext cx="2540000" cy="838200"/>
          </a:xfrm>
          <a:prstGeom prst="rect">
            <a:avLst/>
          </a:prstGeom>
          <a:noFill/>
          <a:ln w="38100">
            <a:solidFill>
              <a:srgbClr val="FF3B30"/>
            </a:solidFill>
          </a:ln>
        </p:spPr>
        <p:txBody>
          <a:bodyPr lIns="36000" tIns="36000" rIns="36000" bIns="36000" anchor="ctr"/>
          <a:lstStyle/>
          <a:p>
            <a:pPr algn="ctr">
              <a:lnSpc>
                <a:spcPct val="90000"/>
              </a:lnSpc>
              <a:buNone/>
            </a:pPr>
            <a:r>
              <a:rPr lang="en-US" sz="2400" b="1" spc="400" dirty="0">
                <a:solidFill>
                  <a:srgbClr val="FF3B30"/>
                </a:solidFill>
              </a:rPr>
              <a:t>TOP SECRET</a:t>
            </a:r>
          </a:p>
          <a:p>
            <a:pPr algn="ctr">
              <a:lnSpc>
                <a:spcPct val="90000"/>
              </a:lnSpc>
              <a:buNone/>
            </a:pPr>
            <a:r>
              <a:rPr lang="en-US" sz="1000" b="1" spc="400" dirty="0">
                <a:solidFill>
                  <a:srgbClr val="FF3B30"/>
                </a:solidFill>
              </a:rPr>
              <a:t>// SIMPLE SABOTAGE //</a:t>
            </a:r>
          </a:p>
        </p:txBody>
      </p:sp>
      <p:sp>
        <p:nvSpPr>
          <p:cNvPr id="6" name="Punchline"/>
          <p:cNvSpPr txBox="1"/>
          <p:nvPr/>
        </p:nvSpPr>
        <p:spPr>
          <a:xfrm>
            <a:off x="2529840" y="5791200"/>
            <a:ext cx="5488052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800" b="1" dirty="0">
                <a:solidFill>
                  <a:schemeClr val="lt1"/>
                </a:solidFill>
              </a:rPr>
              <a:t>Sound familiar?</a:t>
            </a:r>
            <a:r>
              <a:rPr lang="en-US" sz="1800" dirty="0">
                <a:solidFill>
                  <a:schemeClr val="lt2"/>
                </a:solidFill>
              </a:rPr>
              <a:t>  It should — it’s </a:t>
            </a:r>
            <a:r>
              <a:rPr lang="en-US" dirty="0">
                <a:solidFill>
                  <a:schemeClr val="lt2"/>
                </a:solidFill>
              </a:rPr>
              <a:t>called “corporate culture”</a:t>
            </a:r>
            <a:endParaRPr lang="en-US" sz="1800" dirty="0">
              <a:solidFill>
                <a:schemeClr val="l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19698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2F2B5C-F025-36AE-B0A5-4B333E689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96" y="0"/>
            <a:ext cx="4353189" cy="68948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F4464A-4AED-341D-EB71-280FDEB6D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7045" y="0"/>
            <a:ext cx="4292003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7522E17-AEE8-F20A-0B44-1F6CA07A22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720" y="83130"/>
            <a:ext cx="2510812" cy="18233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FBA629-6E93-E81F-74E2-43186369A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1108" y="2166849"/>
            <a:ext cx="3090878" cy="37375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5256EAB-A142-6A5E-F802-3EDB641D1E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1045" y="2759195"/>
            <a:ext cx="1991003" cy="438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3553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6AD81-FAD1-6FE9-63BA-2385A48D5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-137005"/>
            <a:ext cx="10922000" cy="1270000"/>
          </a:xfrm>
        </p:spPr>
        <p:txBody>
          <a:bodyPr/>
          <a:lstStyle/>
          <a:p>
            <a:pPr algn="l">
              <a:lnSpc>
                <a:spcPct val="90000"/>
              </a:lnSpc>
              <a:buNone/>
            </a:pPr>
            <a:r>
              <a:rPr lang="en-US" sz="1400" b="1" spc="500" dirty="0">
                <a:solidFill>
                  <a:srgbClr val="FF3B30"/>
                </a:solidFill>
                <a:latin typeface="Courier New"/>
              </a:rPr>
              <a:t>// FIELD MANUAL vs. FIELD OFFICE</a:t>
            </a:r>
          </a:p>
          <a:p>
            <a:pPr algn="l">
              <a:lnSpc>
                <a:spcPct val="95000"/>
              </a:lnSpc>
              <a:spcBef>
                <a:spcPts val="400"/>
              </a:spcBef>
              <a:buNone/>
            </a:pPr>
            <a:r>
              <a:rPr lang="en-US" sz="3600" b="1" spc="-25" dirty="0">
                <a:solidFill>
                  <a:schemeClr val="lt1"/>
                </a:solidFill>
              </a:rPr>
              <a:t>1944 said it. </a:t>
            </a:r>
            <a:r>
              <a:rPr lang="en-US" sz="3600" b="1" i="1" spc="-25" dirty="0">
                <a:solidFill>
                  <a:srgbClr val="FF3B30"/>
                </a:solidFill>
              </a:rPr>
              <a:t>2026 lives it.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C6E0D-86B3-A902-EC00-B8D6E8DCA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0"/>
            <a:ext cx="12700" cy="12700"/>
          </a:xfrm>
        </p:spPr>
        <p:txBody>
          <a:bodyPr>
            <a:normAutofit fontScale="25000" lnSpcReduction="20000"/>
          </a:bodyPr>
          <a:lstStyle/>
          <a:p>
            <a:pPr>
              <a:buNone/>
            </a:pPr>
            <a:endParaRPr lang="en-US"/>
          </a:p>
        </p:txBody>
      </p:sp>
      <p:sp>
        <p:nvSpPr>
          <p:cNvPr id="4" name="HeaderOSS"/>
          <p:cNvSpPr txBox="1"/>
          <p:nvPr/>
        </p:nvSpPr>
        <p:spPr>
          <a:xfrm>
            <a:off x="635000" y="1259995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400" dirty="0">
                <a:solidFill>
                  <a:srgbClr val="FF3B30"/>
                </a:solidFill>
                <a:latin typeface="Courier New"/>
              </a:rPr>
              <a:t>OSS, SECTION 11 — 1944</a:t>
            </a:r>
          </a:p>
        </p:txBody>
      </p:sp>
      <p:sp>
        <p:nvSpPr>
          <p:cNvPr id="5" name="HeaderCorp"/>
          <p:cNvSpPr txBox="1"/>
          <p:nvPr/>
        </p:nvSpPr>
        <p:spPr>
          <a:xfrm>
            <a:off x="6350000" y="1259995"/>
            <a:ext cx="54610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en-US" sz="1200" b="1" spc="400" dirty="0">
                <a:solidFill>
                  <a:srgbClr val="A5C249"/>
                </a:solidFill>
                <a:latin typeface="Courier New"/>
              </a:rPr>
              <a:t>YOUR COMPANY — THIS MORNING</a:t>
            </a:r>
          </a:p>
        </p:txBody>
      </p:sp>
      <p:sp>
        <p:nvSpPr>
          <p:cNvPr id="6" name="Divider"/>
          <p:cNvSpPr/>
          <p:nvPr/>
        </p:nvSpPr>
        <p:spPr>
          <a:xfrm>
            <a:off x="6159500" y="1767995"/>
            <a:ext cx="25400" cy="4191000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OSS_1"/>
          <p:cNvSpPr txBox="1"/>
          <p:nvPr/>
        </p:nvSpPr>
        <p:spPr>
          <a:xfrm>
            <a:off x="635000" y="18314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i="1" dirty="0">
                <a:solidFill>
                  <a:schemeClr val="lt1"/>
                </a:solidFill>
              </a:rPr>
              <a:t>“Insist on doing everything through ‘channels.’ Never permit short-cuts to be taken in order to expedite decisions.”</a:t>
            </a:r>
          </a:p>
        </p:txBody>
      </p:sp>
      <p:sp>
        <p:nvSpPr>
          <p:cNvPr id="8" name="OSS_Bar_1"/>
          <p:cNvSpPr/>
          <p:nvPr/>
        </p:nvSpPr>
        <p:spPr>
          <a:xfrm>
            <a:off x="635000" y="1933095"/>
            <a:ext cx="38100" cy="812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Corp_1"/>
          <p:cNvSpPr txBox="1"/>
          <p:nvPr/>
        </p:nvSpPr>
        <p:spPr>
          <a:xfrm>
            <a:off x="6350000" y="18314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chemeClr val="lt2"/>
                </a:solidFill>
              </a:rPr>
              <a:t>“Please loop in legal, finance, and brand before we proceed.”</a:t>
            </a:r>
          </a:p>
        </p:txBody>
      </p:sp>
      <p:sp>
        <p:nvSpPr>
          <p:cNvPr id="10" name="Corp_Bar_1"/>
          <p:cNvSpPr/>
          <p:nvPr/>
        </p:nvSpPr>
        <p:spPr>
          <a:xfrm>
            <a:off x="6350000" y="1933095"/>
            <a:ext cx="38100" cy="812800"/>
          </a:xfrm>
          <a:prstGeom prst="rect">
            <a:avLst/>
          </a:prstGeom>
          <a:solidFill>
            <a:srgbClr val="A5C2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OSS_2"/>
          <p:cNvSpPr txBox="1"/>
          <p:nvPr/>
        </p:nvSpPr>
        <p:spPr>
          <a:xfrm>
            <a:off x="635000" y="29109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i="1" dirty="0">
                <a:solidFill>
                  <a:schemeClr val="lt1"/>
                </a:solidFill>
              </a:rPr>
              <a:t>“Refer all matters to committees, for ‘further study and consideration.’ Attempt to make the committee as large as possible — never less than five.”</a:t>
            </a:r>
          </a:p>
        </p:txBody>
      </p:sp>
      <p:sp>
        <p:nvSpPr>
          <p:cNvPr id="12" name="OSS_Bar_2"/>
          <p:cNvSpPr/>
          <p:nvPr/>
        </p:nvSpPr>
        <p:spPr>
          <a:xfrm>
            <a:off x="635000" y="3012595"/>
            <a:ext cx="38100" cy="812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Corp_2"/>
          <p:cNvSpPr txBox="1"/>
          <p:nvPr/>
        </p:nvSpPr>
        <p:spPr>
          <a:xfrm>
            <a:off x="6350000" y="29109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chemeClr val="lt2"/>
                </a:solidFill>
              </a:rPr>
              <a:t>“Let’s set up a working group to align on the framework.”</a:t>
            </a:r>
          </a:p>
        </p:txBody>
      </p:sp>
      <p:sp>
        <p:nvSpPr>
          <p:cNvPr id="14" name="Corp_Bar_2"/>
          <p:cNvSpPr/>
          <p:nvPr/>
        </p:nvSpPr>
        <p:spPr>
          <a:xfrm>
            <a:off x="6350000" y="3012595"/>
            <a:ext cx="38100" cy="812800"/>
          </a:xfrm>
          <a:prstGeom prst="rect">
            <a:avLst/>
          </a:prstGeom>
          <a:solidFill>
            <a:srgbClr val="A5C2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OSS_3"/>
          <p:cNvSpPr txBox="1"/>
          <p:nvPr/>
        </p:nvSpPr>
        <p:spPr>
          <a:xfrm>
            <a:off x="635000" y="39904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i="1" dirty="0">
                <a:solidFill>
                  <a:schemeClr val="lt1"/>
                </a:solidFill>
              </a:rPr>
              <a:t>“Haggle over precise wordings of communications, minutes, resolutions.”</a:t>
            </a:r>
          </a:p>
        </p:txBody>
      </p:sp>
      <p:sp>
        <p:nvSpPr>
          <p:cNvPr id="16" name="OSS_Bar_3"/>
          <p:cNvSpPr/>
          <p:nvPr/>
        </p:nvSpPr>
        <p:spPr>
          <a:xfrm>
            <a:off x="635000" y="4092095"/>
            <a:ext cx="38100" cy="812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Corp_3"/>
          <p:cNvSpPr txBox="1"/>
          <p:nvPr/>
        </p:nvSpPr>
        <p:spPr>
          <a:xfrm>
            <a:off x="6350000" y="39904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chemeClr val="lt2"/>
                </a:solidFill>
              </a:rPr>
              <a:t>“Can we wordsmith this in the doc before it goes out?”</a:t>
            </a:r>
          </a:p>
        </p:txBody>
      </p:sp>
      <p:sp>
        <p:nvSpPr>
          <p:cNvPr id="18" name="Corp_Bar_3"/>
          <p:cNvSpPr/>
          <p:nvPr/>
        </p:nvSpPr>
        <p:spPr>
          <a:xfrm>
            <a:off x="6350000" y="4092095"/>
            <a:ext cx="38100" cy="812800"/>
          </a:xfrm>
          <a:prstGeom prst="rect">
            <a:avLst/>
          </a:prstGeom>
          <a:solidFill>
            <a:srgbClr val="A5C2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OSS_4"/>
          <p:cNvSpPr txBox="1"/>
          <p:nvPr/>
        </p:nvSpPr>
        <p:spPr>
          <a:xfrm>
            <a:off x="635000" y="50699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i="1" dirty="0">
                <a:solidFill>
                  <a:schemeClr val="lt1"/>
                </a:solidFill>
              </a:rPr>
              <a:t>“Advocate ‘caution.’ Urge fellow conferees to avoid haste which might result in embarrassments or difficulties later on.”</a:t>
            </a:r>
          </a:p>
        </p:txBody>
      </p:sp>
      <p:sp>
        <p:nvSpPr>
          <p:cNvPr id="20" name="OSS_Bar_4"/>
          <p:cNvSpPr/>
          <p:nvPr/>
        </p:nvSpPr>
        <p:spPr>
          <a:xfrm>
            <a:off x="635000" y="5171595"/>
            <a:ext cx="38100" cy="812800"/>
          </a:xfrm>
          <a:prstGeom prst="rect">
            <a:avLst/>
          </a:prstGeom>
          <a:solidFill>
            <a:srgbClr val="FF3B3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Corp_4"/>
          <p:cNvSpPr txBox="1"/>
          <p:nvPr/>
        </p:nvSpPr>
        <p:spPr>
          <a:xfrm>
            <a:off x="6350000" y="5069995"/>
            <a:ext cx="5207000" cy="1016000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36000" rIns="36000" bIns="3600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chemeClr val="lt2"/>
                </a:solidFill>
              </a:rPr>
              <a:t>“I just want to make sure we’ve thought through all the edge cases.”</a:t>
            </a:r>
          </a:p>
        </p:txBody>
      </p:sp>
      <p:sp>
        <p:nvSpPr>
          <p:cNvPr id="22" name="Corp_Bar_4"/>
          <p:cNvSpPr/>
          <p:nvPr/>
        </p:nvSpPr>
        <p:spPr>
          <a:xfrm>
            <a:off x="6350000" y="5171595"/>
            <a:ext cx="38100" cy="812800"/>
          </a:xfrm>
          <a:prstGeom prst="rect">
            <a:avLst/>
          </a:prstGeom>
          <a:solidFill>
            <a:srgbClr val="A5C24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Footer"/>
          <p:cNvSpPr txBox="1"/>
          <p:nvPr/>
        </p:nvSpPr>
        <p:spPr>
          <a:xfrm>
            <a:off x="4049005" y="6085995"/>
            <a:ext cx="4093989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200" b="1" spc="200" dirty="0">
                <a:solidFill>
                  <a:srgbClr val="FF3B30"/>
                </a:solidFill>
                <a:latin typeface="Courier New"/>
              </a:rPr>
              <a:t>// “SABOTAGE” THEN… “PROCESS” NOW.</a:t>
            </a:r>
          </a:p>
        </p:txBody>
      </p:sp>
    </p:spTree>
    <p:extLst>
      <p:ext uri="{BB962C8B-B14F-4D97-AF65-F5344CB8AC3E}">
        <p14:creationId xmlns:p14="http://schemas.microsoft.com/office/powerpoint/2010/main" val="258664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  <p:bldP spid="21" grpId="0"/>
      <p:bldP spid="22" grpId="0" animBg="1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D0507-FD6E-26A9-C322-7E7AF3E0D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buNone/>
            </a:pPr>
            <a:r>
              <a:rPr lang="en-US" dirty="0"/>
              <a:t>What Happens When You Email "reset my password"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33816-0AEA-EED1-13A3-0B0ED3B59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buFont typeface="Arial"/>
              <a:buChar char="•"/>
            </a:pPr>
            <a:r>
              <a:rPr lang="en-US" sz="1700" dirty="0"/>
              <a:t>Auto-reply: "Thank you for your request. It has been </a:t>
            </a:r>
            <a:r>
              <a:rPr lang="en-US" sz="1700" b="1" dirty="0">
                <a:solidFill>
                  <a:srgbClr val="FF4444"/>
                </a:solidFill>
              </a:rPr>
              <a:t>escalated</a:t>
            </a:r>
            <a:r>
              <a:rPr lang="en-US" sz="1700" dirty="0"/>
              <a:t>."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Calendar invite sent: </a:t>
            </a:r>
            <a:r>
              <a:rPr lang="en-US" sz="1700" b="1" dirty="0">
                <a:solidFill>
                  <a:srgbClr val="FF4444"/>
                </a:solidFill>
              </a:rPr>
              <a:t>"Password Reset Feasibility Kickoff"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Approval workflow triggered — requires </a:t>
            </a:r>
            <a:r>
              <a:rPr lang="en-US" sz="1700" b="1" dirty="0">
                <a:solidFill>
                  <a:srgbClr val="FF4444"/>
                </a:solidFill>
              </a:rPr>
              <a:t>3 signatures</a:t>
            </a:r>
            <a:r>
              <a:rPr lang="en-US" sz="1700" dirty="0"/>
              <a:t> and a notary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Follow-up email: "Per my last email, please advise on your advising."</a:t>
            </a:r>
          </a:p>
          <a:p>
            <a:pPr marL="228600" indent="-228600">
              <a:buFont typeface="Arial"/>
              <a:buChar char="•"/>
            </a:pPr>
            <a:r>
              <a:rPr lang="en-US" sz="1700" dirty="0"/>
              <a:t>Jira ticket created: </a:t>
            </a:r>
            <a:r>
              <a:rPr lang="en-US" sz="1700" b="1" dirty="0">
                <a:solidFill>
                  <a:srgbClr val="FF4444"/>
                </a:solidFill>
              </a:rPr>
              <a:t>Priority: Critical. Assignee: Nobody.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r>
              <a:rPr lang="en-US" sz="3200" i="1" dirty="0">
                <a:solidFill>
                  <a:srgbClr val="A5C249"/>
                </a:solidFill>
              </a:rPr>
              <a:t>Password still not reset. Meeting rescheduled for Q3.</a:t>
            </a:r>
          </a:p>
        </p:txBody>
      </p:sp>
      <p:pic>
        <p:nvPicPr>
          <p:cNvPr id="4" name="Graphic 4" descr="Bureaucracy robot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9000" y="1397000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269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D2229-19AB-5776-E63B-A3BFFEB58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dirty="0"/>
              <a:t>IT Bureaucracy Machine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3F9412-20B8-E90C-CF09-D85F496EA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200" dirty="0"/>
              <a:t>You wanted to reset a password? Bold. Let's schedule some meetings.</a:t>
            </a:r>
          </a:p>
        </p:txBody>
      </p:sp>
    </p:spTree>
    <p:extLst>
      <p:ext uri="{BB962C8B-B14F-4D97-AF65-F5344CB8AC3E}">
        <p14:creationId xmlns:p14="http://schemas.microsoft.com/office/powerpoint/2010/main" val="9055046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97688-86C8-238D-E41C-86C0FA280B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The Patterns Are Identical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CC951-EBE2-C945-490B-27F27A8A54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10CF9B"/>
                </a:solidFill>
              </a:rPr>
              <a:t>For Good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Schedule trigger fires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HTTP polls public APIs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IF filters signal from noise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LLM writes the message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Action node delivers it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r>
              <a:rPr lang="en-US" sz="1400" i="1" dirty="0">
                <a:solidFill>
                  <a:srgbClr val="10CF9B"/>
                </a:solidFill>
              </a:rPr>
              <a:t>Result: community is safer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6DFD0-5E19-A37B-4B65-3F2E457AB1A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en-US" sz="1800" b="1" dirty="0">
                <a:solidFill>
                  <a:srgbClr val="FF4444"/>
                </a:solidFill>
              </a:rPr>
              <a:t>For Chaos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Schedule trigger fires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HTTP polls GitHub API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IF filters repos by victim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LLM writes the snark</a:t>
            </a:r>
          </a:p>
          <a:p>
            <a:pPr marL="228600" indent="-228600">
              <a:buFont typeface="Arial"/>
              <a:buChar char="•"/>
            </a:pPr>
            <a:r>
              <a:rPr lang="en-US" sz="1500" dirty="0"/>
              <a:t>Action node files the issue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r>
              <a:rPr lang="en-US" sz="1400" i="1" dirty="0">
                <a:solidFill>
                  <a:srgbClr val="FF4444"/>
                </a:solidFill>
              </a:rPr>
              <a:t>Result: someone's afternoon is ruined</a:t>
            </a:r>
          </a:p>
        </p:txBody>
      </p:sp>
    </p:spTree>
    <p:extLst>
      <p:ext uri="{BB962C8B-B14F-4D97-AF65-F5344CB8AC3E}">
        <p14:creationId xmlns:p14="http://schemas.microsoft.com/office/powerpoint/2010/main" val="21042078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51911-4BEB-513B-3C9E-641979994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Try This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6203-D073-D224-8198-730A6872E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sz="1700" b="1" dirty="0">
                <a:solidFill>
                  <a:srgbClr val="0BD0D9"/>
                </a:solidFill>
              </a:rPr>
              <a:t>Grab the repo:</a:t>
            </a:r>
            <a:r>
              <a:rPr lang="en-US" sz="1600" dirty="0"/>
              <a:t>  github.com/donnietaylor/automation_for_good_and_chaos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r>
              <a:rPr lang="en-US" sz="1700" b="1" dirty="0">
                <a:solidFill>
                  <a:srgbClr val="10CF9B"/>
                </a:solidFill>
              </a:rPr>
              <a:t>Good starter ideas: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Set up a risk radar for your city — NWS API is free, no key needed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Wire up a daily handoff summary for your team — 30 min to build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r>
              <a:rPr lang="en-US" sz="1700" b="1" dirty="0">
                <a:solidFill>
                  <a:srgbClr val="FF4444"/>
                </a:solidFill>
              </a:rPr>
              <a:t>Chaos starter ideas: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Point the Snark Bot at a coworker's public repos</a:t>
            </a:r>
          </a:p>
          <a:p>
            <a:pPr marL="228600" indent="-228600">
              <a:buFont typeface="Arial"/>
              <a:buChar char="•"/>
            </a:pPr>
            <a:r>
              <a:rPr lang="en-US" sz="1600" dirty="0"/>
              <a:t>Run the Bureaucracy Machine on yourself — it's humbling</a:t>
            </a:r>
          </a:p>
          <a:p>
            <a:pPr>
              <a:buNone/>
            </a:pPr>
            <a:r>
              <a:rPr lang="en-US" sz="1200" dirty="0"/>
              <a:t> </a:t>
            </a:r>
          </a:p>
          <a:p>
            <a:pPr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6879258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7C4865-A8EA-DE9B-A9E4-A479B9FE52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7027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57818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4597255"/>
      </p:ext>
    </p:extLst>
  </p:cSld>
  <p:clrMapOvr>
    <a:masterClrMapping/>
  </p:clrMapOvr>
</p:sld>
</file>

<file path=ppt/theme/theme1.xml><?xml version="1.0" encoding="utf-8"?>
<a:theme xmlns:a="http://schemas.openxmlformats.org/drawingml/2006/main" name="Dark Mod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MS 2026 at MOA.potx" id="{D8842C19-AA0D-435F-9EEB-FA31630ABB9B}" vid="{B3EE2789-FD7D-46D1-B302-E8985430D9C8}"/>
    </a:ext>
  </a:extLst>
</a:theme>
</file>

<file path=ppt/theme/theme2.xml><?xml version="1.0" encoding="utf-8"?>
<a:theme xmlns:a="http://schemas.openxmlformats.org/drawingml/2006/main" name="Light Mod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S 2026 at MOA.potx" id="{D8842C19-AA0D-435F-9EEB-FA31630ABB9B}" vid="{5142D9BD-4495-4882-B39B-A8686CD3B06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162A294-6727-4665-B8FE-DD5FA8658981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8c67b0f3-289a-4280-8dd1-dac8b95b953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66787FB9552CF40BFF026EAAC52FBCA" ma:contentTypeVersion="20" ma:contentTypeDescription="Create a new document." ma:contentTypeScope="" ma:versionID="edddbbb644e7c0bd6adf7ea50799224d">
  <xsd:schema xmlns:xsd="http://www.w3.org/2001/XMLSchema" xmlns:xs="http://www.w3.org/2001/XMLSchema" xmlns:p="http://schemas.microsoft.com/office/2006/metadata/properties" xmlns:ns2="0f628621-369a-46c7-83bd-de17ca407533" xmlns:ns3="994c1987-0261-432a-b2ef-a9da39f1b5e2" targetNamespace="http://schemas.microsoft.com/office/2006/metadata/properties" ma:root="true" ma:fieldsID="49108ad5585ca2305a1dbbeb1151d3a3" ns2:_="" ns3:_="">
    <xsd:import namespace="0f628621-369a-46c7-83bd-de17ca407533"/>
    <xsd:import namespace="994c1987-0261-432a-b2ef-a9da39f1b5e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lcf76f155ced4ddcb4097134ff3c332f" minOccurs="0"/>
                <xsd:element ref="ns2:TaxCatchAll" minOccurs="0"/>
                <xsd:element ref="ns3:MediaServiceSearchProperties" minOccurs="0"/>
                <xsd:element ref="ns3:MediaServiceObjectDetectorVersion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628621-369a-46c7-83bd-de17ca40753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3" nillable="true" ma:displayName="Taxonomy Catch All Column" ma:hidden="true" ma:list="{373337a8-41f0-47ae-895f-b179ccc8878d}" ma:internalName="TaxCatchAll" ma:showField="CatchAllData" ma:web="0f628621-369a-46c7-83bd-de17ca4075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4c1987-0261-432a-b2ef-a9da39f1b5e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4f3eb32-8128-4a7e-868e-0456b78e6e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94c1987-0261-432a-b2ef-a9da39f1b5e2">
      <Terms xmlns="http://schemas.microsoft.com/office/infopath/2007/PartnerControls"/>
    </lcf76f155ced4ddcb4097134ff3c332f>
    <TaxCatchAll xmlns="0f628621-369a-46c7-83bd-de17ca407533" xsi:nil="true"/>
  </documentManagement>
</p:properties>
</file>

<file path=customXml/itemProps1.xml><?xml version="1.0" encoding="utf-8"?>
<ds:datastoreItem xmlns:ds="http://schemas.openxmlformats.org/officeDocument/2006/customXml" ds:itemID="{72549C15-4E42-4D07-A4DB-8ECA1C2B5F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628621-369a-46c7-83bd-de17ca407533"/>
    <ds:schemaRef ds:uri="994c1987-0261-432a-b2ef-a9da39f1b5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B99CDF-4DD1-4BCA-94A9-937C9978E90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E0B4D4-529D-4984-8525-2DCCA1BEFF9D}">
  <ds:schemaRefs>
    <ds:schemaRef ds:uri="994c1987-0261-432a-b2ef-a9da39f1b5e2"/>
    <ds:schemaRef ds:uri="http://schemas.openxmlformats.org/package/2006/metadata/core-properties"/>
    <ds:schemaRef ds:uri="0f628621-369a-46c7-83bd-de17ca407533"/>
    <ds:schemaRef ds:uri="http://www.w3.org/XML/1998/namespac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MMS  at MOA</Template>
  <TotalTime>2973</TotalTime>
  <Words>1737</Words>
  <Application>Microsoft Office PowerPoint</Application>
  <PresentationFormat>Widescreen</PresentationFormat>
  <Paragraphs>223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9" baseType="lpstr">
      <vt:lpstr>Aptos</vt:lpstr>
      <vt:lpstr>Aptos Display</vt:lpstr>
      <vt:lpstr>Arial</vt:lpstr>
      <vt:lpstr>Calibri</vt:lpstr>
      <vt:lpstr>Courier New</vt:lpstr>
      <vt:lpstr>Wingdings</vt:lpstr>
      <vt:lpstr>Dark Mode</vt:lpstr>
      <vt:lpstr>Light Mode</vt:lpstr>
      <vt:lpstr>Automation for Good… and CHAOS</vt:lpstr>
      <vt:lpstr>Attention</vt:lpstr>
      <vt:lpstr>PowerPoint Presentation</vt:lpstr>
      <vt:lpstr>Automation Is Power</vt:lpstr>
      <vt:lpstr>The n8n Building Blocks</vt:lpstr>
      <vt:lpstr>Tonight's Menu</vt:lpstr>
      <vt:lpstr>Simple Code Formatter</vt:lpstr>
      <vt:lpstr>AI Code Formatter</vt:lpstr>
      <vt:lpstr>Community Risk Radar</vt:lpstr>
      <vt:lpstr>PowerPoint Presentation</vt:lpstr>
      <vt:lpstr>What It Watches</vt:lpstr>
      <vt:lpstr>Daily IT Handoff</vt:lpstr>
      <vt:lpstr>Daily IT Handoff</vt:lpstr>
      <vt:lpstr>Civic Briefer</vt:lpstr>
      <vt:lpstr>Civic Briefing Bot</vt:lpstr>
      <vt:lpstr>Patch Tuesday for Normal People</vt:lpstr>
      <vt:lpstr>Lost in Translation: Patch Tuesday Edition</vt:lpstr>
      <vt:lpstr>PowerPoint Presentation</vt:lpstr>
      <vt:lpstr>Patch Tuesday Bot</vt:lpstr>
      <vt:lpstr>The "Good" Pattern</vt:lpstr>
      <vt:lpstr>Automation for Chaos</vt:lpstr>
      <vt:lpstr>Simple Code F@#$@</vt:lpstr>
      <vt:lpstr>Emoji Chaos Bot</vt:lpstr>
      <vt:lpstr>GIT(hub) Outta Here</vt:lpstr>
      <vt:lpstr>How It Works</vt:lpstr>
      <vt:lpstr>PowerPoint Presentation</vt:lpstr>
      <vt:lpstr>GitHub Snark Bot</vt:lpstr>
      <vt:lpstr>H.O.A-HOLE</vt:lpstr>
      <vt:lpstr>The Workflow</vt:lpstr>
      <vt:lpstr>HOA Engine</vt:lpstr>
      <vt:lpstr>IT Bureaucracy Machine</vt:lpstr>
      <vt:lpstr>// DECLASSIFIED // 1944 How to Sabotage an Organization</vt:lpstr>
      <vt:lpstr>PowerPoint Presentation</vt:lpstr>
      <vt:lpstr>// FIELD MANUAL vs. FIELD OFFICE 1944 said it. 2026 lives it.</vt:lpstr>
      <vt:lpstr>What Happens When You Email "reset my password"</vt:lpstr>
      <vt:lpstr>IT Bureaucracy Machine</vt:lpstr>
      <vt:lpstr>The Patterns Are Identical</vt:lpstr>
      <vt:lpstr>Try This At Home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MMS 2026 at MOA</dc:subject>
  <dc:creator>Donnie Taylor</dc:creator>
  <cp:lastModifiedBy>Scott Corio</cp:lastModifiedBy>
  <cp:revision>5</cp:revision>
  <dcterms:created xsi:type="dcterms:W3CDTF">2026-03-18T23:47:51Z</dcterms:created>
  <dcterms:modified xsi:type="dcterms:W3CDTF">2026-05-05T19:15:48Z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0x010100066787FB9552CF40BFF026EAAC52FBCA</vt:lpwstr>
  </property>
  <property fmtid="{D5CDD505-2E9C-101B-9397-08002B2CF9AE}" pid="3" name="MediaServiceImageTags">
    <vt:lpwstr/>
  </property>
</Properties>
</file>