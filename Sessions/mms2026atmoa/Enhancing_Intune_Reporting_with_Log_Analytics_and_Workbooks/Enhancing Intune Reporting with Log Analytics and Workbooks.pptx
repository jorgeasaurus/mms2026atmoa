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notesMasterIdLst>
    <p:notesMasterId r:id="rId22"/>
  </p:notesMasterIdLst>
  <p:handoutMasterIdLst>
    <p:handoutMasterId r:id="rId23"/>
  </p:handoutMasterIdLst>
  <p:sldIdLst>
    <p:sldId id="272" r:id="rId6"/>
    <p:sldId id="264" r:id="rId7"/>
    <p:sldId id="371" r:id="rId8"/>
    <p:sldId id="285" r:id="rId9"/>
    <p:sldId id="359" r:id="rId10"/>
    <p:sldId id="375" r:id="rId11"/>
    <p:sldId id="373" r:id="rId12"/>
    <p:sldId id="360" r:id="rId13"/>
    <p:sldId id="372" r:id="rId14"/>
    <p:sldId id="362" r:id="rId15"/>
    <p:sldId id="363" r:id="rId16"/>
    <p:sldId id="377" r:id="rId17"/>
    <p:sldId id="378" r:id="rId18"/>
    <p:sldId id="266" r:id="rId19"/>
    <p:sldId id="263" r:id="rId20"/>
    <p:sldId id="26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47C90A1-52DE-4C0C-9748-AA4C35CE60DF}">
          <p14:sldIdLst>
            <p14:sldId id="272"/>
            <p14:sldId id="264"/>
            <p14:sldId id="371"/>
          </p14:sldIdLst>
        </p14:section>
        <p14:section name="Presentation" id="{88398753-748C-4CE7-B81D-D95829EA2652}">
          <p14:sldIdLst>
            <p14:sldId id="285"/>
            <p14:sldId id="359"/>
            <p14:sldId id="375"/>
            <p14:sldId id="373"/>
            <p14:sldId id="360"/>
            <p14:sldId id="372"/>
            <p14:sldId id="362"/>
            <p14:sldId id="363"/>
            <p14:sldId id="377"/>
            <p14:sldId id="378"/>
          </p14:sldIdLst>
        </p14:section>
        <p14:section name="Closing" id="{35F0DD0F-C871-4339-9D6B-25AB6010E816}">
          <p14:sldIdLst>
            <p14:sldId id="266"/>
            <p14:sldId id="263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8626" autoAdjust="0"/>
  </p:normalViewPr>
  <p:slideViewPr>
    <p:cSldViewPr snapToGrid="0">
      <p:cViewPr varScale="1">
        <p:scale>
          <a:sx n="89" d="100"/>
          <a:sy n="89" d="100"/>
        </p:scale>
        <p:origin x="120" y="4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148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Johnson" userId="6992c30f-f20f-42ce-bba5-fa61058d0188" providerId="ADAL" clId="{5EAF28B3-274B-42B1-B3E1-96F0514C738C}"/>
    <pc:docChg chg="undo custSel addSld modSld sldOrd">
      <pc:chgData name="Andrew Johnson" userId="6992c30f-f20f-42ce-bba5-fa61058d0188" providerId="ADAL" clId="{5EAF28B3-274B-42B1-B3E1-96F0514C738C}" dt="2026-04-22T03:54:12.881" v="331" actId="20577"/>
      <pc:docMkLst>
        <pc:docMk/>
      </pc:docMkLst>
      <pc:sldChg chg="modSp mod">
        <pc:chgData name="Andrew Johnson" userId="6992c30f-f20f-42ce-bba5-fa61058d0188" providerId="ADAL" clId="{5EAF28B3-274B-42B1-B3E1-96F0514C738C}" dt="2026-04-22T03:54:12.881" v="331" actId="20577"/>
        <pc:sldMkLst>
          <pc:docMk/>
          <pc:sldMk cId="2544008327" sldId="360"/>
        </pc:sldMkLst>
        <pc:spChg chg="mod">
          <ac:chgData name="Andrew Johnson" userId="6992c30f-f20f-42ce-bba5-fa61058d0188" providerId="ADAL" clId="{5EAF28B3-274B-42B1-B3E1-96F0514C738C}" dt="2026-04-22T03:53:57.692" v="312" actId="20577"/>
          <ac:spMkLst>
            <pc:docMk/>
            <pc:sldMk cId="2544008327" sldId="360"/>
            <ac:spMk id="9" creationId="{6FD5A982-3138-6D08-EDA2-11BF1F86BFC2}"/>
          </ac:spMkLst>
        </pc:spChg>
        <pc:spChg chg="mod">
          <ac:chgData name="Andrew Johnson" userId="6992c30f-f20f-42ce-bba5-fa61058d0188" providerId="ADAL" clId="{5EAF28B3-274B-42B1-B3E1-96F0514C738C}" dt="2026-04-22T03:54:12.881" v="331" actId="20577"/>
          <ac:spMkLst>
            <pc:docMk/>
            <pc:sldMk cId="2544008327" sldId="360"/>
            <ac:spMk id="10" creationId="{7A06FFCF-62EB-56F8-9E27-4E21466EE10D}"/>
          </ac:spMkLst>
        </pc:spChg>
      </pc:sldChg>
      <pc:sldChg chg="modNotesTx">
        <pc:chgData name="Andrew Johnson" userId="6992c30f-f20f-42ce-bba5-fa61058d0188" providerId="ADAL" clId="{5EAF28B3-274B-42B1-B3E1-96F0514C738C}" dt="2026-04-16T14:25:19.518" v="304" actId="20577"/>
        <pc:sldMkLst>
          <pc:docMk/>
          <pc:sldMk cId="2696017340" sldId="363"/>
        </pc:sldMkLst>
      </pc:sldChg>
      <pc:sldChg chg="modSp add mod ord">
        <pc:chgData name="Andrew Johnson" userId="6992c30f-f20f-42ce-bba5-fa61058d0188" providerId="ADAL" clId="{5EAF28B3-274B-42B1-B3E1-96F0514C738C}" dt="2026-04-22T03:54:02.085" v="329" actId="20577"/>
        <pc:sldMkLst>
          <pc:docMk/>
          <pc:sldMk cId="4179158430" sldId="372"/>
        </pc:sldMkLst>
        <pc:spChg chg="mod">
          <ac:chgData name="Andrew Johnson" userId="6992c30f-f20f-42ce-bba5-fa61058d0188" providerId="ADAL" clId="{5EAF28B3-274B-42B1-B3E1-96F0514C738C}" dt="2026-04-22T03:54:02.085" v="329" actId="20577"/>
          <ac:spMkLst>
            <pc:docMk/>
            <pc:sldMk cId="4179158430" sldId="372"/>
            <ac:spMk id="4" creationId="{4DF2DD20-172F-8A19-DC4E-FE89EF7C818D}"/>
          </ac:spMkLst>
        </pc:spChg>
      </pc:sldChg>
      <pc:sldChg chg="modSp add mod">
        <pc:chgData name="Andrew Johnson" userId="6992c30f-f20f-42ce-bba5-fa61058d0188" providerId="ADAL" clId="{5EAF28B3-274B-42B1-B3E1-96F0514C738C}" dt="2026-04-16T14:15:35.264" v="75" actId="20577"/>
        <pc:sldMkLst>
          <pc:docMk/>
          <pc:sldMk cId="4255249629" sldId="373"/>
        </pc:sldMkLst>
        <pc:spChg chg="mod">
          <ac:chgData name="Andrew Johnson" userId="6992c30f-f20f-42ce-bba5-fa61058d0188" providerId="ADAL" clId="{5EAF28B3-274B-42B1-B3E1-96F0514C738C}" dt="2026-04-16T14:15:35.264" v="75" actId="20577"/>
          <ac:spMkLst>
            <pc:docMk/>
            <pc:sldMk cId="4255249629" sldId="373"/>
            <ac:spMk id="4" creationId="{B7BC0CC6-4714-C94F-6BC6-3DA1C17A450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479DD7-BEB9-FB69-F785-68848A4099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EC562-ED04-0689-F45A-C2EBCD3AF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9BDEA-31B7-4DB6-C40F-9DED321F51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DBB9A-3F38-44C9-81C4-CD9EE35AF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14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864D17-755B-435C-ABA1-9567CFD887F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B4099-2E29-40CE-82BA-C027792CD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015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B4099-2E29-40CE-82BA-C027792CDD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782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Copilot usage for building queries and workbooks</a:t>
            </a:r>
          </a:p>
          <a:p>
            <a:r>
              <a:rPr lang="en-US" dirty="0"/>
              <a:t>How to show a trend over time</a:t>
            </a:r>
          </a:p>
          <a:p>
            <a:r>
              <a:rPr lang="en-US" dirty="0"/>
              <a:t>Workbook API calls to trigger events? </a:t>
            </a:r>
          </a:p>
          <a:p>
            <a:endParaRPr lang="en-US" dirty="0"/>
          </a:p>
          <a:p>
            <a:r>
              <a:rPr lang="en-US" dirty="0"/>
              <a:t>Closing: DCR, custom logs, Alert events, etc.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B4099-2E29-40CE-82BA-C027792CDD0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005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3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  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9163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  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3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MMS" descr="MMS Logo">
            <a:extLst>
              <a:ext uri="{FF2B5EF4-FFF2-40B4-BE49-F238E27FC236}">
                <a16:creationId xmlns:a16="http://schemas.microsoft.com/office/drawing/2014/main" id="{B20E1BA0-F24A-EC19-2D43-C2AEF38D6F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220684"/>
            <a:ext cx="1069571" cy="6126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4669" y="1258200"/>
            <a:ext cx="12264227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4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9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bg1">
                    <a:lumMod val="85000"/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6027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8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8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6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2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ptos" panose="020B0004020202020204" pitchFamily="34" charset="0"/>
              </a:defRPr>
            </a:lvl1pPr>
            <a:lvl2pPr>
              <a:defRPr sz="2800">
                <a:latin typeface="Aptos" panose="020B0004020202020204" pitchFamily="34" charset="0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0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12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789424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  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6592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141027-F066-B9AE-93FD-9C9448960CDB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1" name="Picture 10" descr="Patch My PC">
            <a:extLst>
              <a:ext uri="{FF2B5EF4-FFF2-40B4-BE49-F238E27FC236}">
                <a16:creationId xmlns:a16="http://schemas.microsoft.com/office/drawing/2014/main" id="{F837D305-2B1E-D93E-4951-99C287BF88B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9" name="Picture 8" descr="A black and white logo  Description automatically generated with low confidence">
            <a:extLst>
              <a:ext uri="{FF2B5EF4-FFF2-40B4-BE49-F238E27FC236}">
                <a16:creationId xmlns:a16="http://schemas.microsoft.com/office/drawing/2014/main" id="{9152F94A-4D91-121D-CEB4-524094EE7D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3" name="Picture 12" descr="A grey rectangle with white and blue text  Description automatically generated">
            <a:extLst>
              <a:ext uri="{FF2B5EF4-FFF2-40B4-BE49-F238E27FC236}">
                <a16:creationId xmlns:a16="http://schemas.microsoft.com/office/drawing/2014/main" id="{27436F92-854C-BEE9-ECD2-98D939DF1B9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9" name="Picture 28" descr="A white text on a black background  Description automatically generated">
            <a:extLst>
              <a:ext uri="{FF2B5EF4-FFF2-40B4-BE49-F238E27FC236}">
                <a16:creationId xmlns:a16="http://schemas.microsoft.com/office/drawing/2014/main" id="{75392E0A-C0E2-C291-444E-C2565C6FA04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FA7C4B9-2FE7-03A8-4C46-F9FB648245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4D6873-2AA5-65D0-992F-5D0CA23B99B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B20B0E-D4F5-70E8-7B88-CD98C80D632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97EBA7-C89E-96EE-4748-7F907F81D9A5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0F4E334-22B5-F189-E4F0-E59467F9F9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E5F552A-9761-3A6C-8290-61044C88A9C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25" name="Picture 24" descr="A blue text on a black background  AI-generated content may be incorrect.">
            <a:extLst>
              <a:ext uri="{FF2B5EF4-FFF2-40B4-BE49-F238E27FC236}">
                <a16:creationId xmlns:a16="http://schemas.microsoft.com/office/drawing/2014/main" id="{059AA4FF-6CFA-B105-B54C-8D9B21CA931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26" name="Picture 25" descr="A white letters on a black background  AI-generated content may be incorrect.">
            <a:extLst>
              <a:ext uri="{FF2B5EF4-FFF2-40B4-BE49-F238E27FC236}">
                <a16:creationId xmlns:a16="http://schemas.microsoft.com/office/drawing/2014/main" id="{22BA2D5A-399C-36FF-E065-28AF7C39D808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2CA8F16-E2DC-59EF-D489-4FC3AB2CC38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DA09CD3-5E5E-7480-F81F-B86933B9DC6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19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  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66305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  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85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0336" y="1258200"/>
            <a:ext cx="12264228" cy="645279"/>
          </a:xfrm>
          <a:prstGeom prst="rect">
            <a:avLst/>
          </a:prstGeom>
        </p:spPr>
      </p:pic>
      <p:pic>
        <p:nvPicPr>
          <p:cNvPr id="9" name="Picture 8" descr="A red and black logo  Description automatically generated">
            <a:extLst>
              <a:ext uri="{FF2B5EF4-FFF2-40B4-BE49-F238E27FC236}">
                <a16:creationId xmlns:a16="http://schemas.microsoft.com/office/drawing/2014/main" id="{858ADF9C-553E-D4C9-65AD-8E508EBA9E1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1528"/>
            <a:ext cx="1077946" cy="61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97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4515838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73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536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19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265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  <a:lvl2pPr>
              <a:defRPr sz="2800">
                <a:solidFill>
                  <a:schemeClr val="tx1"/>
                </a:solidFill>
                <a:latin typeface="+mn-lt"/>
              </a:defRPr>
            </a:lvl2pPr>
            <a:lvl3pPr>
              <a:defRPr sz="2400">
                <a:solidFill>
                  <a:schemeClr val="tx1"/>
                </a:solidFill>
                <a:latin typeface="+mn-lt"/>
              </a:defRPr>
            </a:lvl3pPr>
            <a:lvl4pPr>
              <a:defRPr sz="2000">
                <a:solidFill>
                  <a:schemeClr val="tx1"/>
                </a:solidFill>
                <a:latin typeface="+mn-lt"/>
              </a:defRPr>
            </a:lvl4pPr>
            <a:lvl5pPr>
              <a:defRPr sz="2000">
                <a:solidFill>
                  <a:schemeClr val="tx1"/>
                </a:solidFill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260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21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25281619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  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60477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Logo">
            <a:extLst>
              <a:ext uri="{FF2B5EF4-FFF2-40B4-BE49-F238E27FC236}">
                <a16:creationId xmlns:a16="http://schemas.microsoft.com/office/drawing/2014/main" id="{46EAA7A9-8D45-D916-28B6-4E361AADC7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6CEB9E9-6A9D-3D7F-1D7E-64C798429A2C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5" name="Picture 14" descr="Patch My PC">
            <a:extLst>
              <a:ext uri="{FF2B5EF4-FFF2-40B4-BE49-F238E27FC236}">
                <a16:creationId xmlns:a16="http://schemas.microsoft.com/office/drawing/2014/main" id="{8A4E9904-CB45-3E0E-696F-D3FD79268A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16" name="Picture 15" descr="A black and white logo  Description automatically generated with low confidence">
            <a:extLst>
              <a:ext uri="{FF2B5EF4-FFF2-40B4-BE49-F238E27FC236}">
                <a16:creationId xmlns:a16="http://schemas.microsoft.com/office/drawing/2014/main" id="{43C261DF-C273-8B85-7BEA-3CB1DD08C69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8" name="Picture 17" descr="A grey rectangle with white and blue text  Description automatically generated">
            <a:extLst>
              <a:ext uri="{FF2B5EF4-FFF2-40B4-BE49-F238E27FC236}">
                <a16:creationId xmlns:a16="http://schemas.microsoft.com/office/drawing/2014/main" id="{F8C63FAC-ABFA-70CE-8D89-D47ABA5CC26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1" name="Picture 20" descr="A white text on a black background  Description automatically generated">
            <a:extLst>
              <a:ext uri="{FF2B5EF4-FFF2-40B4-BE49-F238E27FC236}">
                <a16:creationId xmlns:a16="http://schemas.microsoft.com/office/drawing/2014/main" id="{79FF2E51-F7AB-D3B9-AABE-FB46DCC3885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A3AC7F1-3D93-C770-1878-626E260089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C9F9C7F-8CDE-12F1-8DD9-E08040FCF1B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6F3F9D-B490-FA74-DF0D-405DAA79C43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CCDFE6E-1CB9-DA2B-8122-2426251CA44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E662A5E5-BEDF-2923-981A-FFD254ABA4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F655CF-14A9-3C76-FB5B-5E772726C55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30" name="Picture 29" descr="A blue text on a black background  AI-generated content may be incorrect.">
            <a:extLst>
              <a:ext uri="{FF2B5EF4-FFF2-40B4-BE49-F238E27FC236}">
                <a16:creationId xmlns:a16="http://schemas.microsoft.com/office/drawing/2014/main" id="{7E42350D-8F9C-893D-D40A-C58551699BA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31" name="Picture 30" descr="A white letters on a black background  AI-generated content may be incorrect.">
            <a:extLst>
              <a:ext uri="{FF2B5EF4-FFF2-40B4-BE49-F238E27FC236}">
                <a16:creationId xmlns:a16="http://schemas.microsoft.com/office/drawing/2014/main" id="{9801BAC5-50DF-BA7A-DFD6-870E7DCE4D7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1DEC2DB-BCA7-3FE2-CB57-AB1B821F323F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2321056-273F-E68B-19D1-57AF101821FE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3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65651-282E-586C-B06B-5DB5D994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13A01-90A4-D2D1-24E8-69DD5F534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7787"/>
            <a:ext cx="10515600" cy="4669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12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9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73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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0B1B4-6987-442E-8B11-D82B4992D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5E00-A27D-612F-8389-A5568AC2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61DDB-CC2B-D54B-7517-E715290C3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7999B-38B3-40EF-826B-655A64799C1B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5C2E2-4322-B373-CCC7-8621FF671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BCAAE-4B09-81E1-1FAE-84D173487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1C39E-9AC5-4998-B89E-D6011DDB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7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62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90" r:id="rId12"/>
    <p:sldLayoutId id="2147483691" r:id="rId13"/>
    <p:sldLayoutId id="214748368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g"/><Relationship Id="rId4" Type="http://schemas.openxmlformats.org/officeDocument/2006/relationships/image" Target="../media/image36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B669-2341-DF39-C682-5CB469879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 </a:t>
            </a:r>
            <a:br>
              <a:rPr lang="en-US"/>
            </a:br>
            <a:r>
              <a:rPr lang="en-US"/>
              <a:t>Enhancing Intune Reporting with Log Analytics and Workbooks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06C1F-6D02-FA11-F860-B05CFAC0C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11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MMS sessions are 60-75 minutes followed by LONG Q&amp;A</a:t>
            </a:r>
          </a:p>
          <a:p>
            <a:r>
              <a:rPr lang="en-US" sz="2800" dirty="0"/>
              <a:t>Please hold detailed questions until that Q&amp;A starts</a:t>
            </a:r>
          </a:p>
          <a:p>
            <a:r>
              <a:rPr lang="en-US" sz="2800" dirty="0"/>
              <a:t>Feel free to ask clarification questions</a:t>
            </a:r>
          </a:p>
          <a:p>
            <a:r>
              <a:rPr lang="en-US" sz="2800" dirty="0"/>
              <a:t>Remind the speakers to use Zoom It when you can’t see</a:t>
            </a:r>
          </a:p>
        </p:txBody>
      </p:sp>
    </p:spTree>
    <p:extLst>
      <p:ext uri="{BB962C8B-B14F-4D97-AF65-F5344CB8AC3E}">
        <p14:creationId xmlns:p14="http://schemas.microsoft.com/office/powerpoint/2010/main" val="3743149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39">
            <a:extLst>
              <a:ext uri="{FF2B5EF4-FFF2-40B4-BE49-F238E27FC236}">
                <a16:creationId xmlns:a16="http://schemas.microsoft.com/office/drawing/2014/main" id="{DE0766C8-568F-2733-1B64-6FA28192929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78E741A-68FE-0B2A-F2BD-201B0B123A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Sandy Zeng (</a:t>
            </a:r>
            <a:r>
              <a:rPr lang="ja-JP" altLang="en-US" dirty="0"/>
              <a:t>曾颖华</a:t>
            </a:r>
            <a:r>
              <a:rPr lang="en-US" altLang="ja-JP" dirty="0"/>
              <a:t>) 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7D52575-731F-B062-575C-1A114BCFA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Andrew Johnson</a:t>
            </a:r>
          </a:p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286CB0A-CC66-7C9F-DC4A-BE193D4DFB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@</a:t>
            </a:r>
            <a:r>
              <a:rPr lang="en-US" dirty="0"/>
              <a:t>sandy_tsang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ED36D92-BCB7-5A58-58C6-DEB809880C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ajohnson@adm-solutions.net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@AndrewJNet</a:t>
            </a:r>
          </a:p>
          <a:p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F7BEC70-5521-1DE2-1985-5E3027DE04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39693" y="4540933"/>
            <a:ext cx="4572000" cy="764771"/>
          </a:xfrm>
        </p:spPr>
        <p:txBody>
          <a:bodyPr>
            <a:noAutofit/>
          </a:bodyPr>
          <a:lstStyle/>
          <a:p>
            <a:r>
              <a:rPr lang="en-US" sz="2000" dirty="0"/>
              <a:t>Senior Cloud Architect</a:t>
            </a:r>
          </a:p>
          <a:p>
            <a:r>
              <a:rPr lang="en-US" sz="2000" dirty="0" err="1"/>
              <a:t>CloudWay</a:t>
            </a:r>
            <a:endParaRPr lang="en-US" sz="2000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92259D4D-C5C1-7440-A0D1-482A2EF233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Solutions Architect</a:t>
            </a:r>
          </a:p>
          <a:p>
            <a:endParaRPr lang="en-US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BA6333A7-FC74-D35A-9B01-B2E71641A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861" y="5354166"/>
            <a:ext cx="343996" cy="343996"/>
          </a:xfrm>
          <a:prstGeom prst="rect">
            <a:avLst/>
          </a:prstGeom>
        </p:spPr>
      </p:pic>
      <p:pic>
        <p:nvPicPr>
          <p:cNvPr id="45" name="Graphic 44" descr="Envelope with solid fill">
            <a:extLst>
              <a:ext uri="{FF2B5EF4-FFF2-40B4-BE49-F238E27FC236}">
                <a16:creationId xmlns:a16="http://schemas.microsoft.com/office/drawing/2014/main" id="{2EFD5DA2-25D1-BB33-7278-2D277ECA0F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5297564"/>
            <a:ext cx="457200" cy="4572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B128A05-C5B2-DCFC-72D9-70CAC016E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596" y="5766676"/>
            <a:ext cx="343996" cy="343996"/>
          </a:xfrm>
          <a:prstGeom prst="rect">
            <a:avLst/>
          </a:prstGeom>
        </p:spPr>
      </p:pic>
      <p:pic>
        <p:nvPicPr>
          <p:cNvPr id="5" name="Picture Placeholder 4" descr="A person smiling for a picture  AI-generated content may be incorrect.">
            <a:extLst>
              <a:ext uri="{FF2B5EF4-FFF2-40B4-BE49-F238E27FC236}">
                <a16:creationId xmlns:a16="http://schemas.microsoft.com/office/drawing/2014/main" id="{73AE33C3-3618-9D25-AF5C-DD2FBCE7D74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5"/>
          <a:srcRect t="8300" b="29104"/>
          <a:stretch>
            <a:fillRect/>
          </a:stretch>
        </p:blipFill>
        <p:spPr>
          <a:xfrm>
            <a:off x="7091630" y="1581880"/>
            <a:ext cx="2703513" cy="2538413"/>
          </a:xfrm>
        </p:spPr>
      </p:pic>
    </p:spTree>
    <p:extLst>
      <p:ext uri="{BB962C8B-B14F-4D97-AF65-F5344CB8AC3E}">
        <p14:creationId xmlns:p14="http://schemas.microsoft.com/office/powerpoint/2010/main" val="446416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D5A982-3138-6D08-EDA2-11BF1F86B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725"/>
            <a:ext cx="10515600" cy="779489"/>
          </a:xfrm>
        </p:spPr>
        <p:txBody>
          <a:bodyPr>
            <a:normAutofit/>
          </a:bodyPr>
          <a:lstStyle/>
          <a:p>
            <a:r>
              <a:rPr lang="en-US" dirty="0"/>
              <a:t>Why Your Current Reporting Falls Short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A06FFCF-62EB-56F8-9E27-4E21466EE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7064"/>
            <a:ext cx="10515600" cy="3653281"/>
          </a:xfrm>
        </p:spPr>
        <p:txBody>
          <a:bodyPr>
            <a:normAutofit/>
          </a:bodyPr>
          <a:lstStyle/>
          <a:p>
            <a:r>
              <a:rPr lang="en-US" dirty="0"/>
              <a:t>Built-in Intune reports have limited flexibility</a:t>
            </a:r>
          </a:p>
          <a:p>
            <a:r>
              <a:rPr lang="en-US" dirty="0"/>
              <a:t>No easy way to correlate data across sources</a:t>
            </a:r>
          </a:p>
          <a:p>
            <a:r>
              <a:rPr lang="en-US" dirty="0"/>
              <a:t>Update compliance visibility is reactive, not real-time</a:t>
            </a:r>
          </a:p>
          <a:p>
            <a:r>
              <a:rPr lang="en-US" dirty="0"/>
              <a:t>Custom needs require custom solutions</a:t>
            </a:r>
          </a:p>
        </p:txBody>
      </p:sp>
    </p:spTree>
    <p:extLst>
      <p:ext uri="{BB962C8B-B14F-4D97-AF65-F5344CB8AC3E}">
        <p14:creationId xmlns:p14="http://schemas.microsoft.com/office/powerpoint/2010/main" val="3642155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D5A982-3138-6D08-EDA2-11BF1F86B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Extending Reporting with Log Analytics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A06FFCF-62EB-56F8-9E27-4E21466EE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Enable Diagnostic Settings in the Intune admin center</a:t>
            </a:r>
          </a:p>
          <a:p>
            <a:r>
              <a:rPr lang="en-US" dirty="0"/>
              <a:t>Select the log categories relevant to your reporting needs</a:t>
            </a:r>
          </a:p>
          <a:p>
            <a:r>
              <a:rPr lang="en-US" dirty="0"/>
              <a:t>Send to a Log Analytics workspace</a:t>
            </a:r>
          </a:p>
          <a:p>
            <a:r>
              <a:rPr lang="en-US" dirty="0"/>
              <a:t>Query data with KQL</a:t>
            </a:r>
          </a:p>
        </p:txBody>
      </p:sp>
    </p:spTree>
    <p:extLst>
      <p:ext uri="{BB962C8B-B14F-4D97-AF65-F5344CB8AC3E}">
        <p14:creationId xmlns:p14="http://schemas.microsoft.com/office/powerpoint/2010/main" val="1381044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D5A982-3138-6D08-EDA2-11BF1F86B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725"/>
            <a:ext cx="10515600" cy="779489"/>
          </a:xfrm>
        </p:spPr>
        <p:txBody>
          <a:bodyPr>
            <a:normAutofit/>
          </a:bodyPr>
          <a:lstStyle/>
          <a:p>
            <a:r>
              <a:rPr lang="en-US" dirty="0"/>
              <a:t>How the Data Flows</a:t>
            </a:r>
          </a:p>
        </p:txBody>
      </p:sp>
      <p:sp>
        <p:nvSpPr>
          <p:cNvPr id="20" name="Box Intune"/>
          <p:cNvSpPr/>
          <p:nvPr/>
        </p:nvSpPr>
        <p:spPr>
          <a:xfrm>
            <a:off x="1066800" y="2756647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 w="25400">
            <a:solidFill>
              <a:srgbClr val="005A9E"/>
            </a:solidFill>
          </a:ln>
        </p:spPr>
        <p:txBody>
          <a:bodyPr anchor="ctr" anchorCtr="1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Intune</a:t>
            </a:r>
          </a:p>
          <a:p>
            <a:pPr algn="ctr"/>
            <a:r>
              <a:rPr lang="en-US" sz="1100" dirty="0">
                <a:solidFill>
                  <a:srgbClr val="CADCFC"/>
                </a:solidFill>
              </a:rPr>
              <a:t>Devices, Apps, Compliance</a:t>
            </a:r>
          </a:p>
        </p:txBody>
      </p:sp>
      <p:sp>
        <p:nvSpPr>
          <p:cNvPr id="21" name="Arrow1"/>
          <p:cNvSpPr/>
          <p:nvPr/>
        </p:nvSpPr>
        <p:spPr>
          <a:xfrm>
            <a:off x="3124200" y="3061447"/>
            <a:ext cx="4572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44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Box DiagSettings"/>
          <p:cNvSpPr/>
          <p:nvPr/>
        </p:nvSpPr>
        <p:spPr>
          <a:xfrm>
            <a:off x="3581400" y="2756647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 w="25400">
            <a:solidFill>
              <a:srgbClr val="005A9E"/>
            </a:solidFill>
          </a:ln>
        </p:spPr>
        <p:txBody>
          <a:bodyPr anchor="ctr" anchorCtr="1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Diagnostic Settings</a:t>
            </a:r>
          </a:p>
          <a:p>
            <a:pPr algn="ctr"/>
            <a:r>
              <a:rPr lang="en-US" sz="1100" dirty="0">
                <a:solidFill>
                  <a:srgbClr val="CADCFC"/>
                </a:solidFill>
              </a:rPr>
              <a:t>Select Log Categories</a:t>
            </a:r>
          </a:p>
        </p:txBody>
      </p:sp>
      <p:sp>
        <p:nvSpPr>
          <p:cNvPr id="23" name="Arrow2"/>
          <p:cNvSpPr/>
          <p:nvPr/>
        </p:nvSpPr>
        <p:spPr>
          <a:xfrm>
            <a:off x="5638800" y="3061447"/>
            <a:ext cx="4572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44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Box LogAnalytics"/>
          <p:cNvSpPr/>
          <p:nvPr/>
        </p:nvSpPr>
        <p:spPr>
          <a:xfrm>
            <a:off x="6096000" y="2756647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 w="25400">
            <a:solidFill>
              <a:srgbClr val="005A9E"/>
            </a:solidFill>
          </a:ln>
        </p:spPr>
        <p:txBody>
          <a:bodyPr anchor="ctr" anchorCtr="1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Log Analytics</a:t>
            </a:r>
          </a:p>
          <a:p>
            <a:pPr algn="ctr"/>
            <a:r>
              <a:rPr lang="en-US" sz="1100" dirty="0">
                <a:solidFill>
                  <a:srgbClr val="CADCFC"/>
                </a:solidFill>
              </a:rPr>
              <a:t>Query with KQL</a:t>
            </a:r>
          </a:p>
        </p:txBody>
      </p:sp>
      <p:sp>
        <p:nvSpPr>
          <p:cNvPr id="25" name="Arrow3"/>
          <p:cNvSpPr/>
          <p:nvPr/>
        </p:nvSpPr>
        <p:spPr>
          <a:xfrm>
            <a:off x="8382000" y="3061447"/>
            <a:ext cx="4572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44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Box Workbooks"/>
          <p:cNvSpPr/>
          <p:nvPr/>
        </p:nvSpPr>
        <p:spPr>
          <a:xfrm>
            <a:off x="8839200" y="2756647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 w="25400">
            <a:solidFill>
              <a:srgbClr val="005A9E"/>
            </a:solidFill>
          </a:ln>
        </p:spPr>
        <p:txBody>
          <a:bodyPr anchor="ctr" anchorCtr="1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Workbooks</a:t>
            </a:r>
          </a:p>
          <a:p>
            <a:pPr algn="ctr"/>
            <a:r>
              <a:rPr lang="en-US" sz="1100" dirty="0">
                <a:solidFill>
                  <a:srgbClr val="CADCFC"/>
                </a:solidFill>
              </a:rPr>
              <a:t>Interactive Dashboards</a:t>
            </a:r>
          </a:p>
        </p:txBody>
      </p:sp>
      <p:sp>
        <p:nvSpPr>
          <p:cNvPr id="27" name="Box CustomLogs"/>
          <p:cNvSpPr/>
          <p:nvPr/>
        </p:nvSpPr>
        <p:spPr>
          <a:xfrm>
            <a:off x="6096000" y="4356847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2D7D9A"/>
          </a:solidFill>
          <a:ln w="25400">
            <a:solidFill>
              <a:srgbClr val="1B5E73"/>
            </a:solidFill>
          </a:ln>
        </p:spPr>
        <p:txBody>
          <a:bodyPr anchor="ctr" anchorCtr="1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Optional Custom Logs</a:t>
            </a:r>
          </a:p>
          <a:p>
            <a:pPr algn="ctr"/>
            <a:r>
              <a:rPr lang="en-US" sz="1100" dirty="0">
                <a:solidFill>
                  <a:srgbClr val="CADCFC"/>
                </a:solidFill>
              </a:rPr>
              <a:t>via Data Collection Rules</a:t>
            </a:r>
          </a:p>
        </p:txBody>
      </p:sp>
      <p:sp>
        <p:nvSpPr>
          <p:cNvPr id="28" name="Arrow4Up"/>
          <p:cNvSpPr/>
          <p:nvPr/>
        </p:nvSpPr>
        <p:spPr>
          <a:xfrm rot="16200000">
            <a:off x="7086600" y="3823447"/>
            <a:ext cx="4572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44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155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3DF64-B9EC-2662-7E45-86EAAEFA6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BC0CC6-4714-C94F-6BC6-3DA1C17A4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Sending logs to Log Analytics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34171-BE87-7F41-BA2D-46950EF12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249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D5A982-3138-6D08-EDA2-11BF1F86B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Update for Business Reports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A06FFCF-62EB-56F8-9E27-4E21466EE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Microsoft supported solution</a:t>
            </a:r>
          </a:p>
          <a:p>
            <a:r>
              <a:rPr lang="en-US" dirty="0"/>
              <a:t>Visibility into update compliance across your fleet</a:t>
            </a:r>
          </a:p>
          <a:p>
            <a:r>
              <a:rPr lang="en-US" dirty="0"/>
              <a:t>Monitor feature updates, quality updates, and driver status</a:t>
            </a:r>
          </a:p>
          <a:p>
            <a:r>
              <a:rPr lang="en-US" dirty="0"/>
              <a:t>Drill into devices that are behind or failing</a:t>
            </a:r>
          </a:p>
          <a:p>
            <a:r>
              <a:rPr lang="en-US" dirty="0"/>
              <a:t>Integrates natively with Log Analytics</a:t>
            </a:r>
          </a:p>
        </p:txBody>
      </p:sp>
    </p:spTree>
    <p:extLst>
      <p:ext uri="{BB962C8B-B14F-4D97-AF65-F5344CB8AC3E}">
        <p14:creationId xmlns:p14="http://schemas.microsoft.com/office/powerpoint/2010/main" val="2544008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A89C0-8918-C438-5E76-1D54EC04A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F2DD20-172F-8A19-DC4E-FE89EF7C8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Update for Business Reports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3F1603-D919-0A25-0BB8-75DE8A308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58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D5A982-3138-6D08-EDA2-11BF1F86B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Community Solutions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A06FFCF-62EB-56F8-9E27-4E21466EE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don’t always have to start from scratch</a:t>
            </a:r>
          </a:p>
          <a:p>
            <a:r>
              <a:rPr lang="en-US" dirty="0"/>
              <a:t>Curated Workbook templates from the Intune community</a:t>
            </a:r>
          </a:p>
          <a:p>
            <a:r>
              <a:rPr lang="en-US" dirty="0"/>
              <a:t>GitHub repos and resources worth bookmarking</a:t>
            </a:r>
          </a:p>
          <a:p>
            <a:r>
              <a:rPr lang="en-US" dirty="0"/>
              <a:t>How to evaluate, adapt, and deploy community solutions safely</a:t>
            </a:r>
          </a:p>
        </p:txBody>
      </p:sp>
    </p:spTree>
    <p:extLst>
      <p:ext uri="{BB962C8B-B14F-4D97-AF65-F5344CB8AC3E}">
        <p14:creationId xmlns:p14="http://schemas.microsoft.com/office/powerpoint/2010/main" val="1632361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79A630-3145-0151-A4D5-35488C9E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KQL queries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93DEC7-82F3-3BC3-7616-2346E8281D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17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D5A982-3138-6D08-EDA2-11BF1F86B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725"/>
            <a:ext cx="10515600" cy="779489"/>
          </a:xfrm>
        </p:spPr>
        <p:txBody>
          <a:bodyPr>
            <a:normAutofit/>
          </a:bodyPr>
          <a:lstStyle/>
          <a:p>
            <a:r>
              <a:rPr lang="en-US" dirty="0"/>
              <a:t>Building Better Workbooks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A06FFCF-62EB-56F8-9E27-4E21466EE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7064"/>
            <a:ext cx="10515600" cy="3653281"/>
          </a:xfrm>
        </p:spPr>
        <p:txBody>
          <a:bodyPr>
            <a:normAutofit/>
          </a:bodyPr>
          <a:lstStyle/>
          <a:p>
            <a:r>
              <a:rPr lang="en-US" dirty="0"/>
              <a:t>Use parameters for time range, device group, and OS version filters</a:t>
            </a:r>
          </a:p>
          <a:p>
            <a:r>
              <a:rPr lang="en-US" dirty="0"/>
              <a:t>Organize with tabs: Overview, Compliance, Updates, App Health</a:t>
            </a:r>
          </a:p>
          <a:p>
            <a:r>
              <a:rPr lang="en-US" dirty="0"/>
              <a:t>Use “let” statements to define shared queries and reduce duplication</a:t>
            </a:r>
          </a:p>
          <a:p>
            <a:r>
              <a:rPr lang="en-US" dirty="0"/>
              <a:t>Keep time ranges reasonable — querying 90+ days slows everything down</a:t>
            </a:r>
          </a:p>
        </p:txBody>
      </p:sp>
    </p:spTree>
    <p:extLst>
      <p:ext uri="{BB962C8B-B14F-4D97-AF65-F5344CB8AC3E}">
        <p14:creationId xmlns:p14="http://schemas.microsoft.com/office/powerpoint/2010/main" val="3642155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D5A982-3138-6D08-EDA2-11BF1F86B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725"/>
            <a:ext cx="10515600" cy="779489"/>
          </a:xfrm>
        </p:spPr>
        <p:txBody>
          <a:bodyPr>
            <a:normAutofit/>
          </a:bodyPr>
          <a:lstStyle/>
          <a:p>
            <a:r>
              <a:rPr lang="en-US" dirty="0"/>
              <a:t>Key Takeaways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A06FFCF-62EB-56F8-9E27-4E21466EE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7064"/>
            <a:ext cx="10515600" cy="365328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Built-in Intune reports are a starting point</a:t>
            </a:r>
          </a:p>
          <a:p>
            <a:r>
              <a:rPr lang="en-US" dirty="0"/>
              <a:t>Log Analytics + KQL unlock cross-source correlation and near-real-time visibility</a:t>
            </a:r>
          </a:p>
          <a:p>
            <a:r>
              <a:rPr lang="en-US" dirty="0"/>
              <a:t>WUfB Reports give you update compliance without building from scratch</a:t>
            </a:r>
          </a:p>
          <a:p>
            <a:r>
              <a:rPr lang="en-US" dirty="0"/>
              <a:t>Community workbooks save time </a:t>
            </a:r>
          </a:p>
          <a:p>
            <a:r>
              <a:rPr lang="en-US" dirty="0"/>
              <a:t>Custom logs can extend your reporting to data Intune doesn’t capture natively</a:t>
            </a:r>
          </a:p>
        </p:txBody>
      </p:sp>
    </p:spTree>
    <p:extLst>
      <p:ext uri="{BB962C8B-B14F-4D97-AF65-F5344CB8AC3E}">
        <p14:creationId xmlns:p14="http://schemas.microsoft.com/office/powerpoint/2010/main" val="3642155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C4865-A8EA-DE9B-A9E4-A479B9FE52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702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781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530864"/>
      </p:ext>
    </p:extLst>
  </p:cSld>
  <p:clrMapOvr>
    <a:masterClrMapping/>
  </p:clrMapOvr>
</p:sld>
</file>

<file path=ppt/theme/theme1.xml><?xml version="1.0" encoding="utf-8"?>
<a:theme xmlns:a="http://schemas.openxmlformats.org/drawingml/2006/main" name="Dark Mod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MS 2026 at MOA.potx" id="{D8842C19-AA0D-435F-9EEB-FA31630ABB9B}" vid="{B3EE2789-FD7D-46D1-B302-E8985430D9C8}"/>
    </a:ext>
  </a:extLst>
</a:theme>
</file>

<file path=ppt/theme/theme2.xml><?xml version="1.0" encoding="utf-8"?>
<a:theme xmlns:a="http://schemas.openxmlformats.org/drawingml/2006/main" name="Light Mo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MS 2026 at MOA.potx" id="{D8842C19-AA0D-435F-9EEB-FA31630ABB9B}" vid="{5142D9BD-4495-4882-B39B-A8686CD3B06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C2B4EB9DBA0D4D99806312F205649F" ma:contentTypeVersion="16" ma:contentTypeDescription="Create a new document." ma:contentTypeScope="" ma:versionID="2a16bae63b61d73282c3c1a7f3268cc9">
  <xsd:schema xmlns:xsd="http://www.w3.org/2001/XMLSchema" xmlns:xs="http://www.w3.org/2001/XMLSchema" xmlns:p="http://schemas.microsoft.com/office/2006/metadata/properties" xmlns:ns2="91dab7dc-0c72-4fe3-960b-3ab842370499" xmlns:ns3="f59a321c-55de-4878-8b3b-f07da05448e6" targetNamespace="http://schemas.microsoft.com/office/2006/metadata/properties" ma:root="true" ma:fieldsID="dd7177bca7871ee925c8e9da48ab3586" ns2:_="" ns3:_="">
    <xsd:import namespace="91dab7dc-0c72-4fe3-960b-3ab842370499"/>
    <xsd:import namespace="f59a321c-55de-4878-8b3b-f07da05448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dab7dc-0c72-4fe3-960b-3ab8423704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f7fdbde3-cf9d-4657-b0e0-ae1cc15f3c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9a321c-55de-4878-8b3b-f07da05448e6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9804612a-e849-4dd1-9044-7a8be63de00f}" ma:internalName="TaxCatchAll" ma:showField="CatchAllData" ma:web="f59a321c-55de-4878-8b3b-f07da05448e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1dab7dc-0c72-4fe3-960b-3ab842370499">
      <Terms xmlns="http://schemas.microsoft.com/office/infopath/2007/PartnerControls"/>
    </lcf76f155ced4ddcb4097134ff3c332f>
    <TaxCatchAll xmlns="f59a321c-55de-4878-8b3b-f07da05448e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126AA1-4F74-4D4A-99AE-324EF9733A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dab7dc-0c72-4fe3-960b-3ab842370499"/>
    <ds:schemaRef ds:uri="f59a321c-55de-4878-8b3b-f07da05448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CE0B4D4-529D-4984-8525-2DCCA1BEFF9D}">
  <ds:schemaRefs>
    <ds:schemaRef ds:uri="994c1987-0261-432a-b2ef-a9da39f1b5e2"/>
    <ds:schemaRef ds:uri="http://schemas.openxmlformats.org/package/2006/metadata/core-properties"/>
    <ds:schemaRef ds:uri="0f628621-369a-46c7-83bd-de17ca407533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91dab7dc-0c72-4fe3-960b-3ab842370499"/>
    <ds:schemaRef ds:uri="f59a321c-55de-4878-8b3b-f07da05448e6"/>
  </ds:schemaRefs>
</ds:datastoreItem>
</file>

<file path=customXml/itemProps3.xml><?xml version="1.0" encoding="utf-8"?>
<ds:datastoreItem xmlns:ds="http://schemas.openxmlformats.org/officeDocument/2006/customXml" ds:itemID="{FBB99CDF-4DD1-4BCA-94A9-937C9978E90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MMS  at MOA</Template>
  <TotalTime>115</TotalTime>
  <Words>390</Words>
  <Application>Microsoft Office PowerPoint</Application>
  <PresentationFormat>Widescreen</PresentationFormat>
  <Paragraphs>67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Wingdings</vt:lpstr>
      <vt:lpstr>Dark Mode</vt:lpstr>
      <vt:lpstr>Light Mode</vt:lpstr>
      <vt:lpstr>   Enhancing Intune Reporting with Log Analytics and Workbooks</vt:lpstr>
      <vt:lpstr>Attention</vt:lpstr>
      <vt:lpstr>PowerPoint Presentation</vt:lpstr>
      <vt:lpstr>Why Your Current Reporting Falls Short</vt:lpstr>
      <vt:lpstr>Extending Reporting with Log Analytics</vt:lpstr>
      <vt:lpstr>How the Data Flows</vt:lpstr>
      <vt:lpstr>Sending logs to Log Analytics</vt:lpstr>
      <vt:lpstr>Windows Update for Business Reports</vt:lpstr>
      <vt:lpstr>Windows Update for Business Reports</vt:lpstr>
      <vt:lpstr>Community Solutions</vt:lpstr>
      <vt:lpstr>Working with KQL queries</vt:lpstr>
      <vt:lpstr>Building Better Workbooks</vt:lpstr>
      <vt:lpstr>Key Takeaways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MMS 2026 at MOA</dc:subject>
  <dc:creator>Andrew Johnson</dc:creator>
  <cp:lastModifiedBy>Andrew Johnson</cp:lastModifiedBy>
  <cp:revision>3</cp:revision>
  <dcterms:created xsi:type="dcterms:W3CDTF">2026-03-31T21:35:54Z</dcterms:created>
  <dcterms:modified xsi:type="dcterms:W3CDTF">2026-04-22T04:21:57Z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0x010100B6C2B4EB9DBA0D4D99806312F205649F</vt:lpwstr>
  </property>
  <property fmtid="{D5CDD505-2E9C-101B-9397-08002B2CF9AE}" pid="3" name="MediaServiceImageTags">
    <vt:lpwstr/>
  </property>
</Properties>
</file>