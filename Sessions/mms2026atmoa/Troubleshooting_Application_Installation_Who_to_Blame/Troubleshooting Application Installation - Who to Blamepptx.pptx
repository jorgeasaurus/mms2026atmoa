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4"/>
  </p:sldMasterIdLst>
  <p:notesMasterIdLst>
    <p:notesMasterId r:id="rId62"/>
  </p:notesMasterIdLst>
  <p:sldIdLst>
    <p:sldId id="256" r:id="rId5"/>
    <p:sldId id="264" r:id="rId6"/>
    <p:sldId id="344" r:id="rId7"/>
    <p:sldId id="315" r:id="rId8"/>
    <p:sldId id="341" r:id="rId9"/>
    <p:sldId id="282" r:id="rId10"/>
    <p:sldId id="283" r:id="rId11"/>
    <p:sldId id="284" r:id="rId12"/>
    <p:sldId id="320" r:id="rId13"/>
    <p:sldId id="316" r:id="rId14"/>
    <p:sldId id="317" r:id="rId15"/>
    <p:sldId id="345" r:id="rId16"/>
    <p:sldId id="347" r:id="rId17"/>
    <p:sldId id="318" r:id="rId18"/>
    <p:sldId id="319" r:id="rId19"/>
    <p:sldId id="285" r:id="rId20"/>
    <p:sldId id="287" r:id="rId21"/>
    <p:sldId id="322" r:id="rId22"/>
    <p:sldId id="288" r:id="rId23"/>
    <p:sldId id="342" r:id="rId24"/>
    <p:sldId id="289" r:id="rId25"/>
    <p:sldId id="312" r:id="rId26"/>
    <p:sldId id="290" r:id="rId27"/>
    <p:sldId id="291" r:id="rId28"/>
    <p:sldId id="292" r:id="rId29"/>
    <p:sldId id="293" r:id="rId30"/>
    <p:sldId id="294" r:id="rId31"/>
    <p:sldId id="321" r:id="rId32"/>
    <p:sldId id="323" r:id="rId33"/>
    <p:sldId id="324" r:id="rId34"/>
    <p:sldId id="328" r:id="rId35"/>
    <p:sldId id="329" r:id="rId36"/>
    <p:sldId id="335" r:id="rId37"/>
    <p:sldId id="348" r:id="rId38"/>
    <p:sldId id="349" r:id="rId39"/>
    <p:sldId id="350" r:id="rId40"/>
    <p:sldId id="330" r:id="rId41"/>
    <p:sldId id="331" r:id="rId42"/>
    <p:sldId id="332" r:id="rId43"/>
    <p:sldId id="333" r:id="rId44"/>
    <p:sldId id="334" r:id="rId45"/>
    <p:sldId id="336" r:id="rId46"/>
    <p:sldId id="343" r:id="rId47"/>
    <p:sldId id="325" r:id="rId48"/>
    <p:sldId id="327" r:id="rId49"/>
    <p:sldId id="306" r:id="rId50"/>
    <p:sldId id="326" r:id="rId51"/>
    <p:sldId id="305" r:id="rId52"/>
    <p:sldId id="304" r:id="rId53"/>
    <p:sldId id="338" r:id="rId54"/>
    <p:sldId id="337" r:id="rId55"/>
    <p:sldId id="346" r:id="rId56"/>
    <p:sldId id="339" r:id="rId57"/>
    <p:sldId id="351" r:id="rId58"/>
    <p:sldId id="340" r:id="rId59"/>
    <p:sldId id="314" r:id="rId60"/>
    <p:sldId id="259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and Introduction" id="{73FDD849-C47E-4517-B07A-5EEA8DCD8594}">
          <p14:sldIdLst>
            <p14:sldId id="256"/>
            <p14:sldId id="264"/>
            <p14:sldId id="344"/>
            <p14:sldId id="315"/>
            <p14:sldId id="341"/>
          </p14:sldIdLst>
        </p14:section>
        <p14:section name="Presentation" id="{866A3E68-017F-4F94-A6C6-BFF303BC3121}">
          <p14:sldIdLst>
            <p14:sldId id="282"/>
            <p14:sldId id="283"/>
            <p14:sldId id="284"/>
            <p14:sldId id="320"/>
            <p14:sldId id="316"/>
            <p14:sldId id="317"/>
            <p14:sldId id="345"/>
            <p14:sldId id="347"/>
            <p14:sldId id="318"/>
            <p14:sldId id="319"/>
            <p14:sldId id="285"/>
            <p14:sldId id="287"/>
            <p14:sldId id="322"/>
            <p14:sldId id="288"/>
            <p14:sldId id="342"/>
            <p14:sldId id="289"/>
            <p14:sldId id="312"/>
            <p14:sldId id="290"/>
            <p14:sldId id="291"/>
            <p14:sldId id="292"/>
            <p14:sldId id="293"/>
            <p14:sldId id="294"/>
            <p14:sldId id="321"/>
            <p14:sldId id="323"/>
            <p14:sldId id="324"/>
            <p14:sldId id="328"/>
            <p14:sldId id="329"/>
            <p14:sldId id="335"/>
            <p14:sldId id="348"/>
            <p14:sldId id="349"/>
            <p14:sldId id="350"/>
            <p14:sldId id="330"/>
            <p14:sldId id="331"/>
            <p14:sldId id="332"/>
            <p14:sldId id="333"/>
            <p14:sldId id="334"/>
            <p14:sldId id="336"/>
            <p14:sldId id="343"/>
            <p14:sldId id="325"/>
            <p14:sldId id="327"/>
            <p14:sldId id="306"/>
            <p14:sldId id="326"/>
            <p14:sldId id="305"/>
            <p14:sldId id="304"/>
            <p14:sldId id="338"/>
            <p14:sldId id="337"/>
            <p14:sldId id="346"/>
            <p14:sldId id="339"/>
            <p14:sldId id="351"/>
            <p14:sldId id="340"/>
            <p14:sldId id="314"/>
          </p14:sldIdLst>
        </p14:section>
        <p14:section name="Closing" id="{49CB15AC-FD56-4AAC-8B8A-68CF2CB85A39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DCC93-371C-43B7-8583-98B5C8ABA5C3}" v="3" dt="2026-05-06T19:54:26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295" autoAdjust="0"/>
  </p:normalViewPr>
  <p:slideViewPr>
    <p:cSldViewPr snapToGrid="0">
      <p:cViewPr varScale="1">
        <p:scale>
          <a:sx n="80" d="100"/>
          <a:sy n="80" d="100"/>
        </p:scale>
        <p:origin x="7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m O'Neil" userId="776380313c183bbf" providerId="LiveId" clId="{B0A3FE33-E0D5-455D-978B-944E8D9B3D92}"/>
    <pc:docChg chg="addSld modSld modSection">
      <pc:chgData name="Jim O'Neil" userId="776380313c183bbf" providerId="LiveId" clId="{B0A3FE33-E0D5-455D-978B-944E8D9B3D92}" dt="2026-05-06T19:54:26.167" v="78"/>
      <pc:docMkLst>
        <pc:docMk/>
      </pc:docMkLst>
      <pc:sldChg chg="modSp new mod">
        <pc:chgData name="Jim O'Neil" userId="776380313c183bbf" providerId="LiveId" clId="{B0A3FE33-E0D5-455D-978B-944E8D9B3D92}" dt="2026-05-06T19:54:26.167" v="78"/>
        <pc:sldMkLst>
          <pc:docMk/>
          <pc:sldMk cId="3245731261" sldId="351"/>
        </pc:sldMkLst>
        <pc:spChg chg="mod">
          <ac:chgData name="Jim O'Neil" userId="776380313c183bbf" providerId="LiveId" clId="{B0A3FE33-E0D5-455D-978B-944E8D9B3D92}" dt="2026-05-06T19:53:11.691" v="6" actId="20577"/>
          <ac:spMkLst>
            <pc:docMk/>
            <pc:sldMk cId="3245731261" sldId="351"/>
            <ac:spMk id="2" creationId="{626E9E52-39E9-B97F-14DF-32EDC35D27AC}"/>
          </ac:spMkLst>
        </pc:spChg>
        <pc:spChg chg="mod">
          <ac:chgData name="Jim O'Neil" userId="776380313c183bbf" providerId="LiveId" clId="{B0A3FE33-E0D5-455D-978B-944E8D9B3D92}" dt="2026-05-06T19:54:26.167" v="78"/>
          <ac:spMkLst>
            <pc:docMk/>
            <pc:sldMk cId="3245731261" sldId="351"/>
            <ac:spMk id="3" creationId="{87F48833-6816-2E7D-2370-213A70ED62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CC04A-C335-487A-8178-6C90F0F29C9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05CAA-7DFD-4456-A943-C499583EE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85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19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38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  <a:br>
              <a:rPr lang="en-US"/>
            </a:br>
            <a:br>
              <a:rPr lang="en-US"/>
            </a:br>
            <a:r>
              <a:rPr lang="en-US"/>
              <a:t>Poll: Who here is responsible for</a:t>
            </a:r>
            <a:br>
              <a:rPr lang="en-US"/>
            </a:br>
            <a:r>
              <a:rPr lang="en-US"/>
              <a:t>Just app deployment, not packaging</a:t>
            </a:r>
            <a:br>
              <a:rPr lang="en-US"/>
            </a:br>
            <a:r>
              <a:rPr lang="en-US"/>
              <a:t>App packaging, not deployment?</a:t>
            </a:r>
            <a:br>
              <a:rPr lang="en-US"/>
            </a:br>
            <a:r>
              <a:rPr lang="en-US"/>
              <a:t>Both?</a:t>
            </a:r>
            <a:br>
              <a:rPr lang="en-US"/>
            </a:br>
            <a:br>
              <a:rPr lang="en-US"/>
            </a:br>
            <a:r>
              <a:rPr lang="en-US"/>
              <a:t>90 minutes isn’t enough</a:t>
            </a:r>
          </a:p>
          <a:p>
            <a:r>
              <a:rPr lang="en-US"/>
              <a:t>There’s a whole day’s worth of material for how to fix shitty apps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03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Bryan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We are going to focus on MSIs for the most part because they’re still the most popular.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31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43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07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Jim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15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B0BF3-5764-CE3C-7FA0-B3F8BFBD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902DC-2F5C-1D45-E7D1-0DF3DB065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421D7-ABF2-6D82-04B6-87E38628A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Jim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D0B3C-C5A0-5211-E92D-770F2F4C1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15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Jim</a:t>
            </a:r>
          </a:p>
          <a:p>
            <a:endParaRPr lang="en-US"/>
          </a:p>
          <a:p>
            <a:r>
              <a:rPr lang="en-US">
                <a:ea typeface="Calibri"/>
                <a:cs typeface="Calibri"/>
              </a:rPr>
              <a:t>Users - preferrable for self-service </a:t>
            </a:r>
            <a:r>
              <a:rPr lang="en-US" dirty="0">
                <a:ea typeface="Calibri"/>
                <a:cs typeface="Calibri"/>
              </a:rPr>
              <a:t>scenarios</a:t>
            </a:r>
          </a:p>
          <a:p>
            <a:r>
              <a:rPr lang="en-US" dirty="0">
                <a:ea typeface="Calibri"/>
                <a:cs typeface="Calibri"/>
              </a:rPr>
              <a:t>Devices - updates, security clients, required</a:t>
            </a:r>
            <a:r>
              <a:rPr lang="en-US">
                <a:ea typeface="Calibri"/>
                <a:cs typeface="Calibri"/>
              </a:rPr>
              <a:t> apps 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9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Jim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08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08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  <a:br>
              <a:rPr lang="en-US"/>
            </a:br>
            <a:br>
              <a:rPr lang="en-US"/>
            </a:br>
            <a:r>
              <a:rPr lang="en-US"/>
              <a:t>Important because of the corresponding Program Files, Registry, and System folders</a:t>
            </a:r>
          </a:p>
          <a:p>
            <a:endParaRPr lang="en-US"/>
          </a:p>
          <a:p>
            <a:r>
              <a:rPr lang="en-US"/>
              <a:t>99% of the time these are not a problem, but that 1% will kick you in the 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41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47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Jim</a:t>
            </a:r>
            <a:br>
              <a:rPr lang="en-US" baseline="0"/>
            </a:br>
            <a:br>
              <a:rPr lang="en-US" baseline="0"/>
            </a:br>
            <a:r>
              <a:rPr lang="en-US" baseline="0"/>
              <a:t>What removes SYSTEM permissions? People or bad software.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09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11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Jim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564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Jim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7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  <a:p>
            <a:endParaRPr lang="en-US"/>
          </a:p>
          <a:p>
            <a:r>
              <a:rPr lang="en-US"/>
              <a:t>Example: Office 365 Click2Run error dialogs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047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38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you can use</a:t>
            </a:r>
          </a:p>
          <a:p>
            <a:r>
              <a:rPr lang="en-US"/>
              <a:t>Bryan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06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Speaker: Bryan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514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Speaker: Bryan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118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Bryan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Rollback is why Custom Actions are problematic: most packagers aren’t writing custom actions to undo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865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Bryan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757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49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341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736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E5C3-88B8-9E86-3E56-2E4B54490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28BE5-E00F-5E3D-198D-249BC8CAB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FBF2D-CBDE-2068-C27B-D6FB9E9C6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Jim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AC39C-B4BE-5431-D7DA-BFF91C567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22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04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079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  <a:br>
              <a:rPr lang="en-US"/>
            </a:br>
            <a:br>
              <a:rPr lang="en-US"/>
            </a:br>
            <a:r>
              <a:rPr lang="en-US"/>
              <a:t>Why is this important?</a:t>
            </a:r>
          </a:p>
          <a:p>
            <a:r>
              <a:rPr lang="en-US"/>
              <a:t>Are your detection rules working as expected on this device?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875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CEED4-89F2-8245-5C6A-79851D815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2862E-5373-3E0C-EC03-FBDDB3192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F5FCD-CB53-6F04-6E47-82A1B4A5A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Bryan</a:t>
            </a:r>
            <a:br>
              <a:rPr lang="en-US"/>
            </a:br>
            <a:br>
              <a:rPr lang="en-US"/>
            </a:br>
            <a:r>
              <a:rPr lang="en-US"/>
              <a:t>Why is this important?</a:t>
            </a:r>
          </a:p>
          <a:p>
            <a:r>
              <a:rPr lang="en-US"/>
              <a:t>Are your requirement rules working as expected on this device?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4B8BE-922A-5FB8-9B5E-26F9DD9E8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690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Bryan</a:t>
            </a:r>
            <a:br>
              <a:rPr lang="en-US"/>
            </a:br>
            <a:br>
              <a:rPr lang="en-US"/>
            </a:br>
            <a:r>
              <a:rPr lang="en-US"/>
              <a:t>Why is this important?</a:t>
            </a:r>
          </a:p>
          <a:p>
            <a:r>
              <a:rPr lang="en-US"/>
              <a:t>Is A/V blocking the hash checking of the file?</a:t>
            </a:r>
            <a:br>
              <a:rPr lang="en-US"/>
            </a:br>
            <a:r>
              <a:rPr lang="en-US"/>
              <a:t>Is the hash value just wrong and you should recreate the </a:t>
            </a:r>
            <a:r>
              <a:rPr lang="en-US" err="1"/>
              <a:t>intunewin</a:t>
            </a:r>
            <a:r>
              <a:rPr lang="en-US"/>
              <a:t> file?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250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Jim</a:t>
            </a:r>
            <a:br>
              <a:rPr lang="en-US"/>
            </a:br>
            <a:br>
              <a:rPr lang="en-US"/>
            </a:br>
            <a:r>
              <a:rPr lang="en-US"/>
              <a:t>Why is this important?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Did A/V get in the way of unzipping again?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Cache or disk space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708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  <a:br>
              <a:rPr lang="en-US"/>
            </a:br>
            <a:br>
              <a:rPr lang="en-US"/>
            </a:br>
            <a:r>
              <a:rPr lang="en-US"/>
              <a:t>Why is this important?</a:t>
            </a:r>
            <a:br>
              <a:rPr lang="en-US"/>
            </a:br>
            <a:r>
              <a:rPr lang="en-US"/>
              <a:t>If it fails here, then it’s an installer or possible </a:t>
            </a:r>
            <a:r>
              <a:rPr lang="en-US" err="1"/>
              <a:t>cmdline</a:t>
            </a:r>
            <a:r>
              <a:rPr lang="en-US"/>
              <a:t> problem.</a:t>
            </a:r>
          </a:p>
          <a:p>
            <a:r>
              <a:rPr lang="en-US"/>
              <a:t>Use the exit code to understand what happened.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959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Jim</a:t>
            </a:r>
            <a:br>
              <a:rPr lang="en-US"/>
            </a:br>
            <a:br>
              <a:rPr lang="en-US"/>
            </a:br>
            <a:r>
              <a:rPr lang="en-US"/>
              <a:t>Why does it matter?</a:t>
            </a:r>
            <a:br>
              <a:rPr lang="en-US"/>
            </a:br>
            <a:r>
              <a:rPr lang="en-US"/>
              <a:t>Well, if it installed without error but isn’t detected here, then your detection rules are probably wrong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609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860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D2CF-0033-EA76-E775-B8CD2AB81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10665-02D8-F739-41DA-27B0B09F8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3B6FB-40EC-B040-E0A7-E580147D0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We’re going to focus on MSI logs because they’re the best.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7B415-A8C6-A3F3-3CBD-F1AEAB8A9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930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847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636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AF2E4-BE26-3FB4-3E43-47F91D0D1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5215E-0E20-D739-6F27-E7EE7C0F9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DABD3-B108-3F6A-93B2-4F38B211E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Bryan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7A64F-46B4-7EF9-C88D-0426D3840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792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you can use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7963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245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12BFD-C6CC-F39D-4B70-B1CB22BA8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7B5A1F-BCAE-E6DA-7478-1ABEBB183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C045E-3A9A-0D07-D849-B9775D775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Bryan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5BEDE-48CE-89F5-379A-1E306200B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148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05CAA-7DFD-4456-A943-C499583EE11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053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6A84-F7C6-A6E0-D289-BB2E3D9F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143EF-A827-42A7-FE2E-EFD25C521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9E94D-F05F-AA34-7E7A-CD3C32469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Bryan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AEC45-C7BC-BF44-2184-00565310F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469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6FD52-DCCE-E650-1FE7-13DBB48D8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4BBB7-8C39-5D07-9AB6-C22AEB8DB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4FFBF-1952-C3BB-E94B-1B58517F7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Bryan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70A8D-8B3E-FFDD-6E79-80010C521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11817-33F8-4E36-B8C9-42A4FF8D08F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51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541822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5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6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5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515775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935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34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2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60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9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08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456284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3126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32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1914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unattended.sourceforge.net/installers.ph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pta.com/2017/03/how-to-self-elevate-powershell-script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sysinternals/downloads/psexec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msi/suggested-installexecutesequenc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all4cloud.nl/win32app-ime-installation-phases-intune-troubleshoot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powerstacks.com/automatically-rerun-failed-intune-win32-apps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all4cloud.nl/retry-failed-win32app-installation/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msdn.microsoft.com/astebner/2005/08/01/how-to-locate-the-cause-of-error-code-1603-in-a-verbose-msi-log-file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regramsey.net/2012/02/20/win32_product-is-evil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gurkocde/IntuneAssignmentChecker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patchmypc.com/blog/download-intunewin-win32-app-files-from-intune/" TargetMode="Externa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hejimoneil/OSD-InstallCompanyPortal" TargetMode="Externa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u="sng" dirty="0"/>
              <a:t>Troubleshooting Application Installation</a:t>
            </a:r>
            <a:endParaRPr lang="en-US" sz="48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C87F9B8-B745-02C4-2019-AAB426343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/>
              <a:t>Who’s To Blame?</a:t>
            </a:r>
            <a:endParaRPr lang="en-US" dirty="0"/>
          </a:p>
        </p:txBody>
      </p:sp>
      <p:sp>
        <p:nvSpPr>
          <p:cNvPr id="2" name="flFirstPage"/>
          <p:cNvSpPr txBox="1"/>
          <p:nvPr/>
        </p:nvSpPr>
        <p:spPr>
          <a:xfrm>
            <a:off x="0" y="6520180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5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E6A4E-C4EB-964E-C294-5A5C96F13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419110-5839-B296-44BB-3727FC637F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/>
              <a:t>Bryan Dam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120B68-DDDB-83F8-1566-2949D9CEB5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Jim O'Neil</a:t>
            </a:r>
          </a:p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D510CB-10DA-8A5F-6540-29F9754C59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@bdam555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C51B5A1-9A92-754F-0831-89532AE48A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@TheJimONeil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B98AD6-D6B4-DB72-E3D2-7AE20D7DA6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Patch Lover Extraordinaire - PMPC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697EFC1-4C75-AE03-7E16-ECCAEDB6BC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Customer Engineer – PMPC</a:t>
            </a:r>
          </a:p>
        </p:txBody>
      </p:sp>
      <p:sp>
        <p:nvSpPr>
          <p:cNvPr id="4" name="AutoShape 2" descr="Generated image: Cheerful fisherman with prized catch">
            <a:extLst>
              <a:ext uri="{FF2B5EF4-FFF2-40B4-BE49-F238E27FC236}">
                <a16:creationId xmlns:a16="http://schemas.microsoft.com/office/drawing/2014/main" id="{3FDF51C4-EEF5-3E42-2764-CCCD6C8847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1524B1F8-1F97-99A3-4115-D2CF49217A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053" b="3053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CCB48B7F-94A5-04CC-D287-56A44779764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t="3053" b="305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26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C03C91-A6AB-431B-ADEF-0EF238D33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D7D7D04-C556-F0A8-3630-648405D7A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Intune App Migration – Notes from the Field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Pre-Deployment Testing (</a:t>
            </a:r>
            <a:r>
              <a:rPr lang="en-US" err="1"/>
              <a:t>Bitness</a:t>
            </a:r>
            <a:r>
              <a:rPr lang="en-US"/>
              <a:t>/Admin/System)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IME: The stages of the </a:t>
            </a:r>
            <a:r>
              <a:rPr lang="en-US" strike="sngStrike"/>
              <a:t>grief</a:t>
            </a:r>
            <a:r>
              <a:rPr lang="en-US"/>
              <a:t> installation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Digging into the Logs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IME and installer logs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What it should and shouldn’t look like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Finding and decoding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Troubleshooting with the Graph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Targeting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Retrieving content from a deployed app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817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E9CD-9545-66D7-B011-DB455BA5D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Real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681A9-CDBD-B11D-1711-1A82A3A64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5854337" cy="466917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/>
              <a:t>We are all in the shipping business</a:t>
            </a:r>
          </a:p>
          <a:p>
            <a:endParaRPr lang="en-US" dirty="0"/>
          </a:p>
          <a:p>
            <a:r>
              <a:rPr lang="en-US" dirty="0"/>
              <a:t>It often falls on sysadmins to defend our shipping business</a:t>
            </a:r>
          </a:p>
          <a:p>
            <a:endParaRPr lang="en-US" dirty="0"/>
          </a:p>
          <a:p>
            <a:r>
              <a:rPr lang="en-US" dirty="0"/>
              <a:t>If you tell us to ship garbage, then we will ship garbage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I’m here to try to give you the tools to prove that garbage is, in fact garbage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I’m here to try to give you the tools to prove that garbage is, in fact garbage</a:t>
            </a:r>
          </a:p>
          <a:p>
            <a:endParaRPr lang="en-US" dirty="0"/>
          </a:p>
          <a:p>
            <a:r>
              <a:rPr lang="en-US" dirty="0"/>
              <a:t>That might not actually help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8B7E8-4291-F6CE-2E71-BA7A9ABD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016" y="1733005"/>
            <a:ext cx="4935756" cy="482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Installer types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MSI, MSIX, EXE, PSADT</a:t>
            </a:r>
          </a:p>
        </p:txBody>
      </p:sp>
    </p:spTree>
    <p:extLst>
      <p:ext uri="{BB962C8B-B14F-4D97-AF65-F5344CB8AC3E}">
        <p14:creationId xmlns:p14="http://schemas.microsoft.com/office/powerpoint/2010/main" val="3141952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Installer Types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err="1">
                <a:hlinkClick r:id="rId3"/>
              </a:rPr>
              <a:t>Sourceforge</a:t>
            </a:r>
            <a:r>
              <a:rPr lang="en-US">
                <a:hlinkClick r:id="rId3"/>
              </a:rPr>
              <a:t> - Installer types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b="1" u="sng"/>
              <a:t>MSI</a:t>
            </a:r>
          </a:p>
          <a:p>
            <a:r>
              <a:rPr lang="en-US"/>
              <a:t>Standard format</a:t>
            </a:r>
          </a:p>
          <a:p>
            <a:r>
              <a:rPr lang="en-US"/>
              <a:t>Robust tooling</a:t>
            </a:r>
          </a:p>
          <a:p>
            <a:r>
              <a:rPr lang="en-US"/>
              <a:t>Can include TRANSFORM files (.MST)</a:t>
            </a:r>
          </a:p>
          <a:p>
            <a:r>
              <a:rPr lang="en-US"/>
              <a:t>Custom Actions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b="1" u="sng"/>
              <a:t>EXE</a:t>
            </a:r>
          </a:p>
          <a:p>
            <a:r>
              <a:rPr lang="en-US" sz="2200"/>
              <a:t>Non-standard format</a:t>
            </a:r>
          </a:p>
          <a:p>
            <a:r>
              <a:rPr lang="en-US" sz="2200"/>
              <a:t>May install multiple .EXE or .MSI files</a:t>
            </a:r>
          </a:p>
          <a:p>
            <a:pPr lvl="1"/>
            <a:r>
              <a:rPr lang="en-US"/>
              <a:t>Allows for installation of dependencies</a:t>
            </a:r>
          </a:p>
          <a:p>
            <a:r>
              <a:rPr lang="en-US" sz="2200"/>
              <a:t>Can be difficult to identify parameters</a:t>
            </a:r>
          </a:p>
          <a:p>
            <a:pPr lvl="1"/>
            <a:r>
              <a:rPr lang="en-US"/>
              <a:t>Dash or slash?</a:t>
            </a:r>
          </a:p>
          <a:p>
            <a:pPr lvl="1"/>
            <a:r>
              <a:rPr lang="en-US"/>
              <a:t>/s /silent /q /quiet /</a:t>
            </a:r>
            <a:r>
              <a:rPr lang="en-US" err="1"/>
              <a:t>veryquiet</a:t>
            </a:r>
            <a:r>
              <a:rPr lang="en-US"/>
              <a:t> /</a:t>
            </a:r>
            <a:r>
              <a:rPr lang="en-US" err="1"/>
              <a:t>shutup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2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Installer Types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/>
              <a:t>MSIX</a:t>
            </a:r>
          </a:p>
          <a:p>
            <a:r>
              <a:rPr lang="en-US"/>
              <a:t>New(</a:t>
            </a:r>
            <a:r>
              <a:rPr lang="en-US" err="1"/>
              <a:t>ish</a:t>
            </a:r>
            <a:r>
              <a:rPr lang="en-US"/>
              <a:t>) hotness!</a:t>
            </a:r>
          </a:p>
          <a:p>
            <a:r>
              <a:rPr lang="en-US"/>
              <a:t>All the benefits of and replacing UWP, App-V, MSI, Click-Once, and more.</a:t>
            </a:r>
          </a:p>
          <a:p>
            <a:r>
              <a:rPr lang="en-US"/>
              <a:t>Simpler, more secure, but limited</a:t>
            </a:r>
          </a:p>
          <a:p>
            <a:r>
              <a:rPr lang="en-US"/>
              <a:t>Appears … abandoned or finished.</a:t>
            </a:r>
          </a:p>
          <a:p>
            <a:r>
              <a:rPr lang="en-US"/>
              <a:t>Slow, but steady adoption.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/>
              <a:t>PSADT</a:t>
            </a:r>
          </a:p>
          <a:p>
            <a:pPr lvl="1"/>
            <a:r>
              <a:rPr lang="en-US"/>
              <a:t>Script wrapper for .MSI, .MSIX, or .EXE</a:t>
            </a:r>
          </a:p>
          <a:p>
            <a:pPr lvl="1"/>
            <a:r>
              <a:rPr lang="en-US"/>
              <a:t>Used to standardize the unstandardized</a:t>
            </a:r>
          </a:p>
          <a:p>
            <a:pPr lvl="1"/>
            <a:r>
              <a:rPr lang="en-US"/>
              <a:t>Fix installer issues or shortcomings via </a:t>
            </a:r>
            <a:r>
              <a:rPr lang="en-US" err="1"/>
              <a:t>Powershell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7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D8AF74-96EB-EF58-8E01-88AA26943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Installers: We Strayed from God’s Light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01BA5-4F70-9D39-95E2-72602274E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Installers should be simple</a:t>
            </a:r>
          </a:p>
          <a:p>
            <a:pPr lvl="1"/>
            <a:r>
              <a:rPr lang="en-US"/>
              <a:t>Greets user</a:t>
            </a:r>
          </a:p>
          <a:p>
            <a:pPr lvl="1"/>
            <a:r>
              <a:rPr lang="en-US"/>
              <a:t>Puts files where you tell it to</a:t>
            </a:r>
          </a:p>
          <a:p>
            <a:pPr lvl="1"/>
            <a:r>
              <a:rPr lang="en-US"/>
              <a:t>THE.</a:t>
            </a:r>
          </a:p>
          <a:p>
            <a:pPr lvl="1"/>
            <a:r>
              <a:rPr lang="en-US"/>
              <a:t>END.</a:t>
            </a:r>
          </a:p>
          <a:p>
            <a:r>
              <a:rPr lang="en-US"/>
              <a:t>Instead, we demand foot guns</a:t>
            </a:r>
          </a:p>
          <a:p>
            <a:pPr lvl="1"/>
            <a:r>
              <a:rPr lang="en-US"/>
              <a:t>Create and set registry, INI, JSON configurations</a:t>
            </a:r>
          </a:p>
          <a:p>
            <a:pPr lvl="1"/>
            <a:r>
              <a:rPr lang="en-US"/>
              <a:t>Install dependencies in a single installer (ex. </a:t>
            </a:r>
            <a:r>
              <a:rPr lang="en-US" err="1"/>
              <a:t>DotNet</a:t>
            </a:r>
            <a:r>
              <a:rPr lang="en-US"/>
              <a:t>, Visual C++)</a:t>
            </a:r>
          </a:p>
          <a:p>
            <a:pPr lvl="1"/>
            <a:r>
              <a:rPr lang="en-US"/>
              <a:t>Input and validate product keys</a:t>
            </a:r>
          </a:p>
          <a:p>
            <a:pPr lvl="1"/>
            <a:r>
              <a:rPr lang="en-US"/>
              <a:t>Install Windows components (IIS)</a:t>
            </a:r>
          </a:p>
        </p:txBody>
      </p:sp>
    </p:spTree>
    <p:extLst>
      <p:ext uri="{BB962C8B-B14F-4D97-AF65-F5344CB8AC3E}">
        <p14:creationId xmlns:p14="http://schemas.microsoft.com/office/powerpoint/2010/main" val="1233470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7187-CC77-889F-F7C8-919AD1ACB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Intune App Migration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BB7CD-A855-3311-ED1A-FF75F7CAD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Notes from the Field</a:t>
            </a:r>
          </a:p>
        </p:txBody>
      </p:sp>
    </p:spTree>
    <p:extLst>
      <p:ext uri="{BB962C8B-B14F-4D97-AF65-F5344CB8AC3E}">
        <p14:creationId xmlns:p14="http://schemas.microsoft.com/office/powerpoint/2010/main" val="1384909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09DFF3-A241-4807-69A0-DD6518316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Company Portal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FFD57A-84E2-0F69-3D5E-1FCBC64CA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Official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Microsoft Store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Winget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Assign during Autopilot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Microsoft Download Center</a:t>
            </a:r>
          </a:p>
          <a:p>
            <a:pPr lvl="1">
              <a:buFont typeface="Courier New" panose="05000000000000000000" pitchFamily="2" charset="2"/>
              <a:buChar char="o"/>
            </a:pP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Unofficial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Install during OSD Task Sequence</a:t>
            </a:r>
          </a:p>
        </p:txBody>
      </p:sp>
    </p:spTree>
    <p:extLst>
      <p:ext uri="{BB962C8B-B14F-4D97-AF65-F5344CB8AC3E}">
        <p14:creationId xmlns:p14="http://schemas.microsoft.com/office/powerpoint/2010/main" val="2506433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F88A8-B988-72D4-C4F2-F1D48270D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E57FBA-21D2-5A47-607F-FFFF66BB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Company Portal - OSD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A21B62-E757-439F-7DE4-3A51419CF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The Microsoft Company Portal is a user-context UWP app and cannot be installed system-wide via </a:t>
            </a:r>
            <a:r>
              <a:rPr lang="en-US" sz="2400" dirty="0" err="1">
                <a:ea typeface="+mn-lt"/>
                <a:cs typeface="+mn-lt"/>
              </a:rPr>
              <a:t>winget</a:t>
            </a:r>
            <a:r>
              <a:rPr lang="en-US" sz="2400" dirty="0">
                <a:ea typeface="+mn-lt"/>
                <a:cs typeface="+mn-lt"/>
              </a:rPr>
              <a:t>. For enterprise deployment (e.g., Intune), target user groups—especially during Autopilot or OOBE—since </a:t>
            </a:r>
            <a:r>
              <a:rPr lang="en-US" sz="2400" dirty="0" err="1">
                <a:ea typeface="+mn-lt"/>
                <a:cs typeface="+mn-lt"/>
              </a:rPr>
              <a:t>winget</a:t>
            </a:r>
            <a:r>
              <a:rPr lang="en-US" sz="2400" dirty="0">
                <a:ea typeface="+mn-lt"/>
                <a:cs typeface="+mn-lt"/>
              </a:rPr>
              <a:t> only activates post-login, limiting machine-context installs.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Stage</a:t>
            </a:r>
            <a:r>
              <a:rPr lang="en-US" sz="2400" dirty="0">
                <a:ea typeface="Calibri"/>
                <a:cs typeface="Calibri"/>
              </a:rPr>
              <a:t> content (prerequisites)</a:t>
            </a:r>
            <a:endParaRPr lang="en-US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Run PowerShell that sets scheduled task</a:t>
            </a:r>
            <a:endParaRPr lang="en-US" dirty="0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Scheduled task uses </a:t>
            </a:r>
            <a:r>
              <a:rPr lang="en-US" sz="2000" dirty="0" err="1">
                <a:ea typeface="Calibri"/>
                <a:cs typeface="Calibri"/>
              </a:rPr>
              <a:t>winget</a:t>
            </a:r>
            <a:r>
              <a:rPr lang="en-US" sz="2000" dirty="0">
                <a:ea typeface="Calibri"/>
                <a:cs typeface="Calibri"/>
              </a:rPr>
              <a:t> to install Company Portal on user login</a:t>
            </a:r>
            <a:endParaRPr lang="en-US" dirty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3044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F8F8-B6F8-4DE7-F8AE-24FDBA9F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Installing Company Portal - OSD</a:t>
            </a:r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E22691-776C-7655-C0B4-A1547B85C2A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530350"/>
            <a:ext cx="9715500" cy="466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557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1D28-EBAC-E634-9623-AC5CC502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/>
              </a:rPr>
              <a:t>Targeting Users, Not Devices (sort of...)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AFB85-1DCD-DF1D-AFD6-97C46D6E8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Old Way 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Config Manager Device Collections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Slow Policy Eval</a:t>
            </a:r>
            <a:br>
              <a:rPr lang="en-US">
                <a:ea typeface="Calibri"/>
                <a:cs typeface="Calibri"/>
              </a:rPr>
            </a:b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New Way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User Groups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Fast Advertisement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Apps follow user</a:t>
            </a:r>
          </a:p>
          <a:p>
            <a:pPr lvl="1">
              <a:buFont typeface="Courier New" panose="05000000000000000000" pitchFamily="2" charset="2"/>
              <a:buChar char="o"/>
            </a:pP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Gotchas</a:t>
            </a:r>
          </a:p>
        </p:txBody>
      </p:sp>
    </p:spTree>
    <p:extLst>
      <p:ext uri="{BB962C8B-B14F-4D97-AF65-F5344CB8AC3E}">
        <p14:creationId xmlns:p14="http://schemas.microsoft.com/office/powerpoint/2010/main" val="4236379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0896-2503-A737-2CCC-C4CF4C8D1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Migration is a Journey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52D36-C06B-7647-71D6-EBFC4C735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Spend a weekend with Cmdlets and Graph</a:t>
            </a:r>
          </a:p>
          <a:p>
            <a:pPr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Attrition</a:t>
            </a:r>
          </a:p>
          <a:p>
            <a:pPr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Treat it like a long-running projects</a:t>
            </a:r>
          </a:p>
          <a:p>
            <a:pPr>
              <a:buFont typeface="Arial" panose="05000000000000000000" pitchFamily="2" charset="2"/>
              <a:buChar char="•"/>
            </a:pPr>
            <a:endParaRPr lang="en-US" dirty="0">
              <a:ea typeface="Calibri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3rd party solutions – We may know some people...</a:t>
            </a:r>
          </a:p>
        </p:txBody>
      </p:sp>
    </p:spTree>
    <p:extLst>
      <p:ext uri="{BB962C8B-B14F-4D97-AF65-F5344CB8AC3E}">
        <p14:creationId xmlns:p14="http://schemas.microsoft.com/office/powerpoint/2010/main" val="1116508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Installation Testing	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Things to do BEFORE you try to deploy</a:t>
            </a:r>
          </a:p>
        </p:txBody>
      </p:sp>
    </p:spTree>
    <p:extLst>
      <p:ext uri="{BB962C8B-B14F-4D97-AF65-F5344CB8AC3E}">
        <p14:creationId xmlns:p14="http://schemas.microsoft.com/office/powerpoint/2010/main" val="4278312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Bitness</a:t>
            </a:r>
            <a:r>
              <a:rPr lang="en-US"/>
              <a:t> – Consoles and Hosts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The IME is 32-bit</a:t>
            </a:r>
          </a:p>
          <a:p>
            <a:pPr lvl="1"/>
            <a:r>
              <a:rPr lang="en-US" sz="2000"/>
              <a:t>Use 32-bit tools when performing tests</a:t>
            </a:r>
          </a:p>
          <a:p>
            <a:pPr lvl="1"/>
            <a:endParaRPr lang="en-US" sz="2000"/>
          </a:p>
          <a:p>
            <a:r>
              <a:rPr lang="en-US" sz="2400"/>
              <a:t>PowerShell</a:t>
            </a:r>
          </a:p>
          <a:p>
            <a:pPr lvl="1"/>
            <a:r>
              <a:rPr lang="en-US" sz="2000"/>
              <a:t>64-bit = c:\Windows\System32\WindowsPowerShell\v1.0\powershell.exe</a:t>
            </a:r>
          </a:p>
          <a:p>
            <a:pPr lvl="1"/>
            <a:r>
              <a:rPr lang="en-US" sz="2000"/>
              <a:t>32-bit = c:\Windows\SysWOW64\WindowsPowerShell\v1.0\powershell.exe</a:t>
            </a:r>
          </a:p>
          <a:p>
            <a:r>
              <a:rPr lang="en-US" sz="2400"/>
              <a:t>PowerShell ISE</a:t>
            </a:r>
          </a:p>
          <a:p>
            <a:pPr lvl="1"/>
            <a:r>
              <a:rPr lang="en-US" sz="2000"/>
              <a:t>64-bit = c:\Windows\System32\WindowsPowerShell\v1.0\powershell_ise.exe</a:t>
            </a:r>
          </a:p>
          <a:p>
            <a:pPr lvl="1"/>
            <a:r>
              <a:rPr lang="en-US" sz="2000"/>
              <a:t>32-bit = c:\Windows\SysWOW64\WindowsPowerShell\v1.0\powershell_ise.exe</a:t>
            </a:r>
          </a:p>
          <a:p>
            <a:r>
              <a:rPr lang="en-US" sz="2400"/>
              <a:t>Command Prompt</a:t>
            </a:r>
          </a:p>
          <a:p>
            <a:pPr lvl="1"/>
            <a:r>
              <a:rPr lang="en-US" sz="2000"/>
              <a:t>64-bit = c:\Windows\System32\cmd.exe</a:t>
            </a:r>
          </a:p>
          <a:p>
            <a:pPr lvl="1"/>
            <a:r>
              <a:rPr lang="en-US" sz="2000"/>
              <a:t>32-bit = c:\Windows\SysWOW64\cmd.exe</a:t>
            </a:r>
          </a:p>
        </p:txBody>
      </p:sp>
    </p:spTree>
    <p:extLst>
      <p:ext uri="{BB962C8B-B14F-4D97-AF65-F5344CB8AC3E}">
        <p14:creationId xmlns:p14="http://schemas.microsoft.com/office/powerpoint/2010/main" val="288114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787B-421C-D9F1-B444-1D9565451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Bitness</a:t>
            </a:r>
            <a:r>
              <a:rPr lang="en-US"/>
              <a:t> – What About ARM?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3EB86-AD5C-7727-C192-ED1C22C4E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Currently, the wild west</a:t>
            </a:r>
          </a:p>
          <a:p>
            <a:endParaRPr lang="en-US"/>
          </a:p>
          <a:p>
            <a:r>
              <a:rPr lang="en-US"/>
              <a:t>Generally speaking, it works just like 64-bit</a:t>
            </a:r>
          </a:p>
          <a:p>
            <a:pPr lvl="1"/>
            <a:r>
              <a:rPr lang="en-US"/>
              <a:t>Most 32 and 64 bit software works just fine on ARM64</a:t>
            </a:r>
          </a:p>
          <a:p>
            <a:pPr lvl="1"/>
            <a:r>
              <a:rPr lang="en-US"/>
              <a:t>Windows 11 only supports 64-bit ARM</a:t>
            </a:r>
          </a:p>
          <a:p>
            <a:pPr lvl="1"/>
            <a:endParaRPr lang="en-US"/>
          </a:p>
          <a:p>
            <a:r>
              <a:rPr lang="en-US" sz="2600"/>
              <a:t>The installers themselves (MSIs/EXEs) are not ARM</a:t>
            </a:r>
          </a:p>
          <a:p>
            <a:pPr lvl="1"/>
            <a:endParaRPr lang="en-US"/>
          </a:p>
          <a:p>
            <a:r>
              <a:rPr lang="en-US"/>
              <a:t>Detection methods are often indistinguishable from x64</a:t>
            </a:r>
          </a:p>
          <a:p>
            <a:pPr lvl="1"/>
            <a:r>
              <a:rPr lang="en-US"/>
              <a:t>There is no </a:t>
            </a:r>
            <a:r>
              <a:rPr lang="en-US" err="1"/>
              <a:t>SysWOWARM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49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Elevation/Admin token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Admin token</a:t>
            </a:r>
          </a:p>
          <a:p>
            <a:r>
              <a:rPr lang="en-US" sz="2400"/>
              <a:t>You should always elevate when testing (except when installing as user)</a:t>
            </a:r>
          </a:p>
          <a:p>
            <a:r>
              <a:rPr lang="en-US" sz="2400"/>
              <a:t>How do I know I am elevated? </a:t>
            </a:r>
          </a:p>
          <a:p>
            <a:pPr lvl="1"/>
            <a:r>
              <a:rPr lang="en-US" sz="2200"/>
              <a:t>Look for </a:t>
            </a:r>
            <a:r>
              <a:rPr lang="en-US" sz="2200" b="1"/>
              <a:t>Administrator</a:t>
            </a:r>
            <a:r>
              <a:rPr lang="en-US" sz="2200"/>
              <a:t> in the title bar</a:t>
            </a:r>
          </a:p>
          <a:p>
            <a:pPr marL="457200" lvl="1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SYSTEM</a:t>
            </a:r>
          </a:p>
          <a:p>
            <a:r>
              <a:rPr lang="en-US" sz="2400"/>
              <a:t>Local SYSTEM account already receives an admin token, therefore is not impacted by User Account Control (UAC)</a:t>
            </a:r>
          </a:p>
          <a:p>
            <a:r>
              <a:rPr lang="en-US" sz="2400"/>
              <a:t>Local SYSTEM account </a:t>
            </a:r>
            <a:r>
              <a:rPr lang="en-US" sz="2400" i="1"/>
              <a:t>should</a:t>
            </a:r>
            <a:r>
              <a:rPr lang="en-US" sz="2400"/>
              <a:t> have god rights to everything, but things can break and permissions can get removed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29956"/>
          <a:stretch/>
        </p:blipFill>
        <p:spPr>
          <a:xfrm>
            <a:off x="6395726" y="2331158"/>
            <a:ext cx="4543425" cy="10207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9668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18B3-FF6F-0300-5611-508D7D4E3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ED46-0083-7125-1B9F-EA6D09335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Default context for Intune Win32 apps</a:t>
            </a:r>
          </a:p>
          <a:p>
            <a:pPr lvl="1"/>
            <a:r>
              <a:rPr lang="en-US" sz="2200"/>
              <a:t>Used for device-wide installation</a:t>
            </a:r>
          </a:p>
          <a:p>
            <a:pPr marL="457200" lvl="1" indent="0">
              <a:buNone/>
            </a:pPr>
            <a:endParaRPr lang="en-US" sz="2200"/>
          </a:p>
          <a:p>
            <a:r>
              <a:rPr lang="en-US" sz="2400"/>
              <a:t>Inherently has admin token</a:t>
            </a:r>
          </a:p>
          <a:p>
            <a:pPr lvl="1"/>
            <a:r>
              <a:rPr lang="en-US" sz="2200"/>
              <a:t>No User Account Control (UAC)</a:t>
            </a:r>
          </a:p>
          <a:p>
            <a:pPr lvl="1"/>
            <a:r>
              <a:rPr lang="en-US" sz="2200"/>
              <a:t>S</a:t>
            </a:r>
            <a:r>
              <a:rPr lang="en-US" sz="2200" i="1"/>
              <a:t>hould</a:t>
            </a:r>
            <a:r>
              <a:rPr lang="en-US" sz="2200"/>
              <a:t> have god rights to everything,</a:t>
            </a:r>
          </a:p>
          <a:p>
            <a:pPr lvl="2"/>
            <a:r>
              <a:rPr lang="en-US"/>
              <a:t>But sometimes installers do weird things</a:t>
            </a:r>
          </a:p>
          <a:p>
            <a:pPr lvl="2"/>
            <a:endParaRPr lang="en-US"/>
          </a:p>
          <a:p>
            <a:r>
              <a:rPr lang="en-US" sz="2400"/>
              <a:t>The SYSTEM user profile is ‘special’</a:t>
            </a:r>
          </a:p>
          <a:p>
            <a:pPr lvl="1"/>
            <a:r>
              <a:rPr lang="en-US" sz="2200"/>
              <a:t>Lacks some of the usual profile environment variables and folders</a:t>
            </a:r>
          </a:p>
          <a:p>
            <a:pPr lvl="1"/>
            <a:r>
              <a:rPr lang="en-US" sz="2200"/>
              <a:t>Poor installers, custom actions in particular, can fail</a:t>
            </a:r>
          </a:p>
        </p:txBody>
      </p:sp>
    </p:spTree>
    <p:extLst>
      <p:ext uri="{BB962C8B-B14F-4D97-AF65-F5344CB8AC3E}">
        <p14:creationId xmlns:p14="http://schemas.microsoft.com/office/powerpoint/2010/main" val="3441395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– Am I elevated?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DB7C4155-BB8E-1D4B-1D4D-9866024F7D83}"/>
              </a:ext>
            </a:extLst>
          </p:cNvPr>
          <p:cNvSpPr txBox="1">
            <a:spLocks/>
          </p:cNvSpPr>
          <p:nvPr/>
        </p:nvSpPr>
        <p:spPr>
          <a:xfrm>
            <a:off x="533400" y="2159000"/>
            <a:ext cx="11125200" cy="1270000"/>
          </a:xfrm>
          <a:prstGeom prst="rect">
            <a:avLst/>
          </a:prstGeom>
          <a:solidFill>
            <a:srgbClr val="FFFFFF">
              <a:alpha val="75000"/>
            </a:srgb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800" kern="1200" cap="none">
                <a:solidFill>
                  <a:schemeClr val="bg1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8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6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4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4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$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currentPrincipal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= New-Object `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Security.Principal.WindowsPrincipal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([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Security.Principal.WindowsIdentity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]::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GetCurrent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$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currentPrincipal.IsInRole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([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Security.Principal.WindowsBuiltInRole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]::Administrator)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987A2977-81A7-54C5-65B4-09E9DEA0AAF1}"/>
              </a:ext>
            </a:extLst>
          </p:cNvPr>
          <p:cNvSpPr txBox="1">
            <a:spLocks/>
          </p:cNvSpPr>
          <p:nvPr/>
        </p:nvSpPr>
        <p:spPr>
          <a:xfrm>
            <a:off x="533400" y="3956050"/>
            <a:ext cx="11125200" cy="2336800"/>
          </a:xfrm>
          <a:prstGeom prst="rect">
            <a:avLst/>
          </a:prstGeom>
          <a:solidFill>
            <a:srgbClr val="FFFFFF">
              <a:alpha val="75000"/>
            </a:srgbClr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800" kern="1200" cap="none">
                <a:solidFill>
                  <a:schemeClr val="bg1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8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6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4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4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net session &gt;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nul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2&gt;&amp;1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if %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errorLevel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% == 0 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   echo Success: Administrative permissions confirmed.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 else 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   echo Failure: Current permissions inadequate.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CDA0CF-D589-283D-B7B4-7CA3A8AD0426}"/>
              </a:ext>
            </a:extLst>
          </p:cNvPr>
          <p:cNvSpPr txBox="1"/>
          <p:nvPr/>
        </p:nvSpPr>
        <p:spPr>
          <a:xfrm>
            <a:off x="533400" y="17896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</a:rPr>
              <a:t>PowerShell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83BFF3-0B32-5F2B-A9AF-E3FFC82B13C9}"/>
              </a:ext>
            </a:extLst>
          </p:cNvPr>
          <p:cNvSpPr txBox="1"/>
          <p:nvPr/>
        </p:nvSpPr>
        <p:spPr>
          <a:xfrm>
            <a:off x="533400" y="3558143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</a:rPr>
              <a:t>Command line</a:t>
            </a:r>
          </a:p>
        </p:txBody>
      </p:sp>
    </p:spTree>
    <p:extLst>
      <p:ext uri="{BB962C8B-B14F-4D97-AF65-F5344CB8AC3E}">
        <p14:creationId xmlns:p14="http://schemas.microsoft.com/office/powerpoint/2010/main" val="3900383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– Auto elevate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889416A-9F58-14C7-8D19-BFD8B205040A}"/>
              </a:ext>
            </a:extLst>
          </p:cNvPr>
          <p:cNvSpPr txBox="1">
            <a:spLocks/>
          </p:cNvSpPr>
          <p:nvPr/>
        </p:nvSpPr>
        <p:spPr>
          <a:xfrm>
            <a:off x="609600" y="2127250"/>
            <a:ext cx="11125200" cy="4064828"/>
          </a:xfrm>
          <a:prstGeom prst="rect">
            <a:avLst/>
          </a:prstGeom>
          <a:solidFill>
            <a:srgbClr val="FFFFFF">
              <a:alpha val="75000"/>
            </a:srgbClr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800" kern="1200" cap="none">
                <a:solidFill>
                  <a:schemeClr val="bg1"/>
                </a:solidFill>
                <a:effectLst/>
                <a:latin typeface="Consolas" panose="020B0609020204030204" pitchFamily="49" charset="0"/>
                <a:ea typeface="+mn-ea"/>
                <a:cs typeface="Courier New" panose="02070309020205020404" pitchFamily="49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8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6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4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Tx/>
              <a:buNone/>
              <a:defRPr sz="1400" kern="1200" cap="none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# Self-elevate the script if required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if (-Not ([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Security.Principal.WindowsPrincipal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] [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Security.Principal.WindowsIdentity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]::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GetCurrent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()).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IsInRole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([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Security.Principal.WindowsBuiltInRole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] 'Administrator'))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if ([int](Get-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CimInstance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-Class Win32_OperatingSystem | Select-Object 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ExpandProperty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BuildNumber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) 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ge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6000)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 $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CommandLine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= "-File `"" + $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MyInvocation.MyCommand.Path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+ "`" " + $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MyInvocation.UnboundArguments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 Start-Process 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FilePath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PowerShell.exe -Verb Runas 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ArgumentList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$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CommandLine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 Exit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 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FFFFF"/>
              </a:buClr>
              <a:buSzPct val="8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1B6F1-BF6D-3903-DD15-CC8926EB37B8}"/>
              </a:ext>
            </a:extLst>
          </p:cNvPr>
          <p:cNvSpPr txBox="1"/>
          <p:nvPr/>
        </p:nvSpPr>
        <p:spPr>
          <a:xfrm>
            <a:off x="609600" y="1757918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</a:rPr>
              <a:t>PowerShell - </a:t>
            </a:r>
            <a:r>
              <a:rPr lang="en-US">
                <a:solidFill>
                  <a:srgbClr val="FFFFFF"/>
                </a:solidFill>
                <a:latin typeface="Segoe UI"/>
                <a:hlinkClick r:id="rId3"/>
              </a:rPr>
              <a:t>http://www.expta.com/2017/03/how-to-self-elevate-powershell-script.html</a:t>
            </a:r>
            <a:endParaRPr lang="en-US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70188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PSExec</a:t>
            </a:r>
            <a:r>
              <a:rPr lang="en-US"/>
              <a:t> should be Muscle Memory for Packagers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Microsoft Download: </a:t>
            </a:r>
            <a:r>
              <a:rPr lang="en-US" err="1">
                <a:hlinkClick r:id="rId3"/>
              </a:rPr>
              <a:t>PsExec</a:t>
            </a:r>
            <a:endParaRPr lang="en-US"/>
          </a:p>
          <a:p>
            <a:r>
              <a:rPr lang="en-US"/>
              <a:t>Intended as a ‘light-weight telnet replacement’ for remote shell access</a:t>
            </a:r>
          </a:p>
          <a:p>
            <a:r>
              <a:rPr lang="en-US"/>
              <a:t>We aren’t using it that way though:</a:t>
            </a:r>
          </a:p>
          <a:p>
            <a:pPr lvl="1"/>
            <a:r>
              <a:rPr lang="en-US"/>
              <a:t>-</a:t>
            </a:r>
            <a:r>
              <a:rPr lang="en-US" err="1"/>
              <a:t>i</a:t>
            </a:r>
            <a:r>
              <a:rPr lang="en-US"/>
              <a:t>  Runs interactively</a:t>
            </a:r>
          </a:p>
          <a:p>
            <a:pPr lvl="1"/>
            <a:r>
              <a:rPr lang="en-US"/>
              <a:t>-s Run in system context</a:t>
            </a:r>
          </a:p>
          <a:p>
            <a:pPr lvl="1"/>
            <a:r>
              <a:rPr lang="en-US"/>
              <a:t> </a:t>
            </a:r>
            <a:r>
              <a:rPr lang="en-US" err="1"/>
              <a:t>psexec</a:t>
            </a:r>
            <a:r>
              <a:rPr lang="en-US"/>
              <a:t> –</a:t>
            </a:r>
            <a:r>
              <a:rPr lang="en-US" err="1"/>
              <a:t>i</a:t>
            </a:r>
            <a:r>
              <a:rPr lang="en-US"/>
              <a:t> –s cmd.exe</a:t>
            </a:r>
          </a:p>
          <a:p>
            <a:pPr lvl="1"/>
            <a:endParaRPr lang="en-US"/>
          </a:p>
          <a:p>
            <a:r>
              <a:rPr lang="en-US"/>
              <a:t>Intune by default installs everything from the system context</a:t>
            </a:r>
          </a:p>
          <a:p>
            <a:r>
              <a:rPr lang="en-US"/>
              <a:t>No application should ever be deployed without running this test first</a:t>
            </a:r>
          </a:p>
          <a:p>
            <a:pPr lvl="1"/>
            <a:r>
              <a:rPr lang="en-US"/>
              <a:t>Any packager who doesn’t ask for this on day one should be fired</a:t>
            </a:r>
          </a:p>
          <a:p>
            <a:pPr lvl="1"/>
            <a:r>
              <a:rPr lang="en-US"/>
              <a:t>You should also be doing the elevated test!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67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1145520" cy="792466"/>
          </a:xfrm>
        </p:spPr>
        <p:txBody>
          <a:bodyPr>
            <a:normAutofit fontScale="90000"/>
          </a:bodyPr>
          <a:lstStyle/>
          <a:p>
            <a:r>
              <a:rPr lang="en-US" dirty="0"/>
              <a:t>My Security Department Caught on to </a:t>
            </a:r>
            <a:r>
              <a:rPr lang="en-US" dirty="0" err="1"/>
              <a:t>PSExec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See if they’ve heard of ServiceUI.exe</a:t>
            </a:r>
          </a:p>
          <a:p>
            <a:pPr lvl="1"/>
            <a:r>
              <a:rPr lang="en-US" dirty="0"/>
              <a:t>Part of Microsoft Deployment Toolkit</a:t>
            </a:r>
          </a:p>
          <a:p>
            <a:pPr lvl="1"/>
            <a:r>
              <a:rPr lang="en-US" dirty="0"/>
              <a:t>Surfaces UI from SYSTEM context</a:t>
            </a:r>
          </a:p>
          <a:p>
            <a:r>
              <a:rPr lang="en-US" dirty="0"/>
              <a:t>There’s nothing secure about this, but it works.</a:t>
            </a:r>
          </a:p>
          <a:p>
            <a:r>
              <a:rPr lang="en-US" dirty="0"/>
              <a:t>Deploy with care: you’re giving SYTEM to non-admin users.</a:t>
            </a:r>
          </a:p>
          <a:p>
            <a:endParaRPr lang="en-US" dirty="0"/>
          </a:p>
          <a:p>
            <a:r>
              <a:rPr lang="en-US" dirty="0"/>
              <a:t>Detection Rules</a:t>
            </a:r>
          </a:p>
          <a:p>
            <a:pPr lvl="1"/>
            <a:r>
              <a:rPr lang="en-US" dirty="0"/>
              <a:t>MSI product code  00000000-0000-0000-0000-000000000000</a:t>
            </a:r>
          </a:p>
          <a:p>
            <a:r>
              <a:rPr lang="en-US" dirty="0" err="1"/>
              <a:t>Cmdline</a:t>
            </a:r>
            <a:endParaRPr lang="en-US" dirty="0"/>
          </a:p>
          <a:p>
            <a:pPr lvl="1"/>
            <a:r>
              <a:rPr lang="en-US" dirty="0"/>
              <a:t>ServiceUI.exe -</a:t>
            </a:r>
            <a:r>
              <a:rPr lang="en-US" dirty="0" err="1"/>
              <a:t>process:explorer.exe</a:t>
            </a:r>
            <a:r>
              <a:rPr lang="en-US" dirty="0"/>
              <a:t> c:\Windows\SysWOW64\cmd.exe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276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8AE65-36F0-5107-2BB9-D3399C44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Do Secure Things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Sorry, not sorry, Jordan.</a:t>
            </a:r>
          </a:p>
        </p:txBody>
      </p:sp>
    </p:spTree>
    <p:extLst>
      <p:ext uri="{BB962C8B-B14F-4D97-AF65-F5344CB8AC3E}">
        <p14:creationId xmlns:p14="http://schemas.microsoft.com/office/powerpoint/2010/main" val="3196256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72EDBC-6119-E12C-49AE-CD88FACFD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488" y="0"/>
            <a:ext cx="8737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50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Troubleshooting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shoot trouble, you must first understand your enemy</a:t>
            </a:r>
          </a:p>
        </p:txBody>
      </p:sp>
    </p:spTree>
    <p:extLst>
      <p:ext uri="{BB962C8B-B14F-4D97-AF65-F5344CB8AC3E}">
        <p14:creationId xmlns:p14="http://schemas.microsoft.com/office/powerpoint/2010/main" val="3332098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45E3DD-DB7D-2198-3753-C1F13A91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MSI Install Phases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356125-3829-305E-961E-B0B91EECE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Acquisition</a:t>
            </a:r>
          </a:p>
          <a:p>
            <a:pPr lvl="1"/>
            <a:r>
              <a:rPr lang="en-US" dirty="0"/>
              <a:t>Generally, the non-elevated UI portion before triggering install</a:t>
            </a:r>
          </a:p>
          <a:p>
            <a:pPr lvl="1"/>
            <a:r>
              <a:rPr lang="en-US" dirty="0"/>
              <a:t>Generates the install script that gets ran by the …</a:t>
            </a:r>
          </a:p>
          <a:p>
            <a:pPr lvl="1"/>
            <a:endParaRPr lang="en-US" b="1" dirty="0"/>
          </a:p>
          <a:p>
            <a:r>
              <a:rPr lang="en-US" dirty="0"/>
              <a:t>Execution</a:t>
            </a:r>
          </a:p>
          <a:p>
            <a:pPr lvl="1"/>
            <a:r>
              <a:rPr lang="en-US" dirty="0"/>
              <a:t>Elevated process that runs the install script and performs the install</a:t>
            </a:r>
          </a:p>
          <a:p>
            <a:pPr lvl="1"/>
            <a:r>
              <a:rPr lang="en-US" dirty="0"/>
              <a:t>Generates a rollback script of ever change made which is run by the …</a:t>
            </a:r>
          </a:p>
          <a:p>
            <a:pPr lvl="1"/>
            <a:endParaRPr lang="en-US" dirty="0"/>
          </a:p>
          <a:p>
            <a:r>
              <a:rPr lang="en-US" dirty="0"/>
              <a:t>Rollback</a:t>
            </a:r>
          </a:p>
          <a:p>
            <a:pPr lvl="1"/>
            <a:r>
              <a:rPr lang="en-US" dirty="0"/>
              <a:t>If an error occurs, executes the rollback script to return machine to previous state</a:t>
            </a:r>
          </a:p>
          <a:p>
            <a:pPr lvl="1"/>
            <a:r>
              <a:rPr lang="en-US" dirty="0"/>
              <a:t>There can be points of no-return baked in by the vendor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183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5431-7AD3-1839-3CD9-E0BB2FC3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Understanding MSI Install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20DDE-55F0-5941-1DE2-B7BC68994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Docs: </a:t>
            </a:r>
            <a:r>
              <a:rPr lang="en-US">
                <a:hlinkClick r:id="rId3"/>
              </a:rPr>
              <a:t>Suggested </a:t>
            </a:r>
            <a:r>
              <a:rPr lang="en-US" err="1">
                <a:hlinkClick r:id="rId3"/>
              </a:rPr>
              <a:t>InstallExecuteSequence</a:t>
            </a:r>
            <a:endParaRPr lang="en-US"/>
          </a:p>
          <a:p>
            <a:endParaRPr lang="en-US"/>
          </a:p>
          <a:p>
            <a:r>
              <a:rPr lang="en-US"/>
              <a:t>Knowing what stage failed is important</a:t>
            </a:r>
          </a:p>
          <a:p>
            <a:pPr lvl="1"/>
            <a:r>
              <a:rPr lang="en-US"/>
              <a:t>Official Action: sequence value ends in zero (ex. 260</a:t>
            </a:r>
            <a:r>
              <a:rPr lang="en-US" u="sng"/>
              <a:t>0</a:t>
            </a:r>
            <a:r>
              <a:rPr lang="en-US"/>
              <a:t>)</a:t>
            </a:r>
          </a:p>
          <a:p>
            <a:endParaRPr lang="en-US"/>
          </a:p>
          <a:p>
            <a:r>
              <a:rPr lang="en-US"/>
              <a:t>Upgrades - app might be uninstalled first</a:t>
            </a:r>
          </a:p>
          <a:p>
            <a:endParaRPr lang="en-US"/>
          </a:p>
          <a:p>
            <a:r>
              <a:rPr lang="en-US" err="1"/>
              <a:t>LaunchConditions</a:t>
            </a:r>
            <a:r>
              <a:rPr lang="en-US"/>
              <a:t>: Missing pre-</a:t>
            </a:r>
            <a:r>
              <a:rPr lang="en-US" err="1"/>
              <a:t>reqs</a:t>
            </a:r>
            <a:r>
              <a:rPr lang="en-US"/>
              <a:t>?</a:t>
            </a:r>
          </a:p>
          <a:p>
            <a:r>
              <a:rPr lang="en-US" err="1"/>
              <a:t>AppSearch</a:t>
            </a:r>
            <a:r>
              <a:rPr lang="en-US"/>
              <a:t>: Does it think it’s already installed?</a:t>
            </a:r>
          </a:p>
          <a:p>
            <a:r>
              <a:rPr lang="en-US"/>
              <a:t>Install/Start/Stop/Remove Service: Is the service failing to start/stop?</a:t>
            </a:r>
          </a:p>
          <a:p>
            <a:r>
              <a:rPr lang="en-US"/>
              <a:t>Install/Move/Duplicate/Patch/Remove Files: Is A/V interfering?</a:t>
            </a:r>
          </a:p>
        </p:txBody>
      </p:sp>
    </p:spTree>
    <p:extLst>
      <p:ext uri="{BB962C8B-B14F-4D97-AF65-F5344CB8AC3E}">
        <p14:creationId xmlns:p14="http://schemas.microsoft.com/office/powerpoint/2010/main" val="3534087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74EC9B-1B74-729F-BF30-60B744BF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Look at an MSI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00A43-7B21-9D27-4FD8-CB63AAA2D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Up Close</a:t>
            </a:r>
          </a:p>
        </p:txBody>
      </p:sp>
    </p:spTree>
    <p:extLst>
      <p:ext uri="{BB962C8B-B14F-4D97-AF65-F5344CB8AC3E}">
        <p14:creationId xmlns:p14="http://schemas.microsoft.com/office/powerpoint/2010/main" val="3032495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2DB4AB-15D0-BBC2-F248-72DB4A67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Understanding the IME Install Sequence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940065-7409-65C0-3539-45D8017E7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Rudy’s Blog: </a:t>
            </a:r>
            <a:r>
              <a:rPr lang="en-US" err="1">
                <a:hlinkClick r:id="rId3"/>
              </a:rPr>
              <a:t>IMECache</a:t>
            </a:r>
            <a:r>
              <a:rPr lang="en-US">
                <a:hlinkClick r:id="rId3"/>
              </a:rPr>
              <a:t>: Attack of the Cleaner</a:t>
            </a:r>
            <a:endParaRPr lang="en-US"/>
          </a:p>
          <a:p>
            <a:r>
              <a:rPr lang="en-US"/>
              <a:t>%</a:t>
            </a:r>
            <a:r>
              <a:rPr lang="en-US" err="1"/>
              <a:t>ProgramData</a:t>
            </a:r>
            <a:r>
              <a:rPr lang="en-US"/>
              <a:t>%\Microsoft\</a:t>
            </a:r>
            <a:r>
              <a:rPr lang="en-US" err="1"/>
              <a:t>IntuneManagementExtension</a:t>
            </a:r>
            <a:r>
              <a:rPr lang="en-US"/>
              <a:t>\Logs</a:t>
            </a:r>
          </a:p>
          <a:p>
            <a:pPr lvl="1"/>
            <a:r>
              <a:rPr lang="en-US" sz="2600"/>
              <a:t>AppWorkload.log</a:t>
            </a:r>
          </a:p>
          <a:p>
            <a:endParaRPr lang="en-US"/>
          </a:p>
          <a:p>
            <a:r>
              <a:rPr lang="en-US"/>
              <a:t>Pre-detection and Applicability Phase</a:t>
            </a:r>
          </a:p>
          <a:p>
            <a:r>
              <a:rPr lang="en-US"/>
              <a:t>Downloading and Verify Phase</a:t>
            </a:r>
          </a:p>
          <a:p>
            <a:r>
              <a:rPr lang="en-US"/>
              <a:t>Decrypt and Extract Phase</a:t>
            </a:r>
          </a:p>
          <a:p>
            <a:r>
              <a:rPr lang="en-US"/>
              <a:t>Detection Phase: Part Deux</a:t>
            </a:r>
          </a:p>
          <a:p>
            <a:r>
              <a:rPr lang="en-US"/>
              <a:t>Install the Stupid Thing Phase</a:t>
            </a:r>
          </a:p>
          <a:p>
            <a:r>
              <a:rPr lang="en-US"/>
              <a:t>Detection Phase: Third Time’s a Charm?</a:t>
            </a:r>
          </a:p>
          <a:p>
            <a:r>
              <a:rPr lang="en-US"/>
              <a:t>Reporting Phase</a:t>
            </a:r>
          </a:p>
        </p:txBody>
      </p:sp>
    </p:spTree>
    <p:extLst>
      <p:ext uri="{BB962C8B-B14F-4D97-AF65-F5344CB8AC3E}">
        <p14:creationId xmlns:p14="http://schemas.microsoft.com/office/powerpoint/2010/main" val="2283607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20C1-9A65-664E-DE49-45882814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Pre-detection and Applicability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9939D-7BE0-95E6-D694-CA722F080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Gets app policy and determines if app is installed or applicable</a:t>
            </a:r>
          </a:p>
          <a:p>
            <a:endParaRPr lang="en-US" dirty="0"/>
          </a:p>
          <a:p>
            <a:r>
              <a:rPr lang="en-US" dirty="0"/>
              <a:t>‘Get Policies’</a:t>
            </a:r>
          </a:p>
          <a:p>
            <a:pPr lvl="1"/>
            <a:r>
              <a:rPr lang="en-US" dirty="0"/>
              <a:t>JSON of app polices</a:t>
            </a:r>
          </a:p>
          <a:p>
            <a:pPr lvl="2"/>
            <a:r>
              <a:rPr lang="en-US" dirty="0"/>
              <a:t>One for User and one for Device targeting</a:t>
            </a:r>
          </a:p>
          <a:p>
            <a:pPr lvl="2"/>
            <a:r>
              <a:rPr lang="en-US" dirty="0"/>
              <a:t>Includes deployment details (Intent, Context, </a:t>
            </a:r>
            <a:r>
              <a:rPr lang="en-US" dirty="0" err="1"/>
              <a:t>cmdlines</a:t>
            </a:r>
            <a:r>
              <a:rPr lang="en-US" dirty="0"/>
              <a:t>, </a:t>
            </a:r>
            <a:r>
              <a:rPr lang="en-US" dirty="0" err="1"/>
              <a:t>ect</a:t>
            </a:r>
            <a:r>
              <a:rPr lang="en-US" dirty="0"/>
              <a:t>..)</a:t>
            </a:r>
          </a:p>
          <a:p>
            <a:pPr lvl="2"/>
            <a:r>
              <a:rPr lang="en-US" dirty="0"/>
              <a:t>Grab the ID field for understanding the rest of the log files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3BF51F-E37C-7664-3738-3DFE64C54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0" y="4865460"/>
            <a:ext cx="12037459" cy="146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124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D82E5-5260-73C4-1248-DEE06799E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E957-231C-591F-50F9-E08AF3171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Look at Sweet </a:t>
            </a:r>
            <a:r>
              <a:rPr lang="en-US" err="1"/>
              <a:t>Sweet</a:t>
            </a:r>
            <a:r>
              <a:rPr lang="en-US"/>
              <a:t> Policy JSON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C06C4C-C4ED-1CBD-69A6-43B019688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/>
              <a:t>Take that XML</a:t>
            </a:r>
          </a:p>
        </p:txBody>
      </p:sp>
    </p:spTree>
    <p:extLst>
      <p:ext uri="{BB962C8B-B14F-4D97-AF65-F5344CB8AC3E}">
        <p14:creationId xmlns:p14="http://schemas.microsoft.com/office/powerpoint/2010/main" val="2451800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5AFE-CCD6-55F1-3C60-C96BE767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>
                <a:ea typeface="+mn-lt"/>
                <a:cs typeface="+mn-lt"/>
              </a:rPr>
              <a:t>AppWorkloadJsonDecoder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E8D05-94D4-4918-71E9-5C8CDF0E2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027"/>
            <a:ext cx="10515600" cy="466917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Purpose: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Extracts and prettifies JSON policy data from Intune </a:t>
            </a:r>
            <a:r>
              <a:rPr lang="en-US" dirty="0" err="1">
                <a:ea typeface="+mn-lt"/>
                <a:cs typeface="+mn-lt"/>
              </a:rPr>
              <a:t>AppWorkload</a:t>
            </a:r>
            <a:r>
              <a:rPr lang="en-US" dirty="0">
                <a:ea typeface="+mn-lt"/>
                <a:cs typeface="+mn-lt"/>
              </a:rPr>
              <a:t> log files for easier analysis.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What It Does: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Searches Appworkload.log for the most recent “Get policies =” entry (optionally filtered by App GUID).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Extracts the embedded JSON policy data from that log entry.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Decodes and beautifies the JSON, including any nested JSON or base64-encoded detection scripts.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Saves the output as: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A pretty JSON file.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A decoded PowerShell detection rule script.</a:t>
            </a:r>
          </a:p>
          <a:p>
            <a:r>
              <a:rPr lang="en-US" dirty="0">
                <a:ea typeface="+mn-lt"/>
                <a:cs typeface="+mn-lt"/>
              </a:rPr>
              <a:t>https://github.com/thejimoneil/AppWorkloadJsonDecoder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816906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891D6-878F-8E0B-53D6-A4A7AF18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See it in action!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53826-5306-6B9B-73BB-77FED32AF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889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EF2B-28A8-55C6-B0C4-CE80E1706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App/Policy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B5B1-F22B-6DE3-D908-105A1C6F9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Easiest: Find it in the Portal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Hard mode: Find it in the policy JSON we showed earlier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DC7E6-C967-9ECD-C661-13F694403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62" y="2320122"/>
            <a:ext cx="11250595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6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F162F-38C8-404E-17C6-F7F7E5157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2A21-EB49-D189-589A-A09D4114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Pre-detection and Applicability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337B8-F969-0D0B-C227-E06E7AB33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ProcessDetectionRules</a:t>
            </a:r>
            <a:r>
              <a:rPr lang="en-US"/>
              <a:t> start</a:t>
            </a:r>
          </a:p>
          <a:p>
            <a:pPr lvl="1"/>
            <a:r>
              <a:rPr lang="en-US"/>
              <a:t>Look at line above for the correct policy ID</a:t>
            </a:r>
          </a:p>
          <a:p>
            <a:pPr lvl="1"/>
            <a:r>
              <a:rPr lang="en-US"/>
              <a:t>Occurs before and after the install</a:t>
            </a:r>
          </a:p>
          <a:p>
            <a:pPr lvl="1"/>
            <a:r>
              <a:rPr lang="en-US"/>
              <a:t>Look for results:  </a:t>
            </a:r>
            <a:r>
              <a:rPr lang="en-US" err="1"/>
              <a:t>applicationDetected</a:t>
            </a:r>
            <a:r>
              <a:rPr lang="en-US"/>
              <a:t>: True/False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22B0A6-4D59-DD0E-70FD-0B79734F1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1" y="3595362"/>
            <a:ext cx="11935358" cy="293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65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49A4C-CFC8-F93A-D9D0-959C0EE2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3EC3-B391-AEBD-B177-41F0CA0A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Pre-detection and Applicability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DEFB5-BE5D-2B06-85FA-C59039726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[</a:t>
            </a:r>
            <a:r>
              <a:rPr lang="en-US" err="1"/>
              <a:t>ApplicabilityActionHandler</a:t>
            </a:r>
            <a:r>
              <a:rPr lang="en-US"/>
              <a:t>] Handler invoked</a:t>
            </a:r>
          </a:p>
          <a:p>
            <a:pPr lvl="1"/>
            <a:r>
              <a:rPr lang="en-US"/>
              <a:t>Evaluates each app individual requirement</a:t>
            </a:r>
          </a:p>
          <a:p>
            <a:pPr lvl="1"/>
            <a:r>
              <a:rPr lang="en-US"/>
              <a:t>Look for applicability state: Applicable/Not Applicable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7A13E-8E89-9514-5209-389AC9DC9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97" y="3875810"/>
            <a:ext cx="12220394" cy="204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31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9EA5-628B-0041-C6DB-8EA7A84B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Downloading and Validation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44EE2-F000-820A-7464-2955EEC51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[</a:t>
            </a:r>
            <a:r>
              <a:rPr lang="en-US" err="1"/>
              <a:t>DownloadActionHandler</a:t>
            </a:r>
            <a:r>
              <a:rPr lang="en-US"/>
              <a:t>] Handler invoked for policy with id:</a:t>
            </a:r>
          </a:p>
          <a:p>
            <a:pPr lvl="1"/>
            <a:r>
              <a:rPr lang="fr-FR"/>
              <a:t>%Program Files (x86)%\Microsoft Intune Management Extension\Content\</a:t>
            </a:r>
            <a:r>
              <a:rPr lang="fr-FR" err="1"/>
              <a:t>Staging</a:t>
            </a:r>
            <a:r>
              <a:rPr lang="fr-FR"/>
              <a:t>\%APPID%</a:t>
            </a:r>
            <a:endParaRPr lang="en-US"/>
          </a:p>
          <a:p>
            <a:r>
              <a:rPr lang="en-US"/>
              <a:t>Sends Toast notification that app is being downloaded</a:t>
            </a:r>
          </a:p>
          <a:p>
            <a:r>
              <a:rPr lang="en-US"/>
              <a:t>Checks cache (Content cache miss for app)</a:t>
            </a:r>
          </a:p>
          <a:p>
            <a:r>
              <a:rPr lang="en-US"/>
              <a:t>Starts Delivery Optimization job</a:t>
            </a:r>
          </a:p>
          <a:p>
            <a:pPr lvl="1"/>
            <a:r>
              <a:rPr lang="en-US"/>
              <a:t>([Win32App DO] start creating a new download job)</a:t>
            </a:r>
          </a:p>
          <a:p>
            <a:r>
              <a:rPr lang="en-US"/>
              <a:t>Verifies that download matches hash value</a:t>
            </a:r>
          </a:p>
          <a:p>
            <a:pPr lvl="1"/>
            <a:r>
              <a:rPr lang="en-US"/>
              <a:t>[Win32App] Starts verifying encrypted hash</a:t>
            </a:r>
          </a:p>
          <a:p>
            <a:pPr lvl="1"/>
            <a:r>
              <a:rPr lang="en-US"/>
              <a:t>[Win32App] file hash validation pass, starts decrypting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08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52539-A469-54F3-CCFC-1D65E8F3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Decrypt and Extract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C83BA-B866-EA86-A3AF-B12F0D168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[Win32App] Decryption is done successfully.</a:t>
            </a:r>
          </a:p>
          <a:p>
            <a:endParaRPr lang="en-US"/>
          </a:p>
          <a:p>
            <a:r>
              <a:rPr lang="en-US"/>
              <a:t>[Win32App] Start unzipping.</a:t>
            </a:r>
          </a:p>
          <a:p>
            <a:endParaRPr lang="en-US"/>
          </a:p>
          <a:p>
            <a:r>
              <a:rPr lang="en-US"/>
              <a:t>[Win32AppDownloadExecutor] Execution completed with action status: Success</a:t>
            </a:r>
          </a:p>
          <a:p>
            <a:endParaRPr lang="en-US"/>
          </a:p>
          <a:p>
            <a:r>
              <a:rPr lang="en-US"/>
              <a:t>Runs another app detection to make sure it didn’t magically appear</a:t>
            </a:r>
          </a:p>
          <a:p>
            <a:pPr lvl="1"/>
            <a:r>
              <a:rPr lang="en-US"/>
              <a:t>[</a:t>
            </a:r>
            <a:r>
              <a:rPr lang="en-US" err="1"/>
              <a:t>DetectionActionHandler</a:t>
            </a:r>
            <a:r>
              <a:rPr lang="en-US"/>
              <a:t>] Detection running for policy with id: 2436b563-1f6d-4dbe-b37c-a9487e7a2132.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946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5BE8-6A25-4227-1849-1F114BE2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 the Stupid Thing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6F8C9-CE8C-7B93-4C1A-24559A97C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[</a:t>
            </a:r>
            <a:r>
              <a:rPr lang="en-US" err="1"/>
              <a:t>ExecutionActionHandler</a:t>
            </a:r>
            <a:r>
              <a:rPr lang="en-US"/>
              <a:t>] Handler invoked with execution type: Install</a:t>
            </a:r>
          </a:p>
          <a:p>
            <a:endParaRPr lang="en-US"/>
          </a:p>
          <a:p>
            <a:r>
              <a:rPr lang="en-US"/>
              <a:t>[Win32App] Create installer process successfully.</a:t>
            </a:r>
          </a:p>
          <a:p>
            <a:endParaRPr lang="en-US"/>
          </a:p>
          <a:p>
            <a:r>
              <a:rPr lang="en-US"/>
              <a:t>[Win32App] </a:t>
            </a:r>
            <a:r>
              <a:rPr lang="en-US" err="1"/>
              <a:t>lpExitCode</a:t>
            </a:r>
            <a:r>
              <a:rPr lang="en-US"/>
              <a:t> 0</a:t>
            </a:r>
          </a:p>
          <a:p>
            <a:r>
              <a:rPr lang="en-US"/>
              <a:t>[Win32App] hResultFromWin32 0</a:t>
            </a:r>
          </a:p>
          <a:p>
            <a:endParaRPr lang="en-US"/>
          </a:p>
          <a:p>
            <a:r>
              <a:rPr lang="en-US"/>
              <a:t>[</a:t>
            </a:r>
            <a:r>
              <a:rPr lang="en-US" err="1"/>
              <a:t>ExecutionActionHandler</a:t>
            </a:r>
            <a:r>
              <a:rPr lang="en-US"/>
              <a:t>] Handler completed with action status: Success.</a:t>
            </a:r>
          </a:p>
        </p:txBody>
      </p:sp>
    </p:spTree>
    <p:extLst>
      <p:ext uri="{BB962C8B-B14F-4D97-AF65-F5344CB8AC3E}">
        <p14:creationId xmlns:p14="http://schemas.microsoft.com/office/powerpoint/2010/main" val="40339414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A7FFA-FC4B-5D5D-3D0A-6A7BE964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Detecting It Yet Again: Did It Install?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DCF1B-E26C-BC19-7D2A-7483037B8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2615722"/>
          </a:xfrm>
        </p:spPr>
        <p:txBody>
          <a:bodyPr>
            <a:normAutofit fontScale="92500"/>
          </a:bodyPr>
          <a:lstStyle/>
          <a:p>
            <a:r>
              <a:rPr lang="en-US" dirty="0"/>
              <a:t>If you got this far then the install was ran</a:t>
            </a:r>
          </a:p>
          <a:p>
            <a:endParaRPr lang="en-US" dirty="0"/>
          </a:p>
          <a:p>
            <a:r>
              <a:rPr lang="en-US" dirty="0"/>
              <a:t>If the install itself didn’t spit out any errors, then it probably worked</a:t>
            </a:r>
          </a:p>
          <a:p>
            <a:endParaRPr lang="en-US" dirty="0"/>
          </a:p>
          <a:p>
            <a:r>
              <a:rPr lang="en-US" dirty="0"/>
              <a:t>If you fail to detect it at this point … then check your detection rules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2C54E-F45F-B20D-DEB0-5CFC4980E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4" y="4303469"/>
            <a:ext cx="12158852" cy="187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632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7243-64C7-A27E-F4B9-DA0A7929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If At First You Do Not Succeed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75E4D-CB04-4498-15D4-1F3806423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/>
              <a:t>Deploy to your own user as available</a:t>
            </a:r>
          </a:p>
          <a:p>
            <a:pPr lvl="1"/>
            <a:r>
              <a:rPr lang="en-US" sz="2200"/>
              <a:t>Makes retrying easier</a:t>
            </a:r>
          </a:p>
          <a:p>
            <a:endParaRPr lang="en-US" sz="2400"/>
          </a:p>
          <a:p>
            <a:r>
              <a:rPr lang="en-US" sz="2400"/>
              <a:t>Delete App ID from</a:t>
            </a:r>
          </a:p>
          <a:p>
            <a:pPr lvl="1"/>
            <a:r>
              <a:rPr lang="en-US"/>
              <a:t>HKEY_LOCAL_MACHINE\SOFTWARE\Microsoft\</a:t>
            </a:r>
            <a:r>
              <a:rPr lang="en-US" err="1"/>
              <a:t>IntuneManagementExtension</a:t>
            </a:r>
            <a:r>
              <a:rPr lang="en-US"/>
              <a:t>\Win32Apps\{SID}\{App Id GUID}</a:t>
            </a:r>
          </a:p>
          <a:p>
            <a:r>
              <a:rPr lang="en-US" sz="2400"/>
              <a:t>Restart Service</a:t>
            </a:r>
          </a:p>
          <a:p>
            <a:r>
              <a:rPr lang="en-US" sz="2400"/>
              <a:t>Not Good Enough we have to delete the GRS key</a:t>
            </a:r>
          </a:p>
          <a:p>
            <a:pPr lvl="1"/>
            <a:r>
              <a:rPr lang="en-US"/>
              <a:t>HKEY_LOCAL_MACHINE\SOFTWARE\Microsoft\</a:t>
            </a:r>
            <a:r>
              <a:rPr lang="en-US" err="1"/>
              <a:t>IntuneManagementExtension</a:t>
            </a:r>
            <a:r>
              <a:rPr lang="en-US"/>
              <a:t>\Win32Apps\{SID}\{GRS}</a:t>
            </a:r>
          </a:p>
          <a:p>
            <a:pPr lvl="1"/>
            <a:endParaRPr lang="en-US" sz="2000"/>
          </a:p>
          <a:p>
            <a:r>
              <a:rPr lang="en-US" sz="2400"/>
              <a:t>That’s all too hard, use a remediation script</a:t>
            </a:r>
          </a:p>
          <a:p>
            <a:pPr lvl="1"/>
            <a:r>
              <a:rPr lang="en-US" sz="2000"/>
              <a:t>Run it on demand</a:t>
            </a:r>
          </a:p>
          <a:p>
            <a:pPr lvl="1"/>
            <a:r>
              <a:rPr lang="en-US" sz="2000"/>
              <a:t>John Marcum: </a:t>
            </a:r>
            <a:r>
              <a:rPr lang="en-US" sz="2000">
                <a:hlinkClick r:id="rId3"/>
              </a:rPr>
              <a:t>Automate Rerunning Failed Intune Win32 App Installs</a:t>
            </a:r>
            <a:endParaRPr lang="en-US" sz="2000"/>
          </a:p>
          <a:p>
            <a:pPr lvl="1"/>
            <a:r>
              <a:rPr lang="en-US" sz="2000"/>
              <a:t>Rudy Ooms: </a:t>
            </a:r>
            <a:r>
              <a:rPr lang="en-US" sz="2000">
                <a:hlinkClick r:id="rId4"/>
              </a:rPr>
              <a:t>Retry Win32 App Lola Retry</a:t>
            </a:r>
            <a:endParaRPr lang="en-US" sz="2000"/>
          </a:p>
          <a:p>
            <a:pPr lvl="1"/>
            <a:endParaRPr lang="en-US" sz="2000"/>
          </a:p>
          <a:p>
            <a:r>
              <a:rPr lang="en-US" sz="2200" err="1"/>
              <a:t>Win+R</a:t>
            </a:r>
            <a:r>
              <a:rPr lang="en-US" sz="2200"/>
              <a:t>: intunemanagementextension://syncapp</a:t>
            </a:r>
          </a:p>
        </p:txBody>
      </p:sp>
    </p:spTree>
    <p:extLst>
      <p:ext uri="{BB962C8B-B14F-4D97-AF65-F5344CB8AC3E}">
        <p14:creationId xmlns:p14="http://schemas.microsoft.com/office/powerpoint/2010/main" val="2779065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32627-A926-FE91-9FDF-85C7A787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94CC2C-CC55-FF31-D374-028A771A4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Installer Logs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F0BDC-9DFA-13E8-BACD-5329C4E62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knew this was coming</a:t>
            </a:r>
          </a:p>
        </p:txBody>
      </p:sp>
    </p:spTree>
    <p:extLst>
      <p:ext uri="{BB962C8B-B14F-4D97-AF65-F5344CB8AC3E}">
        <p14:creationId xmlns:p14="http://schemas.microsoft.com/office/powerpoint/2010/main" val="22787219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334F67-E55D-41B8-B326-3AAF082B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 Viewer: There Can Only Be One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7CE877-85CC-EFA4-156E-3EDE4715D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And it’s </a:t>
            </a:r>
            <a:r>
              <a:rPr lang="en-US" err="1"/>
              <a:t>CMTrace</a:t>
            </a:r>
            <a:endParaRPr lang="en-US"/>
          </a:p>
          <a:p>
            <a:endParaRPr lang="en-US"/>
          </a:p>
          <a:p>
            <a:r>
              <a:rPr lang="en-US"/>
              <a:t>Seriously, use </a:t>
            </a:r>
            <a:r>
              <a:rPr lang="en-US" err="1"/>
              <a:t>CMTrace</a:t>
            </a:r>
            <a:endParaRPr lang="en-US"/>
          </a:p>
          <a:p>
            <a:pPr lvl="1"/>
            <a:r>
              <a:rPr lang="en-US"/>
              <a:t>Even the Intune team knows this</a:t>
            </a:r>
          </a:p>
          <a:p>
            <a:endParaRPr lang="en-US"/>
          </a:p>
          <a:p>
            <a:r>
              <a:rPr lang="en-US"/>
              <a:t>Filtering (ex. Contains ‘Doing Action’)</a:t>
            </a:r>
          </a:p>
          <a:p>
            <a:endParaRPr lang="en-US"/>
          </a:p>
          <a:p>
            <a:r>
              <a:rPr lang="en-US"/>
              <a:t>Best error code lookup</a:t>
            </a:r>
          </a:p>
          <a:p>
            <a:pPr lvl="1"/>
            <a:r>
              <a:rPr lang="en-US" err="1"/>
              <a:t>Ctrl+C</a:t>
            </a:r>
            <a:r>
              <a:rPr lang="en-US"/>
              <a:t>, </a:t>
            </a:r>
            <a:r>
              <a:rPr lang="en-US" err="1"/>
              <a:t>Ctrl+L</a:t>
            </a:r>
            <a:r>
              <a:rPr lang="en-US"/>
              <a:t>, </a:t>
            </a:r>
            <a:r>
              <a:rPr lang="en-US" err="1"/>
              <a:t>Ctrl+V</a:t>
            </a:r>
            <a:r>
              <a:rPr lang="en-US"/>
              <a:t>, Enter</a:t>
            </a:r>
          </a:p>
          <a:p>
            <a:pPr lvl="1"/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A61367-894A-8A05-83D2-465F11F2B4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826"/>
          <a:stretch/>
        </p:blipFill>
        <p:spPr>
          <a:xfrm>
            <a:off x="6895026" y="3842375"/>
            <a:ext cx="4901366" cy="27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675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Logs: MSI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MSI and others</a:t>
            </a:r>
          </a:p>
          <a:p>
            <a:pPr marL="0" indent="0">
              <a:buNone/>
            </a:pPr>
            <a:r>
              <a:rPr lang="en-US" sz="3200" dirty="0"/>
              <a:t>Verbose logging: Always use /l*v &lt;path&gt;</a:t>
            </a:r>
          </a:p>
          <a:p>
            <a:pPr lvl="1"/>
            <a:r>
              <a:rPr lang="en-US" sz="2800" dirty="0"/>
              <a:t>You don’t need it; until you need it!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3200" b="1" dirty="0"/>
              <a:t>Use IME log folder to include them in diagnostic collection</a:t>
            </a:r>
          </a:p>
          <a:p>
            <a:pPr lvl="1" fontAlgn="ctr">
              <a:buFont typeface="Arial" panose="020B0604020202020204" pitchFamily="34" charset="0"/>
              <a:buChar char="•"/>
            </a:pPr>
            <a:r>
              <a:rPr lang="en-US" dirty="0"/>
              <a:t>Use %</a:t>
            </a:r>
            <a:r>
              <a:rPr lang="en-US" dirty="0" err="1"/>
              <a:t>ProgramData</a:t>
            </a:r>
            <a:r>
              <a:rPr lang="en-US" dirty="0"/>
              <a:t>%\Microsoft\</a:t>
            </a:r>
            <a:r>
              <a:rPr lang="en-US" dirty="0" err="1"/>
              <a:t>IntuneManagementExtension</a:t>
            </a:r>
            <a:r>
              <a:rPr lang="en-US" dirty="0"/>
              <a:t>\Logs</a:t>
            </a:r>
          </a:p>
          <a:p>
            <a:pPr lvl="1" fontAlgn="ctr">
              <a:buFont typeface="Arial" panose="020B0604020202020204" pitchFamily="34" charset="0"/>
              <a:buChar char="•"/>
            </a:pPr>
            <a:r>
              <a:rPr lang="en-US" dirty="0"/>
              <a:t>Standardize log file name (ex. AppInstall-VendorProduct-Version.log)</a:t>
            </a:r>
          </a:p>
          <a:p>
            <a:pPr lvl="1" fontAlgn="ctr">
              <a:buFont typeface="Arial" panose="020B0604020202020204" pitchFamily="34" charset="0"/>
              <a:buChar char="•"/>
            </a:pPr>
            <a:r>
              <a:rPr lang="en-US" dirty="0"/>
              <a:t>This will include them when running diagnostic collection</a:t>
            </a:r>
          </a:p>
        </p:txBody>
      </p:sp>
    </p:spTree>
    <p:extLst>
      <p:ext uri="{BB962C8B-B14F-4D97-AF65-F5344CB8AC3E}">
        <p14:creationId xmlns:p14="http://schemas.microsoft.com/office/powerpoint/2010/main" val="25066533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F3EA6-D1F7-71FB-CD5C-4E74241B8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0D6E-A5E8-087E-20D1-5AD53518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One Trick Big Install Does Want you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B2312-AE81-0ECA-5511-164684208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>
                <a:hlinkClick r:id="rId3"/>
              </a:rPr>
              <a:t>MSDN: Finding MSI error 1603 root cause</a:t>
            </a:r>
            <a:endParaRPr lang="en-US"/>
          </a:p>
          <a:p>
            <a:endParaRPr lang="en-US"/>
          </a:p>
          <a:p>
            <a:r>
              <a:rPr lang="en-US" sz="3200"/>
              <a:t>1603 means a custom action failed</a:t>
            </a:r>
          </a:p>
          <a:p>
            <a:pPr lvl="1"/>
            <a:r>
              <a:rPr lang="en-US" sz="3000"/>
              <a:t>95% of all failures are custom actions</a:t>
            </a:r>
          </a:p>
          <a:p>
            <a:endParaRPr lang="en-US"/>
          </a:p>
          <a:p>
            <a:r>
              <a:rPr lang="en-US"/>
              <a:t>Open log file</a:t>
            </a:r>
          </a:p>
          <a:p>
            <a:r>
              <a:rPr lang="en-US"/>
              <a:t>Scroll to the top</a:t>
            </a:r>
          </a:p>
          <a:p>
            <a:r>
              <a:rPr lang="en-US"/>
              <a:t>Search for “return value 3”</a:t>
            </a:r>
          </a:p>
          <a:p>
            <a:r>
              <a:rPr lang="en-US"/>
              <a:t>…</a:t>
            </a:r>
          </a:p>
          <a:p>
            <a:r>
              <a:rPr lang="en-US"/>
              <a:t>Profit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760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343A-5E67-02DE-28A7-A1C56DBE9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Look at Some Log Files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/>
              <a:t>The anticipation is killing me</a:t>
            </a:r>
          </a:p>
        </p:txBody>
      </p:sp>
    </p:spTree>
    <p:extLst>
      <p:ext uri="{BB962C8B-B14F-4D97-AF65-F5344CB8AC3E}">
        <p14:creationId xmlns:p14="http://schemas.microsoft.com/office/powerpoint/2010/main" val="19271749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Logs: Event Logs - MSI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3"/>
              </a:rPr>
              <a:t>Greg Ramsey: </a:t>
            </a:r>
            <a:r>
              <a:rPr lang="en-US" sz="2900" dirty="0">
                <a:hlinkClick r:id="rId3"/>
              </a:rPr>
              <a:t>Win32_Product</a:t>
            </a:r>
            <a:r>
              <a:rPr lang="en-US" dirty="0">
                <a:hlinkClick r:id="rId3"/>
              </a:rPr>
              <a:t> is EVIL!</a:t>
            </a:r>
            <a:endParaRPr lang="en-US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2200" b="1" dirty="0"/>
              <a:t>Where to look?</a:t>
            </a:r>
          </a:p>
          <a:p>
            <a:r>
              <a:rPr lang="en-US" sz="2200" dirty="0"/>
              <a:t>Log: Application</a:t>
            </a:r>
          </a:p>
          <a:p>
            <a:r>
              <a:rPr lang="en-US" sz="2200" dirty="0"/>
              <a:t>Source: </a:t>
            </a:r>
            <a:r>
              <a:rPr lang="en-US" sz="2200" dirty="0" err="1"/>
              <a:t>MsiInstaller</a:t>
            </a:r>
            <a:endParaRPr lang="en-US" sz="2200" dirty="0"/>
          </a:p>
          <a:p>
            <a:endParaRPr lang="en-US" sz="1600" dirty="0"/>
          </a:p>
          <a:p>
            <a:pPr marL="0" indent="0">
              <a:buNone/>
            </a:pPr>
            <a:r>
              <a:rPr lang="en-US" sz="2200" b="1" dirty="0"/>
              <a:t>What’s included?</a:t>
            </a:r>
          </a:p>
          <a:p>
            <a:r>
              <a:rPr lang="en-US" sz="2200" dirty="0"/>
              <a:t>User</a:t>
            </a:r>
          </a:p>
          <a:p>
            <a:r>
              <a:rPr lang="en-US" sz="2200" dirty="0"/>
              <a:t>Process ID</a:t>
            </a:r>
          </a:p>
          <a:p>
            <a:r>
              <a:rPr lang="en-US" sz="2200" dirty="0"/>
              <a:t>Source path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7A1E7-1BDD-AB32-76E6-9350093A493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010400" y="2235200"/>
            <a:ext cx="5181600" cy="3941763"/>
          </a:xfrm>
        </p:spPr>
        <p:txBody>
          <a:bodyPr/>
          <a:lstStyle/>
          <a:p>
            <a:r>
              <a:rPr lang="en-US" b="1" dirty="0"/>
              <a:t>Typical entries</a:t>
            </a:r>
          </a:p>
          <a:p>
            <a:pPr marL="457200" indent="-457200">
              <a:buAutoNum type="arabicPeriod"/>
            </a:pPr>
            <a:r>
              <a:rPr lang="en-US" dirty="0"/>
              <a:t>Begin a windows installer transaction</a:t>
            </a:r>
          </a:p>
          <a:p>
            <a:pPr marL="457200" indent="-457200">
              <a:buAutoNum type="arabicPeriod"/>
            </a:pPr>
            <a:r>
              <a:rPr lang="en-US" dirty="0"/>
              <a:t>Success or failure</a:t>
            </a:r>
          </a:p>
          <a:p>
            <a:pPr marL="457200" indent="-457200">
              <a:buAutoNum type="arabicPeriod"/>
            </a:pPr>
            <a:r>
              <a:rPr lang="en-US" dirty="0"/>
              <a:t>Exit code</a:t>
            </a:r>
          </a:p>
          <a:p>
            <a:pPr marL="457200" indent="-457200">
              <a:buAutoNum type="arabicPeriod"/>
            </a:pPr>
            <a:r>
              <a:rPr lang="en-US" dirty="0"/>
              <a:t>End a windows installer transaction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1218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CE03F-D45F-2130-8EC2-2E899BD7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5420FE-03DE-8A2D-6455-DCE762293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Graph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D88A9-CD43-8F22-8683-7491AAD94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fun AND profit!</a:t>
            </a:r>
          </a:p>
        </p:txBody>
      </p:sp>
    </p:spTree>
    <p:extLst>
      <p:ext uri="{BB962C8B-B14F-4D97-AF65-F5344CB8AC3E}">
        <p14:creationId xmlns:p14="http://schemas.microsoft.com/office/powerpoint/2010/main" val="36417675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E1D80E-B08C-6521-AE16-455B22D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Intune Assignment Checker – Ugur Koc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C69600-3D72-03CD-74BC-24B6273C0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https://github.com/ugurkocde/IntuneAssignmentChecker</a:t>
            </a:r>
            <a:endParaRPr lang="en-US" dirty="0"/>
          </a:p>
          <a:p>
            <a:endParaRPr lang="en-US" dirty="0"/>
          </a:p>
          <a:p>
            <a:r>
              <a:rPr lang="en-US" dirty="0"/>
              <a:t>Lists any assignments for a given device, user or group</a:t>
            </a:r>
          </a:p>
          <a:p>
            <a:endParaRPr lang="en-US" dirty="0"/>
          </a:p>
          <a:p>
            <a:r>
              <a:rPr lang="en-US" dirty="0"/>
              <a:t>Can auth interactively or use an app registration for automation.</a:t>
            </a:r>
          </a:p>
          <a:p>
            <a:endParaRPr lang="en-US" dirty="0"/>
          </a:p>
          <a:p>
            <a:r>
              <a:rPr lang="en-US" dirty="0"/>
              <a:t>Install from </a:t>
            </a:r>
            <a:r>
              <a:rPr lang="en-US" dirty="0" err="1"/>
              <a:t>Powershell</a:t>
            </a:r>
            <a:r>
              <a:rPr lang="en-US" dirty="0"/>
              <a:t> Gallery: </a:t>
            </a:r>
          </a:p>
          <a:p>
            <a:pPr lvl="1"/>
            <a:r>
              <a:rPr lang="en-US" dirty="0"/>
              <a:t>Install-Module </a:t>
            </a:r>
            <a:r>
              <a:rPr lang="en-US" dirty="0" err="1"/>
              <a:t>IntuneAssignmentChecker</a:t>
            </a:r>
            <a:r>
              <a:rPr lang="en-US" dirty="0"/>
              <a:t> -Scope </a:t>
            </a:r>
            <a:r>
              <a:rPr lang="en-US" dirty="0" err="1"/>
              <a:t>CurrentUser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Run: </a:t>
            </a:r>
            <a:r>
              <a:rPr lang="en-US" dirty="0" err="1"/>
              <a:t>IntuneAssignmentChecker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4013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A8719-68F6-6349-7485-4D9E8E6D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EC12B-C187-E960-11B2-107E1A40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Check Some Policies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68FA-26FD-2062-D537-7335EBBB8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love me some </a:t>
            </a:r>
            <a:r>
              <a:rPr lang="en-US" dirty="0" err="1"/>
              <a:t>cmdline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4773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A950-437A-577B-9201-DF9226B7B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 Win32 App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0FDB7-DEBC-4CA3-F86F-B31A64BB1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Blog: </a:t>
            </a:r>
            <a:r>
              <a:rPr lang="en-US" b="1">
                <a:hlinkClick r:id="rId2"/>
              </a:rPr>
              <a:t>Download </a:t>
            </a:r>
            <a:r>
              <a:rPr lang="en-US" b="1" err="1">
                <a:hlinkClick r:id="rId2"/>
              </a:rPr>
              <a:t>IntuneWin</a:t>
            </a:r>
            <a:r>
              <a:rPr lang="en-US" b="1">
                <a:hlinkClick r:id="rId2"/>
              </a:rPr>
              <a:t> Win32 App Files Directly from Intune</a:t>
            </a:r>
            <a:endParaRPr lang="en-US" b="1"/>
          </a:p>
          <a:p>
            <a:endParaRPr lang="en-US" b="1"/>
          </a:p>
          <a:p>
            <a:r>
              <a:rPr lang="en-US"/>
              <a:t>Rudy reverse-engineered the IME</a:t>
            </a:r>
          </a:p>
          <a:p>
            <a:pPr lvl="1"/>
            <a:r>
              <a:rPr lang="en-US"/>
              <a:t>Uses the enrollment cert and creates a bearer token to call API directly</a:t>
            </a:r>
          </a:p>
          <a:p>
            <a:pPr lvl="1"/>
            <a:r>
              <a:rPr lang="en-US"/>
              <a:t>Downloads the content info, including decryption key</a:t>
            </a:r>
          </a:p>
          <a:p>
            <a:pPr lvl="1"/>
            <a:r>
              <a:rPr lang="en-US"/>
              <a:t>Decrypts and extracts the .</a:t>
            </a:r>
            <a:r>
              <a:rPr lang="en-US" err="1"/>
              <a:t>intunewin</a:t>
            </a:r>
            <a:r>
              <a:rPr lang="en-US"/>
              <a:t> package</a:t>
            </a:r>
          </a:p>
          <a:p>
            <a:pPr lvl="1"/>
            <a:endParaRPr lang="en-US"/>
          </a:p>
          <a:p>
            <a:r>
              <a:rPr lang="en-US"/>
              <a:t>Modify the script with App Id and version</a:t>
            </a:r>
          </a:p>
          <a:p>
            <a:r>
              <a:rPr lang="en-US"/>
              <a:t>Run as administrator on a box where appears in Company Portal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257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E9E52-39E9-B97F-14DF-32EDC35D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48833-6816-2E7D-2370-213A70ED6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 Company Portal via OSD</a:t>
            </a:r>
          </a:p>
          <a:p>
            <a:r>
              <a:rPr lang="en-US" dirty="0">
                <a:hlinkClick r:id="rId2"/>
              </a:rPr>
              <a:t>https://github.com/thejimoneil/OSD-InstallCompanyPortal</a:t>
            </a:r>
            <a:endParaRPr lang="en-US" dirty="0"/>
          </a:p>
          <a:p>
            <a:endParaRPr lang="en-US" dirty="0"/>
          </a:p>
          <a:p>
            <a:r>
              <a:rPr lang="en-US" dirty="0"/>
              <a:t>Intune App Log Analyzer</a:t>
            </a:r>
          </a:p>
          <a:p>
            <a:r>
              <a:rPr lang="en-US"/>
              <a:t>https://github.com/thejimoneil/AppWorkloadJsonDecoder</a:t>
            </a:r>
          </a:p>
        </p:txBody>
      </p:sp>
    </p:spTree>
    <p:extLst>
      <p:ext uri="{BB962C8B-B14F-4D97-AF65-F5344CB8AC3E}">
        <p14:creationId xmlns:p14="http://schemas.microsoft.com/office/powerpoint/2010/main" val="32457312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0D05-C0A0-1156-3C27-A6B4A9A5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24ACDC-BE19-B080-3364-9321B4F3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Download that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81615-B338-7245-CBA3-5AAC739DB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love me some reverse engineering</a:t>
            </a:r>
          </a:p>
        </p:txBody>
      </p:sp>
    </p:spTree>
    <p:extLst>
      <p:ext uri="{BB962C8B-B14F-4D97-AF65-F5344CB8AC3E}">
        <p14:creationId xmlns:p14="http://schemas.microsoft.com/office/powerpoint/2010/main" val="4320192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3464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178677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11" ma:contentTypeDescription="Create a new document." ma:contentTypeScope="" ma:versionID="2ed11b2951b71aca28e6ba8b18805bb0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86e9b361b53a3abe9d7febc1e69b8376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9099B0-B9E3-45A6-848D-7EA25626C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F96CB3-579C-4369-8AB2-D91B353AC24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3542BB8-022C-40FE-A268-491142681EB5}">
  <ds:schemaRefs>
    <ds:schemaRef ds:uri="0f628621-369a-46c7-83bd-de17ca407533"/>
    <ds:schemaRef ds:uri="994c1987-0261-432a-b2ef-a9da39f1b5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c0295e80-f72f-47be-9b62-a6fb66570df7}" enabled="1" method="Standard" siteId="{b79783df-131e-4d00-8303-6f66c0fa4bf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910</TotalTime>
  <Words>2875</Words>
  <Application>Microsoft Office PowerPoint</Application>
  <PresentationFormat>Widescreen</PresentationFormat>
  <Paragraphs>540</Paragraphs>
  <Slides>57</Slides>
  <Notes>48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Aptos</vt:lpstr>
      <vt:lpstr>Aptos Display</vt:lpstr>
      <vt:lpstr>Arial</vt:lpstr>
      <vt:lpstr>Calibri</vt:lpstr>
      <vt:lpstr>Consolas</vt:lpstr>
      <vt:lpstr>Courier New</vt:lpstr>
      <vt:lpstr>Segoe UI</vt:lpstr>
      <vt:lpstr>Wingdings</vt:lpstr>
      <vt:lpstr>Dark Mode</vt:lpstr>
      <vt:lpstr>Troubleshooting Application Installation</vt:lpstr>
      <vt:lpstr>Attention</vt:lpstr>
      <vt:lpstr>PowerPoint Presentation</vt:lpstr>
      <vt:lpstr>Agenda</vt:lpstr>
      <vt:lpstr>The Real Agenda</vt:lpstr>
      <vt:lpstr>Installer types</vt:lpstr>
      <vt:lpstr>Installer Types</vt:lpstr>
      <vt:lpstr>Installer Types</vt:lpstr>
      <vt:lpstr>Installers: We Strayed from God’s Light</vt:lpstr>
      <vt:lpstr>Intune App Migration</vt:lpstr>
      <vt:lpstr>Installing Company Portal</vt:lpstr>
      <vt:lpstr>Installing Company Portal - OSD</vt:lpstr>
      <vt:lpstr>Installing Company Portal - OSD</vt:lpstr>
      <vt:lpstr>Targeting Users, Not Devices (sort of...)</vt:lpstr>
      <vt:lpstr>Migration is a Journey</vt:lpstr>
      <vt:lpstr>Installation Testing </vt:lpstr>
      <vt:lpstr>Bitness – Consoles and Hosts</vt:lpstr>
      <vt:lpstr>Bitness – What About ARM?</vt:lpstr>
      <vt:lpstr>Elevation/Admin token</vt:lpstr>
      <vt:lpstr>System Context</vt:lpstr>
      <vt:lpstr>Testing – Am I elevated?</vt:lpstr>
      <vt:lpstr>Testing – Auto elevate</vt:lpstr>
      <vt:lpstr>PSExec should be Muscle Memory for Packagers</vt:lpstr>
      <vt:lpstr>My Security Department Caught on to PSExec</vt:lpstr>
      <vt:lpstr>Let’s Do Secure Things</vt:lpstr>
      <vt:lpstr>PowerPoint Presentation</vt:lpstr>
      <vt:lpstr>Troubleshooting</vt:lpstr>
      <vt:lpstr>MSI Install Phases</vt:lpstr>
      <vt:lpstr>Understanding MSI Install Sequence</vt:lpstr>
      <vt:lpstr>Let’s Look at an MSI</vt:lpstr>
      <vt:lpstr>Understanding the IME Install Sequence</vt:lpstr>
      <vt:lpstr>Pre-detection and Applicability Phase</vt:lpstr>
      <vt:lpstr>Let’s Look at Sweet Sweet Policy JSON</vt:lpstr>
      <vt:lpstr>AppWorkloadJsonDecoder</vt:lpstr>
      <vt:lpstr>See it in action!</vt:lpstr>
      <vt:lpstr>Finding the App/Policy ID</vt:lpstr>
      <vt:lpstr>Pre-detection and Applicability Phase</vt:lpstr>
      <vt:lpstr>Pre-detection and Applicability Phase</vt:lpstr>
      <vt:lpstr>Downloading and Validation Phase</vt:lpstr>
      <vt:lpstr>Decrypt and Extract Phase</vt:lpstr>
      <vt:lpstr>Install the Stupid Thing Phase</vt:lpstr>
      <vt:lpstr>Detecting It Yet Again: Did It Install?</vt:lpstr>
      <vt:lpstr>If At First You Do Not Succeed</vt:lpstr>
      <vt:lpstr>Installer Logs</vt:lpstr>
      <vt:lpstr>Log Viewer: There Can Only Be One</vt:lpstr>
      <vt:lpstr>Logs: MSI</vt:lpstr>
      <vt:lpstr>One Trick Big Install Does Want you to Know</vt:lpstr>
      <vt:lpstr>Let’s Look at Some Log Files</vt:lpstr>
      <vt:lpstr>Logs: Event Logs - MSI</vt:lpstr>
      <vt:lpstr>Using the Graph API</vt:lpstr>
      <vt:lpstr>Intune Assignment Checker – Ugur Koc</vt:lpstr>
      <vt:lpstr>Let’s Check Some Policies </vt:lpstr>
      <vt:lpstr>Download Win32 App Content</vt:lpstr>
      <vt:lpstr>Links </vt:lpstr>
      <vt:lpstr>Let’s Download that Content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SCCM is innocent! Troubleshooting software installations</dc:title>
  <dc:creator>Daniel Ratliff</dc:creator>
  <cp:keywords>No Restrictions</cp:keywords>
  <cp:lastModifiedBy>Jim O'Neil</cp:lastModifiedBy>
  <cp:revision>45</cp:revision>
  <dcterms:created xsi:type="dcterms:W3CDTF">2019-09-15T22:59:12Z</dcterms:created>
  <dcterms:modified xsi:type="dcterms:W3CDTF">2026-05-06T19:54:28Z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086be151-57ff-4b83-a01c-b22948221ca2</vt:lpwstr>
  </property>
  <property fmtid="{D5CDD505-2E9C-101B-9397-08002B2CF9AE}" pid="3" name="Document Creator">
    <vt:lpwstr/>
  </property>
  <property fmtid="{D5CDD505-2E9C-101B-9397-08002B2CF9AE}" pid="4" name="Document Editor">
    <vt:lpwstr/>
  </property>
  <property fmtid="{D5CDD505-2E9C-101B-9397-08002B2CF9AE}" pid="5" name="Classification">
    <vt:lpwstr>No Restrictions</vt:lpwstr>
  </property>
  <property fmtid="{D5CDD505-2E9C-101B-9397-08002B2CF9AE}" pid="6" name="Sublabels">
    <vt:lpwstr/>
  </property>
  <property fmtid="{D5CDD505-2E9C-101B-9397-08002B2CF9AE}" pid="7" name="ContentTypeId">
    <vt:lpwstr>0x010100066787FB9552CF40BFF026EAAC52FBCA</vt:lpwstr>
  </property>
</Properties>
</file>