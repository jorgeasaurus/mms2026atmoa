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40"/>
  </p:notesMasterIdLst>
  <p:handoutMasterIdLst>
    <p:handoutMasterId r:id="rId41"/>
  </p:handoutMasterIdLst>
  <p:sldIdLst>
    <p:sldId id="256" r:id="rId6"/>
    <p:sldId id="264" r:id="rId7"/>
    <p:sldId id="267" r:id="rId8"/>
    <p:sldId id="258" r:id="rId9"/>
    <p:sldId id="269" r:id="rId10"/>
    <p:sldId id="270" r:id="rId11"/>
    <p:sldId id="271" r:id="rId12"/>
    <p:sldId id="260" r:id="rId13"/>
    <p:sldId id="261" r:id="rId14"/>
    <p:sldId id="290" r:id="rId15"/>
    <p:sldId id="291" r:id="rId16"/>
    <p:sldId id="272" r:id="rId17"/>
    <p:sldId id="273" r:id="rId18"/>
    <p:sldId id="274" r:id="rId19"/>
    <p:sldId id="275" r:id="rId20"/>
    <p:sldId id="289" r:id="rId21"/>
    <p:sldId id="292" r:id="rId22"/>
    <p:sldId id="276" r:id="rId23"/>
    <p:sldId id="277" r:id="rId24"/>
    <p:sldId id="278" r:id="rId25"/>
    <p:sldId id="279" r:id="rId26"/>
    <p:sldId id="280" r:id="rId27"/>
    <p:sldId id="295" r:id="rId28"/>
    <p:sldId id="293" r:id="rId29"/>
    <p:sldId id="294" r:id="rId30"/>
    <p:sldId id="281" r:id="rId31"/>
    <p:sldId id="282" r:id="rId32"/>
    <p:sldId id="283" r:id="rId33"/>
    <p:sldId id="284" r:id="rId34"/>
    <p:sldId id="285" r:id="rId35"/>
    <p:sldId id="286" r:id="rId36"/>
    <p:sldId id="288" r:id="rId37"/>
    <p:sldId id="263" r:id="rId38"/>
    <p:sldId id="26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7"/>
          </p14:sldIdLst>
        </p14:section>
        <p14:section name="Presentation" id="{88398753-748C-4CE7-B81D-D95829EA2652}">
          <p14:sldIdLst>
            <p14:sldId id="258"/>
            <p14:sldId id="269"/>
            <p14:sldId id="270"/>
            <p14:sldId id="271"/>
            <p14:sldId id="260"/>
            <p14:sldId id="261"/>
            <p14:sldId id="290"/>
            <p14:sldId id="291"/>
            <p14:sldId id="272"/>
            <p14:sldId id="273"/>
            <p14:sldId id="274"/>
            <p14:sldId id="275"/>
            <p14:sldId id="289"/>
            <p14:sldId id="292"/>
            <p14:sldId id="276"/>
            <p14:sldId id="277"/>
            <p14:sldId id="278"/>
            <p14:sldId id="279"/>
            <p14:sldId id="280"/>
            <p14:sldId id="295"/>
            <p14:sldId id="293"/>
            <p14:sldId id="294"/>
            <p14:sldId id="281"/>
            <p14:sldId id="282"/>
            <p14:sldId id="283"/>
            <p14:sldId id="284"/>
            <p14:sldId id="285"/>
            <p14:sldId id="286"/>
            <p14:sldId id="288"/>
          </p14:sldIdLst>
        </p14:section>
        <p14:section name="Closing" id="{35F0DD0F-C871-4339-9D6B-25AB6010E816}">
          <p14:sldIdLst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8" autoAdjust="0"/>
    <p:restoredTop sz="94692" autoAdjust="0"/>
  </p:normalViewPr>
  <p:slideViewPr>
    <p:cSldViewPr snapToGrid="0">
      <p:cViewPr varScale="1">
        <p:scale>
          <a:sx n="58" d="100"/>
          <a:sy n="58" d="100"/>
        </p:scale>
        <p:origin x="96" y="12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4ABAC-D8F9-4FD4-824A-5B9A0CDE9D51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17A9D-23FC-43EA-B4E4-249A76850B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4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practicality and field lessons.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adaptable pacing: can shorten for 60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to earlier OS hardening session if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Clarify: PAW protects *where* you log on, not just *what* you log on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original Microsoft PAW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Entra ID + Conditional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clearly: 90% of customers land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clearly: 90% of customers land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821361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PAW as a Zero Trust enforcement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 clear PAW without identity separation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lived experiences.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lived experiences.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55302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people and process, not just 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PAW is a service, not a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PAW is painful, it will be bypassed.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 practical takeaway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to stop over‑deployment of PAW while protecting high‑risk roles. Key message: PAW is mandatory for Tier 0, strongly recommended for infrastructure/admin planes, and usually not needed for standard users. Match PAW to credential blast radius.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PAW Survival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Deploying Secure Admin Workstations in Real Environments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5762" y="3881127"/>
            <a:ext cx="4572000" cy="457200"/>
          </a:xfrm>
        </p:spPr>
        <p:txBody>
          <a:bodyPr>
            <a:normAutofit/>
          </a:bodyPr>
          <a:lstStyle/>
          <a:p>
            <a:r>
              <a:rPr lang="en-SE" dirty="0"/>
              <a:t>Mikael Nystrom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21622" y="4941812"/>
            <a:ext cx="5469308" cy="914400"/>
          </a:xfrm>
        </p:spPr>
        <p:txBody>
          <a:bodyPr/>
          <a:lstStyle/>
          <a:p>
            <a:r>
              <a:rPr lang="en-SE" dirty="0"/>
              <a:t>deploymentbunny@outlook.com</a:t>
            </a:r>
            <a:endParaRPr lang="en-US" dirty="0"/>
          </a:p>
          <a:p>
            <a:r>
              <a:rPr lang="en-US" dirty="0"/>
              <a:t>   @</a:t>
            </a:r>
            <a:r>
              <a:rPr lang="en-SE" dirty="0" err="1"/>
              <a:t>mikael_nystrom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5762" y="4435284"/>
            <a:ext cx="4572000" cy="457200"/>
          </a:xfrm>
        </p:spPr>
        <p:txBody>
          <a:bodyPr/>
          <a:lstStyle/>
          <a:p>
            <a:r>
              <a:rPr lang="en-SE" dirty="0"/>
              <a:t>Microsoft MVP</a:t>
            </a:r>
            <a:endParaRPr lang="en-US" dirty="0"/>
          </a:p>
        </p:txBody>
      </p:sp>
      <p:pic>
        <p:nvPicPr>
          <p:cNvPr id="1026" name="Picture 2" descr="avatar for Mikael Nystrom">
            <a:extLst>
              <a:ext uri="{FF2B5EF4-FFF2-40B4-BE49-F238E27FC236}">
                <a16:creationId xmlns:a16="http://schemas.microsoft.com/office/drawing/2014/main" id="{0FA18AE8-9600-7835-670D-2C553A0D0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555" y="1281068"/>
            <a:ext cx="2519629" cy="251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252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Lets begin smiling...</a:t>
            </a:r>
            <a:r>
              <a:rPr lang="en-SE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noProof="0" dirty="0"/>
              <a:t>Since many of you will be depressed once you understand how this should be done...</a:t>
            </a:r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Understand practical PAW architectures and design trade-offs</a:t>
            </a:r>
          </a:p>
          <a:p>
            <a:r>
              <a:rPr lang="en-US"/>
              <a:t>Integrate PAW into modern identity, Entra ID, and Zero Trust models</a:t>
            </a:r>
          </a:p>
          <a:p>
            <a:r>
              <a:rPr lang="en-US"/>
              <a:t>Learn from real-world PAW failures and recoveries</a:t>
            </a:r>
          </a:p>
          <a:p>
            <a:r>
              <a:rPr lang="en-US"/>
              <a:t>Operate PAW at scale without killing usability</a:t>
            </a:r>
          </a:p>
          <a:p>
            <a:r>
              <a:rPr lang="en-US"/>
              <a:t>Avoid common deployment pitfalls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Agenda (75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Why PAW exists and what it actually protects</a:t>
            </a:r>
          </a:p>
          <a:p>
            <a:r>
              <a:rPr lang="en-US" dirty="0"/>
              <a:t>PAW architectures: classic, modern, hybrid</a:t>
            </a:r>
          </a:p>
          <a:p>
            <a:r>
              <a:rPr lang="en-US" dirty="0"/>
              <a:t>Identity + Zero Trust integration</a:t>
            </a:r>
          </a:p>
          <a:p>
            <a:r>
              <a:rPr lang="en-US" dirty="0"/>
              <a:t>Field lessons: what goes wrong in real deployments</a:t>
            </a:r>
          </a:p>
          <a:p>
            <a:r>
              <a:rPr lang="en-US" dirty="0"/>
              <a:t>Operating PAW at scale</a:t>
            </a:r>
          </a:p>
          <a:p>
            <a:r>
              <a:rPr lang="en-US" dirty="0"/>
              <a:t>Q&amp;A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94560"/>
            <a:ext cx="178606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rPr dirty="0"/>
              <a:t>Why?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The attack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Most domain compromises start from a workstation</a:t>
            </a:r>
          </a:p>
          <a:p>
            <a:r>
              <a:rPr lang="en-US"/>
              <a:t>Credential theft enables lateral movement and privilege escalation</a:t>
            </a:r>
          </a:p>
          <a:p>
            <a:r>
              <a:rPr lang="en-US"/>
              <a:t>Admin endpoints are high-value targets</a:t>
            </a:r>
          </a:p>
          <a:p>
            <a:r>
              <a:rPr lang="en-US"/>
              <a:t>EDR does not compensate for credential exposure</a:t>
            </a:r>
          </a:p>
          <a:p>
            <a:r>
              <a:rPr lang="en-US"/>
              <a:t>PAW isolates privileges from daily user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What PAW protects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Privileged credentials</a:t>
            </a:r>
          </a:p>
          <a:p>
            <a:r>
              <a:rPr lang="en-US"/>
              <a:t>Administrative tokens</a:t>
            </a:r>
          </a:p>
          <a:p>
            <a:r>
              <a:rPr lang="en-US"/>
              <a:t>High-trust sessions</a:t>
            </a:r>
          </a:p>
          <a:p>
            <a:r>
              <a:rPr lang="en-US"/>
              <a:t>Access paths to Tier 0/1 assets</a:t>
            </a:r>
          </a:p>
          <a:p>
            <a:r>
              <a:rPr lang="en-US"/>
              <a:t>Management planes (on-prem + cloud)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929C82-F192-A257-5CDF-E328C434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Demo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5DB797-8869-1BA6-23A5-12E8A4930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Prep for PAW in Active Directory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931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5FC9-74CC-9B1D-5D50-01C638EBA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33880-AF12-7625-427A-23FCFB62B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Prep for PAW in Entra 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31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94560"/>
            <a:ext cx="5324919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rPr dirty="0"/>
              <a:t>PAW architectures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rPr dirty="0"/>
              <a:t>Classic, modern, and hybrid designs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 dirty="0"/>
              <a:t>Classic PAW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Dedicated hardened workstation</a:t>
            </a:r>
          </a:p>
          <a:p>
            <a:r>
              <a:rPr lang="en-US" dirty="0"/>
              <a:t>Blocked internet + email</a:t>
            </a:r>
          </a:p>
          <a:p>
            <a:r>
              <a:rPr lang="en-US" dirty="0"/>
              <a:t>Tiered admin model</a:t>
            </a:r>
          </a:p>
          <a:p>
            <a:r>
              <a:rPr lang="en-US" dirty="0"/>
              <a:t>Domain-joined</a:t>
            </a:r>
          </a:p>
          <a:p>
            <a:r>
              <a:rPr lang="en-US" dirty="0"/>
              <a:t>Strong but rigid</a:t>
            </a:r>
            <a:endParaRPr lang="en-SE" dirty="0"/>
          </a:p>
          <a:p>
            <a:r>
              <a:rPr lang="en-SE" dirty="0"/>
              <a:t>You might need many devices to uphold isolation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 dirty="0"/>
              <a:t>Modern PAW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Dedicated hardened workstation</a:t>
            </a:r>
            <a:endParaRPr lang="en-SE" dirty="0"/>
          </a:p>
          <a:p>
            <a:r>
              <a:rPr lang="en-US" dirty="0"/>
              <a:t>Entra ID joined</a:t>
            </a:r>
          </a:p>
          <a:p>
            <a:r>
              <a:rPr lang="en-US" dirty="0"/>
              <a:t>Strong device compliance</a:t>
            </a:r>
          </a:p>
          <a:p>
            <a:r>
              <a:rPr lang="en-US" dirty="0"/>
              <a:t>MFA-bound access</a:t>
            </a:r>
          </a:p>
          <a:p>
            <a:r>
              <a:rPr lang="en-US" dirty="0"/>
              <a:t>Conditional Access enforced</a:t>
            </a:r>
          </a:p>
          <a:p>
            <a:r>
              <a:rPr lang="en-US" dirty="0"/>
              <a:t>Better usability, more dependencies</a:t>
            </a:r>
            <a:endParaRPr lang="en-SE" dirty="0"/>
          </a:p>
          <a:p>
            <a:r>
              <a:rPr lang="en-SE" dirty="0"/>
              <a:t>You might need many devices to uphold isolation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Hybrid PAW (real-world choice)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SE" dirty="0"/>
              <a:t>Hardware is a “portable” Hypervisor</a:t>
            </a:r>
          </a:p>
          <a:p>
            <a:r>
              <a:rPr lang="en-SE" dirty="0"/>
              <a:t>Not Domain joined</a:t>
            </a:r>
          </a:p>
          <a:p>
            <a:r>
              <a:rPr lang="en-US" dirty="0"/>
              <a:t>Managed? </a:t>
            </a:r>
            <a:endParaRPr lang="en-SE" dirty="0"/>
          </a:p>
          <a:p>
            <a:pPr lvl="1"/>
            <a:r>
              <a:rPr lang="en-US" dirty="0"/>
              <a:t>Often intentionally minimal or separate control plane</a:t>
            </a:r>
            <a:endParaRPr lang="en-SE" dirty="0"/>
          </a:p>
          <a:p>
            <a:r>
              <a:rPr lang="en-SE" dirty="0"/>
              <a:t>Locked down and useless for other tasks then running </a:t>
            </a:r>
            <a:r>
              <a:rPr lang="en-SE" dirty="0" err="1"/>
              <a:t>VMs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Hybrid PAW (real-world choice)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V</a:t>
            </a:r>
            <a:r>
              <a:rPr lang="en-SE" dirty="0" err="1"/>
              <a:t>irtual</a:t>
            </a:r>
            <a:r>
              <a:rPr lang="en-SE" dirty="0"/>
              <a:t> Machines for each tier</a:t>
            </a:r>
          </a:p>
          <a:p>
            <a:r>
              <a:rPr lang="en-SE" dirty="0"/>
              <a:t>Virtual Machines for each </a:t>
            </a:r>
            <a:r>
              <a:rPr lang="en-SE" dirty="0" err="1"/>
              <a:t>manag</a:t>
            </a:r>
            <a:r>
              <a:rPr lang="sv-SE" dirty="0"/>
              <a:t>e</a:t>
            </a:r>
            <a:r>
              <a:rPr lang="en-SE" dirty="0" err="1"/>
              <a:t>ment</a:t>
            </a:r>
            <a:r>
              <a:rPr lang="en-SE" dirty="0"/>
              <a:t> interface</a:t>
            </a:r>
          </a:p>
          <a:p>
            <a:r>
              <a:rPr lang="en-SE" dirty="0"/>
              <a:t>Virtual Machine for each cloud platform</a:t>
            </a:r>
          </a:p>
        </p:txBody>
      </p:sp>
    </p:spTree>
    <p:extLst>
      <p:ext uri="{BB962C8B-B14F-4D97-AF65-F5344CB8AC3E}">
        <p14:creationId xmlns:p14="http://schemas.microsoft.com/office/powerpoint/2010/main" val="1715678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1C565-AEE3-87AC-2AAA-9E3AE3720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Demo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46315-5AF7-46F9-9F7E-70A49B112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The PAW Toolkit, let us build some </a:t>
            </a:r>
            <a:r>
              <a:rPr lang="en-SE" dirty="0" err="1"/>
              <a:t>PAWs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25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94560"/>
            <a:ext cx="595849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rPr dirty="0"/>
              <a:t>Identity &amp; Zero Trust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rPr dirty="0"/>
              <a:t>Making PAW part of the access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PAW in a Zero Trust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Never trust the network</a:t>
            </a:r>
          </a:p>
          <a:p>
            <a:r>
              <a:rPr lang="en-US" dirty="0"/>
              <a:t>Always verify device + identity</a:t>
            </a:r>
          </a:p>
          <a:p>
            <a:r>
              <a:rPr lang="en-US" dirty="0"/>
              <a:t>Assume credentials will be attacked</a:t>
            </a:r>
          </a:p>
          <a:p>
            <a:r>
              <a:rPr lang="en-US" dirty="0"/>
              <a:t>Isolate administration</a:t>
            </a:r>
          </a:p>
          <a:p>
            <a:r>
              <a:rPr lang="en-US" dirty="0"/>
              <a:t>Continuously evaluate risk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Identity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 dirty="0"/>
              <a:t>Separate admin identities</a:t>
            </a:r>
          </a:p>
          <a:p>
            <a:r>
              <a:rPr lang="en-US" dirty="0"/>
              <a:t>Conditional Access: PAW-only access</a:t>
            </a:r>
          </a:p>
          <a:p>
            <a:r>
              <a:rPr lang="en-US" dirty="0"/>
              <a:t>MFA and phishing-resistant auth</a:t>
            </a:r>
          </a:p>
          <a:p>
            <a:r>
              <a:rPr lang="en-US" dirty="0"/>
              <a:t>Role-based access</a:t>
            </a:r>
            <a:endParaRPr lang="en-SE" dirty="0"/>
          </a:p>
          <a:p>
            <a:pPr lvl="1"/>
            <a:r>
              <a:rPr lang="en-SE" dirty="0"/>
              <a:t>JIT/JEA and least priv.</a:t>
            </a:r>
            <a:endParaRPr lang="en-US" dirty="0"/>
          </a:p>
          <a:p>
            <a:r>
              <a:rPr lang="en-US" dirty="0"/>
              <a:t>Privileged Identity Management (PIM)</a:t>
            </a:r>
            <a:endParaRPr lang="en-SE" dirty="0"/>
          </a:p>
          <a:p>
            <a:pPr lvl="1"/>
            <a:r>
              <a:rPr lang="en-US" dirty="0"/>
              <a:t>PIM reduces standing privilege and adds control — but it does not replace PAW or prevent credential theft.</a:t>
            </a:r>
            <a:endParaRPr lang="en-SE" dirty="0"/>
          </a:p>
          <a:p>
            <a:endParaRPr lang="en-SE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94560"/>
            <a:ext cx="637392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rPr dirty="0"/>
              <a:t>Lessons from the field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rPr dirty="0"/>
              <a:t>What breaks, why, and how to fix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Common PAW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>
            <a:normAutofit/>
          </a:bodyPr>
          <a:lstStyle/>
          <a:p>
            <a:r>
              <a:rPr lang="en-US" dirty="0"/>
              <a:t>PAW is not the starting point</a:t>
            </a:r>
            <a:endParaRPr lang="en-SE" dirty="0"/>
          </a:p>
          <a:p>
            <a:pPr lvl="1"/>
            <a:r>
              <a:rPr lang="en-US" dirty="0"/>
              <a:t>it’s an enforcement mechanism</a:t>
            </a:r>
            <a:r>
              <a:rPr lang="en-SE" dirty="0"/>
              <a:t>!</a:t>
            </a:r>
          </a:p>
          <a:p>
            <a:r>
              <a:rPr lang="en-US" dirty="0"/>
              <a:t>Admins bypass PAW due to friction</a:t>
            </a:r>
          </a:p>
          <a:p>
            <a:r>
              <a:rPr lang="en-US" dirty="0"/>
              <a:t>PAW too restricted to do the job</a:t>
            </a:r>
          </a:p>
          <a:p>
            <a:r>
              <a:rPr lang="en-US" dirty="0"/>
              <a:t>Internet/email exceptions creep in</a:t>
            </a:r>
          </a:p>
          <a:p>
            <a:r>
              <a:rPr lang="en-US" dirty="0"/>
              <a:t>No lifecycle management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447141D-7C01-720E-C3C7-773B7053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17879E-6D95-5F08-4B45-1FBF78AEC0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613" b="7866"/>
          <a:stretch>
            <a:fillRect/>
          </a:stretch>
        </p:blipFill>
        <p:spPr>
          <a:xfrm>
            <a:off x="838200" y="1507787"/>
            <a:ext cx="10515600" cy="4669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7621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Common PAW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>
            <a:normAutofit/>
          </a:bodyPr>
          <a:lstStyle/>
          <a:p>
            <a:r>
              <a:rPr lang="en-US" dirty="0"/>
              <a:t>PAW treated as a one-time project</a:t>
            </a:r>
            <a:endParaRPr lang="en-SE" dirty="0"/>
          </a:p>
          <a:p>
            <a:r>
              <a:rPr lang="en-SE" dirty="0"/>
              <a:t>Trying too hard</a:t>
            </a:r>
          </a:p>
          <a:p>
            <a:r>
              <a:rPr lang="en-SE" dirty="0"/>
              <a:t>Trying too much</a:t>
            </a:r>
          </a:p>
          <a:p>
            <a:r>
              <a:rPr lang="en-SE" dirty="0"/>
              <a:t>Try to0 fix corner cases</a:t>
            </a:r>
          </a:p>
          <a:p>
            <a:r>
              <a:rPr lang="sv-SE" dirty="0" err="1"/>
              <a:t>Indirect</a:t>
            </a:r>
            <a:r>
              <a:rPr lang="sv-SE" dirty="0"/>
              <a:t> administrative </a:t>
            </a:r>
            <a:r>
              <a:rPr lang="sv-SE" dirty="0" err="1"/>
              <a:t>control</a:t>
            </a:r>
            <a:r>
              <a:rPr lang="sv-SE" dirty="0"/>
              <a:t> </a:t>
            </a:r>
            <a:r>
              <a:rPr lang="sv-SE" dirty="0" err="1"/>
              <a:t>defines</a:t>
            </a:r>
            <a:r>
              <a:rPr lang="sv-SE" dirty="0"/>
              <a:t> </a:t>
            </a:r>
            <a:r>
              <a:rPr lang="sv-SE" dirty="0" err="1"/>
              <a:t>Tier</a:t>
            </a:r>
            <a:r>
              <a:rPr lang="sv-SE" dirty="0"/>
              <a:t> 0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290729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593D8BA-49E9-40E7-16EC-562DA7A1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 dirty="0"/>
              <a:t>R</a:t>
            </a:r>
            <a:r>
              <a:rPr lang="en-SE" dirty="0" err="1"/>
              <a:t>emember</a:t>
            </a:r>
            <a:r>
              <a:rPr lang="en-SE" dirty="0"/>
              <a:t> this...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236150-C80D-6F24-7FF2-98698C216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83" b="17497"/>
          <a:stretch>
            <a:fillRect/>
          </a:stretch>
        </p:blipFill>
        <p:spPr>
          <a:xfrm>
            <a:off x="838200" y="1507787"/>
            <a:ext cx="10515600" cy="4669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1307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What successful deployments do differently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SE" dirty="0"/>
              <a:t>Start from the top</a:t>
            </a:r>
          </a:p>
          <a:p>
            <a:pPr lvl="1"/>
            <a:r>
              <a:rPr lang="en-SE" dirty="0"/>
              <a:t>Tier 0</a:t>
            </a:r>
          </a:p>
          <a:p>
            <a:pPr lvl="1"/>
            <a:r>
              <a:rPr lang="en-SE" dirty="0"/>
              <a:t>Backup</a:t>
            </a:r>
          </a:p>
          <a:p>
            <a:pPr lvl="1"/>
            <a:r>
              <a:rPr lang="en-SE" dirty="0"/>
              <a:t>Entra ID</a:t>
            </a:r>
          </a:p>
          <a:p>
            <a:pPr lvl="1"/>
            <a:r>
              <a:rPr lang="en-SE" dirty="0"/>
              <a:t>Virtualization</a:t>
            </a:r>
          </a:p>
          <a:p>
            <a:r>
              <a:rPr lang="en-US" dirty="0"/>
              <a:t>Executive sponsorship</a:t>
            </a:r>
          </a:p>
          <a:p>
            <a:r>
              <a:rPr lang="en-US" dirty="0"/>
              <a:t>Clear admin workflows</a:t>
            </a:r>
          </a:p>
          <a:p>
            <a:r>
              <a:rPr lang="en-US" dirty="0"/>
              <a:t>Dedicated PAW persona</a:t>
            </a:r>
          </a:p>
          <a:p>
            <a:r>
              <a:rPr lang="en-US" dirty="0"/>
              <a:t>Change management</a:t>
            </a:r>
          </a:p>
          <a:p>
            <a:r>
              <a:rPr lang="en-US" dirty="0"/>
              <a:t>Continuous improvement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94560"/>
            <a:ext cx="670382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rPr dirty="0"/>
              <a:t>Operating PAW at scale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rPr dirty="0"/>
              <a:t>From pilot to production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PAW operational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Ring-based deployment</a:t>
            </a:r>
          </a:p>
          <a:p>
            <a:r>
              <a:rPr lang="en-US"/>
              <a:t>Clear onboarding/offboarding</a:t>
            </a:r>
          </a:p>
          <a:p>
            <a:r>
              <a:rPr lang="en-US"/>
              <a:t>Update and patch strategy</a:t>
            </a:r>
          </a:p>
          <a:p>
            <a:r>
              <a:rPr lang="en-US"/>
              <a:t>Tooling standardization</a:t>
            </a:r>
          </a:p>
          <a:p>
            <a:r>
              <a:rPr lang="en-US"/>
              <a:t>Incident response for PAWs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Balancing security and usability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Fast login and boot</a:t>
            </a:r>
          </a:p>
          <a:p>
            <a:r>
              <a:rPr lang="en-US"/>
              <a:t>Minimal tool sprawl</a:t>
            </a:r>
          </a:p>
          <a:p>
            <a:r>
              <a:rPr lang="en-US"/>
              <a:t>Documented workflows</a:t>
            </a:r>
          </a:p>
          <a:p>
            <a:r>
              <a:rPr lang="en-US"/>
              <a:t>Measured exceptions</a:t>
            </a:r>
          </a:p>
          <a:p>
            <a:r>
              <a:rPr lang="en-US"/>
              <a:t>Feedback loops with admins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9456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t>Final thoughts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t>What actually matters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If you do only 5 things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Separate admin identities</a:t>
            </a:r>
          </a:p>
          <a:p>
            <a:r>
              <a:rPr lang="en-US"/>
              <a:t>Enforce PAW-only access via policy</a:t>
            </a:r>
          </a:p>
          <a:p>
            <a:r>
              <a:rPr lang="en-US"/>
              <a:t>Harden the PAW OS aggressively</a:t>
            </a:r>
          </a:p>
          <a:p>
            <a:r>
              <a:rPr lang="en-US"/>
              <a:t>Remove internet/email from PAW</a:t>
            </a:r>
          </a:p>
          <a:p>
            <a:r>
              <a:rPr lang="en-US"/>
              <a:t>Treat PAW as an ongoing program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PAW Decision Matrix – Who Needs PAW?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772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9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9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4F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Typical Access</a:t>
                      </a:r>
                    </a:p>
                  </a:txBody>
                  <a:tcPr>
                    <a:solidFill>
                      <a:srgbClr val="004F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Credential Exposure Impact</a:t>
                      </a:r>
                    </a:p>
                  </a:txBody>
                  <a:tcPr>
                    <a:solidFill>
                      <a:srgbClr val="004F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Internet / Email Needed</a:t>
                      </a:r>
                    </a:p>
                  </a:txBody>
                  <a:tcPr>
                    <a:solidFill>
                      <a:srgbClr val="004F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PAW Required?</a:t>
                      </a:r>
                    </a:p>
                  </a:txBody>
                  <a:tcPr>
                    <a:solidFill>
                      <a:srgbClr val="004F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4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rPr dirty="0"/>
                        <a:t>Tier 0 Admin (AD / Entra)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DCs, Entra ID, AAD Connect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Total domain compromise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✅ Mandatory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rPr dirty="0"/>
                        <a:t>Dedicated PAW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rPr dirty="0"/>
                        <a:t>Server / Infrastructure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rPr dirty="0"/>
                        <a:t>Servers, hypervisors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Lateral movement + service compromise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Rare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✅ Strongly 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PAW or hardened admin device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Security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EDR, identity, IR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Security control bypass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✅ 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Depends on tools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Cloud / M365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Tenant-wide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Tenant takeover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Sometimes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✅ Recommended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CA + compliant device minimum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Helpdesk / Desktop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Endpoints,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User compromise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⚠️ Optional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JIT + strong controls may suffice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Standard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Business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❌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rPr dirty="0"/>
                        <a:t>Never grant admin rights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 at MOA.potx" id="{2E10FB69-9919-4B3C-9632-FD2BB1D75132}" vid="{0332E6E8-20E3-4859-9AFC-1A87378A3F2E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 at MOA.potx" id="{2E10FB69-9919-4B3C-9632-FD2BB1D75132}" vid="{A6CCE707-01A5-4229-8291-D7B911DF34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23f2dc9-b9fe-448a-b0b1-aa092771f91e}" enabled="1" method="Privileged" siteId="{dd4bfd4f-bb54-4c50-ae35-38d9719db1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MMS  at MOA</Template>
  <TotalTime>56</TotalTime>
  <Words>972</Words>
  <Application>Microsoft Office PowerPoint</Application>
  <PresentationFormat>Widescreen</PresentationFormat>
  <Paragraphs>198</Paragraphs>
  <Slides>34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The PAW Survival Guide</vt:lpstr>
      <vt:lpstr>Attention</vt:lpstr>
      <vt:lpstr>PowerPoint Presentation</vt:lpstr>
      <vt:lpstr>Lets begin smiling...</vt:lpstr>
      <vt:lpstr>Session outcomes</vt:lpstr>
      <vt:lpstr>Agenda (75 minutes)</vt:lpstr>
      <vt:lpstr>PowerPoint Presentation</vt:lpstr>
      <vt:lpstr>The attack reality</vt:lpstr>
      <vt:lpstr>What PAW protects</vt:lpstr>
      <vt:lpstr>Demo</vt:lpstr>
      <vt:lpstr>Demo</vt:lpstr>
      <vt:lpstr>PowerPoint Presentation</vt:lpstr>
      <vt:lpstr>Classic PAW</vt:lpstr>
      <vt:lpstr>Modern PAW</vt:lpstr>
      <vt:lpstr>Hybrid PAW (real-world choice)</vt:lpstr>
      <vt:lpstr>Hybrid PAW (real-world choice)</vt:lpstr>
      <vt:lpstr>Demo</vt:lpstr>
      <vt:lpstr>PowerPoint Presentation</vt:lpstr>
      <vt:lpstr>PAW in a Zero Trust model</vt:lpstr>
      <vt:lpstr>Identity integration</vt:lpstr>
      <vt:lpstr>PowerPoint Presentation</vt:lpstr>
      <vt:lpstr>Common PAW failures</vt:lpstr>
      <vt:lpstr>PowerPoint Presentation</vt:lpstr>
      <vt:lpstr>Common PAW failures</vt:lpstr>
      <vt:lpstr>Remember this...</vt:lpstr>
      <vt:lpstr>What successful deployments do differently</vt:lpstr>
      <vt:lpstr>PowerPoint Presentation</vt:lpstr>
      <vt:lpstr>PAW operational model</vt:lpstr>
      <vt:lpstr>Balancing security and usability</vt:lpstr>
      <vt:lpstr>PowerPoint Presentation</vt:lpstr>
      <vt:lpstr>If you do only 5 things</vt:lpstr>
      <vt:lpstr>PAW Decision Matrix – Who Needs PAW?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Mikael Nyström</dc:creator>
  <cp:lastModifiedBy>Mikael Nyström</cp:lastModifiedBy>
  <cp:revision>4</cp:revision>
  <dcterms:created xsi:type="dcterms:W3CDTF">2026-04-01T21:03:00Z</dcterms:created>
  <dcterms:modified xsi:type="dcterms:W3CDTF">2026-05-05T05:09:52Z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