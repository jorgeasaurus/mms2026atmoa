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23"/>
  </p:notesMasterIdLst>
  <p:sldIdLst>
    <p:sldId id="271" r:id="rId3"/>
    <p:sldId id="272" r:id="rId4"/>
    <p:sldId id="273" r:id="rId5"/>
    <p:sldId id="278" r:id="rId6"/>
    <p:sldId id="279" r:id="rId7"/>
    <p:sldId id="259" r:id="rId8"/>
    <p:sldId id="274" r:id="rId9"/>
    <p:sldId id="277" r:id="rId10"/>
    <p:sldId id="261" r:id="rId11"/>
    <p:sldId id="262" r:id="rId12"/>
    <p:sldId id="263" r:id="rId13"/>
    <p:sldId id="264" r:id="rId14"/>
    <p:sldId id="265" r:id="rId15"/>
    <p:sldId id="275" r:id="rId16"/>
    <p:sldId id="276" r:id="rId17"/>
    <p:sldId id="266" r:id="rId18"/>
    <p:sldId id="267" r:id="rId19"/>
    <p:sldId id="268" r:id="rId20"/>
    <p:sldId id="269" r:id="rId21"/>
    <p:sldId id="27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50" d="100"/>
          <a:sy n="150" d="100"/>
        </p:scale>
        <p:origin x="288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085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For a while, most AI product thinking was centered on the model itself. Which model is smartest? Which one writes better? Which one reasons better?</a:t>
            </a:r>
          </a:p>
          <a:p>
            <a:r>
              <a:rPr lang="en-US" dirty="0"/>
              <a:t>That still matters, but it is no longer the whole product. The real product is becoming the system around the model.</a:t>
            </a:r>
          </a:p>
          <a:p>
            <a:r>
              <a:rPr lang="en-US" dirty="0"/>
              <a:t>There are four reasons this changed.</a:t>
            </a:r>
          </a:p>
          <a:p>
            <a:r>
              <a:rPr lang="en-US" dirty="0"/>
              <a:t>First, </a:t>
            </a:r>
            <a:r>
              <a:rPr lang="en-US" b="1" dirty="0"/>
              <a:t>models got cheap enough</a:t>
            </a:r>
            <a:r>
              <a:rPr lang="en-US" dirty="0"/>
              <a:t>. Teams can now call multiple models inside the same workflow. You can use one model to plan, another to retrieve, another to draft, another to critique, and another to evaluate. That was too expensive or too slow before. Now it is practical.</a:t>
            </a:r>
          </a:p>
          <a:p>
            <a:r>
              <a:rPr lang="en-US" dirty="0"/>
              <a:t>Second, </a:t>
            </a:r>
            <a:r>
              <a:rPr lang="en-US" b="1" dirty="0"/>
              <a:t>interfaces got real</a:t>
            </a:r>
            <a:r>
              <a:rPr lang="en-US" dirty="0"/>
              <a:t>. We are no longer limited to chat boxes and demos. APIs, built-in tools, function calling, MCP, and connected systems mean AI can actually interact with software. It can search, read, write, trigger actions, and move work through real business systems.</a:t>
            </a:r>
          </a:p>
          <a:p>
            <a:r>
              <a:rPr lang="en-US" dirty="0"/>
              <a:t>Third, </a:t>
            </a:r>
            <a:r>
              <a:rPr lang="en-US" b="1" dirty="0"/>
              <a:t>the work got messy</a:t>
            </a:r>
            <a:r>
              <a:rPr lang="en-US" dirty="0"/>
              <a:t>. Once you move beyond a demo, the hard part is not asking a model one question. The hard part is planning the steps, maintaining context, remembering prior decisions, retrying failures, validating outputs, managing permissions, and knowing when to ask a human. That is orchestration.</a:t>
            </a:r>
          </a:p>
          <a:p>
            <a:r>
              <a:rPr lang="en-US" dirty="0"/>
              <a:t>Fourth, </a:t>
            </a:r>
            <a:r>
              <a:rPr lang="en-US" b="1" dirty="0"/>
              <a:t>risk got real</a:t>
            </a:r>
            <a:r>
              <a:rPr lang="en-US" dirty="0"/>
              <a:t>. These systems are no longer just producing text in a sandbox. They touch live data, customer records, internal tools, payments, support queues, codebases, and operational workflows. That means security, governance, approvals, audit logs, and policy checks become part of the core product.</a:t>
            </a:r>
          </a:p>
          <a:p>
            <a:r>
              <a:rPr lang="en-US" dirty="0"/>
              <a:t>So the shift is this: the model is becoming a component. The orchestration layer is becoming the product surface.</a:t>
            </a:r>
          </a:p>
          <a:p>
            <a:r>
              <a:rPr lang="en-US" dirty="0"/>
              <a:t>That is what separates a cool AI demo from a dependable AI system.</a:t>
            </a:r>
          </a:p>
          <a:p>
            <a:endParaRPr lang="en-US" dirty="0"/>
          </a:p>
          <a:p>
            <a:endParaRPr lang="en-US" dirty="0"/>
          </a:p>
        </p:txBody>
      </p:sp>
    </p:spTree>
    <p:extLst>
      <p:ext uri="{BB962C8B-B14F-4D97-AF65-F5344CB8AC3E}">
        <p14:creationId xmlns:p14="http://schemas.microsoft.com/office/powerpoint/2010/main" val="1822769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This is the practical operating model for human and AI work.</a:t>
            </a:r>
          </a:p>
          <a:p>
            <a:r>
              <a:rPr lang="en-US" dirty="0"/>
              <a:t>Think of it as a control plane. The goal is not to have one giant autonomous agent doing everything. The goal is to separate the workflow into layers, with clear ownership at each layer.</a:t>
            </a:r>
          </a:p>
          <a:p>
            <a:r>
              <a:rPr lang="en-US" dirty="0"/>
              <a:t>First is </a:t>
            </a:r>
            <a:r>
              <a:rPr lang="en-US" b="1" dirty="0"/>
              <a:t>intent</a:t>
            </a:r>
            <a:r>
              <a:rPr lang="en-US" dirty="0"/>
              <a:t>. This is where humans matter most. We define the goal, the constraints, and the context. What are we trying to accomplish? What should the system avoid? What information does it need to know before acting? AI can help clarify this, but humans should own it.</a:t>
            </a:r>
          </a:p>
          <a:p>
            <a:r>
              <a:rPr lang="en-US" dirty="0"/>
              <a:t>Second is </a:t>
            </a:r>
            <a:r>
              <a:rPr lang="en-US" b="1" dirty="0"/>
              <a:t>orchestration</a:t>
            </a:r>
            <a:r>
              <a:rPr lang="en-US" dirty="0"/>
              <a:t>. This is where the system decides how work should get done. Which model should handle which task? What steps should happen in what order? How much budget, time, or risk should we allow? This is the layer that turns a human goal into an executable workflow.</a:t>
            </a:r>
          </a:p>
          <a:p>
            <a:r>
              <a:rPr lang="en-US" dirty="0"/>
              <a:t>Third is </a:t>
            </a:r>
            <a:r>
              <a:rPr lang="en-US" b="1" dirty="0"/>
              <a:t>execution</a:t>
            </a:r>
            <a:r>
              <a:rPr lang="en-US" dirty="0"/>
              <a:t>. This is where AI is strongest. It can search, write code, read and write across systems, generate drafts, update records, and perform repetitive work at scale. This is the work we do not want humans doing manually over and over again.</a:t>
            </a:r>
          </a:p>
          <a:p>
            <a:r>
              <a:rPr lang="en-US" dirty="0"/>
              <a:t>Fourth is </a:t>
            </a:r>
            <a:r>
              <a:rPr lang="en-US" b="1" dirty="0"/>
              <a:t>evaluation</a:t>
            </a:r>
            <a:r>
              <a:rPr lang="en-US" dirty="0"/>
              <a:t>. We should not treat AI output as automatically correct. The system needs tests, judges, and policy checks. Did it follow the instructions? Did it meet the rubric? Is the result safe, accurate, and within bounds? This layer gives us confidence before anything important moves forward.</a:t>
            </a:r>
          </a:p>
          <a:p>
            <a:r>
              <a:rPr lang="en-US" dirty="0"/>
              <a:t>Finally, there is the </a:t>
            </a:r>
            <a:r>
              <a:rPr lang="en-US" b="1" dirty="0"/>
              <a:t>human gate</a:t>
            </a:r>
            <a:r>
              <a:rPr lang="en-US" dirty="0"/>
              <a:t>. Humans approve, edit, or escalate. This is especially important when the action is external-facing, high-impact, politically sensitive, brand-sensitive, or difficult to reverse.</a:t>
            </a:r>
          </a:p>
          <a:p>
            <a:r>
              <a:rPr lang="en-US" dirty="0"/>
              <a:t>So the rule of thumb is simple: keep humans in charge of objective-setting and irreversible actions. Let AI carry the search, synthesis, drafting, and repetitive execution.</a:t>
            </a:r>
          </a:p>
          <a:p>
            <a:r>
              <a:rPr lang="en-US" dirty="0"/>
              <a:t>That is the pattern: humans set direction and own accountability; AI handles the scalable work in the middle; the control plane makes sure every step is routed, checked, and governed before it matters.</a:t>
            </a:r>
          </a:p>
          <a:p>
            <a:endParaRPr lang="en-US" dirty="0"/>
          </a:p>
          <a:p>
            <a:endParaRPr lang="en-US" dirty="0"/>
          </a:p>
        </p:txBody>
      </p:sp>
    </p:spTree>
    <p:extLst>
      <p:ext uri="{BB962C8B-B14F-4D97-AF65-F5344CB8AC3E}">
        <p14:creationId xmlns:p14="http://schemas.microsoft.com/office/powerpoint/2010/main" val="4207611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here is that AI orchestration is not about replacing human judgment. It is about designing a system where the work is routed to the right actor at the right moment.</a:t>
            </a:r>
          </a:p>
          <a:p>
            <a:r>
              <a:rPr lang="en-US" dirty="0"/>
              <a:t>AI should own the repeatable, high-volume, low-context parts of the workflow: pulling information from multiple systems, creating first drafts, generating options, applying known formats, checking against rubrics, retrying failed steps, and monitoring queues.</a:t>
            </a:r>
          </a:p>
          <a:p>
            <a:r>
              <a:rPr lang="en-US" dirty="0"/>
              <a:t>Humans should own the moments where judgment, accountability, and context matter most: setting the goal, defining what “good” looks like, resolving ambiguity, approving external-facing work, handling exceptions, and making decisions where brand, politics, customer trust, or business risk are involved.</a:t>
            </a:r>
          </a:p>
          <a:p>
            <a:r>
              <a:rPr lang="en-US" dirty="0"/>
              <a:t>The orchestration layer sits between those two worlds.</a:t>
            </a:r>
          </a:p>
          <a:p>
            <a:r>
              <a:rPr lang="en-US" dirty="0"/>
              <a:t>It decides:</a:t>
            </a:r>
          </a:p>
          <a:p>
            <a:r>
              <a:rPr lang="en-US" dirty="0"/>
              <a:t>What can be automated safely. </a:t>
            </a:r>
          </a:p>
          <a:p>
            <a:r>
              <a:rPr lang="en-US" dirty="0"/>
              <a:t>What needs human review. </a:t>
            </a:r>
          </a:p>
          <a:p>
            <a:r>
              <a:rPr lang="en-US" dirty="0"/>
              <a:t>What context the AI needs before acting. </a:t>
            </a:r>
          </a:p>
          <a:p>
            <a:r>
              <a:rPr lang="en-US" dirty="0"/>
              <a:t>Which tools or systems the AI should use. </a:t>
            </a:r>
          </a:p>
          <a:p>
            <a:r>
              <a:rPr lang="en-US" dirty="0"/>
              <a:t>When to escalate. </a:t>
            </a:r>
          </a:p>
          <a:p>
            <a:r>
              <a:rPr lang="en-US" dirty="0"/>
              <a:t>How to log decisions and outcomes. </a:t>
            </a:r>
          </a:p>
          <a:p>
            <a:r>
              <a:rPr lang="en-US" dirty="0"/>
              <a:t>How to improve the workflow over time. </a:t>
            </a:r>
          </a:p>
          <a:p>
            <a:r>
              <a:rPr lang="en-US" dirty="0"/>
              <a:t>A good orchestration layer does not just call an AI model. It manages roles, permissions, context, memory, retries, evaluations, approvals, and audit trails.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D27B-A15C-E83B-D29C-E3712FA80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4013C-E8EE-3547-D72E-41AA333D4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69159-0EDB-2F00-2985-0C1E2252E4F3}"/>
              </a:ext>
            </a:extLst>
          </p:cNvPr>
          <p:cNvSpPr>
            <a:spLocks noGrp="1"/>
          </p:cNvSpPr>
          <p:nvPr>
            <p:ph type="body" idx="1"/>
          </p:nvPr>
        </p:nvSpPr>
        <p:spPr/>
        <p:txBody>
          <a:bodyPr/>
          <a:lstStyle/>
          <a:p>
            <a:r>
              <a:rPr lang="en-US" dirty="0"/>
              <a:t>This slide makes a simple point: </a:t>
            </a:r>
            <a:r>
              <a:rPr lang="en-US" b="1" dirty="0"/>
              <a:t>prompting matters now more than ever</a:t>
            </a:r>
            <a:r>
              <a:rPr lang="en-US" dirty="0"/>
              <a:t>.</a:t>
            </a:r>
          </a:p>
          <a:p>
            <a:r>
              <a:rPr lang="en-US" dirty="0"/>
              <a:t>A lot of people assume prompting is becoming less important as models get better. In practice, the opposite is happening. As models get more capable, the quality of the prompt has an even bigger impact on the quality, consistency, and reliability of the output.</a:t>
            </a:r>
          </a:p>
          <a:p>
            <a:r>
              <a:rPr lang="en-US" dirty="0"/>
              <a:t>The reason is that prompting is no longer just about asking a clever question. It is about </a:t>
            </a:r>
            <a:r>
              <a:rPr lang="en-US" b="1" dirty="0"/>
              <a:t>designing the interface between the system and the model</a:t>
            </a:r>
            <a:r>
              <a:rPr lang="en-US" dirty="0"/>
              <a:t>.</a:t>
            </a:r>
          </a:p>
          <a:p>
            <a:r>
              <a:rPr lang="en-US" dirty="0"/>
              <a:t>On the left, the message is that prompt engineering is an iterative process. You start with a draft prompt, test it against real cases, see where it fails, and then refine it. In other words, prompting is not magic. It is an empirical discipline. You do not assume the first version is right — you test and improve it.</a:t>
            </a:r>
          </a:p>
          <a:p>
            <a:r>
              <a:rPr lang="en-US" dirty="0"/>
              <a:t>On the right is where outcomes really start to differentiate. Strong prompts usually have a clear structure.</a:t>
            </a:r>
          </a:p>
          <a:p>
            <a:r>
              <a:rPr lang="en-US" dirty="0"/>
              <a:t>First, establish the </a:t>
            </a:r>
            <a:r>
              <a:rPr lang="en-US" b="1" dirty="0"/>
              <a:t>role and task</a:t>
            </a:r>
            <a:r>
              <a:rPr lang="en-US" dirty="0"/>
              <a:t>. Tell the model what it is doing and at what level.</a:t>
            </a:r>
          </a:p>
          <a:p>
            <a:r>
              <a:rPr lang="en-US" dirty="0"/>
              <a:t>Second, provide the </a:t>
            </a:r>
            <a:r>
              <a:rPr lang="en-US" b="1" dirty="0"/>
              <a:t>dynamic or retrieved content</a:t>
            </a:r>
            <a:r>
              <a:rPr lang="en-US" dirty="0"/>
              <a:t> — the actual context, data, or source material it should work from.</a:t>
            </a:r>
          </a:p>
          <a:p>
            <a:r>
              <a:rPr lang="en-US" dirty="0"/>
              <a:t>Third, give </a:t>
            </a:r>
            <a:r>
              <a:rPr lang="en-US" b="1" dirty="0"/>
              <a:t>specific instructions</a:t>
            </a:r>
            <a:r>
              <a:rPr lang="en-US" dirty="0"/>
              <a:t> about the job to be done. What format do you want? What constraints matter? What should it optimize for?</a:t>
            </a:r>
          </a:p>
          <a:p>
            <a:r>
              <a:rPr lang="en-US" dirty="0"/>
              <a:t>Fourth, where helpful, include </a:t>
            </a:r>
            <a:r>
              <a:rPr lang="en-US" b="1" dirty="0"/>
              <a:t>examples</a:t>
            </a:r>
            <a:r>
              <a:rPr lang="en-US" dirty="0"/>
              <a:t>. Examples are often one of the fastest ways to improve consistency.</a:t>
            </a:r>
          </a:p>
          <a:p>
            <a:r>
              <a:rPr lang="en-US" dirty="0"/>
              <a:t>And fifth, for longer or more complex workflows, </a:t>
            </a:r>
            <a:r>
              <a:rPr lang="en-US" b="1" dirty="0"/>
              <a:t>repeat critical instructions</a:t>
            </a:r>
            <a:r>
              <a:rPr lang="en-US" dirty="0"/>
              <a:t>. That helps preserve the important constraints as the prompt gets longer and the task gets more complicated.</a:t>
            </a:r>
          </a:p>
          <a:p>
            <a:r>
              <a:rPr lang="en-US" dirty="0"/>
              <a:t>So the takeaway is this: better models do not eliminate the need for prompt design. They raise the value of it.</a:t>
            </a:r>
          </a:p>
          <a:p>
            <a:r>
              <a:rPr lang="en-US" dirty="0"/>
              <a:t>If orchestration is the control plane, then prompting is the mechanism that tells each step exactly how to behave. And the teams that get good at structured, testable prompting will get better outcomes than teams that just rely on raw model capability.</a:t>
            </a:r>
          </a:p>
          <a:p>
            <a:endParaRPr lang="en-US" dirty="0"/>
          </a:p>
        </p:txBody>
      </p:sp>
      <p:sp>
        <p:nvSpPr>
          <p:cNvPr id="4" name="Slide Number Placeholder 3">
            <a:extLst>
              <a:ext uri="{FF2B5EF4-FFF2-40B4-BE49-F238E27FC236}">
                <a16:creationId xmlns:a16="http://schemas.microsoft.com/office/drawing/2014/main" id="{6CDD9473-62A2-9809-2A53-E58563E3264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63710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This is the slide I would want people to remember if they only remember one.</a:t>
            </a:r>
          </a:p>
          <a:p>
            <a:r>
              <a:rPr lang="en-US" dirty="0"/>
              <a:t>When people hear “AI orchestration,” it can sound abstract. But in practice, most useful systems are built from a small set of repeatable patterns. These seven show up again and again.</a:t>
            </a:r>
          </a:p>
          <a:p>
            <a:r>
              <a:rPr lang="en-US" dirty="0"/>
              <a:t>The first is </a:t>
            </a:r>
            <a:r>
              <a:rPr lang="en-US" b="1" dirty="0"/>
              <a:t>routing</a:t>
            </a:r>
            <a:r>
              <a:rPr lang="en-US" dirty="0"/>
              <a:t>. Not every task should go to the same model, tool, or workflow. Some tasks are cheap and low-risk. Some require stronger reasoning. Some need a specific tool. Good orchestration routes the work based on task type, cost, latency, and risk.</a:t>
            </a:r>
          </a:p>
          <a:p>
            <a:r>
              <a:rPr lang="en-US" dirty="0"/>
              <a:t>The second is </a:t>
            </a:r>
            <a:r>
              <a:rPr lang="en-US" b="1" dirty="0"/>
              <a:t>parallelism</a:t>
            </a:r>
            <a:r>
              <a:rPr lang="en-US" dirty="0"/>
              <a:t>. Instead of doing everything one step at a time, the system can run multiple searches, extractions, or candidate generations at once. This is useful when you want broader coverage, faster execution, or multiple options before choosing the best result.</a:t>
            </a:r>
          </a:p>
          <a:p>
            <a:r>
              <a:rPr lang="en-US" dirty="0"/>
              <a:t>The third is </a:t>
            </a:r>
            <a:r>
              <a:rPr lang="en-US" b="1" dirty="0"/>
              <a:t>reflection</a:t>
            </a:r>
            <a:r>
              <a:rPr lang="en-US" dirty="0"/>
              <a:t>. Before a system hands work off, it can critique its own draft. It can ask: did I answer the question, did I follow the constraints, what is missing, what could be improved? Reflection is not a guarantee of correctness, but it is a simple way to catch obvious misses before a human sees them.</a:t>
            </a:r>
          </a:p>
          <a:p>
            <a:r>
              <a:rPr lang="en-US" dirty="0"/>
              <a:t>The fourth is </a:t>
            </a:r>
            <a:r>
              <a:rPr lang="en-US" b="1" dirty="0"/>
              <a:t>evaluation</a:t>
            </a:r>
            <a:r>
              <a:rPr lang="en-US" dirty="0"/>
              <a:t>. This is where we move from vibes to measurement. We score outputs against tests, rubrics, policy checks, or expected behavior. For production systems, this is essential. You need a way to know whether the system is improving, regressing, or drifting.</a:t>
            </a:r>
          </a:p>
          <a:p>
            <a:r>
              <a:rPr lang="en-US" dirty="0"/>
              <a:t>The fifth is </a:t>
            </a:r>
            <a:r>
              <a:rPr lang="en-US" b="1" dirty="0"/>
              <a:t>retries</a:t>
            </a:r>
            <a:r>
              <a:rPr lang="en-US" dirty="0"/>
              <a:t>. Real systems fail. APIs timeout. Tools return partial results. Models make bad calls. Rate limits happen. A strong orchestration layer does not collapse on the first failure. It knows when to retry, when to change strategy, and when to escalate.</a:t>
            </a:r>
          </a:p>
          <a:p>
            <a:r>
              <a:rPr lang="en-US" dirty="0"/>
              <a:t>The sixth is </a:t>
            </a:r>
            <a:r>
              <a:rPr lang="en-US" b="1" dirty="0"/>
              <a:t>memory</a:t>
            </a:r>
            <a:r>
              <a:rPr lang="en-US" dirty="0"/>
              <a:t>. But memory has to be handled carefully. Durable facts should be stored intentionally, with clear rules. Short-term state should stay separate. Otherwise, systems become unpredictable, stale, or overly personalized in ways users did not ask for.</a:t>
            </a:r>
          </a:p>
          <a:p>
            <a:r>
              <a:rPr lang="en-US" dirty="0"/>
              <a:t>The seventh is the </a:t>
            </a:r>
            <a:r>
              <a:rPr lang="en-US" b="1" dirty="0"/>
              <a:t>human gate</a:t>
            </a:r>
            <a:r>
              <a:rPr lang="en-US" dirty="0"/>
              <a:t>. This is where we deliberately insert human approval. Not everywhere — that would kill the value of automation — but at the moments where cost, compliance, brand risk, customer impact, or reversibility matter.</a:t>
            </a:r>
          </a:p>
          <a:p>
            <a:r>
              <a:rPr lang="en-US" dirty="0"/>
              <a:t>The important point is that these are not theoretical patterns. These are the building blocks of dependable AI products.</a:t>
            </a:r>
          </a:p>
          <a:p>
            <a:r>
              <a:rPr lang="en-US" dirty="0"/>
              <a:t>Most successful AI workflows are just combinations of these patterns: route the task, run parts in parallel, draft or act, reflect, evaluate, retry if needed, remember what matters, and gate the risky steps with a human.</a:t>
            </a:r>
          </a:p>
          <a:p>
            <a:r>
              <a:rPr lang="en-US" dirty="0"/>
              <a:t>That is orchestration in practice.</a:t>
            </a:r>
          </a:p>
          <a:p>
            <a:endParaRPr lang="en-US" dirty="0"/>
          </a:p>
          <a:p>
            <a:endParaRPr lang="en-US" dirty="0"/>
          </a:p>
        </p:txBody>
      </p:sp>
    </p:spTree>
    <p:extLst>
      <p:ext uri="{BB962C8B-B14F-4D97-AF65-F5344CB8AC3E}">
        <p14:creationId xmlns:p14="http://schemas.microsoft.com/office/powerpoint/2010/main" val="1320370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OpenAI, “New tools for building agents,” published March 11, 2025. https://openai.com/index/new-tools-for-building-agents/ 
Anthropic, “Introducing the Model Context Protocol,” published Nov. 25, 2024. https://www.anthropic.com/news/model-context-protocol 
Anthropic, “Donating the Model Context Protocol and establishing the Agentic AI Foundation,” published Dec. 9, 2025. https://www.anthropic.com/news/donating-the-model-context-protocol-and-establishing-of-the-agentic-ai-foundation 
Microsoft Copilot Blog, “New and improved: Multi-agent orchestration...,” published Apr. 1, 2026. https://www.microsoft.com/en-us/microsoft-copilot/blog/copilot-studio/new-and-improved-multi-agent-orchestration-connected-experiences-and-faster-prompt-iteration/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The Register, “Anthropic blames contractor for exposing API keys and source code in Docker image,” Apr. 2025. 
InfoQ, “Anthropic Accidentally Exposes Sensitive Information in Docker Image,” Apr. 2025. 
Wiz Research / coverage of exposed AI service logs, Oct. 2024. 
MSRC, “How Microsoft defends against indirect prompt injection attacks,” July 29, 2025. https://msrc.microsoft.com/blog/2025/07/how-microsoft-defends-against-indirect-prompt-injection-attacks/ 
Microsoft Security Blog, “Runtime risk to real-time defense: Securing AI agents,” Jan. 23, 2026. https://www.microsoft.com/en-us/security/blog/2026/01/23/runtime-risk-realtime-defense-securing-ai-agents/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OWASP MCP Top 10 2025, “Tool Poisoning.” https://owasp.org/www-project-mcp-top-10/2025/MCP03-2025%E2%80%93Tool-Poisoning 
Microsoft Security Blog, “Detecting and mitigating common agent misconfigurations,” Feb. 12, 2026. https://www.microsoft.com/en-us/security/blog/2026/02/12/copilot-studio-agent-security-top-10-risks-detect-prevent/ 
MSRC, “How Microsoft defends against indirect prompt injection attacks,” July 29, 2025.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Decorative graphic: user-provided MMSMOA media kit asset /mnt/data/mms_assets/Graphics/MMSDots1000x1000.png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sv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Master" Target="../slideMasters/slideMaster2.xml"/><Relationship Id="rId5" Type="http://schemas.openxmlformats.org/officeDocument/2006/relationships/image" Target="../media/image15.png"/><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0.png"/><Relationship Id="rId3" Type="http://schemas.openxmlformats.org/officeDocument/2006/relationships/image" Target="../media/image9.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29.png"/><Relationship Id="rId2" Type="http://schemas.openxmlformats.org/officeDocument/2006/relationships/image" Target="../media/image16.svg"/><Relationship Id="rId16"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microsoft.com/office/2007/relationships/hdphoto" Target="../media/hdphoto1.wdp"/><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MS_MASTER">
    <p:bg>
      <p:bgPr>
        <a:solidFill>
          <a:srgbClr val="05050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31212"/>
          </a:solidFill>
          <a:ln w="12700">
            <a:solidFill>
              <a:srgbClr val="F31212"/>
            </a:solidFill>
            <a:prstDash val="solid"/>
          </a:ln>
        </p:spPr>
        <p:txBody>
          <a:bodyPr/>
          <a:lstStyle/>
          <a:p>
            <a:endParaRPr lang="en-US"/>
          </a:p>
        </p:txBody>
      </p:sp>
      <p:pic>
        <p:nvPicPr>
          <p:cNvPr id="3" name="Image 0" descr="/mnt/data/mms_assets/Graphics/MMSLogoWhite.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61320" y="182880"/>
            <a:ext cx="1097280" cy="640080"/>
          </a:xfrm>
          <a:prstGeom prst="rect">
            <a:avLst/>
          </a:prstGeom>
        </p:spPr>
      </p:pic>
      <p:sp>
        <p:nvSpPr>
          <p:cNvPr id="4" name="Text 1"/>
          <p:cNvSpPr/>
          <p:nvPr/>
        </p:nvSpPr>
        <p:spPr>
          <a:xfrm>
            <a:off x="10469880" y="6446520"/>
            <a:ext cx="1417320" cy="164592"/>
          </a:xfrm>
          <a:prstGeom prst="rect">
            <a:avLst/>
          </a:prstGeom>
          <a:noFill/>
          <a:ln/>
        </p:spPr>
        <p:txBody>
          <a:bodyPr wrap="square" lIns="0" tIns="0" rIns="0" bIns="0" rtlCol="0" anchor="ctr"/>
          <a:lstStyle/>
          <a:p>
            <a:pPr marL="0" indent="0" algn="r">
              <a:buNone/>
            </a:pPr>
            <a:r>
              <a:rPr lang="en-US" sz="700" dirty="0">
                <a:solidFill>
                  <a:srgbClr val="8A8A8A"/>
                </a:solidFill>
                <a:latin typeface="Aptos" pitchFamily="34" charset="0"/>
                <a:ea typeface="Aptos" pitchFamily="34" charset="-122"/>
                <a:cs typeface="Aptos" pitchFamily="34" charset="-120"/>
              </a:rPr>
              <a:t>AI orchestration</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1225425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latin typeface="Aptos" panose="020B00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12331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descr="MMS Logo">
            <a:extLst>
              <a:ext uri="{FF2B5EF4-FFF2-40B4-BE49-F238E27FC236}">
                <a16:creationId xmlns:a16="http://schemas.microsoft.com/office/drawing/2014/main" id="{B20E1BA0-F24A-EC19-2D43-C2AEF38D6F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 y="6220684"/>
            <a:ext cx="1069571" cy="612648"/>
          </a:xfrm>
          <a:prstGeom prst="rect">
            <a:avLst/>
          </a:prstGeom>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1128764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625221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latin typeface="Aptos" panose="020B0004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2537889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2067296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2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368626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056767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1604766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804332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1642206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bg1"/>
                </a:solidFill>
                <a:latin typeface="Aptos" panose="020B0004020202020204" pitchFamily="34" charset="0"/>
              </a:rPr>
              <a:t>Be sure to find Wally and sign up for 1:1 time with a speaker</a:t>
            </a:r>
          </a:p>
          <a:p>
            <a:r>
              <a:rPr lang="en-US" sz="2400" b="1" dirty="0">
                <a:solidFill>
                  <a:schemeClr val="bg1"/>
                </a:solidFill>
                <a:latin typeface="Aptos" panose="020B0004020202020204" pitchFamily="34" charset="0"/>
              </a:rPr>
              <a:t>If you'd like to "catch" us for a session, we are scheduled as follows:</a:t>
            </a:r>
            <a:endParaRPr lang="en-US" b="1" dirty="0">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bg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bg1"/>
                </a:solidFill>
                <a:latin typeface="Aptos" panose="020B0004020202020204" pitchFamily="34" charset="0"/>
              </a:rPr>
              <a:t>Fishing Sessions</a:t>
            </a:r>
          </a:p>
        </p:txBody>
      </p:sp>
    </p:spTree>
    <p:extLst>
      <p:ext uri="{BB962C8B-B14F-4D97-AF65-F5344CB8AC3E}">
        <p14:creationId xmlns:p14="http://schemas.microsoft.com/office/powerpoint/2010/main" val="26131879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2921790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0" name="Rectangle 9">
            <a:extLst>
              <a:ext uri="{FF2B5EF4-FFF2-40B4-BE49-F238E27FC236}">
                <a16:creationId xmlns:a16="http://schemas.microsoft.com/office/drawing/2014/main" id="{A0141027-F066-B9AE-93FD-9C9448960CDB}"/>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1" name="Picture 10" descr="Patch My PC">
            <a:extLst>
              <a:ext uri="{FF2B5EF4-FFF2-40B4-BE49-F238E27FC236}">
                <a16:creationId xmlns:a16="http://schemas.microsoft.com/office/drawing/2014/main" id="{F837D305-2B1E-D93E-4951-99C287BF88B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9" name="Picture 8" descr="A black and white logo&#10;&#10;Description automatically generated with low confidence">
            <a:extLst>
              <a:ext uri="{FF2B5EF4-FFF2-40B4-BE49-F238E27FC236}">
                <a16:creationId xmlns:a16="http://schemas.microsoft.com/office/drawing/2014/main" id="{9152F94A-4D91-121D-CEB4-524094EE7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3" name="Picture 12" descr="A grey rectangle with white and blue text&#10;&#10;Description automatically generated">
            <a:extLst>
              <a:ext uri="{FF2B5EF4-FFF2-40B4-BE49-F238E27FC236}">
                <a16:creationId xmlns:a16="http://schemas.microsoft.com/office/drawing/2014/main" id="{27436F92-854C-BEE9-ECD2-98D939DF1B9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9" name="Picture 28" descr="A white text on a black background&#10;&#10;Description automatically generated">
            <a:extLst>
              <a:ext uri="{FF2B5EF4-FFF2-40B4-BE49-F238E27FC236}">
                <a16:creationId xmlns:a16="http://schemas.microsoft.com/office/drawing/2014/main" id="{75392E0A-C0E2-C291-444E-C2565C6FA04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37" name="Graphic 36">
            <a:extLst>
              <a:ext uri="{FF2B5EF4-FFF2-40B4-BE49-F238E27FC236}">
                <a16:creationId xmlns:a16="http://schemas.microsoft.com/office/drawing/2014/main" id="{FFA7C4B9-2FE7-03A8-4C46-F9FB648245F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6" name="Picture 5">
            <a:extLst>
              <a:ext uri="{FF2B5EF4-FFF2-40B4-BE49-F238E27FC236}">
                <a16:creationId xmlns:a16="http://schemas.microsoft.com/office/drawing/2014/main" id="{504D6873-2AA5-65D0-992F-5D0CA23B99B8}"/>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8" name="Picture 7">
            <a:extLst>
              <a:ext uri="{FF2B5EF4-FFF2-40B4-BE49-F238E27FC236}">
                <a16:creationId xmlns:a16="http://schemas.microsoft.com/office/drawing/2014/main" id="{6CB20B0E-D4F5-70E8-7B88-CD98C80D632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16" name="Picture 15">
            <a:extLst>
              <a:ext uri="{FF2B5EF4-FFF2-40B4-BE49-F238E27FC236}">
                <a16:creationId xmlns:a16="http://schemas.microsoft.com/office/drawing/2014/main" id="{0697EBA7-C89E-96EE-4748-7F907F81D9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1" name="Graphic 20">
            <a:extLst>
              <a:ext uri="{FF2B5EF4-FFF2-40B4-BE49-F238E27FC236}">
                <a16:creationId xmlns:a16="http://schemas.microsoft.com/office/drawing/2014/main" id="{20F4E334-22B5-F189-E4F0-E59467F9F9B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4" name="Picture 23">
            <a:extLst>
              <a:ext uri="{FF2B5EF4-FFF2-40B4-BE49-F238E27FC236}">
                <a16:creationId xmlns:a16="http://schemas.microsoft.com/office/drawing/2014/main" id="{5E5F552A-9761-3A6C-8290-61044C88A9C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25" name="Picture 24" descr="A blue text on a black background&#10;&#10;AI-generated content may be incorrect.">
            <a:extLst>
              <a:ext uri="{FF2B5EF4-FFF2-40B4-BE49-F238E27FC236}">
                <a16:creationId xmlns:a16="http://schemas.microsoft.com/office/drawing/2014/main" id="{059AA4FF-6CFA-B105-B54C-8D9B21CA931B}"/>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26" name="Picture 25" descr="A white letters on a black background&#10;&#10;AI-generated content may be incorrect.">
            <a:extLst>
              <a:ext uri="{FF2B5EF4-FFF2-40B4-BE49-F238E27FC236}">
                <a16:creationId xmlns:a16="http://schemas.microsoft.com/office/drawing/2014/main" id="{22BA2D5A-399C-36FF-E065-28AF7C39D808}"/>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3" name="Picture 32">
            <a:extLst>
              <a:ext uri="{FF2B5EF4-FFF2-40B4-BE49-F238E27FC236}">
                <a16:creationId xmlns:a16="http://schemas.microsoft.com/office/drawing/2014/main" id="{92CA8F16-E2DC-59EF-D489-4FC3AB2CC38D}"/>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6" name="Picture 35">
            <a:extLst>
              <a:ext uri="{FF2B5EF4-FFF2-40B4-BE49-F238E27FC236}">
                <a16:creationId xmlns:a16="http://schemas.microsoft.com/office/drawing/2014/main" id="{CDA09CD3-5E5E-7480-F81F-B86933B9DC69}"/>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20119203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theme" Target="../theme/theme2.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65651-282E-586C-B06B-5DB5D99446FF}"/>
              </a:ext>
            </a:extLst>
          </p:cNvPr>
          <p:cNvSpPr>
            <a:spLocks noGrp="1"/>
          </p:cNvSpPr>
          <p:nvPr>
            <p:ph type="title"/>
          </p:nvPr>
        </p:nvSpPr>
        <p:spPr>
          <a:xfrm>
            <a:off x="838200" y="365126"/>
            <a:ext cx="10515600" cy="79246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6913A01-90A4-D2D1-24E8-69DD5F53470F}"/>
              </a:ext>
            </a:extLst>
          </p:cNvPr>
          <p:cNvSpPr>
            <a:spLocks noGrp="1"/>
          </p:cNvSpPr>
          <p:nvPr>
            <p:ph type="body" idx="1"/>
          </p:nvPr>
        </p:nvSpPr>
        <p:spPr>
          <a:xfrm>
            <a:off x="838200" y="1507787"/>
            <a:ext cx="10515600" cy="46691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386777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Lst>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jp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x.com/cyrilXBT/status/2048577604693680611?s=2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p:txBody>
          <a:bodyPr/>
          <a:lstStyle/>
          <a:p>
            <a:r>
              <a:rPr lang="en-US" dirty="0"/>
              <a:t>AI Orchestration</a:t>
            </a:r>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p:txBody>
          <a:bodyPr/>
          <a:lstStyle/>
          <a:p>
            <a:r>
              <a:rPr lang="en-US" dirty="0"/>
              <a:t>The new runtime for Human work</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lstStyle/>
          <a:p>
            <a:r>
              <a:rPr lang="en-US" sz="2800" dirty="0"/>
              <a:t>MMS sessions are 60-75 minutes followed by LONG Q&amp;A</a:t>
            </a:r>
          </a:p>
          <a:p>
            <a:r>
              <a:rPr lang="en-US" sz="2800" dirty="0"/>
              <a:t>Please hold detailed questions until that Q&amp;A starts</a:t>
            </a:r>
          </a:p>
          <a:p>
            <a:r>
              <a:rPr lang="en-US" sz="2800" dirty="0"/>
              <a:t>Feel free to ask clarification questions</a:t>
            </a:r>
          </a:p>
          <a:p>
            <a:r>
              <a:rPr lang="en-US" sz="2800" dirty="0"/>
              <a:t>Remind the speakers to use Zoom It when you can’t see</a:t>
            </a:r>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62CD6E66-EAB9-E15A-71BD-FB2D4F9AE9AD}"/>
              </a:ext>
            </a:extLst>
          </p:cNvPr>
          <p:cNvPicPr>
            <a:picLocks noGrp="1" noChangeAspect="1"/>
          </p:cNvPicPr>
          <p:nvPr>
            <p:ph type="pic" sz="quarter" idx="11"/>
          </p:nvPr>
        </p:nvPicPr>
        <p:blipFill>
          <a:blip r:embed="rId2"/>
          <a:srcRect/>
          <a:stretch/>
        </p:blipFill>
        <p:spPr>
          <a:xfrm>
            <a:off x="2461077" y="1662310"/>
            <a:ext cx="2703513" cy="2538413"/>
          </a:xfrm>
        </p:spPr>
      </p:pic>
      <p:sp>
        <p:nvSpPr>
          <p:cNvPr id="4" name="Text Placeholder 3">
            <a:extLst>
              <a:ext uri="{FF2B5EF4-FFF2-40B4-BE49-F238E27FC236}">
                <a16:creationId xmlns:a16="http://schemas.microsoft.com/office/drawing/2014/main" id="{1BFB68CD-CB12-32EF-1CFE-54C294C3E92D}"/>
              </a:ext>
            </a:extLst>
          </p:cNvPr>
          <p:cNvSpPr>
            <a:spLocks noGrp="1"/>
          </p:cNvSpPr>
          <p:nvPr>
            <p:ph type="body" sz="quarter" idx="12"/>
          </p:nvPr>
        </p:nvSpPr>
        <p:spPr>
          <a:xfrm>
            <a:off x="1523999" y="4206239"/>
            <a:ext cx="4572000" cy="457200"/>
          </a:xfrm>
        </p:spPr>
        <p:txBody>
          <a:bodyPr>
            <a:normAutofit/>
          </a:bodyPr>
          <a:lstStyle/>
          <a:p>
            <a:r>
              <a:rPr lang="en-US" dirty="0"/>
              <a:t>Chris Sires</a:t>
            </a:r>
          </a:p>
        </p:txBody>
      </p:sp>
      <p:sp>
        <p:nvSpPr>
          <p:cNvPr id="5" name="Text Placeholder 4">
            <a:extLst>
              <a:ext uri="{FF2B5EF4-FFF2-40B4-BE49-F238E27FC236}">
                <a16:creationId xmlns:a16="http://schemas.microsoft.com/office/drawing/2014/main" id="{BE1E5CAD-23FE-A4D7-B096-3334A7D79C8B}"/>
              </a:ext>
            </a:extLst>
          </p:cNvPr>
          <p:cNvSpPr>
            <a:spLocks noGrp="1"/>
          </p:cNvSpPr>
          <p:nvPr>
            <p:ph type="body" sz="quarter" idx="13"/>
          </p:nvPr>
        </p:nvSpPr>
        <p:spPr>
          <a:xfrm>
            <a:off x="6095999" y="4200723"/>
            <a:ext cx="4572000" cy="457200"/>
          </a:xfrm>
        </p:spPr>
        <p:txBody>
          <a:bodyPr>
            <a:normAutofit/>
          </a:bodyPr>
          <a:lstStyle/>
          <a:p>
            <a:r>
              <a:rPr lang="en-US" dirty="0"/>
              <a:t>Kevin Gros</a:t>
            </a:r>
          </a:p>
        </p:txBody>
      </p:sp>
      <p:sp>
        <p:nvSpPr>
          <p:cNvPr id="6" name="Text Placeholder 5">
            <a:extLst>
              <a:ext uri="{FF2B5EF4-FFF2-40B4-BE49-F238E27FC236}">
                <a16:creationId xmlns:a16="http://schemas.microsoft.com/office/drawing/2014/main" id="{86485DDC-10A4-A946-6EE8-700508002C72}"/>
              </a:ext>
            </a:extLst>
          </p:cNvPr>
          <p:cNvSpPr>
            <a:spLocks noGrp="1"/>
          </p:cNvSpPr>
          <p:nvPr>
            <p:ph type="body" sz="quarter" idx="14"/>
          </p:nvPr>
        </p:nvSpPr>
        <p:spPr>
          <a:xfrm>
            <a:off x="1523999" y="5303520"/>
            <a:ext cx="4572000" cy="914400"/>
          </a:xfrm>
        </p:spPr>
        <p:txBody>
          <a:bodyPr/>
          <a:lstStyle/>
          <a:p>
            <a:r>
              <a:rPr lang="en-US" dirty="0"/>
              <a:t>https://www.sires.dev</a:t>
            </a:r>
          </a:p>
          <a:p>
            <a:r>
              <a:rPr lang="en-US" dirty="0"/>
              <a:t>@sirescreek</a:t>
            </a:r>
          </a:p>
        </p:txBody>
      </p:sp>
      <p:sp>
        <p:nvSpPr>
          <p:cNvPr id="7" name="Text Placeholder 6">
            <a:extLst>
              <a:ext uri="{FF2B5EF4-FFF2-40B4-BE49-F238E27FC236}">
                <a16:creationId xmlns:a16="http://schemas.microsoft.com/office/drawing/2014/main" id="{9FC71F19-CB0D-6056-8B2E-7670D5A913DD}"/>
              </a:ext>
            </a:extLst>
          </p:cNvPr>
          <p:cNvSpPr>
            <a:spLocks noGrp="1"/>
          </p:cNvSpPr>
          <p:nvPr>
            <p:ph type="body" sz="quarter" idx="15"/>
          </p:nvPr>
        </p:nvSpPr>
        <p:spPr>
          <a:xfrm>
            <a:off x="6095999" y="5261408"/>
            <a:ext cx="4572000" cy="914400"/>
          </a:xfrm>
        </p:spPr>
        <p:txBody>
          <a:bodyPr/>
          <a:lstStyle/>
          <a:p>
            <a:r>
              <a:rPr lang="en-US" dirty="0"/>
              <a:t>@</a:t>
            </a:r>
          </a:p>
          <a:p>
            <a:r>
              <a:rPr lang="en-US" dirty="0"/>
              <a:t>   @</a:t>
            </a:r>
          </a:p>
        </p:txBody>
      </p:sp>
      <p:sp>
        <p:nvSpPr>
          <p:cNvPr id="8" name="Text Placeholder 7">
            <a:extLst>
              <a:ext uri="{FF2B5EF4-FFF2-40B4-BE49-F238E27FC236}">
                <a16:creationId xmlns:a16="http://schemas.microsoft.com/office/drawing/2014/main" id="{20280E57-51A9-979B-C838-5F016A209FD7}"/>
              </a:ext>
            </a:extLst>
          </p:cNvPr>
          <p:cNvSpPr>
            <a:spLocks noGrp="1"/>
          </p:cNvSpPr>
          <p:nvPr>
            <p:ph type="body" sz="quarter" idx="16"/>
          </p:nvPr>
        </p:nvSpPr>
        <p:spPr>
          <a:xfrm>
            <a:off x="1523999" y="4760396"/>
            <a:ext cx="4572000" cy="457200"/>
          </a:xfrm>
        </p:spPr>
        <p:txBody>
          <a:bodyPr>
            <a:normAutofit/>
          </a:bodyPr>
          <a:lstStyle/>
          <a:p>
            <a:r>
              <a:rPr lang="en-US" dirty="0"/>
              <a:t>AI Engineering Manager</a:t>
            </a:r>
          </a:p>
        </p:txBody>
      </p:sp>
      <p:sp>
        <p:nvSpPr>
          <p:cNvPr id="9" name="Text Placeholder 8">
            <a:extLst>
              <a:ext uri="{FF2B5EF4-FFF2-40B4-BE49-F238E27FC236}">
                <a16:creationId xmlns:a16="http://schemas.microsoft.com/office/drawing/2014/main" id="{F7177573-C298-FAF8-2140-0326B263D0A5}"/>
              </a:ext>
            </a:extLst>
          </p:cNvPr>
          <p:cNvSpPr>
            <a:spLocks noGrp="1"/>
          </p:cNvSpPr>
          <p:nvPr>
            <p:ph type="body" sz="quarter" idx="17"/>
          </p:nvPr>
        </p:nvSpPr>
        <p:spPr>
          <a:xfrm>
            <a:off x="6095999" y="4754880"/>
            <a:ext cx="4572000" cy="457200"/>
          </a:xfrm>
        </p:spPr>
        <p:txBody>
          <a:bodyPr/>
          <a:lstStyle/>
          <a:p>
            <a:r>
              <a:rPr lang="en-US" dirty="0"/>
              <a:t>??</a:t>
            </a:r>
          </a:p>
        </p:txBody>
      </p:sp>
      <p:pic>
        <p:nvPicPr>
          <p:cNvPr id="2" name="Graphic 1">
            <a:extLst>
              <a:ext uri="{FF2B5EF4-FFF2-40B4-BE49-F238E27FC236}">
                <a16:creationId xmlns:a16="http://schemas.microsoft.com/office/drawing/2014/main" id="{F80AD796-A5D0-185E-0D02-1A4E093DDB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52" y="5760680"/>
            <a:ext cx="457240" cy="457240"/>
          </a:xfrm>
          <a:prstGeom prst="rect">
            <a:avLst/>
          </a:prstGeom>
        </p:spPr>
      </p:pic>
      <p:pic>
        <p:nvPicPr>
          <p:cNvPr id="10" name="Picture 9">
            <a:extLst>
              <a:ext uri="{FF2B5EF4-FFF2-40B4-BE49-F238E27FC236}">
                <a16:creationId xmlns:a16="http://schemas.microsoft.com/office/drawing/2014/main" id="{4630E878-9BF7-6939-C50D-D08A60E4660B}"/>
              </a:ext>
            </a:extLst>
          </p:cNvPr>
          <p:cNvPicPr>
            <a:picLocks noChangeAspect="1"/>
          </p:cNvPicPr>
          <p:nvPr/>
        </p:nvPicPr>
        <p:blipFill>
          <a:blip r:embed="rId4"/>
          <a:stretch>
            <a:fillRect/>
          </a:stretch>
        </p:blipFill>
        <p:spPr>
          <a:xfrm>
            <a:off x="6347658" y="5212080"/>
            <a:ext cx="457240" cy="457240"/>
          </a:xfrm>
          <a:prstGeom prst="rect">
            <a:avLst/>
          </a:prstGeom>
        </p:spPr>
      </p:pic>
      <p:pic>
        <p:nvPicPr>
          <p:cNvPr id="12" name="Graphic 11">
            <a:extLst>
              <a:ext uri="{FF2B5EF4-FFF2-40B4-BE49-F238E27FC236}">
                <a16:creationId xmlns:a16="http://schemas.microsoft.com/office/drawing/2014/main" id="{DCAB01A4-EAB9-1053-9A80-4BABF85330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9048" y="5726188"/>
            <a:ext cx="457240" cy="457240"/>
          </a:xfrm>
          <a:prstGeom prst="rect">
            <a:avLst/>
          </a:prstGeom>
        </p:spPr>
      </p:pic>
      <p:sp>
        <p:nvSpPr>
          <p:cNvPr id="15" name="Picture Placeholder 14">
            <a:extLst>
              <a:ext uri="{FF2B5EF4-FFF2-40B4-BE49-F238E27FC236}">
                <a16:creationId xmlns:a16="http://schemas.microsoft.com/office/drawing/2014/main" id="{D59C0CE5-2ED4-828F-B469-8309B44C68DF}"/>
              </a:ext>
            </a:extLst>
          </p:cNvPr>
          <p:cNvSpPr>
            <a:spLocks noGrp="1"/>
          </p:cNvSpPr>
          <p:nvPr>
            <p:ph type="pic" sz="quarter" idx="10"/>
          </p:nvPr>
        </p:nvSpPr>
        <p:spPr>
          <a:xfrm>
            <a:off x="7030242" y="1753330"/>
            <a:ext cx="2703513" cy="2538413"/>
          </a:xfrm>
        </p:spPr>
        <p:txBody>
          <a:bodyPr/>
          <a:lstStyle/>
          <a:p>
            <a:endParaRPr lang="en-US"/>
          </a:p>
        </p:txBody>
      </p:sp>
    </p:spTree>
    <p:extLst>
      <p:ext uri="{BB962C8B-B14F-4D97-AF65-F5344CB8AC3E}">
        <p14:creationId xmlns:p14="http://schemas.microsoft.com/office/powerpoint/2010/main" val="274978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2004D41-DDA8-7C80-DC1C-79E5A859AD00}"/>
              </a:ext>
            </a:extLst>
          </p:cNvPr>
          <p:cNvSpPr>
            <a:spLocks noGrp="1"/>
          </p:cNvSpPr>
          <p:nvPr>
            <p:ph type="pic" sz="quarter" idx="10"/>
          </p:nvPr>
        </p:nvSpPr>
        <p:spPr/>
        <p:txBody>
          <a:bodyPr/>
          <a:lstStyle/>
          <a:p>
            <a:endParaRPr lang="en-US"/>
          </a:p>
        </p:txBody>
      </p:sp>
      <p:sp>
        <p:nvSpPr>
          <p:cNvPr id="11" name="Picture Placeholder 10">
            <a:extLst>
              <a:ext uri="{FF2B5EF4-FFF2-40B4-BE49-F238E27FC236}">
                <a16:creationId xmlns:a16="http://schemas.microsoft.com/office/drawing/2014/main" id="{87BEA435-DFD0-395A-2B80-A006659E5B60}"/>
              </a:ext>
            </a:extLst>
          </p:cNvPr>
          <p:cNvSpPr>
            <a:spLocks noGrp="1"/>
          </p:cNvSpPr>
          <p:nvPr>
            <p:ph type="pic" sz="quarter" idx="11"/>
          </p:nvPr>
        </p:nvSpPr>
        <p:spPr/>
        <p:txBody>
          <a:bodyPr/>
          <a:lstStyle/>
          <a:p>
            <a:endParaRPr lang="en-US"/>
          </a:p>
        </p:txBody>
      </p:sp>
      <p:sp>
        <p:nvSpPr>
          <p:cNvPr id="12" name="Text Placeholder 11">
            <a:extLst>
              <a:ext uri="{FF2B5EF4-FFF2-40B4-BE49-F238E27FC236}">
                <a16:creationId xmlns:a16="http://schemas.microsoft.com/office/drawing/2014/main" id="{BF0778F8-7235-28D4-647C-123644936D5A}"/>
              </a:ext>
            </a:extLst>
          </p:cNvPr>
          <p:cNvSpPr>
            <a:spLocks noGrp="1"/>
          </p:cNvSpPr>
          <p:nvPr>
            <p:ph type="body" sz="quarter" idx="12"/>
          </p:nvPr>
        </p:nvSpPr>
        <p:spPr/>
        <p:txBody>
          <a:bodyPr/>
          <a:lstStyle/>
          <a:p>
            <a:endParaRPr lang="en-US"/>
          </a:p>
        </p:txBody>
      </p:sp>
      <p:sp>
        <p:nvSpPr>
          <p:cNvPr id="13" name="Text Placeholder 12">
            <a:extLst>
              <a:ext uri="{FF2B5EF4-FFF2-40B4-BE49-F238E27FC236}">
                <a16:creationId xmlns:a16="http://schemas.microsoft.com/office/drawing/2014/main" id="{58AD6613-2C79-E1EC-0C4C-1E8F8B807451}"/>
              </a:ext>
            </a:extLst>
          </p:cNvPr>
          <p:cNvSpPr>
            <a:spLocks noGrp="1"/>
          </p:cNvSpPr>
          <p:nvPr>
            <p:ph type="body" sz="quarter" idx="13"/>
          </p:nvPr>
        </p:nvSpPr>
        <p:spPr/>
        <p:txBody>
          <a:bodyPr/>
          <a:lstStyle/>
          <a:p>
            <a:endParaRPr lang="en-US"/>
          </a:p>
        </p:txBody>
      </p:sp>
      <p:sp>
        <p:nvSpPr>
          <p:cNvPr id="14" name="Text Placeholder 13">
            <a:extLst>
              <a:ext uri="{FF2B5EF4-FFF2-40B4-BE49-F238E27FC236}">
                <a16:creationId xmlns:a16="http://schemas.microsoft.com/office/drawing/2014/main" id="{31498FCB-FF03-85A8-49A0-32E5AADC4931}"/>
              </a:ext>
            </a:extLst>
          </p:cNvPr>
          <p:cNvSpPr>
            <a:spLocks noGrp="1"/>
          </p:cNvSpPr>
          <p:nvPr>
            <p:ph type="body" sz="quarter" idx="14"/>
          </p:nvPr>
        </p:nvSpPr>
        <p:spPr/>
        <p:txBody>
          <a:bodyPr/>
          <a:lstStyle/>
          <a:p>
            <a:endParaRPr lang="en-US"/>
          </a:p>
        </p:txBody>
      </p:sp>
      <p:sp>
        <p:nvSpPr>
          <p:cNvPr id="15" name="Text Placeholder 14">
            <a:extLst>
              <a:ext uri="{FF2B5EF4-FFF2-40B4-BE49-F238E27FC236}">
                <a16:creationId xmlns:a16="http://schemas.microsoft.com/office/drawing/2014/main" id="{34746AD9-E2DD-15D0-EFCC-A623DBA06862}"/>
              </a:ext>
            </a:extLst>
          </p:cNvPr>
          <p:cNvSpPr>
            <a:spLocks noGrp="1"/>
          </p:cNvSpPr>
          <p:nvPr>
            <p:ph type="body" sz="quarter" idx="15"/>
          </p:nvPr>
        </p:nvSpPr>
        <p:spPr/>
        <p:txBody>
          <a:bodyPr/>
          <a:lstStyle/>
          <a:p>
            <a:endParaRPr lang="en-US"/>
          </a:p>
        </p:txBody>
      </p:sp>
      <p:sp>
        <p:nvSpPr>
          <p:cNvPr id="16" name="Text Placeholder 15">
            <a:extLst>
              <a:ext uri="{FF2B5EF4-FFF2-40B4-BE49-F238E27FC236}">
                <a16:creationId xmlns:a16="http://schemas.microsoft.com/office/drawing/2014/main" id="{4E98F6B0-E9EF-5917-1CDB-5495B0761395}"/>
              </a:ext>
            </a:extLst>
          </p:cNvPr>
          <p:cNvSpPr>
            <a:spLocks noGrp="1"/>
          </p:cNvSpPr>
          <p:nvPr>
            <p:ph type="body" sz="quarter" idx="16"/>
          </p:nvPr>
        </p:nvSpPr>
        <p:spPr/>
        <p:txBody>
          <a:bodyPr/>
          <a:lstStyle/>
          <a:p>
            <a:endParaRPr lang="en-US"/>
          </a:p>
        </p:txBody>
      </p:sp>
      <p:sp>
        <p:nvSpPr>
          <p:cNvPr id="17" name="Text Placeholder 16">
            <a:extLst>
              <a:ext uri="{FF2B5EF4-FFF2-40B4-BE49-F238E27FC236}">
                <a16:creationId xmlns:a16="http://schemas.microsoft.com/office/drawing/2014/main" id="{C890DA93-91B4-DB99-086E-ED02E632A52E}"/>
              </a:ext>
            </a:extLst>
          </p:cNvPr>
          <p:cNvSpPr>
            <a:spLocks noGrp="1"/>
          </p:cNvSpPr>
          <p:nvPr>
            <p:ph type="body" sz="quarter" idx="17"/>
          </p:nvPr>
        </p:nvSpPr>
        <p:spPr/>
        <p:txBody>
          <a:bodyPr/>
          <a:lstStyle/>
          <a:p>
            <a:endParaRPr lang="en-US"/>
          </a:p>
        </p:txBody>
      </p:sp>
      <p:pic>
        <p:nvPicPr>
          <p:cNvPr id="19" name="Picture 18">
            <a:extLst>
              <a:ext uri="{FF2B5EF4-FFF2-40B4-BE49-F238E27FC236}">
                <a16:creationId xmlns:a16="http://schemas.microsoft.com/office/drawing/2014/main" id="{138C8273-5D4A-8FAF-E4CB-3AA207CA0E56}"/>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444939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8A5E8E-717D-80D7-F184-7B7F7E3EB17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728291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Design pattern: what AI does vs. what humans do</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Best systems are not fully autonomous; they remember roles.</a:t>
            </a:r>
            <a:endParaRPr lang="en-US" sz="750" dirty="0"/>
          </a:p>
        </p:txBody>
      </p:sp>
      <p:sp>
        <p:nvSpPr>
          <p:cNvPr id="4" name="Shape 2"/>
          <p:cNvSpPr/>
          <p:nvPr/>
        </p:nvSpPr>
        <p:spPr>
          <a:xfrm>
            <a:off x="594360" y="1234440"/>
            <a:ext cx="5166360" cy="4114800"/>
          </a:xfrm>
          <a:prstGeom prst="roundRect">
            <a:avLst>
              <a:gd name="adj" fmla="val 1333"/>
            </a:avLst>
          </a:prstGeom>
          <a:solidFill>
            <a:srgbClr val="081726"/>
          </a:solidFill>
          <a:ln w="12700">
            <a:solidFill>
              <a:srgbClr val="2B2B2B"/>
            </a:solidFill>
            <a:prstDash val="solid"/>
          </a:ln>
        </p:spPr>
        <p:txBody>
          <a:bodyPr/>
          <a:lstStyle/>
          <a:p>
            <a:endParaRPr lang="en-US"/>
          </a:p>
        </p:txBody>
      </p:sp>
      <p:sp>
        <p:nvSpPr>
          <p:cNvPr id="5" name="Shape 3"/>
          <p:cNvSpPr/>
          <p:nvPr/>
        </p:nvSpPr>
        <p:spPr>
          <a:xfrm>
            <a:off x="5989320" y="1234440"/>
            <a:ext cx="5440680" cy="4114800"/>
          </a:xfrm>
          <a:prstGeom prst="roundRect">
            <a:avLst>
              <a:gd name="adj" fmla="val 1333"/>
            </a:avLst>
          </a:prstGeom>
          <a:solidFill>
            <a:srgbClr val="130E14"/>
          </a:solidFill>
          <a:ln w="12700">
            <a:solidFill>
              <a:srgbClr val="2B2B2B"/>
            </a:solidFill>
            <a:prstDash val="solid"/>
          </a:ln>
        </p:spPr>
        <p:txBody>
          <a:bodyPr/>
          <a:lstStyle/>
          <a:p>
            <a:endParaRPr lang="en-US"/>
          </a:p>
        </p:txBody>
      </p:sp>
      <p:sp>
        <p:nvSpPr>
          <p:cNvPr id="6" name="Text 4"/>
          <p:cNvSpPr/>
          <p:nvPr/>
        </p:nvSpPr>
        <p:spPr>
          <a:xfrm>
            <a:off x="868680" y="1444752"/>
            <a:ext cx="1188720" cy="164592"/>
          </a:xfrm>
          <a:prstGeom prst="rect">
            <a:avLst/>
          </a:prstGeom>
          <a:noFill/>
          <a:ln/>
        </p:spPr>
        <p:txBody>
          <a:bodyPr wrap="square" lIns="0" tIns="0" rIns="0" bIns="0" rtlCol="0" anchor="ctr"/>
          <a:lstStyle/>
          <a:p>
            <a:pPr marL="0" indent="0">
              <a:buNone/>
            </a:pPr>
            <a:r>
              <a:rPr lang="en-US" sz="900" b="1" dirty="0">
                <a:solidFill>
                  <a:srgbClr val="FFFFFF"/>
                </a:solidFill>
              </a:rPr>
              <a:t>AI excels at</a:t>
            </a:r>
            <a:endParaRPr lang="en-US" sz="900" dirty="0"/>
          </a:p>
        </p:txBody>
      </p:sp>
      <p:sp>
        <p:nvSpPr>
          <p:cNvPr id="7" name="Text 5"/>
          <p:cNvSpPr/>
          <p:nvPr/>
        </p:nvSpPr>
        <p:spPr>
          <a:xfrm>
            <a:off x="6263640" y="1444752"/>
            <a:ext cx="1554480" cy="164592"/>
          </a:xfrm>
          <a:prstGeom prst="rect">
            <a:avLst/>
          </a:prstGeom>
          <a:noFill/>
          <a:ln/>
        </p:spPr>
        <p:txBody>
          <a:bodyPr wrap="square" lIns="0" tIns="0" rIns="0" bIns="0" rtlCol="0" anchor="ctr"/>
          <a:lstStyle/>
          <a:p>
            <a:pPr marL="0" indent="0">
              <a:buNone/>
            </a:pPr>
            <a:r>
              <a:rPr lang="en-US" sz="900" b="1" dirty="0">
                <a:solidFill>
                  <a:srgbClr val="FFFFFF"/>
                </a:solidFill>
              </a:rPr>
              <a:t>Humans excel at</a:t>
            </a:r>
            <a:endParaRPr lang="en-US" sz="900" dirty="0"/>
          </a:p>
        </p:txBody>
      </p:sp>
      <p:sp>
        <p:nvSpPr>
          <p:cNvPr id="8" name="Text 6"/>
          <p:cNvSpPr/>
          <p:nvPr/>
        </p:nvSpPr>
        <p:spPr>
          <a:xfrm>
            <a:off x="914400" y="1783080"/>
            <a:ext cx="4526280" cy="2560320"/>
          </a:xfrm>
          <a:prstGeom prst="rect">
            <a:avLst/>
          </a:prstGeom>
          <a:noFill/>
          <a:ln/>
        </p:spPr>
        <p:txBody>
          <a:bodyPr wrap="square" lIns="381" tIns="381" rIns="381" bIns="381" rtlCol="0" anchor="t"/>
          <a:lstStyle/>
          <a:p>
            <a:pPr marL="152400" indent="-152400">
              <a:buSzPct val="100000"/>
              <a:buChar char="•"/>
            </a:pPr>
            <a:r>
              <a:rPr lang="en-US" sz="1300" dirty="0">
                <a:solidFill>
                  <a:srgbClr val="FFFFFF"/>
                </a:solidFill>
                <a:latin typeface="Aptos" pitchFamily="34" charset="0"/>
                <a:ea typeface="Aptos" pitchFamily="34" charset="-122"/>
                <a:cs typeface="Aptos" pitchFamily="34" charset="-120"/>
              </a:rPr>
              <a:t>High-volume retrieval across many sources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First-pass drafting and structure</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Transforming formatting and option generation</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24/7 monitoring, retries, and queue draining</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Fast evaluation against explicit rubrics</a:t>
            </a:r>
            <a:endParaRPr lang="en-US" sz="1300" dirty="0"/>
          </a:p>
        </p:txBody>
      </p:sp>
      <p:sp>
        <p:nvSpPr>
          <p:cNvPr id="9" name="Text 7"/>
          <p:cNvSpPr/>
          <p:nvPr/>
        </p:nvSpPr>
        <p:spPr>
          <a:xfrm>
            <a:off x="6309360" y="1783080"/>
            <a:ext cx="4572000" cy="2560320"/>
          </a:xfrm>
          <a:prstGeom prst="rect">
            <a:avLst/>
          </a:prstGeom>
          <a:noFill/>
          <a:ln/>
        </p:spPr>
        <p:txBody>
          <a:bodyPr wrap="square" lIns="381" tIns="381" rIns="381" bIns="381" rtlCol="0" anchor="t"/>
          <a:lstStyle/>
          <a:p>
            <a:pPr marL="152400" indent="-152400">
              <a:buSzPct val="100000"/>
              <a:buChar char="•"/>
            </a:pPr>
            <a:r>
              <a:rPr lang="en-US" sz="1300" dirty="0">
                <a:solidFill>
                  <a:srgbClr val="FFFFFF"/>
                </a:solidFill>
                <a:latin typeface="Aptos" pitchFamily="34" charset="0"/>
                <a:ea typeface="Aptos" pitchFamily="34" charset="-122"/>
                <a:cs typeface="Aptos" pitchFamily="34" charset="-120"/>
              </a:rPr>
              <a:t>Setting intent, trade-offs, and success criteria</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Handling ambiguity, politics, and brand risk</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Approving high-impact external actions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Interpreting weak signals and edge cases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Owning accountability when things go wrong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a:extLst>
            <a:ext uri="{FF2B5EF4-FFF2-40B4-BE49-F238E27FC236}">
              <a16:creationId xmlns:a16="http://schemas.microsoft.com/office/drawing/2014/main" id="{8711D0C4-D344-9099-5ED8-F727EA8804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641506-F0FA-1C51-51E0-294A3833F6FC}"/>
              </a:ext>
            </a:extLst>
          </p:cNvPr>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Prompting matters now more than ever</a:t>
            </a:r>
            <a:endParaRPr lang="en-US" sz="2200" dirty="0"/>
          </a:p>
        </p:txBody>
      </p:sp>
      <p:sp>
        <p:nvSpPr>
          <p:cNvPr id="3" name="Text 1">
            <a:extLst>
              <a:ext uri="{FF2B5EF4-FFF2-40B4-BE49-F238E27FC236}">
                <a16:creationId xmlns:a16="http://schemas.microsoft.com/office/drawing/2014/main" id="{CFD23B18-CBBB-6062-C572-85FE56304D31}"/>
              </a:ext>
            </a:extLst>
          </p:cNvPr>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Best systems are not fully autonomous; they remember roles.</a:t>
            </a:r>
            <a:endParaRPr lang="en-US" sz="750" dirty="0"/>
          </a:p>
        </p:txBody>
      </p:sp>
      <p:sp>
        <p:nvSpPr>
          <p:cNvPr id="4" name="Shape 2">
            <a:extLst>
              <a:ext uri="{FF2B5EF4-FFF2-40B4-BE49-F238E27FC236}">
                <a16:creationId xmlns:a16="http://schemas.microsoft.com/office/drawing/2014/main" id="{E4DA7FF0-2E66-F36A-788F-EE08946B6B2E}"/>
              </a:ext>
            </a:extLst>
          </p:cNvPr>
          <p:cNvSpPr/>
          <p:nvPr/>
        </p:nvSpPr>
        <p:spPr>
          <a:xfrm>
            <a:off x="594360" y="1234440"/>
            <a:ext cx="5812456" cy="3770697"/>
          </a:xfrm>
          <a:prstGeom prst="roundRect">
            <a:avLst>
              <a:gd name="adj" fmla="val 1333"/>
            </a:avLst>
          </a:prstGeom>
          <a:solidFill>
            <a:srgbClr val="081726"/>
          </a:solidFill>
          <a:ln w="12700">
            <a:solidFill>
              <a:srgbClr val="2B2B2B"/>
            </a:solidFill>
            <a:prstDash val="solid"/>
          </a:ln>
        </p:spPr>
        <p:txBody>
          <a:bodyPr/>
          <a:lstStyle/>
          <a:p>
            <a:endParaRPr lang="en-US"/>
          </a:p>
        </p:txBody>
      </p:sp>
      <p:sp>
        <p:nvSpPr>
          <p:cNvPr id="5" name="Shape 3">
            <a:extLst>
              <a:ext uri="{FF2B5EF4-FFF2-40B4-BE49-F238E27FC236}">
                <a16:creationId xmlns:a16="http://schemas.microsoft.com/office/drawing/2014/main" id="{C85D5DBE-23C1-1987-3760-EB32F824A8B9}"/>
              </a:ext>
            </a:extLst>
          </p:cNvPr>
          <p:cNvSpPr/>
          <p:nvPr/>
        </p:nvSpPr>
        <p:spPr>
          <a:xfrm>
            <a:off x="6594532" y="1234439"/>
            <a:ext cx="4835467" cy="5184407"/>
          </a:xfrm>
          <a:prstGeom prst="roundRect">
            <a:avLst>
              <a:gd name="adj" fmla="val 1333"/>
            </a:avLst>
          </a:prstGeom>
          <a:solidFill>
            <a:srgbClr val="130E14"/>
          </a:solidFill>
          <a:ln w="12700">
            <a:solidFill>
              <a:srgbClr val="2B2B2B"/>
            </a:solidFill>
            <a:prstDash val="solid"/>
          </a:ln>
        </p:spPr>
        <p:txBody>
          <a:bodyPr/>
          <a:lstStyle/>
          <a:p>
            <a:endParaRPr lang="en-US" dirty="0"/>
          </a:p>
        </p:txBody>
      </p:sp>
      <p:sp>
        <p:nvSpPr>
          <p:cNvPr id="6" name="Text 4">
            <a:extLst>
              <a:ext uri="{FF2B5EF4-FFF2-40B4-BE49-F238E27FC236}">
                <a16:creationId xmlns:a16="http://schemas.microsoft.com/office/drawing/2014/main" id="{8948AA17-B0B9-51A9-146A-738D0502F3EF}"/>
              </a:ext>
            </a:extLst>
          </p:cNvPr>
          <p:cNvSpPr/>
          <p:nvPr/>
        </p:nvSpPr>
        <p:spPr>
          <a:xfrm>
            <a:off x="782077" y="4790494"/>
            <a:ext cx="2042962" cy="164592"/>
          </a:xfrm>
          <a:prstGeom prst="rect">
            <a:avLst/>
          </a:prstGeom>
          <a:noFill/>
          <a:ln/>
        </p:spPr>
        <p:txBody>
          <a:bodyPr wrap="square" lIns="0" tIns="0" rIns="0" bIns="0" rtlCol="0" anchor="ctr"/>
          <a:lstStyle/>
          <a:p>
            <a:pPr marL="0" indent="0">
              <a:buNone/>
            </a:pPr>
            <a:r>
              <a:rPr lang="en-US" sz="900" b="1" dirty="0">
                <a:solidFill>
                  <a:srgbClr val="FFFFFF"/>
                </a:solidFill>
                <a:hlinkClick r:id="rId3"/>
              </a:rPr>
              <a:t>Don’t believe me, believe Anthropic… </a:t>
            </a:r>
            <a:endParaRPr lang="en-US" sz="900" dirty="0"/>
          </a:p>
        </p:txBody>
      </p:sp>
      <p:sp>
        <p:nvSpPr>
          <p:cNvPr id="7" name="Text 5">
            <a:extLst>
              <a:ext uri="{FF2B5EF4-FFF2-40B4-BE49-F238E27FC236}">
                <a16:creationId xmlns:a16="http://schemas.microsoft.com/office/drawing/2014/main" id="{B6DAE3A0-746E-B142-EFC8-90F52A5A459E}"/>
              </a:ext>
            </a:extLst>
          </p:cNvPr>
          <p:cNvSpPr/>
          <p:nvPr/>
        </p:nvSpPr>
        <p:spPr>
          <a:xfrm>
            <a:off x="6675119" y="1249119"/>
            <a:ext cx="2276376" cy="164592"/>
          </a:xfrm>
          <a:prstGeom prst="rect">
            <a:avLst/>
          </a:prstGeom>
          <a:noFill/>
          <a:ln/>
        </p:spPr>
        <p:txBody>
          <a:bodyPr wrap="square" lIns="0" tIns="0" rIns="0" bIns="0" rtlCol="0" anchor="ctr"/>
          <a:lstStyle/>
          <a:p>
            <a:pPr marL="0" indent="0">
              <a:buNone/>
            </a:pPr>
            <a:r>
              <a:rPr lang="en-US" sz="900" b="1" dirty="0">
                <a:solidFill>
                  <a:srgbClr val="FFFFFF"/>
                </a:solidFill>
              </a:rPr>
              <a:t>Here’s where you differentiate outcomes</a:t>
            </a:r>
            <a:endParaRPr lang="en-US" sz="900" dirty="0"/>
          </a:p>
        </p:txBody>
      </p:sp>
      <p:pic>
        <p:nvPicPr>
          <p:cNvPr id="11" name="Picture 10">
            <a:extLst>
              <a:ext uri="{FF2B5EF4-FFF2-40B4-BE49-F238E27FC236}">
                <a16:creationId xmlns:a16="http://schemas.microsoft.com/office/drawing/2014/main" id="{D5010E27-A16F-244F-1226-E0A154D30EA4}"/>
              </a:ext>
            </a:extLst>
          </p:cNvPr>
          <p:cNvPicPr>
            <a:picLocks noChangeAspect="1"/>
          </p:cNvPicPr>
          <p:nvPr/>
        </p:nvPicPr>
        <p:blipFill>
          <a:blip r:embed="rId4"/>
          <a:stretch>
            <a:fillRect/>
          </a:stretch>
        </p:blipFill>
        <p:spPr>
          <a:xfrm>
            <a:off x="782077" y="1663781"/>
            <a:ext cx="5412983" cy="3076662"/>
          </a:xfrm>
          <a:prstGeom prst="rect">
            <a:avLst/>
          </a:prstGeom>
        </p:spPr>
      </p:pic>
      <p:pic>
        <p:nvPicPr>
          <p:cNvPr id="13" name="Picture 12">
            <a:extLst>
              <a:ext uri="{FF2B5EF4-FFF2-40B4-BE49-F238E27FC236}">
                <a16:creationId xmlns:a16="http://schemas.microsoft.com/office/drawing/2014/main" id="{61C6AB94-ADA5-8D23-CF60-8A9E3D1AA4C2}"/>
              </a:ext>
            </a:extLst>
          </p:cNvPr>
          <p:cNvPicPr>
            <a:picLocks noChangeAspect="1"/>
          </p:cNvPicPr>
          <p:nvPr/>
        </p:nvPicPr>
        <p:blipFill>
          <a:blip r:embed="rId5"/>
          <a:stretch>
            <a:fillRect/>
          </a:stretch>
        </p:blipFill>
        <p:spPr>
          <a:xfrm>
            <a:off x="6906946" y="1527048"/>
            <a:ext cx="4210638" cy="4734586"/>
          </a:xfrm>
          <a:prstGeom prst="rect">
            <a:avLst/>
          </a:prstGeom>
        </p:spPr>
      </p:pic>
    </p:spTree>
    <p:extLst>
      <p:ext uri="{BB962C8B-B14F-4D97-AF65-F5344CB8AC3E}">
        <p14:creationId xmlns:p14="http://schemas.microsoft.com/office/powerpoint/2010/main" val="54674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EB5AF2-A6B7-2A6C-752A-F3BF167EE634}"/>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678797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Deep dive: evaluators + human-in-the-loop</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The highest leverage pattern is not “more agents.” It is “better checks.”</a:t>
            </a:r>
            <a:endParaRPr lang="en-US" sz="750" dirty="0"/>
          </a:p>
        </p:txBody>
      </p:sp>
      <p:sp>
        <p:nvSpPr>
          <p:cNvPr id="4" name="Shape 2"/>
          <p:cNvSpPr/>
          <p:nvPr/>
        </p:nvSpPr>
        <p:spPr>
          <a:xfrm>
            <a:off x="502920" y="1325880"/>
            <a:ext cx="4069080" cy="3749040"/>
          </a:xfrm>
          <a:prstGeom prst="roundRect">
            <a:avLst>
              <a:gd name="adj" fmla="val 1463"/>
            </a:avLst>
          </a:prstGeom>
          <a:solidFill>
            <a:srgbClr val="091827"/>
          </a:solidFill>
          <a:ln w="12700">
            <a:solidFill>
              <a:srgbClr val="2B2B2B"/>
            </a:solidFill>
            <a:prstDash val="solid"/>
          </a:ln>
        </p:spPr>
        <p:txBody>
          <a:bodyPr/>
          <a:lstStyle/>
          <a:p>
            <a:endParaRPr lang="en-US"/>
          </a:p>
        </p:txBody>
      </p:sp>
      <p:sp>
        <p:nvSpPr>
          <p:cNvPr id="5" name="Shape 3"/>
          <p:cNvSpPr/>
          <p:nvPr/>
        </p:nvSpPr>
        <p:spPr>
          <a:xfrm>
            <a:off x="4800600" y="1325880"/>
            <a:ext cx="6812280" cy="3749040"/>
          </a:xfrm>
          <a:prstGeom prst="roundRect">
            <a:avLst>
              <a:gd name="adj" fmla="val 1463"/>
            </a:avLst>
          </a:prstGeom>
          <a:solidFill>
            <a:srgbClr val="0A1017"/>
          </a:solidFill>
          <a:ln w="12700">
            <a:solidFill>
              <a:srgbClr val="2B2B2B"/>
            </a:solidFill>
            <a:prstDash val="solid"/>
          </a:ln>
        </p:spPr>
        <p:txBody>
          <a:bodyPr/>
          <a:lstStyle/>
          <a:p>
            <a:endParaRPr lang="en-US"/>
          </a:p>
        </p:txBody>
      </p:sp>
      <p:sp>
        <p:nvSpPr>
          <p:cNvPr id="6" name="Text 4"/>
          <p:cNvSpPr/>
          <p:nvPr/>
        </p:nvSpPr>
        <p:spPr>
          <a:xfrm>
            <a:off x="777240" y="1572768"/>
            <a:ext cx="1828800" cy="182880"/>
          </a:xfrm>
          <a:prstGeom prst="rect">
            <a:avLst/>
          </a:prstGeom>
          <a:noFill/>
          <a:ln/>
        </p:spPr>
        <p:txBody>
          <a:bodyPr wrap="square" lIns="0" tIns="0" rIns="0" bIns="0" rtlCol="0" anchor="ctr"/>
          <a:lstStyle/>
          <a:p>
            <a:pPr marL="0" indent="0">
              <a:buNone/>
            </a:pPr>
            <a:r>
              <a:rPr lang="en-US" sz="1200" b="1" dirty="0">
                <a:solidFill>
                  <a:srgbClr val="FFFFFF"/>
                </a:solidFill>
              </a:rPr>
              <a:t>Evaluator stack</a:t>
            </a:r>
            <a:endParaRPr lang="en-US" sz="1200" dirty="0"/>
          </a:p>
        </p:txBody>
      </p:sp>
      <p:sp>
        <p:nvSpPr>
          <p:cNvPr id="7" name="Shape 5"/>
          <p:cNvSpPr/>
          <p:nvPr/>
        </p:nvSpPr>
        <p:spPr>
          <a:xfrm>
            <a:off x="777240" y="1874520"/>
            <a:ext cx="3200400" cy="384048"/>
          </a:xfrm>
          <a:prstGeom prst="roundRect">
            <a:avLst>
              <a:gd name="adj" fmla="val 14286"/>
            </a:avLst>
          </a:prstGeom>
          <a:solidFill>
            <a:srgbClr val="102437"/>
          </a:solidFill>
          <a:ln w="12700">
            <a:solidFill>
              <a:srgbClr val="244A66"/>
            </a:solidFill>
            <a:prstDash val="solid"/>
          </a:ln>
        </p:spPr>
        <p:txBody>
          <a:bodyPr/>
          <a:lstStyle/>
          <a:p>
            <a:endParaRPr lang="en-US"/>
          </a:p>
        </p:txBody>
      </p:sp>
      <p:sp>
        <p:nvSpPr>
          <p:cNvPr id="8" name="Text 6"/>
          <p:cNvSpPr/>
          <p:nvPr/>
        </p:nvSpPr>
        <p:spPr>
          <a:xfrm>
            <a:off x="914400" y="1984248"/>
            <a:ext cx="2560320" cy="100584"/>
          </a:xfrm>
          <a:prstGeom prst="rect">
            <a:avLst/>
          </a:prstGeom>
          <a:noFill/>
          <a:ln/>
        </p:spPr>
        <p:txBody>
          <a:bodyPr wrap="square" lIns="0" tIns="0" rIns="0" bIns="0" rtlCol="0" anchor="ctr"/>
          <a:lstStyle/>
          <a:p>
            <a:pPr marL="0" indent="0">
              <a:buNone/>
            </a:pPr>
            <a:r>
              <a:rPr lang="en-US" sz="950" dirty="0">
                <a:solidFill>
                  <a:srgbClr val="FFFFFF"/>
                </a:solidFill>
              </a:rPr>
              <a:t>Unit tests / schemas</a:t>
            </a:r>
            <a:endParaRPr lang="en-US" sz="950" dirty="0"/>
          </a:p>
        </p:txBody>
      </p:sp>
      <p:sp>
        <p:nvSpPr>
          <p:cNvPr id="9" name="Shape 7"/>
          <p:cNvSpPr/>
          <p:nvPr/>
        </p:nvSpPr>
        <p:spPr>
          <a:xfrm>
            <a:off x="777240" y="2487168"/>
            <a:ext cx="3200400" cy="384048"/>
          </a:xfrm>
          <a:prstGeom prst="roundRect">
            <a:avLst>
              <a:gd name="adj" fmla="val 14286"/>
            </a:avLst>
          </a:prstGeom>
          <a:solidFill>
            <a:srgbClr val="102437"/>
          </a:solidFill>
          <a:ln w="12700">
            <a:solidFill>
              <a:srgbClr val="244A66"/>
            </a:solidFill>
            <a:prstDash val="solid"/>
          </a:ln>
        </p:spPr>
        <p:txBody>
          <a:bodyPr/>
          <a:lstStyle/>
          <a:p>
            <a:endParaRPr lang="en-US"/>
          </a:p>
        </p:txBody>
      </p:sp>
      <p:sp>
        <p:nvSpPr>
          <p:cNvPr id="10" name="Text 8"/>
          <p:cNvSpPr/>
          <p:nvPr/>
        </p:nvSpPr>
        <p:spPr>
          <a:xfrm>
            <a:off x="914400" y="2596896"/>
            <a:ext cx="2560320" cy="100584"/>
          </a:xfrm>
          <a:prstGeom prst="rect">
            <a:avLst/>
          </a:prstGeom>
          <a:noFill/>
          <a:ln/>
        </p:spPr>
        <p:txBody>
          <a:bodyPr wrap="square" lIns="0" tIns="0" rIns="0" bIns="0" rtlCol="0" anchor="ctr"/>
          <a:lstStyle/>
          <a:p>
            <a:pPr marL="0" indent="0">
              <a:buNone/>
            </a:pPr>
            <a:r>
              <a:rPr lang="en-US" sz="950" dirty="0">
                <a:solidFill>
                  <a:srgbClr val="FFFFFF"/>
                </a:solidFill>
              </a:rPr>
              <a:t>Policy filters</a:t>
            </a:r>
            <a:endParaRPr lang="en-US" sz="950" dirty="0"/>
          </a:p>
        </p:txBody>
      </p:sp>
      <p:sp>
        <p:nvSpPr>
          <p:cNvPr id="11" name="Shape 9"/>
          <p:cNvSpPr/>
          <p:nvPr/>
        </p:nvSpPr>
        <p:spPr>
          <a:xfrm>
            <a:off x="777240" y="3099816"/>
            <a:ext cx="3200400" cy="384048"/>
          </a:xfrm>
          <a:prstGeom prst="roundRect">
            <a:avLst>
              <a:gd name="adj" fmla="val 14286"/>
            </a:avLst>
          </a:prstGeom>
          <a:solidFill>
            <a:srgbClr val="102437"/>
          </a:solidFill>
          <a:ln w="12700">
            <a:solidFill>
              <a:srgbClr val="244A66"/>
            </a:solidFill>
            <a:prstDash val="solid"/>
          </a:ln>
        </p:spPr>
        <p:txBody>
          <a:bodyPr/>
          <a:lstStyle/>
          <a:p>
            <a:endParaRPr lang="en-US"/>
          </a:p>
        </p:txBody>
      </p:sp>
      <p:sp>
        <p:nvSpPr>
          <p:cNvPr id="12" name="Text 10"/>
          <p:cNvSpPr/>
          <p:nvPr/>
        </p:nvSpPr>
        <p:spPr>
          <a:xfrm>
            <a:off x="914400" y="3209544"/>
            <a:ext cx="2560320" cy="100584"/>
          </a:xfrm>
          <a:prstGeom prst="rect">
            <a:avLst/>
          </a:prstGeom>
          <a:noFill/>
          <a:ln/>
        </p:spPr>
        <p:txBody>
          <a:bodyPr wrap="square" lIns="0" tIns="0" rIns="0" bIns="0" rtlCol="0" anchor="ctr"/>
          <a:lstStyle/>
          <a:p>
            <a:pPr marL="0" indent="0">
              <a:buNone/>
            </a:pPr>
            <a:r>
              <a:rPr lang="en-US" sz="950" dirty="0">
                <a:solidFill>
                  <a:srgbClr val="FFFFFF"/>
                </a:solidFill>
              </a:rPr>
              <a:t>LLM judge / rubric</a:t>
            </a:r>
            <a:endParaRPr lang="en-US" sz="950" dirty="0"/>
          </a:p>
        </p:txBody>
      </p:sp>
      <p:sp>
        <p:nvSpPr>
          <p:cNvPr id="13" name="Shape 11"/>
          <p:cNvSpPr/>
          <p:nvPr/>
        </p:nvSpPr>
        <p:spPr>
          <a:xfrm>
            <a:off x="777240" y="3712464"/>
            <a:ext cx="3200400" cy="384048"/>
          </a:xfrm>
          <a:prstGeom prst="roundRect">
            <a:avLst>
              <a:gd name="adj" fmla="val 14286"/>
            </a:avLst>
          </a:prstGeom>
          <a:solidFill>
            <a:srgbClr val="1D1520"/>
          </a:solidFill>
          <a:ln w="12700">
            <a:solidFill>
              <a:srgbClr val="5A3142"/>
            </a:solidFill>
            <a:prstDash val="solid"/>
          </a:ln>
        </p:spPr>
        <p:txBody>
          <a:bodyPr/>
          <a:lstStyle/>
          <a:p>
            <a:endParaRPr lang="en-US"/>
          </a:p>
        </p:txBody>
      </p:sp>
      <p:sp>
        <p:nvSpPr>
          <p:cNvPr id="14" name="Text 12"/>
          <p:cNvSpPr/>
          <p:nvPr/>
        </p:nvSpPr>
        <p:spPr>
          <a:xfrm>
            <a:off x="914400" y="3822192"/>
            <a:ext cx="2560320" cy="100584"/>
          </a:xfrm>
          <a:prstGeom prst="rect">
            <a:avLst/>
          </a:prstGeom>
          <a:noFill/>
          <a:ln/>
        </p:spPr>
        <p:txBody>
          <a:bodyPr wrap="square" lIns="0" tIns="0" rIns="0" bIns="0" rtlCol="0" anchor="ctr"/>
          <a:lstStyle/>
          <a:p>
            <a:pPr marL="0" indent="0">
              <a:buNone/>
            </a:pPr>
            <a:r>
              <a:rPr lang="en-US" sz="950" dirty="0">
                <a:solidFill>
                  <a:srgbClr val="FFFFFF"/>
                </a:solidFill>
              </a:rPr>
              <a:t>Human spot check</a:t>
            </a:r>
            <a:endParaRPr lang="en-US" sz="950" dirty="0"/>
          </a:p>
        </p:txBody>
      </p:sp>
      <p:sp>
        <p:nvSpPr>
          <p:cNvPr id="15" name="Shape 13"/>
          <p:cNvSpPr/>
          <p:nvPr/>
        </p:nvSpPr>
        <p:spPr>
          <a:xfrm>
            <a:off x="777240" y="4325112"/>
            <a:ext cx="3200400" cy="384048"/>
          </a:xfrm>
          <a:prstGeom prst="roundRect">
            <a:avLst>
              <a:gd name="adj" fmla="val 14286"/>
            </a:avLst>
          </a:prstGeom>
          <a:solidFill>
            <a:srgbClr val="102437"/>
          </a:solidFill>
          <a:ln w="12700">
            <a:solidFill>
              <a:srgbClr val="244A66"/>
            </a:solidFill>
            <a:prstDash val="solid"/>
          </a:ln>
        </p:spPr>
        <p:txBody>
          <a:bodyPr/>
          <a:lstStyle/>
          <a:p>
            <a:endParaRPr lang="en-US"/>
          </a:p>
        </p:txBody>
      </p:sp>
      <p:sp>
        <p:nvSpPr>
          <p:cNvPr id="16" name="Text 14"/>
          <p:cNvSpPr/>
          <p:nvPr/>
        </p:nvSpPr>
        <p:spPr>
          <a:xfrm>
            <a:off x="914400" y="4434840"/>
            <a:ext cx="2560320" cy="100584"/>
          </a:xfrm>
          <a:prstGeom prst="rect">
            <a:avLst/>
          </a:prstGeom>
          <a:noFill/>
          <a:ln/>
        </p:spPr>
        <p:txBody>
          <a:bodyPr wrap="square" lIns="0" tIns="0" rIns="0" bIns="0" rtlCol="0" anchor="ctr"/>
          <a:lstStyle/>
          <a:p>
            <a:pPr marL="0" indent="0">
              <a:buNone/>
            </a:pPr>
            <a:r>
              <a:rPr lang="en-US" sz="950" dirty="0">
                <a:solidFill>
                  <a:srgbClr val="FFFFFF"/>
                </a:solidFill>
              </a:rPr>
              <a:t>Automatic rollback</a:t>
            </a:r>
            <a:endParaRPr lang="en-US" sz="950" dirty="0"/>
          </a:p>
        </p:txBody>
      </p:sp>
      <p:sp>
        <p:nvSpPr>
          <p:cNvPr id="17" name="Text 15"/>
          <p:cNvSpPr/>
          <p:nvPr/>
        </p:nvSpPr>
        <p:spPr>
          <a:xfrm>
            <a:off x="5074920" y="1572768"/>
            <a:ext cx="2286000" cy="182880"/>
          </a:xfrm>
          <a:prstGeom prst="rect">
            <a:avLst/>
          </a:prstGeom>
          <a:noFill/>
          <a:ln/>
        </p:spPr>
        <p:txBody>
          <a:bodyPr wrap="square" lIns="0" tIns="0" rIns="0" bIns="0" rtlCol="0" anchor="ctr"/>
          <a:lstStyle/>
          <a:p>
            <a:pPr marL="0" indent="0">
              <a:buNone/>
            </a:pPr>
            <a:r>
              <a:rPr lang="en-US" sz="1200" b="1" dirty="0">
                <a:solidFill>
                  <a:srgbClr val="FFFFFF"/>
                </a:solidFill>
              </a:rPr>
              <a:t>Where humans belong</a:t>
            </a:r>
            <a:endParaRPr lang="en-US" sz="1200" dirty="0"/>
          </a:p>
        </p:txBody>
      </p:sp>
      <p:sp>
        <p:nvSpPr>
          <p:cNvPr id="18" name="Text 16"/>
          <p:cNvSpPr/>
          <p:nvPr/>
        </p:nvSpPr>
        <p:spPr>
          <a:xfrm>
            <a:off x="5074920" y="1874520"/>
            <a:ext cx="5394960" cy="2331720"/>
          </a:xfrm>
          <a:prstGeom prst="rect">
            <a:avLst/>
          </a:prstGeom>
          <a:noFill/>
          <a:ln/>
        </p:spPr>
        <p:txBody>
          <a:bodyPr wrap="square" lIns="381" tIns="381" rIns="381" bIns="381" rtlCol="0" anchor="t"/>
          <a:lstStyle/>
          <a:p>
            <a:pPr marL="152400" indent="-152400">
              <a:buSzPct val="100000"/>
              <a:buChar char="•"/>
            </a:pPr>
            <a:r>
              <a:rPr lang="en-US" sz="1300" dirty="0">
                <a:solidFill>
                  <a:srgbClr val="FFFFFF"/>
                </a:solidFill>
                <a:latin typeface="Aptos" pitchFamily="34" charset="0"/>
                <a:ea typeface="Aptos" pitchFamily="34" charset="-122"/>
                <a:cs typeface="Aptos" pitchFamily="34" charset="-120"/>
              </a:rPr>
              <a:t>Before launch: define acceptance tests and escalation rules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During run: approve side effects like sends, writes, purchases, deletes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After run: review drift, edge cases, and outliers</a:t>
            </a:r>
            <a:endParaRPr lang="en-US" sz="1300" dirty="0"/>
          </a:p>
          <a:p>
            <a:pPr marL="152400" indent="-152400">
              <a:buSzPct val="100000"/>
              <a:buChar char="•"/>
            </a:pPr>
            <a:r>
              <a:rPr lang="en-US" sz="1300" dirty="0">
                <a:solidFill>
                  <a:srgbClr val="FFFFFF"/>
                </a:solidFill>
                <a:latin typeface="Aptos" pitchFamily="34" charset="0"/>
                <a:ea typeface="Aptos" pitchFamily="34" charset="-122"/>
                <a:cs typeface="Aptos" pitchFamily="34" charset="-120"/>
              </a:rPr>
              <a:t>After incident: tune policy, memory, and permissions</a:t>
            </a:r>
            <a:endParaRPr lang="en-US" sz="1300" dirty="0"/>
          </a:p>
        </p:txBody>
      </p:sp>
      <p:sp>
        <p:nvSpPr>
          <p:cNvPr id="19" name="Text 17"/>
          <p:cNvSpPr/>
          <p:nvPr/>
        </p:nvSpPr>
        <p:spPr>
          <a:xfrm>
            <a:off x="5074920" y="4434840"/>
            <a:ext cx="5120640" cy="256032"/>
          </a:xfrm>
          <a:prstGeom prst="rect">
            <a:avLst/>
          </a:prstGeom>
          <a:noFill/>
          <a:ln/>
        </p:spPr>
        <p:txBody>
          <a:bodyPr wrap="square" lIns="0" tIns="0" rIns="0" bIns="0" rtlCol="0" anchor="ctr"/>
          <a:lstStyle/>
          <a:p>
            <a:pPr marL="0" indent="0">
              <a:buNone/>
            </a:pPr>
            <a:r>
              <a:rPr lang="en-US" sz="1100" b="1" i="1" dirty="0">
                <a:solidFill>
                  <a:srgbClr val="36A3FF"/>
                </a:solidFill>
              </a:rPr>
              <a:t>If you cannot explain the stop conditions, you do not have orchestration yet.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News: the orchestration layer is standardizing</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Three shifts changed the conversation from “cool demo” to “ecosystem.”</a:t>
            </a:r>
            <a:endParaRPr lang="en-US" sz="750" dirty="0"/>
          </a:p>
        </p:txBody>
      </p:sp>
      <p:sp>
        <p:nvSpPr>
          <p:cNvPr id="4" name="Shape 2"/>
          <p:cNvSpPr/>
          <p:nvPr/>
        </p:nvSpPr>
        <p:spPr>
          <a:xfrm>
            <a:off x="411480" y="1325880"/>
            <a:ext cx="3566160" cy="4023360"/>
          </a:xfrm>
          <a:prstGeom prst="roundRect">
            <a:avLst>
              <a:gd name="adj" fmla="val 1538"/>
            </a:avLst>
          </a:prstGeom>
          <a:solidFill>
            <a:srgbClr val="101010"/>
          </a:solidFill>
          <a:ln w="12700">
            <a:solidFill>
              <a:srgbClr val="2B2B2B"/>
            </a:solidFill>
            <a:prstDash val="solid"/>
          </a:ln>
        </p:spPr>
        <p:txBody>
          <a:bodyPr/>
          <a:lstStyle/>
          <a:p>
            <a:endParaRPr lang="en-US"/>
          </a:p>
        </p:txBody>
      </p:sp>
      <p:sp>
        <p:nvSpPr>
          <p:cNvPr id="5" name="Shape 3"/>
          <p:cNvSpPr/>
          <p:nvPr/>
        </p:nvSpPr>
        <p:spPr>
          <a:xfrm>
            <a:off x="539496" y="1463040"/>
            <a:ext cx="658368" cy="182880"/>
          </a:xfrm>
          <a:prstGeom prst="roundRect">
            <a:avLst>
              <a:gd name="adj" fmla="val 15000"/>
            </a:avLst>
          </a:prstGeom>
          <a:solidFill>
            <a:srgbClr val="36A3FF"/>
          </a:solidFill>
          <a:ln w="12700">
            <a:solidFill>
              <a:srgbClr val="36A3FF"/>
            </a:solidFill>
            <a:prstDash val="solid"/>
          </a:ln>
        </p:spPr>
        <p:txBody>
          <a:bodyPr/>
          <a:lstStyle/>
          <a:p>
            <a:endParaRPr lang="en-US"/>
          </a:p>
        </p:txBody>
      </p:sp>
      <p:sp>
        <p:nvSpPr>
          <p:cNvPr id="6" name="Text 4"/>
          <p:cNvSpPr/>
          <p:nvPr/>
        </p:nvSpPr>
        <p:spPr>
          <a:xfrm>
            <a:off x="1280160" y="1481328"/>
            <a:ext cx="2560320" cy="146304"/>
          </a:xfrm>
          <a:prstGeom prst="rect">
            <a:avLst/>
          </a:prstGeom>
          <a:noFill/>
          <a:ln/>
        </p:spPr>
        <p:txBody>
          <a:bodyPr wrap="square" lIns="0" tIns="0" rIns="0" bIns="0" rtlCol="0" anchor="ctr"/>
          <a:lstStyle/>
          <a:p>
            <a:pPr marL="0" indent="0">
              <a:buNone/>
            </a:pPr>
            <a:r>
              <a:rPr lang="en-US" sz="800" b="1" dirty="0">
                <a:solidFill>
                  <a:srgbClr val="FFFFFF"/>
                </a:solidFill>
              </a:rPr>
              <a:t>March 2025</a:t>
            </a:r>
            <a:endParaRPr lang="en-US" sz="800" dirty="0"/>
          </a:p>
        </p:txBody>
      </p:sp>
      <p:sp>
        <p:nvSpPr>
          <p:cNvPr id="7" name="Text 5"/>
          <p:cNvSpPr/>
          <p:nvPr/>
        </p:nvSpPr>
        <p:spPr>
          <a:xfrm>
            <a:off x="557784" y="1828800"/>
            <a:ext cx="3273552" cy="3108960"/>
          </a:xfrm>
          <a:prstGeom prst="rect">
            <a:avLst/>
          </a:prstGeom>
          <a:noFill/>
          <a:ln/>
        </p:spPr>
        <p:txBody>
          <a:bodyPr wrap="square" lIns="254" tIns="254" rIns="254" bIns="254" rtlCol="0" anchor="t"/>
          <a:lstStyle/>
          <a:p>
            <a:pPr marL="0" indent="0">
              <a:buNone/>
            </a:pPr>
            <a:r>
              <a:rPr lang="en-US" sz="1100" dirty="0">
                <a:solidFill>
                  <a:srgbClr val="CFCFCF"/>
                </a:solidFill>
              </a:rPr>
              <a:t>OpenAI: Responses API</a:t>
            </a:r>
            <a:endParaRPr lang="en-US" sz="1100" dirty="0"/>
          </a:p>
          <a:p>
            <a:pPr marL="0" indent="0">
              <a:buNone/>
            </a:pPr>
            <a:endParaRPr lang="en-US" sz="1100" dirty="0"/>
          </a:p>
          <a:p>
            <a:pPr marL="0" indent="0">
              <a:buNone/>
            </a:pPr>
            <a:r>
              <a:rPr lang="en-US" sz="1100" dirty="0">
                <a:solidFill>
                  <a:srgbClr val="CFCFCF"/>
                </a:solidFill>
              </a:rPr>
              <a:t>OpenAI positioned Responses as the direction for building agents, with web search, file search, and computer use built in.</a:t>
            </a:r>
            <a:endParaRPr lang="en-US" sz="1100" dirty="0"/>
          </a:p>
        </p:txBody>
      </p:sp>
      <p:sp>
        <p:nvSpPr>
          <p:cNvPr id="8" name="Text 6"/>
          <p:cNvSpPr/>
          <p:nvPr/>
        </p:nvSpPr>
        <p:spPr>
          <a:xfrm>
            <a:off x="557784" y="5001768"/>
            <a:ext cx="3273552" cy="164592"/>
          </a:xfrm>
          <a:prstGeom prst="rect">
            <a:avLst/>
          </a:prstGeom>
          <a:noFill/>
          <a:ln/>
        </p:spPr>
        <p:txBody>
          <a:bodyPr wrap="square" lIns="0" tIns="0" rIns="0" bIns="0" rtlCol="0" anchor="ctr"/>
          <a:lstStyle/>
          <a:p>
            <a:pPr marL="0" indent="0">
              <a:buNone/>
            </a:pPr>
            <a:r>
              <a:rPr lang="en-US" sz="800" i="1" dirty="0">
                <a:solidFill>
                  <a:srgbClr val="36A3FF"/>
                </a:solidFill>
              </a:rPr>
              <a:t>OpenAI made tool orchestration a first-class API surface.</a:t>
            </a:r>
            <a:endParaRPr lang="en-US" sz="800" dirty="0"/>
          </a:p>
        </p:txBody>
      </p:sp>
      <p:sp>
        <p:nvSpPr>
          <p:cNvPr id="9" name="Shape 7"/>
          <p:cNvSpPr/>
          <p:nvPr/>
        </p:nvSpPr>
        <p:spPr>
          <a:xfrm>
            <a:off x="4315968" y="1325880"/>
            <a:ext cx="3566160" cy="4023360"/>
          </a:xfrm>
          <a:prstGeom prst="roundRect">
            <a:avLst>
              <a:gd name="adj" fmla="val 1538"/>
            </a:avLst>
          </a:prstGeom>
          <a:solidFill>
            <a:srgbClr val="101010"/>
          </a:solidFill>
          <a:ln w="12700">
            <a:solidFill>
              <a:srgbClr val="2B2B2B"/>
            </a:solidFill>
            <a:prstDash val="solid"/>
          </a:ln>
        </p:spPr>
        <p:txBody>
          <a:bodyPr/>
          <a:lstStyle/>
          <a:p>
            <a:endParaRPr lang="en-US"/>
          </a:p>
        </p:txBody>
      </p:sp>
      <p:sp>
        <p:nvSpPr>
          <p:cNvPr id="10" name="Shape 8"/>
          <p:cNvSpPr/>
          <p:nvPr/>
        </p:nvSpPr>
        <p:spPr>
          <a:xfrm>
            <a:off x="4443984" y="1463040"/>
            <a:ext cx="658368" cy="182880"/>
          </a:xfrm>
          <a:prstGeom prst="roundRect">
            <a:avLst>
              <a:gd name="adj" fmla="val 15000"/>
            </a:avLst>
          </a:prstGeom>
          <a:solidFill>
            <a:srgbClr val="F31212"/>
          </a:solidFill>
          <a:ln w="12700">
            <a:solidFill>
              <a:srgbClr val="F31212"/>
            </a:solidFill>
            <a:prstDash val="solid"/>
          </a:ln>
        </p:spPr>
        <p:txBody>
          <a:bodyPr/>
          <a:lstStyle/>
          <a:p>
            <a:endParaRPr lang="en-US"/>
          </a:p>
        </p:txBody>
      </p:sp>
      <p:sp>
        <p:nvSpPr>
          <p:cNvPr id="11" name="Text 9"/>
          <p:cNvSpPr/>
          <p:nvPr/>
        </p:nvSpPr>
        <p:spPr>
          <a:xfrm>
            <a:off x="5184648" y="1481328"/>
            <a:ext cx="2560320" cy="146304"/>
          </a:xfrm>
          <a:prstGeom prst="rect">
            <a:avLst/>
          </a:prstGeom>
          <a:noFill/>
          <a:ln/>
        </p:spPr>
        <p:txBody>
          <a:bodyPr wrap="square" lIns="0" tIns="0" rIns="0" bIns="0" rtlCol="0" anchor="ctr"/>
          <a:lstStyle/>
          <a:p>
            <a:pPr marL="0" indent="0">
              <a:buNone/>
            </a:pPr>
            <a:r>
              <a:rPr lang="en-US" sz="800" b="1" dirty="0">
                <a:solidFill>
                  <a:srgbClr val="FFFFFF"/>
                </a:solidFill>
              </a:rPr>
              <a:t>Nov 2024</a:t>
            </a:r>
            <a:endParaRPr lang="en-US" sz="800" dirty="0"/>
          </a:p>
        </p:txBody>
      </p:sp>
      <p:sp>
        <p:nvSpPr>
          <p:cNvPr id="12" name="Text 10"/>
          <p:cNvSpPr/>
          <p:nvPr/>
        </p:nvSpPr>
        <p:spPr>
          <a:xfrm>
            <a:off x="4462272" y="1828800"/>
            <a:ext cx="3273552" cy="3108960"/>
          </a:xfrm>
          <a:prstGeom prst="rect">
            <a:avLst/>
          </a:prstGeom>
          <a:noFill/>
          <a:ln/>
        </p:spPr>
        <p:txBody>
          <a:bodyPr wrap="square" lIns="254" tIns="254" rIns="254" bIns="254" rtlCol="0" anchor="t"/>
          <a:lstStyle/>
          <a:p>
            <a:pPr marL="0" indent="0">
              <a:buNone/>
            </a:pPr>
            <a:r>
              <a:rPr lang="en-US" sz="1100" dirty="0">
                <a:solidFill>
                  <a:srgbClr val="CFCFCF"/>
                </a:solidFill>
              </a:rPr>
              <a:t>MCP arrives</a:t>
            </a:r>
            <a:endParaRPr lang="en-US" sz="1100" dirty="0"/>
          </a:p>
          <a:p>
            <a:pPr marL="0" indent="0">
              <a:buNone/>
            </a:pPr>
            <a:endParaRPr lang="en-US" sz="1100" dirty="0"/>
          </a:p>
          <a:p>
            <a:pPr marL="0" indent="0">
              <a:buNone/>
            </a:pPr>
            <a:r>
              <a:rPr lang="en-US" sz="1100" dirty="0">
                <a:solidFill>
                  <a:srgbClr val="CFCFCF"/>
                </a:solidFill>
              </a:rPr>
              <a:t>Anthropic launched MCP as an open standard for connecting AI to tools and data. OpenAI later donated MCP to a Linux Foundation-hosted initiative with broad support.</a:t>
            </a:r>
            <a:endParaRPr lang="en-US" sz="1100" dirty="0"/>
          </a:p>
        </p:txBody>
      </p:sp>
      <p:sp>
        <p:nvSpPr>
          <p:cNvPr id="13" name="Text 11"/>
          <p:cNvSpPr/>
          <p:nvPr/>
        </p:nvSpPr>
        <p:spPr>
          <a:xfrm>
            <a:off x="4462272" y="5001768"/>
            <a:ext cx="3273552" cy="164592"/>
          </a:xfrm>
          <a:prstGeom prst="rect">
            <a:avLst/>
          </a:prstGeom>
          <a:noFill/>
          <a:ln/>
        </p:spPr>
        <p:txBody>
          <a:bodyPr wrap="square" lIns="0" tIns="0" rIns="0" bIns="0" rtlCol="0" anchor="ctr"/>
          <a:lstStyle/>
          <a:p>
            <a:pPr marL="0" indent="0">
              <a:buNone/>
            </a:pPr>
            <a:r>
              <a:rPr lang="en-US" sz="800" i="1" dirty="0">
                <a:solidFill>
                  <a:srgbClr val="F31212"/>
                </a:solidFill>
              </a:rPr>
              <a:t>Standards reduce bespoke connector work.</a:t>
            </a:r>
            <a:endParaRPr lang="en-US" sz="800" dirty="0"/>
          </a:p>
        </p:txBody>
      </p:sp>
      <p:sp>
        <p:nvSpPr>
          <p:cNvPr id="14" name="Shape 12"/>
          <p:cNvSpPr/>
          <p:nvPr/>
        </p:nvSpPr>
        <p:spPr>
          <a:xfrm>
            <a:off x="8220456" y="1325880"/>
            <a:ext cx="3566160" cy="4023360"/>
          </a:xfrm>
          <a:prstGeom prst="roundRect">
            <a:avLst>
              <a:gd name="adj" fmla="val 1538"/>
            </a:avLst>
          </a:prstGeom>
          <a:solidFill>
            <a:srgbClr val="101010"/>
          </a:solidFill>
          <a:ln w="12700">
            <a:solidFill>
              <a:srgbClr val="2B2B2B"/>
            </a:solidFill>
            <a:prstDash val="solid"/>
          </a:ln>
        </p:spPr>
        <p:txBody>
          <a:bodyPr/>
          <a:lstStyle/>
          <a:p>
            <a:endParaRPr lang="en-US"/>
          </a:p>
        </p:txBody>
      </p:sp>
      <p:sp>
        <p:nvSpPr>
          <p:cNvPr id="15" name="Shape 13"/>
          <p:cNvSpPr/>
          <p:nvPr/>
        </p:nvSpPr>
        <p:spPr>
          <a:xfrm>
            <a:off x="8348472" y="1463040"/>
            <a:ext cx="658368" cy="182880"/>
          </a:xfrm>
          <a:prstGeom prst="roundRect">
            <a:avLst>
              <a:gd name="adj" fmla="val 15000"/>
            </a:avLst>
          </a:prstGeom>
          <a:solidFill>
            <a:srgbClr val="F2A93B"/>
          </a:solidFill>
          <a:ln w="12700">
            <a:solidFill>
              <a:srgbClr val="F2A93B"/>
            </a:solidFill>
            <a:prstDash val="solid"/>
          </a:ln>
        </p:spPr>
        <p:txBody>
          <a:bodyPr/>
          <a:lstStyle/>
          <a:p>
            <a:endParaRPr lang="en-US"/>
          </a:p>
        </p:txBody>
      </p:sp>
      <p:sp>
        <p:nvSpPr>
          <p:cNvPr id="16" name="Text 14"/>
          <p:cNvSpPr/>
          <p:nvPr/>
        </p:nvSpPr>
        <p:spPr>
          <a:xfrm>
            <a:off x="9089136" y="1481328"/>
            <a:ext cx="2560320" cy="146304"/>
          </a:xfrm>
          <a:prstGeom prst="rect">
            <a:avLst/>
          </a:prstGeom>
          <a:noFill/>
          <a:ln/>
        </p:spPr>
        <p:txBody>
          <a:bodyPr wrap="square" lIns="0" tIns="0" rIns="0" bIns="0" rtlCol="0" anchor="ctr"/>
          <a:lstStyle/>
          <a:p>
            <a:pPr marL="0" indent="0">
              <a:buNone/>
            </a:pPr>
            <a:r>
              <a:rPr lang="en-US" sz="800" b="1" dirty="0">
                <a:solidFill>
                  <a:srgbClr val="FFFFFF"/>
                </a:solidFill>
              </a:rPr>
              <a:t>Apr 2026</a:t>
            </a:r>
            <a:endParaRPr lang="en-US" sz="800" dirty="0"/>
          </a:p>
        </p:txBody>
      </p:sp>
      <p:sp>
        <p:nvSpPr>
          <p:cNvPr id="17" name="Text 15"/>
          <p:cNvSpPr/>
          <p:nvPr/>
        </p:nvSpPr>
        <p:spPr>
          <a:xfrm>
            <a:off x="8366760" y="1828800"/>
            <a:ext cx="3273552" cy="3108960"/>
          </a:xfrm>
          <a:prstGeom prst="rect">
            <a:avLst/>
          </a:prstGeom>
          <a:noFill/>
          <a:ln/>
        </p:spPr>
        <p:txBody>
          <a:bodyPr wrap="square" lIns="254" tIns="254" rIns="254" bIns="254" rtlCol="0" anchor="t"/>
          <a:lstStyle/>
          <a:p>
            <a:pPr marL="0" indent="0">
              <a:buNone/>
            </a:pPr>
            <a:r>
              <a:rPr lang="en-US" sz="1100" dirty="0">
                <a:solidFill>
                  <a:srgbClr val="CFCFCF"/>
                </a:solidFill>
              </a:rPr>
              <a:t>Copilot Studio multi-agent GA</a:t>
            </a:r>
            <a:endParaRPr lang="en-US" sz="1100" dirty="0"/>
          </a:p>
          <a:p>
            <a:pPr marL="0" indent="0">
              <a:buNone/>
            </a:pPr>
            <a:endParaRPr lang="en-US" sz="1100" dirty="0"/>
          </a:p>
          <a:p>
            <a:pPr marL="0" indent="0">
              <a:buNone/>
            </a:pPr>
            <a:r>
              <a:rPr lang="en-US" sz="1100" dirty="0">
                <a:solidFill>
                  <a:srgbClr val="CFCFCF"/>
                </a:solidFill>
              </a:rPr>
              <a:t>Microsoft says multi-agent systems are now generally available, with coordination across Fabric, the Microsoft 365 Agents SDK, and A2A protocols.</a:t>
            </a:r>
            <a:endParaRPr lang="en-US" sz="1100" dirty="0"/>
          </a:p>
        </p:txBody>
      </p:sp>
      <p:sp>
        <p:nvSpPr>
          <p:cNvPr id="18" name="Text 16"/>
          <p:cNvSpPr/>
          <p:nvPr/>
        </p:nvSpPr>
        <p:spPr>
          <a:xfrm>
            <a:off x="8366760" y="5001768"/>
            <a:ext cx="3273552" cy="164592"/>
          </a:xfrm>
          <a:prstGeom prst="rect">
            <a:avLst/>
          </a:prstGeom>
          <a:noFill/>
          <a:ln/>
        </p:spPr>
        <p:txBody>
          <a:bodyPr wrap="square" lIns="0" tIns="0" rIns="0" bIns="0" rtlCol="0" anchor="ctr"/>
          <a:lstStyle/>
          <a:p>
            <a:pPr marL="0" indent="0">
              <a:buNone/>
            </a:pPr>
            <a:r>
              <a:rPr lang="en-US" sz="800" i="1" dirty="0">
                <a:solidFill>
                  <a:srgbClr val="F2A93B"/>
                </a:solidFill>
              </a:rPr>
              <a:t>Vendors are productizing orchestration, not just model access.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Security breaches and wake-up calls</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The orchestration story gets real fast when agents touch live data and tools.</a:t>
            </a:r>
            <a:endParaRPr lang="en-US" sz="750" dirty="0"/>
          </a:p>
        </p:txBody>
      </p:sp>
      <p:sp>
        <p:nvSpPr>
          <p:cNvPr id="4" name="Shape 2"/>
          <p:cNvSpPr/>
          <p:nvPr/>
        </p:nvSpPr>
        <p:spPr>
          <a:xfrm>
            <a:off x="411480" y="1298448"/>
            <a:ext cx="3703320" cy="4160520"/>
          </a:xfrm>
          <a:prstGeom prst="roundRect">
            <a:avLst>
              <a:gd name="adj" fmla="val 1481"/>
            </a:avLst>
          </a:prstGeom>
          <a:solidFill>
            <a:srgbClr val="101010"/>
          </a:solidFill>
          <a:ln w="12700">
            <a:solidFill>
              <a:srgbClr val="2B2B2B"/>
            </a:solidFill>
            <a:prstDash val="solid"/>
          </a:ln>
        </p:spPr>
        <p:txBody>
          <a:bodyPr/>
          <a:lstStyle/>
          <a:p>
            <a:endParaRPr lang="en-US"/>
          </a:p>
        </p:txBody>
      </p:sp>
      <p:sp>
        <p:nvSpPr>
          <p:cNvPr id="5" name="Shape 3"/>
          <p:cNvSpPr/>
          <p:nvPr/>
        </p:nvSpPr>
        <p:spPr>
          <a:xfrm>
            <a:off x="539496" y="1435608"/>
            <a:ext cx="658368" cy="182880"/>
          </a:xfrm>
          <a:prstGeom prst="roundRect">
            <a:avLst>
              <a:gd name="adj" fmla="val 15000"/>
            </a:avLst>
          </a:prstGeom>
          <a:solidFill>
            <a:srgbClr val="F31212"/>
          </a:solidFill>
          <a:ln w="12700">
            <a:solidFill>
              <a:srgbClr val="F31212"/>
            </a:solidFill>
            <a:prstDash val="solid"/>
          </a:ln>
        </p:spPr>
        <p:txBody>
          <a:bodyPr/>
          <a:lstStyle/>
          <a:p>
            <a:endParaRPr lang="en-US"/>
          </a:p>
        </p:txBody>
      </p:sp>
      <p:sp>
        <p:nvSpPr>
          <p:cNvPr id="6" name="Text 4"/>
          <p:cNvSpPr/>
          <p:nvPr/>
        </p:nvSpPr>
        <p:spPr>
          <a:xfrm>
            <a:off x="1280160" y="1453896"/>
            <a:ext cx="2697480" cy="146304"/>
          </a:xfrm>
          <a:prstGeom prst="rect">
            <a:avLst/>
          </a:prstGeom>
          <a:noFill/>
          <a:ln/>
        </p:spPr>
        <p:txBody>
          <a:bodyPr wrap="square" lIns="0" tIns="0" rIns="0" bIns="0" rtlCol="0" anchor="ctr"/>
          <a:lstStyle/>
          <a:p>
            <a:pPr marL="0" indent="0">
              <a:buNone/>
            </a:pPr>
            <a:r>
              <a:rPr lang="en-US" sz="800" b="1" dirty="0">
                <a:solidFill>
                  <a:srgbClr val="FFFFFF"/>
                </a:solidFill>
              </a:rPr>
              <a:t>Apr 2025</a:t>
            </a:r>
            <a:endParaRPr lang="en-US" sz="800" dirty="0"/>
          </a:p>
        </p:txBody>
      </p:sp>
      <p:sp>
        <p:nvSpPr>
          <p:cNvPr id="7" name="Text 5"/>
          <p:cNvSpPr/>
          <p:nvPr/>
        </p:nvSpPr>
        <p:spPr>
          <a:xfrm>
            <a:off x="557784" y="1801368"/>
            <a:ext cx="3410712" cy="3246120"/>
          </a:xfrm>
          <a:prstGeom prst="rect">
            <a:avLst/>
          </a:prstGeom>
          <a:noFill/>
          <a:ln/>
        </p:spPr>
        <p:txBody>
          <a:bodyPr wrap="square" lIns="254" tIns="254" rIns="254" bIns="254" rtlCol="0" anchor="t"/>
          <a:lstStyle/>
          <a:p>
            <a:pPr marL="0" indent="0">
              <a:buNone/>
            </a:pPr>
            <a:r>
              <a:rPr lang="en-US" sz="1100" dirty="0">
                <a:solidFill>
                  <a:srgbClr val="CFCFCF"/>
                </a:solidFill>
              </a:rPr>
              <a:t>Anthropic code leak</a:t>
            </a:r>
            <a:endParaRPr lang="en-US" sz="1100" dirty="0"/>
          </a:p>
          <a:p>
            <a:pPr marL="0" indent="0">
              <a:buNone/>
            </a:pPr>
            <a:endParaRPr lang="en-US" sz="1100" dirty="0"/>
          </a:p>
          <a:p>
            <a:pPr marL="0" indent="0">
              <a:buNone/>
            </a:pPr>
            <a:r>
              <a:rPr lang="en-US" sz="1100" dirty="0">
                <a:solidFill>
                  <a:srgbClr val="CFCFCF"/>
                </a:solidFill>
              </a:rPr>
              <a:t>A packaging error exposed nearly 2,000 internal files and about 500,000 lines of code on Docker Hub for several hours.</a:t>
            </a:r>
            <a:endParaRPr lang="en-US" sz="1100" dirty="0"/>
          </a:p>
        </p:txBody>
      </p:sp>
      <p:sp>
        <p:nvSpPr>
          <p:cNvPr id="8" name="Text 6"/>
          <p:cNvSpPr/>
          <p:nvPr/>
        </p:nvSpPr>
        <p:spPr>
          <a:xfrm>
            <a:off x="557784" y="5111496"/>
            <a:ext cx="3410712" cy="164592"/>
          </a:xfrm>
          <a:prstGeom prst="rect">
            <a:avLst/>
          </a:prstGeom>
          <a:noFill/>
          <a:ln/>
        </p:spPr>
        <p:txBody>
          <a:bodyPr wrap="square" lIns="0" tIns="0" rIns="0" bIns="0" rtlCol="0" anchor="ctr"/>
          <a:lstStyle/>
          <a:p>
            <a:pPr marL="0" indent="0">
              <a:buNone/>
            </a:pPr>
            <a:r>
              <a:rPr lang="en-US" sz="800" i="1" dirty="0">
                <a:solidFill>
                  <a:srgbClr val="F31212"/>
                </a:solidFill>
              </a:rPr>
              <a:t>Lesson: secure releases and internal artifacts.</a:t>
            </a:r>
            <a:endParaRPr lang="en-US" sz="800" dirty="0"/>
          </a:p>
        </p:txBody>
      </p:sp>
      <p:sp>
        <p:nvSpPr>
          <p:cNvPr id="9" name="Shape 7"/>
          <p:cNvSpPr/>
          <p:nvPr/>
        </p:nvSpPr>
        <p:spPr>
          <a:xfrm>
            <a:off x="4242816" y="1298448"/>
            <a:ext cx="3703320" cy="4160520"/>
          </a:xfrm>
          <a:prstGeom prst="roundRect">
            <a:avLst>
              <a:gd name="adj" fmla="val 1481"/>
            </a:avLst>
          </a:prstGeom>
          <a:solidFill>
            <a:srgbClr val="101010"/>
          </a:solidFill>
          <a:ln w="12700">
            <a:solidFill>
              <a:srgbClr val="2B2B2B"/>
            </a:solidFill>
            <a:prstDash val="solid"/>
          </a:ln>
        </p:spPr>
        <p:txBody>
          <a:bodyPr/>
          <a:lstStyle/>
          <a:p>
            <a:endParaRPr lang="en-US"/>
          </a:p>
        </p:txBody>
      </p:sp>
      <p:sp>
        <p:nvSpPr>
          <p:cNvPr id="10" name="Shape 8"/>
          <p:cNvSpPr/>
          <p:nvPr/>
        </p:nvSpPr>
        <p:spPr>
          <a:xfrm>
            <a:off x="4370832" y="1435608"/>
            <a:ext cx="658368" cy="182880"/>
          </a:xfrm>
          <a:prstGeom prst="roundRect">
            <a:avLst>
              <a:gd name="adj" fmla="val 15000"/>
            </a:avLst>
          </a:prstGeom>
          <a:solidFill>
            <a:srgbClr val="F2A93B"/>
          </a:solidFill>
          <a:ln w="12700">
            <a:solidFill>
              <a:srgbClr val="F2A93B"/>
            </a:solidFill>
            <a:prstDash val="solid"/>
          </a:ln>
        </p:spPr>
        <p:txBody>
          <a:bodyPr/>
          <a:lstStyle/>
          <a:p>
            <a:endParaRPr lang="en-US"/>
          </a:p>
        </p:txBody>
      </p:sp>
      <p:sp>
        <p:nvSpPr>
          <p:cNvPr id="11" name="Text 9"/>
          <p:cNvSpPr/>
          <p:nvPr/>
        </p:nvSpPr>
        <p:spPr>
          <a:xfrm>
            <a:off x="5111496" y="1453896"/>
            <a:ext cx="2697480" cy="146304"/>
          </a:xfrm>
          <a:prstGeom prst="rect">
            <a:avLst/>
          </a:prstGeom>
          <a:noFill/>
          <a:ln/>
        </p:spPr>
        <p:txBody>
          <a:bodyPr wrap="square" lIns="0" tIns="0" rIns="0" bIns="0" rtlCol="0" anchor="ctr"/>
          <a:lstStyle/>
          <a:p>
            <a:pPr marL="0" indent="0">
              <a:buNone/>
            </a:pPr>
            <a:r>
              <a:rPr lang="en-US" sz="800" b="1" dirty="0">
                <a:solidFill>
                  <a:srgbClr val="FFFFFF"/>
                </a:solidFill>
              </a:rPr>
              <a:t>Oct 2024</a:t>
            </a:r>
            <a:endParaRPr lang="en-US" sz="800" dirty="0"/>
          </a:p>
        </p:txBody>
      </p:sp>
      <p:sp>
        <p:nvSpPr>
          <p:cNvPr id="12" name="Text 10"/>
          <p:cNvSpPr/>
          <p:nvPr/>
        </p:nvSpPr>
        <p:spPr>
          <a:xfrm>
            <a:off x="4389120" y="1801368"/>
            <a:ext cx="3410712" cy="3246120"/>
          </a:xfrm>
          <a:prstGeom prst="rect">
            <a:avLst/>
          </a:prstGeom>
          <a:noFill/>
          <a:ln/>
        </p:spPr>
        <p:txBody>
          <a:bodyPr wrap="square" lIns="254" tIns="254" rIns="254" bIns="254" rtlCol="0" anchor="t"/>
          <a:lstStyle/>
          <a:p>
            <a:pPr marL="0" indent="0">
              <a:buNone/>
            </a:pPr>
            <a:r>
              <a:rPr lang="en-US" sz="1100" dirty="0">
                <a:solidFill>
                  <a:srgbClr val="CFCFCF"/>
                </a:solidFill>
              </a:rPr>
              <a:t>Wiz AI log exposure</a:t>
            </a:r>
            <a:endParaRPr lang="en-US" sz="1100" dirty="0"/>
          </a:p>
          <a:p>
            <a:pPr marL="0" indent="0">
              <a:buNone/>
            </a:pPr>
            <a:endParaRPr lang="en-US" sz="1100" dirty="0"/>
          </a:p>
          <a:p>
            <a:pPr marL="0" indent="0">
              <a:buNone/>
            </a:pPr>
            <a:r>
              <a:rPr lang="en-US" sz="1100" dirty="0">
                <a:solidFill>
                  <a:srgbClr val="CFCFCF"/>
                </a:solidFill>
              </a:rPr>
              <a:t>An unsecured server exposed 1TB+ of logs including prompts and user interactions from an AI startup service.</a:t>
            </a:r>
            <a:endParaRPr lang="en-US" sz="1100" dirty="0"/>
          </a:p>
        </p:txBody>
      </p:sp>
      <p:sp>
        <p:nvSpPr>
          <p:cNvPr id="13" name="Text 11"/>
          <p:cNvSpPr/>
          <p:nvPr/>
        </p:nvSpPr>
        <p:spPr>
          <a:xfrm>
            <a:off x="4389120" y="5111496"/>
            <a:ext cx="3410712" cy="164592"/>
          </a:xfrm>
          <a:prstGeom prst="rect">
            <a:avLst/>
          </a:prstGeom>
          <a:noFill/>
          <a:ln/>
        </p:spPr>
        <p:txBody>
          <a:bodyPr wrap="square" lIns="0" tIns="0" rIns="0" bIns="0" rtlCol="0" anchor="ctr"/>
          <a:lstStyle/>
          <a:p>
            <a:pPr marL="0" indent="0">
              <a:buNone/>
            </a:pPr>
            <a:r>
              <a:rPr lang="en-US" sz="800" i="1" dirty="0">
                <a:solidFill>
                  <a:srgbClr val="F2A93B"/>
                </a:solidFill>
              </a:rPr>
              <a:t>Lesson: logs are production data.</a:t>
            </a:r>
            <a:endParaRPr lang="en-US" sz="800" dirty="0"/>
          </a:p>
        </p:txBody>
      </p:sp>
      <p:sp>
        <p:nvSpPr>
          <p:cNvPr id="14" name="Shape 12"/>
          <p:cNvSpPr/>
          <p:nvPr/>
        </p:nvSpPr>
        <p:spPr>
          <a:xfrm>
            <a:off x="8074152" y="1298448"/>
            <a:ext cx="3703320" cy="4160520"/>
          </a:xfrm>
          <a:prstGeom prst="roundRect">
            <a:avLst>
              <a:gd name="adj" fmla="val 1481"/>
            </a:avLst>
          </a:prstGeom>
          <a:solidFill>
            <a:srgbClr val="101010"/>
          </a:solidFill>
          <a:ln w="12700">
            <a:solidFill>
              <a:srgbClr val="2B2B2B"/>
            </a:solidFill>
            <a:prstDash val="solid"/>
          </a:ln>
        </p:spPr>
        <p:txBody>
          <a:bodyPr/>
          <a:lstStyle/>
          <a:p>
            <a:endParaRPr lang="en-US"/>
          </a:p>
        </p:txBody>
      </p:sp>
      <p:sp>
        <p:nvSpPr>
          <p:cNvPr id="15" name="Shape 13"/>
          <p:cNvSpPr/>
          <p:nvPr/>
        </p:nvSpPr>
        <p:spPr>
          <a:xfrm>
            <a:off x="8202168" y="1435608"/>
            <a:ext cx="658368" cy="182880"/>
          </a:xfrm>
          <a:prstGeom prst="roundRect">
            <a:avLst>
              <a:gd name="adj" fmla="val 15000"/>
            </a:avLst>
          </a:prstGeom>
          <a:solidFill>
            <a:srgbClr val="36A3FF"/>
          </a:solidFill>
          <a:ln w="12700">
            <a:solidFill>
              <a:srgbClr val="36A3FF"/>
            </a:solidFill>
            <a:prstDash val="solid"/>
          </a:ln>
        </p:spPr>
        <p:txBody>
          <a:bodyPr/>
          <a:lstStyle/>
          <a:p>
            <a:endParaRPr lang="en-US"/>
          </a:p>
        </p:txBody>
      </p:sp>
      <p:sp>
        <p:nvSpPr>
          <p:cNvPr id="16" name="Text 14"/>
          <p:cNvSpPr/>
          <p:nvPr/>
        </p:nvSpPr>
        <p:spPr>
          <a:xfrm>
            <a:off x="8942832" y="1453896"/>
            <a:ext cx="2697480" cy="146304"/>
          </a:xfrm>
          <a:prstGeom prst="rect">
            <a:avLst/>
          </a:prstGeom>
          <a:noFill/>
          <a:ln/>
        </p:spPr>
        <p:txBody>
          <a:bodyPr wrap="square" lIns="0" tIns="0" rIns="0" bIns="0" rtlCol="0" anchor="ctr"/>
          <a:lstStyle/>
          <a:p>
            <a:pPr marL="0" indent="0">
              <a:buNone/>
            </a:pPr>
            <a:r>
              <a:rPr lang="en-US" sz="800" b="1" dirty="0">
                <a:solidFill>
                  <a:srgbClr val="FFFFFF"/>
                </a:solidFill>
              </a:rPr>
              <a:t>2025–2026</a:t>
            </a:r>
            <a:endParaRPr lang="en-US" sz="800" dirty="0"/>
          </a:p>
        </p:txBody>
      </p:sp>
      <p:sp>
        <p:nvSpPr>
          <p:cNvPr id="17" name="Text 15"/>
          <p:cNvSpPr/>
          <p:nvPr/>
        </p:nvSpPr>
        <p:spPr>
          <a:xfrm>
            <a:off x="8220456" y="1801368"/>
            <a:ext cx="3410712" cy="3246120"/>
          </a:xfrm>
          <a:prstGeom prst="rect">
            <a:avLst/>
          </a:prstGeom>
          <a:noFill/>
          <a:ln/>
        </p:spPr>
        <p:txBody>
          <a:bodyPr wrap="square" lIns="254" tIns="254" rIns="254" bIns="254" rtlCol="0" anchor="t"/>
          <a:lstStyle/>
          <a:p>
            <a:pPr marL="0" indent="0">
              <a:buNone/>
            </a:pPr>
            <a:r>
              <a:rPr lang="en-US" sz="1100" dirty="0">
                <a:solidFill>
                  <a:srgbClr val="CFCFCF"/>
                </a:solidFill>
              </a:rPr>
              <a:t>Indirect prompt injection</a:t>
            </a:r>
            <a:endParaRPr lang="en-US" sz="1100" dirty="0"/>
          </a:p>
          <a:p>
            <a:pPr marL="0" indent="0">
              <a:buNone/>
            </a:pPr>
            <a:endParaRPr lang="en-US" sz="1100" dirty="0"/>
          </a:p>
          <a:p>
            <a:pPr marL="0" indent="0">
              <a:buNone/>
            </a:pPr>
            <a:r>
              <a:rPr lang="en-US" sz="1100" dirty="0">
                <a:solidFill>
                  <a:srgbClr val="CFCFCF"/>
                </a:solidFill>
              </a:rPr>
              <a:t>Microsoft and Google both warn that untrusted content can hijack an AI system’s instructions and drive exfiltration or unintended tool use.</a:t>
            </a:r>
            <a:endParaRPr lang="en-US" sz="1100" dirty="0"/>
          </a:p>
        </p:txBody>
      </p:sp>
      <p:sp>
        <p:nvSpPr>
          <p:cNvPr id="18" name="Text 16"/>
          <p:cNvSpPr/>
          <p:nvPr/>
        </p:nvSpPr>
        <p:spPr>
          <a:xfrm>
            <a:off x="8220456" y="5111496"/>
            <a:ext cx="3410712" cy="164592"/>
          </a:xfrm>
          <a:prstGeom prst="rect">
            <a:avLst/>
          </a:prstGeom>
          <a:noFill/>
          <a:ln/>
        </p:spPr>
        <p:txBody>
          <a:bodyPr wrap="square" lIns="0" tIns="0" rIns="0" bIns="0" rtlCol="0" anchor="ctr"/>
          <a:lstStyle/>
          <a:p>
            <a:pPr marL="0" indent="0">
              <a:buNone/>
            </a:pPr>
            <a:r>
              <a:rPr lang="en-US" sz="800" i="1" dirty="0">
                <a:solidFill>
                  <a:srgbClr val="36A3FF"/>
                </a:solidFill>
              </a:rPr>
              <a:t>Lesson: content can become control input.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Threat model for agentic workflows</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Most failures map to a few repeatable attack surfaces.</a:t>
            </a:r>
            <a:endParaRPr lang="en-US" sz="750" dirty="0"/>
          </a:p>
        </p:txBody>
      </p:sp>
      <p:sp>
        <p:nvSpPr>
          <p:cNvPr id="4" name="Text 2"/>
          <p:cNvSpPr/>
          <p:nvPr/>
        </p:nvSpPr>
        <p:spPr>
          <a:xfrm>
            <a:off x="731520" y="1417320"/>
            <a:ext cx="4297680" cy="3291840"/>
          </a:xfrm>
          <a:prstGeom prst="rect">
            <a:avLst/>
          </a:prstGeom>
          <a:noFill/>
          <a:ln/>
        </p:spPr>
        <p:txBody>
          <a:bodyPr wrap="square" lIns="381" tIns="381" rIns="381" bIns="381" rtlCol="0" anchor="t"/>
          <a:lstStyle/>
          <a:p>
            <a:pPr marL="152400" indent="-152400">
              <a:buSzPct val="100000"/>
              <a:buChar char="•"/>
            </a:pPr>
            <a:r>
              <a:rPr lang="en-US" sz="1400" dirty="0">
                <a:solidFill>
                  <a:srgbClr val="FFFFFF"/>
                </a:solidFill>
                <a:latin typeface="Aptos" pitchFamily="34" charset="0"/>
                <a:ea typeface="Aptos" pitchFamily="34" charset="-122"/>
                <a:cs typeface="Aptos" pitchFamily="34" charset="-120"/>
              </a:rPr>
              <a:t>Prompt injection / instruction smuggling</a:t>
            </a:r>
            <a:endParaRPr lang="en-US" sz="1400" dirty="0"/>
          </a:p>
          <a:p>
            <a:pPr marL="152400" indent="-152400">
              <a:buSzPct val="100000"/>
              <a:buChar char="•"/>
            </a:pPr>
            <a:r>
              <a:rPr lang="en-US" sz="1400" dirty="0">
                <a:solidFill>
                  <a:srgbClr val="FFFFFF"/>
                </a:solidFill>
                <a:latin typeface="Aptos" pitchFamily="34" charset="0"/>
                <a:ea typeface="Aptos" pitchFamily="34" charset="-122"/>
                <a:cs typeface="Aptos" pitchFamily="34" charset="-120"/>
              </a:rPr>
              <a:t>Memory poisoning and false durable facts</a:t>
            </a:r>
            <a:endParaRPr lang="en-US" sz="1400" dirty="0"/>
          </a:p>
          <a:p>
            <a:pPr marL="152400" indent="-152400">
              <a:buSzPct val="100000"/>
              <a:buChar char="•"/>
            </a:pPr>
            <a:r>
              <a:rPr lang="en-US" sz="1400" dirty="0">
                <a:solidFill>
                  <a:srgbClr val="FFFFFF"/>
                </a:solidFill>
                <a:latin typeface="Aptos" pitchFamily="34" charset="0"/>
                <a:ea typeface="Aptos" pitchFamily="34" charset="-122"/>
                <a:cs typeface="Aptos" pitchFamily="34" charset="-120"/>
              </a:rPr>
              <a:t>Over-broad tool permissions</a:t>
            </a:r>
            <a:endParaRPr lang="en-US" sz="1400" dirty="0"/>
          </a:p>
          <a:p>
            <a:pPr marL="152400" indent="-152400">
              <a:buSzPct val="100000"/>
              <a:buChar char="•"/>
            </a:pPr>
            <a:r>
              <a:rPr lang="en-US" sz="1400" dirty="0">
                <a:solidFill>
                  <a:srgbClr val="FFFFFF"/>
                </a:solidFill>
                <a:latin typeface="Aptos" pitchFamily="34" charset="0"/>
                <a:ea typeface="Aptos" pitchFamily="34" charset="-122"/>
                <a:cs typeface="Aptos" pitchFamily="34" charset="-120"/>
              </a:rPr>
              <a:t>Untrusted retrieval or connector content</a:t>
            </a:r>
            <a:endParaRPr lang="en-US" sz="1400" dirty="0"/>
          </a:p>
          <a:p>
            <a:pPr marL="152400" indent="-152400">
              <a:buSzPct val="100000"/>
              <a:buChar char="•"/>
            </a:pPr>
            <a:r>
              <a:rPr lang="en-US" sz="1400" dirty="0">
                <a:solidFill>
                  <a:srgbClr val="FFFFFF"/>
                </a:solidFill>
                <a:latin typeface="Aptos" pitchFamily="34" charset="0"/>
                <a:ea typeface="Aptos" pitchFamily="34" charset="-122"/>
                <a:cs typeface="Aptos" pitchFamily="34" charset="-120"/>
              </a:rPr>
              <a:t>Logging secrets and prompts</a:t>
            </a:r>
            <a:endParaRPr lang="en-US" sz="1400" dirty="0"/>
          </a:p>
          <a:p>
            <a:pPr marL="152400" indent="-152400">
              <a:buSzPct val="100000"/>
              <a:buChar char="•"/>
            </a:pPr>
            <a:r>
              <a:rPr lang="en-US" sz="1400" dirty="0">
                <a:solidFill>
                  <a:srgbClr val="FFFFFF"/>
                </a:solidFill>
                <a:latin typeface="Aptos" pitchFamily="34" charset="0"/>
                <a:ea typeface="Aptos" pitchFamily="34" charset="-122"/>
                <a:cs typeface="Aptos" pitchFamily="34" charset="-120"/>
              </a:rPr>
              <a:t>Supply-chain and release mistakes</a:t>
            </a:r>
            <a:endParaRPr lang="en-US" sz="1400" dirty="0"/>
          </a:p>
        </p:txBody>
      </p:sp>
      <p:sp>
        <p:nvSpPr>
          <p:cNvPr id="5" name="Shape 3"/>
          <p:cNvSpPr/>
          <p:nvPr/>
        </p:nvSpPr>
        <p:spPr>
          <a:xfrm>
            <a:off x="5486400" y="1325880"/>
            <a:ext cx="5303520" cy="4023360"/>
          </a:xfrm>
          <a:prstGeom prst="roundRect">
            <a:avLst>
              <a:gd name="adj" fmla="val 1364"/>
            </a:avLst>
          </a:prstGeom>
          <a:solidFill>
            <a:srgbClr val="0A131D"/>
          </a:solidFill>
          <a:ln w="12700">
            <a:solidFill>
              <a:srgbClr val="2B2B2B"/>
            </a:solidFill>
            <a:prstDash val="solid"/>
          </a:ln>
        </p:spPr>
        <p:txBody>
          <a:bodyPr/>
          <a:lstStyle/>
          <a:p>
            <a:endParaRPr lang="en-US"/>
          </a:p>
        </p:txBody>
      </p:sp>
      <p:sp>
        <p:nvSpPr>
          <p:cNvPr id="6" name="Text 4"/>
          <p:cNvSpPr/>
          <p:nvPr/>
        </p:nvSpPr>
        <p:spPr>
          <a:xfrm>
            <a:off x="5760720" y="1572768"/>
            <a:ext cx="2194560" cy="182880"/>
          </a:xfrm>
          <a:prstGeom prst="rect">
            <a:avLst/>
          </a:prstGeom>
          <a:noFill/>
          <a:ln/>
        </p:spPr>
        <p:txBody>
          <a:bodyPr wrap="square" lIns="0" tIns="0" rIns="0" bIns="0" rtlCol="0" anchor="ctr"/>
          <a:lstStyle/>
          <a:p>
            <a:pPr marL="0" indent="0">
              <a:buNone/>
            </a:pPr>
            <a:r>
              <a:rPr lang="en-US" sz="1200" b="1" dirty="0">
                <a:solidFill>
                  <a:srgbClr val="FFFFFF"/>
                </a:solidFill>
              </a:rPr>
              <a:t>Map the risk to the layer</a:t>
            </a:r>
            <a:endParaRPr lang="en-US" sz="1200" dirty="0"/>
          </a:p>
        </p:txBody>
      </p:sp>
      <p:sp>
        <p:nvSpPr>
          <p:cNvPr id="7" name="Shape 5"/>
          <p:cNvSpPr/>
          <p:nvPr/>
        </p:nvSpPr>
        <p:spPr>
          <a:xfrm>
            <a:off x="5806440" y="1920240"/>
            <a:ext cx="4663440" cy="384048"/>
          </a:xfrm>
          <a:prstGeom prst="roundRect">
            <a:avLst>
              <a:gd name="adj" fmla="val 14286"/>
            </a:avLst>
          </a:prstGeom>
          <a:solidFill>
            <a:srgbClr val="102437"/>
          </a:solidFill>
          <a:ln w="12700">
            <a:solidFill>
              <a:srgbClr val="2B2B2B"/>
            </a:solidFill>
            <a:prstDash val="solid"/>
          </a:ln>
        </p:spPr>
        <p:txBody>
          <a:bodyPr/>
          <a:lstStyle/>
          <a:p>
            <a:endParaRPr lang="en-US"/>
          </a:p>
        </p:txBody>
      </p:sp>
      <p:sp>
        <p:nvSpPr>
          <p:cNvPr id="8" name="Shape 6"/>
          <p:cNvSpPr/>
          <p:nvPr/>
        </p:nvSpPr>
        <p:spPr>
          <a:xfrm>
            <a:off x="5943600" y="2011680"/>
            <a:ext cx="640080" cy="173736"/>
          </a:xfrm>
          <a:prstGeom prst="roundRect">
            <a:avLst>
              <a:gd name="adj" fmla="val 15789"/>
            </a:avLst>
          </a:prstGeom>
          <a:solidFill>
            <a:srgbClr val="174B73"/>
          </a:solidFill>
          <a:ln w="12700">
            <a:solidFill>
              <a:srgbClr val="174B73"/>
            </a:solidFill>
            <a:prstDash val="solid"/>
          </a:ln>
        </p:spPr>
        <p:txBody>
          <a:bodyPr/>
          <a:lstStyle/>
          <a:p>
            <a:endParaRPr lang="en-US"/>
          </a:p>
        </p:txBody>
      </p:sp>
      <p:sp>
        <p:nvSpPr>
          <p:cNvPr id="9" name="Text 7"/>
          <p:cNvSpPr/>
          <p:nvPr/>
        </p:nvSpPr>
        <p:spPr>
          <a:xfrm>
            <a:off x="5989320" y="2043684"/>
            <a:ext cx="548640" cy="91440"/>
          </a:xfrm>
          <a:prstGeom prst="rect">
            <a:avLst/>
          </a:prstGeom>
          <a:noFill/>
          <a:ln/>
        </p:spPr>
        <p:txBody>
          <a:bodyPr wrap="square" lIns="0" tIns="0" rIns="0" bIns="0" rtlCol="0" anchor="ctr"/>
          <a:lstStyle/>
          <a:p>
            <a:pPr marL="0" indent="0" algn="ctr">
              <a:buNone/>
            </a:pPr>
            <a:r>
              <a:rPr lang="en-US" sz="750" b="1" dirty="0">
                <a:solidFill>
                  <a:srgbClr val="FFFFFF"/>
                </a:solidFill>
              </a:rPr>
              <a:t>Inputs</a:t>
            </a:r>
            <a:endParaRPr lang="en-US" sz="750" dirty="0"/>
          </a:p>
        </p:txBody>
      </p:sp>
      <p:sp>
        <p:nvSpPr>
          <p:cNvPr id="10" name="Text 8"/>
          <p:cNvSpPr/>
          <p:nvPr/>
        </p:nvSpPr>
        <p:spPr>
          <a:xfrm>
            <a:off x="6784848" y="2002536"/>
            <a:ext cx="3291840" cy="109728"/>
          </a:xfrm>
          <a:prstGeom prst="rect">
            <a:avLst/>
          </a:prstGeom>
          <a:noFill/>
          <a:ln/>
        </p:spPr>
        <p:txBody>
          <a:bodyPr wrap="square" lIns="0" tIns="0" rIns="0" bIns="0" rtlCol="0" anchor="ctr"/>
          <a:lstStyle/>
          <a:p>
            <a:pPr marL="0" indent="0">
              <a:buNone/>
            </a:pPr>
            <a:r>
              <a:rPr lang="en-US" sz="920" dirty="0">
                <a:solidFill>
                  <a:srgbClr val="CFCFCF"/>
                </a:solidFill>
              </a:rPr>
              <a:t>Malicious docs, emails, web pages</a:t>
            </a:r>
            <a:endParaRPr lang="en-US" sz="920" dirty="0"/>
          </a:p>
        </p:txBody>
      </p:sp>
      <p:sp>
        <p:nvSpPr>
          <p:cNvPr id="11" name="Shape 9"/>
          <p:cNvSpPr/>
          <p:nvPr/>
        </p:nvSpPr>
        <p:spPr>
          <a:xfrm>
            <a:off x="5806440" y="2532888"/>
            <a:ext cx="4663440" cy="384048"/>
          </a:xfrm>
          <a:prstGeom prst="roundRect">
            <a:avLst>
              <a:gd name="adj" fmla="val 14286"/>
            </a:avLst>
          </a:prstGeom>
          <a:solidFill>
            <a:srgbClr val="102437"/>
          </a:solidFill>
          <a:ln w="12700">
            <a:solidFill>
              <a:srgbClr val="2B2B2B"/>
            </a:solidFill>
            <a:prstDash val="solid"/>
          </a:ln>
        </p:spPr>
        <p:txBody>
          <a:bodyPr/>
          <a:lstStyle/>
          <a:p>
            <a:endParaRPr lang="en-US"/>
          </a:p>
        </p:txBody>
      </p:sp>
      <p:sp>
        <p:nvSpPr>
          <p:cNvPr id="12" name="Shape 10"/>
          <p:cNvSpPr/>
          <p:nvPr/>
        </p:nvSpPr>
        <p:spPr>
          <a:xfrm>
            <a:off x="5943600" y="2624328"/>
            <a:ext cx="640080" cy="173736"/>
          </a:xfrm>
          <a:prstGeom prst="roundRect">
            <a:avLst>
              <a:gd name="adj" fmla="val 15789"/>
            </a:avLst>
          </a:prstGeom>
          <a:solidFill>
            <a:srgbClr val="174B73"/>
          </a:solidFill>
          <a:ln w="12700">
            <a:solidFill>
              <a:srgbClr val="174B73"/>
            </a:solidFill>
            <a:prstDash val="solid"/>
          </a:ln>
        </p:spPr>
        <p:txBody>
          <a:bodyPr/>
          <a:lstStyle/>
          <a:p>
            <a:endParaRPr lang="en-US"/>
          </a:p>
        </p:txBody>
      </p:sp>
      <p:sp>
        <p:nvSpPr>
          <p:cNvPr id="13" name="Text 11"/>
          <p:cNvSpPr/>
          <p:nvPr/>
        </p:nvSpPr>
        <p:spPr>
          <a:xfrm>
            <a:off x="5989320" y="2656332"/>
            <a:ext cx="548640" cy="91440"/>
          </a:xfrm>
          <a:prstGeom prst="rect">
            <a:avLst/>
          </a:prstGeom>
          <a:noFill/>
          <a:ln/>
        </p:spPr>
        <p:txBody>
          <a:bodyPr wrap="square" lIns="0" tIns="0" rIns="0" bIns="0" rtlCol="0" anchor="ctr"/>
          <a:lstStyle/>
          <a:p>
            <a:pPr marL="0" indent="0" algn="ctr">
              <a:buNone/>
            </a:pPr>
            <a:r>
              <a:rPr lang="en-US" sz="750" b="1" dirty="0">
                <a:solidFill>
                  <a:srgbClr val="FFFFFF"/>
                </a:solidFill>
              </a:rPr>
              <a:t>Planner</a:t>
            </a:r>
            <a:endParaRPr lang="en-US" sz="750" dirty="0"/>
          </a:p>
        </p:txBody>
      </p:sp>
      <p:sp>
        <p:nvSpPr>
          <p:cNvPr id="14" name="Text 12"/>
          <p:cNvSpPr/>
          <p:nvPr/>
        </p:nvSpPr>
        <p:spPr>
          <a:xfrm>
            <a:off x="6784848" y="2615184"/>
            <a:ext cx="3291840" cy="109728"/>
          </a:xfrm>
          <a:prstGeom prst="rect">
            <a:avLst/>
          </a:prstGeom>
          <a:noFill/>
          <a:ln/>
        </p:spPr>
        <p:txBody>
          <a:bodyPr wrap="square" lIns="0" tIns="0" rIns="0" bIns="0" rtlCol="0" anchor="ctr"/>
          <a:lstStyle/>
          <a:p>
            <a:pPr marL="0" indent="0">
              <a:buNone/>
            </a:pPr>
            <a:r>
              <a:rPr lang="en-US" sz="920" dirty="0">
                <a:solidFill>
                  <a:srgbClr val="CFCFCF"/>
                </a:solidFill>
              </a:rPr>
              <a:t>Unsafe chain-of-thought-to-action jumps</a:t>
            </a:r>
            <a:endParaRPr lang="en-US" sz="920" dirty="0"/>
          </a:p>
        </p:txBody>
      </p:sp>
      <p:sp>
        <p:nvSpPr>
          <p:cNvPr id="15" name="Shape 13"/>
          <p:cNvSpPr/>
          <p:nvPr/>
        </p:nvSpPr>
        <p:spPr>
          <a:xfrm>
            <a:off x="5806440" y="3145536"/>
            <a:ext cx="4663440" cy="384048"/>
          </a:xfrm>
          <a:prstGeom prst="roundRect">
            <a:avLst>
              <a:gd name="adj" fmla="val 14286"/>
            </a:avLst>
          </a:prstGeom>
          <a:solidFill>
            <a:srgbClr val="102437"/>
          </a:solidFill>
          <a:ln w="12700">
            <a:solidFill>
              <a:srgbClr val="2B2B2B"/>
            </a:solidFill>
            <a:prstDash val="solid"/>
          </a:ln>
        </p:spPr>
        <p:txBody>
          <a:bodyPr/>
          <a:lstStyle/>
          <a:p>
            <a:endParaRPr lang="en-US"/>
          </a:p>
        </p:txBody>
      </p:sp>
      <p:sp>
        <p:nvSpPr>
          <p:cNvPr id="16" name="Shape 14"/>
          <p:cNvSpPr/>
          <p:nvPr/>
        </p:nvSpPr>
        <p:spPr>
          <a:xfrm>
            <a:off x="5943600" y="3236976"/>
            <a:ext cx="640080" cy="173736"/>
          </a:xfrm>
          <a:prstGeom prst="roundRect">
            <a:avLst>
              <a:gd name="adj" fmla="val 15789"/>
            </a:avLst>
          </a:prstGeom>
          <a:solidFill>
            <a:srgbClr val="174B73"/>
          </a:solidFill>
          <a:ln w="12700">
            <a:solidFill>
              <a:srgbClr val="174B73"/>
            </a:solidFill>
            <a:prstDash val="solid"/>
          </a:ln>
        </p:spPr>
        <p:txBody>
          <a:bodyPr/>
          <a:lstStyle/>
          <a:p>
            <a:endParaRPr lang="en-US"/>
          </a:p>
        </p:txBody>
      </p:sp>
      <p:sp>
        <p:nvSpPr>
          <p:cNvPr id="17" name="Text 15"/>
          <p:cNvSpPr/>
          <p:nvPr/>
        </p:nvSpPr>
        <p:spPr>
          <a:xfrm>
            <a:off x="5989320" y="3268980"/>
            <a:ext cx="548640" cy="91440"/>
          </a:xfrm>
          <a:prstGeom prst="rect">
            <a:avLst/>
          </a:prstGeom>
          <a:noFill/>
          <a:ln/>
        </p:spPr>
        <p:txBody>
          <a:bodyPr wrap="square" lIns="0" tIns="0" rIns="0" bIns="0" rtlCol="0" anchor="ctr"/>
          <a:lstStyle/>
          <a:p>
            <a:pPr marL="0" indent="0" algn="ctr">
              <a:buNone/>
            </a:pPr>
            <a:r>
              <a:rPr lang="en-US" sz="750" b="1" dirty="0">
                <a:solidFill>
                  <a:srgbClr val="FFFFFF"/>
                </a:solidFill>
              </a:rPr>
              <a:t>Tools</a:t>
            </a:r>
            <a:endParaRPr lang="en-US" sz="750" dirty="0"/>
          </a:p>
        </p:txBody>
      </p:sp>
      <p:sp>
        <p:nvSpPr>
          <p:cNvPr id="18" name="Text 16"/>
          <p:cNvSpPr/>
          <p:nvPr/>
        </p:nvSpPr>
        <p:spPr>
          <a:xfrm>
            <a:off x="6784848" y="3227832"/>
            <a:ext cx="3291840" cy="109728"/>
          </a:xfrm>
          <a:prstGeom prst="rect">
            <a:avLst/>
          </a:prstGeom>
          <a:noFill/>
          <a:ln/>
        </p:spPr>
        <p:txBody>
          <a:bodyPr wrap="square" lIns="0" tIns="0" rIns="0" bIns="0" rtlCol="0" anchor="ctr"/>
          <a:lstStyle/>
          <a:p>
            <a:pPr marL="0" indent="0">
              <a:buNone/>
            </a:pPr>
            <a:r>
              <a:rPr lang="en-US" sz="920" dirty="0">
                <a:solidFill>
                  <a:srgbClr val="CFCFCF"/>
                </a:solidFill>
              </a:rPr>
              <a:t>Destructive or over-scoped capabilities</a:t>
            </a:r>
            <a:endParaRPr lang="en-US" sz="920" dirty="0"/>
          </a:p>
        </p:txBody>
      </p:sp>
      <p:sp>
        <p:nvSpPr>
          <p:cNvPr id="19" name="Shape 17"/>
          <p:cNvSpPr/>
          <p:nvPr/>
        </p:nvSpPr>
        <p:spPr>
          <a:xfrm>
            <a:off x="5806440" y="3758184"/>
            <a:ext cx="4663440" cy="384048"/>
          </a:xfrm>
          <a:prstGeom prst="roundRect">
            <a:avLst>
              <a:gd name="adj" fmla="val 14286"/>
            </a:avLst>
          </a:prstGeom>
          <a:solidFill>
            <a:srgbClr val="102437"/>
          </a:solidFill>
          <a:ln w="12700">
            <a:solidFill>
              <a:srgbClr val="2B2B2B"/>
            </a:solidFill>
            <a:prstDash val="solid"/>
          </a:ln>
        </p:spPr>
        <p:txBody>
          <a:bodyPr/>
          <a:lstStyle/>
          <a:p>
            <a:endParaRPr lang="en-US"/>
          </a:p>
        </p:txBody>
      </p:sp>
      <p:sp>
        <p:nvSpPr>
          <p:cNvPr id="20" name="Shape 18"/>
          <p:cNvSpPr/>
          <p:nvPr/>
        </p:nvSpPr>
        <p:spPr>
          <a:xfrm>
            <a:off x="5943600" y="3849624"/>
            <a:ext cx="640080" cy="173736"/>
          </a:xfrm>
          <a:prstGeom prst="roundRect">
            <a:avLst>
              <a:gd name="adj" fmla="val 15789"/>
            </a:avLst>
          </a:prstGeom>
          <a:solidFill>
            <a:srgbClr val="174B73"/>
          </a:solidFill>
          <a:ln w="12700">
            <a:solidFill>
              <a:srgbClr val="174B73"/>
            </a:solidFill>
            <a:prstDash val="solid"/>
          </a:ln>
        </p:spPr>
        <p:txBody>
          <a:bodyPr/>
          <a:lstStyle/>
          <a:p>
            <a:endParaRPr lang="en-US"/>
          </a:p>
        </p:txBody>
      </p:sp>
      <p:sp>
        <p:nvSpPr>
          <p:cNvPr id="21" name="Text 19"/>
          <p:cNvSpPr/>
          <p:nvPr/>
        </p:nvSpPr>
        <p:spPr>
          <a:xfrm>
            <a:off x="5989320" y="3881628"/>
            <a:ext cx="548640" cy="91440"/>
          </a:xfrm>
          <a:prstGeom prst="rect">
            <a:avLst/>
          </a:prstGeom>
          <a:noFill/>
          <a:ln/>
        </p:spPr>
        <p:txBody>
          <a:bodyPr wrap="square" lIns="0" tIns="0" rIns="0" bIns="0" rtlCol="0" anchor="ctr"/>
          <a:lstStyle/>
          <a:p>
            <a:pPr marL="0" indent="0" algn="ctr">
              <a:buNone/>
            </a:pPr>
            <a:r>
              <a:rPr lang="en-US" sz="750" b="1" dirty="0">
                <a:solidFill>
                  <a:srgbClr val="FFFFFF"/>
                </a:solidFill>
              </a:rPr>
              <a:t>Memory</a:t>
            </a:r>
            <a:endParaRPr lang="en-US" sz="750" dirty="0"/>
          </a:p>
        </p:txBody>
      </p:sp>
      <p:sp>
        <p:nvSpPr>
          <p:cNvPr id="22" name="Text 20"/>
          <p:cNvSpPr/>
          <p:nvPr/>
        </p:nvSpPr>
        <p:spPr>
          <a:xfrm>
            <a:off x="6784848" y="3840480"/>
            <a:ext cx="3291840" cy="109728"/>
          </a:xfrm>
          <a:prstGeom prst="rect">
            <a:avLst/>
          </a:prstGeom>
          <a:noFill/>
          <a:ln/>
        </p:spPr>
        <p:txBody>
          <a:bodyPr wrap="square" lIns="0" tIns="0" rIns="0" bIns="0" rtlCol="0" anchor="ctr"/>
          <a:lstStyle/>
          <a:p>
            <a:pPr marL="0" indent="0">
              <a:buNone/>
            </a:pPr>
            <a:r>
              <a:rPr lang="en-US" sz="920" dirty="0">
                <a:solidFill>
                  <a:srgbClr val="CFCFCF"/>
                </a:solidFill>
              </a:rPr>
              <a:t>Corrupted state and durable lies</a:t>
            </a:r>
            <a:endParaRPr lang="en-US" sz="920" dirty="0"/>
          </a:p>
        </p:txBody>
      </p:sp>
      <p:sp>
        <p:nvSpPr>
          <p:cNvPr id="23" name="Shape 21"/>
          <p:cNvSpPr/>
          <p:nvPr/>
        </p:nvSpPr>
        <p:spPr>
          <a:xfrm>
            <a:off x="5806440" y="4370832"/>
            <a:ext cx="4663440" cy="384048"/>
          </a:xfrm>
          <a:prstGeom prst="roundRect">
            <a:avLst>
              <a:gd name="adj" fmla="val 14286"/>
            </a:avLst>
          </a:prstGeom>
          <a:solidFill>
            <a:srgbClr val="102437"/>
          </a:solidFill>
          <a:ln w="12700">
            <a:solidFill>
              <a:srgbClr val="2B2B2B"/>
            </a:solidFill>
            <a:prstDash val="solid"/>
          </a:ln>
        </p:spPr>
        <p:txBody>
          <a:bodyPr/>
          <a:lstStyle/>
          <a:p>
            <a:endParaRPr lang="en-US"/>
          </a:p>
        </p:txBody>
      </p:sp>
      <p:sp>
        <p:nvSpPr>
          <p:cNvPr id="24" name="Shape 22"/>
          <p:cNvSpPr/>
          <p:nvPr/>
        </p:nvSpPr>
        <p:spPr>
          <a:xfrm>
            <a:off x="5943600" y="4462272"/>
            <a:ext cx="640080" cy="173736"/>
          </a:xfrm>
          <a:prstGeom prst="roundRect">
            <a:avLst>
              <a:gd name="adj" fmla="val 15789"/>
            </a:avLst>
          </a:prstGeom>
          <a:solidFill>
            <a:srgbClr val="174B73"/>
          </a:solidFill>
          <a:ln w="12700">
            <a:solidFill>
              <a:srgbClr val="174B73"/>
            </a:solidFill>
            <a:prstDash val="solid"/>
          </a:ln>
        </p:spPr>
        <p:txBody>
          <a:bodyPr/>
          <a:lstStyle/>
          <a:p>
            <a:endParaRPr lang="en-US"/>
          </a:p>
        </p:txBody>
      </p:sp>
      <p:sp>
        <p:nvSpPr>
          <p:cNvPr id="25" name="Text 23"/>
          <p:cNvSpPr/>
          <p:nvPr/>
        </p:nvSpPr>
        <p:spPr>
          <a:xfrm>
            <a:off x="5989320" y="4494276"/>
            <a:ext cx="548640" cy="91440"/>
          </a:xfrm>
          <a:prstGeom prst="rect">
            <a:avLst/>
          </a:prstGeom>
          <a:noFill/>
          <a:ln/>
        </p:spPr>
        <p:txBody>
          <a:bodyPr wrap="square" lIns="0" tIns="0" rIns="0" bIns="0" rtlCol="0" anchor="ctr"/>
          <a:lstStyle/>
          <a:p>
            <a:pPr marL="0" indent="0" algn="ctr">
              <a:buNone/>
            </a:pPr>
            <a:r>
              <a:rPr lang="en-US" sz="750" b="1" dirty="0">
                <a:solidFill>
                  <a:srgbClr val="FFFFFF"/>
                </a:solidFill>
              </a:rPr>
              <a:t>Outputs</a:t>
            </a:r>
            <a:endParaRPr lang="en-US" sz="750" dirty="0"/>
          </a:p>
        </p:txBody>
      </p:sp>
      <p:sp>
        <p:nvSpPr>
          <p:cNvPr id="26" name="Text 24"/>
          <p:cNvSpPr/>
          <p:nvPr/>
        </p:nvSpPr>
        <p:spPr>
          <a:xfrm>
            <a:off x="6784848" y="4453128"/>
            <a:ext cx="3291840" cy="109728"/>
          </a:xfrm>
          <a:prstGeom prst="rect">
            <a:avLst/>
          </a:prstGeom>
          <a:noFill/>
          <a:ln/>
        </p:spPr>
        <p:txBody>
          <a:bodyPr wrap="square" lIns="0" tIns="0" rIns="0" bIns="0" rtlCol="0" anchor="ctr"/>
          <a:lstStyle/>
          <a:p>
            <a:pPr marL="0" indent="0">
              <a:buNone/>
            </a:pPr>
            <a:r>
              <a:rPr lang="en-US" sz="920" dirty="0">
                <a:solidFill>
                  <a:srgbClr val="CFCFCF"/>
                </a:solidFill>
              </a:rPr>
              <a:t>Bad sends, writes, or purchases</a:t>
            </a:r>
            <a:endParaRPr lang="en-US" sz="9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Secure-by-design orchestration patterns</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The controls have to live inside the workflow, not added after the demo.</a:t>
            </a:r>
            <a:endParaRPr lang="en-US" sz="750" dirty="0"/>
          </a:p>
        </p:txBody>
      </p:sp>
      <p:sp>
        <p:nvSpPr>
          <p:cNvPr id="4" name="Shape 2"/>
          <p:cNvSpPr/>
          <p:nvPr/>
        </p:nvSpPr>
        <p:spPr>
          <a:xfrm>
            <a:off x="6400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5" name="Shape 3"/>
          <p:cNvSpPr/>
          <p:nvPr/>
        </p:nvSpPr>
        <p:spPr>
          <a:xfrm>
            <a:off x="777240" y="143560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6" name="Text 4"/>
          <p:cNvSpPr/>
          <p:nvPr/>
        </p:nvSpPr>
        <p:spPr>
          <a:xfrm>
            <a:off x="822960" y="147218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Least privilege</a:t>
            </a:r>
            <a:endParaRPr lang="en-US" sz="750" dirty="0"/>
          </a:p>
        </p:txBody>
      </p:sp>
      <p:sp>
        <p:nvSpPr>
          <p:cNvPr id="7" name="Text 5"/>
          <p:cNvSpPr/>
          <p:nvPr/>
        </p:nvSpPr>
        <p:spPr>
          <a:xfrm>
            <a:off x="1874520" y="142646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Separate read, draft, and write tools; grant destructive permissions only to gated paths.</a:t>
            </a:r>
            <a:endParaRPr lang="en-US" sz="920" dirty="0"/>
          </a:p>
        </p:txBody>
      </p:sp>
      <p:sp>
        <p:nvSpPr>
          <p:cNvPr id="8" name="Shape 6"/>
          <p:cNvSpPr/>
          <p:nvPr/>
        </p:nvSpPr>
        <p:spPr>
          <a:xfrm>
            <a:off x="61264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9" name="Shape 7"/>
          <p:cNvSpPr/>
          <p:nvPr/>
        </p:nvSpPr>
        <p:spPr>
          <a:xfrm>
            <a:off x="6263640" y="1435608"/>
            <a:ext cx="914400" cy="201168"/>
          </a:xfrm>
          <a:prstGeom prst="roundRect">
            <a:avLst>
              <a:gd name="adj" fmla="val 13636"/>
            </a:avLst>
          </a:prstGeom>
          <a:solidFill>
            <a:srgbClr val="204327"/>
          </a:solidFill>
          <a:ln w="12700">
            <a:solidFill>
              <a:srgbClr val="204327"/>
            </a:solidFill>
            <a:prstDash val="solid"/>
          </a:ln>
        </p:spPr>
        <p:txBody>
          <a:bodyPr/>
          <a:lstStyle/>
          <a:p>
            <a:endParaRPr lang="en-US"/>
          </a:p>
        </p:txBody>
      </p:sp>
      <p:sp>
        <p:nvSpPr>
          <p:cNvPr id="10" name="Text 8"/>
          <p:cNvSpPr/>
          <p:nvPr/>
        </p:nvSpPr>
        <p:spPr>
          <a:xfrm>
            <a:off x="6309360" y="147218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Structured outputs</a:t>
            </a:r>
            <a:endParaRPr lang="en-US" sz="750" dirty="0"/>
          </a:p>
        </p:txBody>
      </p:sp>
      <p:sp>
        <p:nvSpPr>
          <p:cNvPr id="11" name="Text 9"/>
          <p:cNvSpPr/>
          <p:nvPr/>
        </p:nvSpPr>
        <p:spPr>
          <a:xfrm>
            <a:off x="7360920" y="142646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Use schemas and typed actions so evaluators can block malformed or risky results.</a:t>
            </a:r>
            <a:endParaRPr lang="en-US" sz="920" dirty="0"/>
          </a:p>
        </p:txBody>
      </p:sp>
      <p:sp>
        <p:nvSpPr>
          <p:cNvPr id="12" name="Shape 10"/>
          <p:cNvSpPr/>
          <p:nvPr/>
        </p:nvSpPr>
        <p:spPr>
          <a:xfrm>
            <a:off x="6400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3" name="Shape 11"/>
          <p:cNvSpPr/>
          <p:nvPr/>
        </p:nvSpPr>
        <p:spPr>
          <a:xfrm>
            <a:off x="777240" y="267004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14" name="Text 12"/>
          <p:cNvSpPr/>
          <p:nvPr/>
        </p:nvSpPr>
        <p:spPr>
          <a:xfrm>
            <a:off x="822960" y="270662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Approval boundaries</a:t>
            </a:r>
            <a:endParaRPr lang="en-US" sz="750" dirty="0"/>
          </a:p>
        </p:txBody>
      </p:sp>
      <p:sp>
        <p:nvSpPr>
          <p:cNvPr id="15" name="Text 13"/>
          <p:cNvSpPr/>
          <p:nvPr/>
        </p:nvSpPr>
        <p:spPr>
          <a:xfrm>
            <a:off x="1874520" y="266090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Require human confirmation for external sends, financial actions, and deletes.</a:t>
            </a:r>
            <a:endParaRPr lang="en-US" sz="920" dirty="0"/>
          </a:p>
        </p:txBody>
      </p:sp>
      <p:sp>
        <p:nvSpPr>
          <p:cNvPr id="16" name="Shape 14"/>
          <p:cNvSpPr/>
          <p:nvPr/>
        </p:nvSpPr>
        <p:spPr>
          <a:xfrm>
            <a:off x="61264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7" name="Shape 15"/>
          <p:cNvSpPr/>
          <p:nvPr/>
        </p:nvSpPr>
        <p:spPr>
          <a:xfrm>
            <a:off x="6263640" y="2670048"/>
            <a:ext cx="914400" cy="201168"/>
          </a:xfrm>
          <a:prstGeom prst="roundRect">
            <a:avLst>
              <a:gd name="adj" fmla="val 13636"/>
            </a:avLst>
          </a:prstGeom>
          <a:solidFill>
            <a:srgbClr val="204327"/>
          </a:solidFill>
          <a:ln w="12700">
            <a:solidFill>
              <a:srgbClr val="204327"/>
            </a:solidFill>
            <a:prstDash val="solid"/>
          </a:ln>
        </p:spPr>
        <p:txBody>
          <a:bodyPr/>
          <a:lstStyle/>
          <a:p>
            <a:endParaRPr lang="en-US"/>
          </a:p>
        </p:txBody>
      </p:sp>
      <p:sp>
        <p:nvSpPr>
          <p:cNvPr id="18" name="Text 16"/>
          <p:cNvSpPr/>
          <p:nvPr/>
        </p:nvSpPr>
        <p:spPr>
          <a:xfrm>
            <a:off x="6309360" y="270662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Content provenance</a:t>
            </a:r>
            <a:endParaRPr lang="en-US" sz="750" dirty="0"/>
          </a:p>
        </p:txBody>
      </p:sp>
      <p:sp>
        <p:nvSpPr>
          <p:cNvPr id="19" name="Text 17"/>
          <p:cNvSpPr/>
          <p:nvPr/>
        </p:nvSpPr>
        <p:spPr>
          <a:xfrm>
            <a:off x="7360920" y="266090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Tag where evidence came from and whether it was trusted, user-provided, or retrieved.</a:t>
            </a:r>
            <a:endParaRPr lang="en-US" sz="920" dirty="0"/>
          </a:p>
        </p:txBody>
      </p:sp>
      <p:sp>
        <p:nvSpPr>
          <p:cNvPr id="20" name="Shape 18"/>
          <p:cNvSpPr/>
          <p:nvPr/>
        </p:nvSpPr>
        <p:spPr>
          <a:xfrm>
            <a:off x="6400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1" name="Shape 19"/>
          <p:cNvSpPr/>
          <p:nvPr/>
        </p:nvSpPr>
        <p:spPr>
          <a:xfrm>
            <a:off x="777240" y="390448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22" name="Text 20"/>
          <p:cNvSpPr/>
          <p:nvPr/>
        </p:nvSpPr>
        <p:spPr>
          <a:xfrm>
            <a:off x="822960" y="394106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Observability</a:t>
            </a:r>
            <a:endParaRPr lang="en-US" sz="750" dirty="0"/>
          </a:p>
        </p:txBody>
      </p:sp>
      <p:sp>
        <p:nvSpPr>
          <p:cNvPr id="23" name="Text 21"/>
          <p:cNvSpPr/>
          <p:nvPr/>
        </p:nvSpPr>
        <p:spPr>
          <a:xfrm>
            <a:off x="1874520" y="389534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Trace model calls, tool calls, retries, costs, and failures with run-level IDs.</a:t>
            </a:r>
            <a:endParaRPr lang="en-US" sz="920" dirty="0"/>
          </a:p>
        </p:txBody>
      </p:sp>
      <p:sp>
        <p:nvSpPr>
          <p:cNvPr id="24" name="Shape 22"/>
          <p:cNvSpPr/>
          <p:nvPr/>
        </p:nvSpPr>
        <p:spPr>
          <a:xfrm>
            <a:off x="61264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5" name="Shape 23"/>
          <p:cNvSpPr/>
          <p:nvPr/>
        </p:nvSpPr>
        <p:spPr>
          <a:xfrm>
            <a:off x="6263640" y="3904488"/>
            <a:ext cx="914400" cy="201168"/>
          </a:xfrm>
          <a:prstGeom prst="roundRect">
            <a:avLst>
              <a:gd name="adj" fmla="val 13636"/>
            </a:avLst>
          </a:prstGeom>
          <a:solidFill>
            <a:srgbClr val="204327"/>
          </a:solidFill>
          <a:ln w="12700">
            <a:solidFill>
              <a:srgbClr val="204327"/>
            </a:solidFill>
            <a:prstDash val="solid"/>
          </a:ln>
        </p:spPr>
        <p:txBody>
          <a:bodyPr/>
          <a:lstStyle/>
          <a:p>
            <a:endParaRPr lang="en-US"/>
          </a:p>
        </p:txBody>
      </p:sp>
      <p:sp>
        <p:nvSpPr>
          <p:cNvPr id="26" name="Text 24"/>
          <p:cNvSpPr/>
          <p:nvPr/>
        </p:nvSpPr>
        <p:spPr>
          <a:xfrm>
            <a:off x="6309360" y="3941064"/>
            <a:ext cx="822960" cy="91440"/>
          </a:xfrm>
          <a:prstGeom prst="rect">
            <a:avLst/>
          </a:prstGeom>
          <a:noFill/>
          <a:ln/>
        </p:spPr>
        <p:txBody>
          <a:bodyPr wrap="square" lIns="0" tIns="0" rIns="0" bIns="0" rtlCol="0" anchor="ctr"/>
          <a:lstStyle/>
          <a:p>
            <a:pPr marL="0" indent="0" algn="ctr">
              <a:buNone/>
            </a:pPr>
            <a:r>
              <a:rPr lang="en-US" sz="750" b="1" dirty="0">
                <a:solidFill>
                  <a:srgbClr val="FFFFFF"/>
                </a:solidFill>
              </a:rPr>
              <a:t>Incident loops</a:t>
            </a:r>
            <a:endParaRPr lang="en-US" sz="750" dirty="0"/>
          </a:p>
        </p:txBody>
      </p:sp>
      <p:sp>
        <p:nvSpPr>
          <p:cNvPr id="27" name="Text 25"/>
          <p:cNvSpPr/>
          <p:nvPr/>
        </p:nvSpPr>
        <p:spPr>
          <a:xfrm>
            <a:off x="7360920" y="3895344"/>
            <a:ext cx="3383280" cy="411480"/>
          </a:xfrm>
          <a:prstGeom prst="rect">
            <a:avLst/>
          </a:prstGeom>
          <a:noFill/>
          <a:ln/>
        </p:spPr>
        <p:txBody>
          <a:bodyPr wrap="square" lIns="254" tIns="254" rIns="254" bIns="254" rtlCol="0" anchor="ctr"/>
          <a:lstStyle/>
          <a:p>
            <a:pPr marL="0" indent="0">
              <a:buNone/>
            </a:pPr>
            <a:r>
              <a:rPr lang="en-US" sz="920" dirty="0">
                <a:solidFill>
                  <a:srgbClr val="CFCFCF"/>
                </a:solidFill>
              </a:rPr>
              <a:t>Replay runs, quarantine memory, rotate secrets, and learn from evaluator misses.</a:t>
            </a:r>
            <a:endParaRPr lang="en-US" sz="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a:solidFill>
                  <a:srgbClr val="FFFFFF"/>
                </a:solidFill>
                <a:latin typeface="Aptos Display" pitchFamily="34" charset="0"/>
                <a:ea typeface="Aptos Display" pitchFamily="34" charset="-122"/>
                <a:cs typeface="Aptos Display" pitchFamily="34" charset="-120"/>
              </a:rPr>
              <a:t>Dangers of relying on a cloud-based model</a:t>
            </a:r>
            <a:endParaRPr lang="en-US" sz="220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a:solidFill>
                  <a:srgbClr val="8B8B8B"/>
                </a:solidFill>
                <a:latin typeface="Aptos" pitchFamily="34" charset="0"/>
                <a:ea typeface="Aptos" pitchFamily="34" charset="-122"/>
                <a:cs typeface="Aptos" pitchFamily="34" charset="-120"/>
              </a:rPr>
              <a:t>Convenience comes with trade-offs that compound as adoption scales.</a:t>
            </a:r>
            <a:endParaRPr lang="en-US" sz="750"/>
          </a:p>
        </p:txBody>
      </p:sp>
      <p:sp>
        <p:nvSpPr>
          <p:cNvPr id="4" name="Shape 2"/>
          <p:cNvSpPr/>
          <p:nvPr/>
        </p:nvSpPr>
        <p:spPr>
          <a:xfrm>
            <a:off x="6400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5" name="Shape 3"/>
          <p:cNvSpPr/>
          <p:nvPr/>
        </p:nvSpPr>
        <p:spPr>
          <a:xfrm>
            <a:off x="777240" y="1435608"/>
            <a:ext cx="914400" cy="201168"/>
          </a:xfrm>
          <a:prstGeom prst="roundRect">
            <a:avLst>
              <a:gd name="adj" fmla="val 13636"/>
            </a:avLst>
          </a:prstGeom>
          <a:solidFill>
            <a:srgbClr val="4A1717"/>
          </a:solidFill>
          <a:ln w="12700">
            <a:solidFill>
              <a:srgbClr val="4A1717"/>
            </a:solidFill>
            <a:prstDash val="solid"/>
          </a:ln>
        </p:spPr>
        <p:txBody>
          <a:bodyPr/>
          <a:lstStyle/>
          <a:p>
            <a:endParaRPr lang="en-US"/>
          </a:p>
        </p:txBody>
      </p:sp>
      <p:sp>
        <p:nvSpPr>
          <p:cNvPr id="6" name="Text 4"/>
          <p:cNvSpPr/>
          <p:nvPr/>
        </p:nvSpPr>
        <p:spPr>
          <a:xfrm>
            <a:off x="822960" y="147218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Vendor lock-in</a:t>
            </a:r>
            <a:endParaRPr lang="en-US" sz="750"/>
          </a:p>
        </p:txBody>
      </p:sp>
      <p:sp>
        <p:nvSpPr>
          <p:cNvPr id="7" name="Text 5"/>
          <p:cNvSpPr/>
          <p:nvPr/>
        </p:nvSpPr>
        <p:spPr>
          <a:xfrm>
            <a:off x="1874520" y="1426464"/>
            <a:ext cx="3383280" cy="411480"/>
          </a:xfrm>
          <a:prstGeom prst="rect">
            <a:avLst/>
          </a:prstGeom>
          <a:noFill/>
          <a:ln/>
        </p:spPr>
        <p:txBody>
          <a:bodyPr wrap="square" lIns="254" tIns="254" rIns="254" bIns="254" rtlCol="0" anchor="ctr"/>
          <a:lstStyle/>
          <a:p>
            <a:pPr marL="0" indent="0">
              <a:buNone/>
            </a:pPr>
            <a:r>
              <a:rPr lang="en-US" sz="920">
                <a:solidFill>
                  <a:srgbClr val="CFCFCF"/>
                </a:solidFill>
              </a:rPr>
              <a:t>Switching costs compound as workflows embed one provider’s API surface, pricing, and model behavior.</a:t>
            </a:r>
            <a:endParaRPr lang="en-US" sz="920"/>
          </a:p>
        </p:txBody>
      </p:sp>
      <p:sp>
        <p:nvSpPr>
          <p:cNvPr id="8" name="Shape 6"/>
          <p:cNvSpPr/>
          <p:nvPr/>
        </p:nvSpPr>
        <p:spPr>
          <a:xfrm>
            <a:off x="61264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9" name="Shape 7"/>
          <p:cNvSpPr/>
          <p:nvPr/>
        </p:nvSpPr>
        <p:spPr>
          <a:xfrm>
            <a:off x="6263640" y="1435608"/>
            <a:ext cx="914400" cy="201168"/>
          </a:xfrm>
          <a:prstGeom prst="roundRect">
            <a:avLst>
              <a:gd name="adj" fmla="val 13636"/>
            </a:avLst>
          </a:prstGeom>
          <a:solidFill>
            <a:srgbClr val="4A3517"/>
          </a:solidFill>
          <a:ln w="12700">
            <a:solidFill>
              <a:srgbClr val="4A3517"/>
            </a:solidFill>
            <a:prstDash val="solid"/>
          </a:ln>
        </p:spPr>
        <p:txBody>
          <a:bodyPr/>
          <a:lstStyle/>
          <a:p>
            <a:endParaRPr lang="en-US"/>
          </a:p>
        </p:txBody>
      </p:sp>
      <p:sp>
        <p:nvSpPr>
          <p:cNvPr id="10" name="Text 8"/>
          <p:cNvSpPr/>
          <p:nvPr/>
        </p:nvSpPr>
        <p:spPr>
          <a:xfrm>
            <a:off x="6309360" y="147218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Data exposure</a:t>
            </a:r>
            <a:endParaRPr lang="en-US" sz="750"/>
          </a:p>
        </p:txBody>
      </p:sp>
      <p:sp>
        <p:nvSpPr>
          <p:cNvPr id="11" name="Text 9"/>
          <p:cNvSpPr/>
          <p:nvPr/>
        </p:nvSpPr>
        <p:spPr>
          <a:xfrm>
            <a:off x="7360920" y="1426464"/>
            <a:ext cx="3383280" cy="411480"/>
          </a:xfrm>
          <a:prstGeom prst="rect">
            <a:avLst/>
          </a:prstGeom>
          <a:noFill/>
          <a:ln/>
        </p:spPr>
        <p:txBody>
          <a:bodyPr wrap="square" lIns="254" tIns="254" rIns="254" bIns="254" rtlCol="0" anchor="ctr"/>
          <a:lstStyle/>
          <a:p>
            <a:pPr marL="0" indent="0">
              <a:buNone/>
            </a:pPr>
            <a:r>
              <a:rPr lang="en-US" sz="920">
                <a:solidFill>
                  <a:srgbClr val="CFCFCF"/>
                </a:solidFill>
              </a:rPr>
              <a:t>Prompts, outputs, and fine-tuning data transit third-party servers, risking leaks of IP and PII.</a:t>
            </a:r>
            <a:endParaRPr lang="en-US" sz="920"/>
          </a:p>
        </p:txBody>
      </p:sp>
      <p:sp>
        <p:nvSpPr>
          <p:cNvPr id="12" name="Shape 10"/>
          <p:cNvSpPr/>
          <p:nvPr/>
        </p:nvSpPr>
        <p:spPr>
          <a:xfrm>
            <a:off x="6400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3" name="Shape 11"/>
          <p:cNvSpPr/>
          <p:nvPr/>
        </p:nvSpPr>
        <p:spPr>
          <a:xfrm>
            <a:off x="777240" y="2670048"/>
            <a:ext cx="914400" cy="201168"/>
          </a:xfrm>
          <a:prstGeom prst="roundRect">
            <a:avLst>
              <a:gd name="adj" fmla="val 13636"/>
            </a:avLst>
          </a:prstGeom>
          <a:solidFill>
            <a:srgbClr val="4A1717"/>
          </a:solidFill>
          <a:ln w="12700">
            <a:solidFill>
              <a:srgbClr val="4A1717"/>
            </a:solidFill>
            <a:prstDash val="solid"/>
          </a:ln>
        </p:spPr>
        <p:txBody>
          <a:bodyPr/>
          <a:lstStyle/>
          <a:p>
            <a:endParaRPr lang="en-US"/>
          </a:p>
        </p:txBody>
      </p:sp>
      <p:sp>
        <p:nvSpPr>
          <p:cNvPr id="14" name="Text 12"/>
          <p:cNvSpPr/>
          <p:nvPr/>
        </p:nvSpPr>
        <p:spPr>
          <a:xfrm>
            <a:off x="822960" y="270662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Availability risk</a:t>
            </a:r>
            <a:endParaRPr lang="en-US" sz="750"/>
          </a:p>
        </p:txBody>
      </p:sp>
      <p:sp>
        <p:nvSpPr>
          <p:cNvPr id="15" name="Text 13"/>
          <p:cNvSpPr/>
          <p:nvPr/>
        </p:nvSpPr>
        <p:spPr>
          <a:xfrm>
            <a:off x="1874520" y="2660904"/>
            <a:ext cx="3383280" cy="411480"/>
          </a:xfrm>
          <a:prstGeom prst="rect">
            <a:avLst/>
          </a:prstGeom>
          <a:noFill/>
          <a:ln/>
        </p:spPr>
        <p:txBody>
          <a:bodyPr wrap="square" lIns="254" tIns="254" rIns="254" bIns="254" rtlCol="0" anchor="ctr"/>
          <a:lstStyle/>
          <a:p>
            <a:pPr marL="0" indent="0">
              <a:buNone/>
            </a:pPr>
            <a:r>
              <a:rPr lang="en-US" sz="920">
                <a:solidFill>
                  <a:srgbClr val="CFCFCF"/>
                </a:solidFill>
              </a:rPr>
              <a:t>Outages and rate limits halt production workflows with no local fallback or failover path.</a:t>
            </a:r>
            <a:endParaRPr lang="en-US" sz="920"/>
          </a:p>
        </p:txBody>
      </p:sp>
      <p:sp>
        <p:nvSpPr>
          <p:cNvPr id="16" name="Shape 14"/>
          <p:cNvSpPr/>
          <p:nvPr/>
        </p:nvSpPr>
        <p:spPr>
          <a:xfrm>
            <a:off x="61264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7" name="Shape 15"/>
          <p:cNvSpPr/>
          <p:nvPr/>
        </p:nvSpPr>
        <p:spPr>
          <a:xfrm>
            <a:off x="6263640" y="2670048"/>
            <a:ext cx="914400" cy="201168"/>
          </a:xfrm>
          <a:prstGeom prst="roundRect">
            <a:avLst>
              <a:gd name="adj" fmla="val 13636"/>
            </a:avLst>
          </a:prstGeom>
          <a:solidFill>
            <a:srgbClr val="4A3517"/>
          </a:solidFill>
          <a:ln w="12700">
            <a:solidFill>
              <a:srgbClr val="4A3517"/>
            </a:solidFill>
            <a:prstDash val="solid"/>
          </a:ln>
        </p:spPr>
        <p:txBody>
          <a:bodyPr/>
          <a:lstStyle/>
          <a:p>
            <a:endParaRPr lang="en-US"/>
          </a:p>
        </p:txBody>
      </p:sp>
      <p:sp>
        <p:nvSpPr>
          <p:cNvPr id="18" name="Text 16"/>
          <p:cNvSpPr/>
          <p:nvPr/>
        </p:nvSpPr>
        <p:spPr>
          <a:xfrm>
            <a:off x="6309360" y="270662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Pricing volatility</a:t>
            </a:r>
            <a:endParaRPr lang="en-US" sz="750"/>
          </a:p>
        </p:txBody>
      </p:sp>
      <p:sp>
        <p:nvSpPr>
          <p:cNvPr id="19" name="Text 17"/>
          <p:cNvSpPr/>
          <p:nvPr/>
        </p:nvSpPr>
        <p:spPr>
          <a:xfrm>
            <a:off x="7360920" y="2660904"/>
            <a:ext cx="3383280" cy="411480"/>
          </a:xfrm>
          <a:prstGeom prst="rect">
            <a:avLst/>
          </a:prstGeom>
          <a:noFill/>
          <a:ln/>
        </p:spPr>
        <p:txBody>
          <a:bodyPr wrap="square" lIns="254" tIns="254" rIns="254" bIns="254" rtlCol="0" anchor="ctr"/>
          <a:lstStyle/>
          <a:p>
            <a:pPr marL="0" indent="0">
              <a:buNone/>
            </a:pPr>
            <a:r>
              <a:rPr lang="en-US" sz="920">
                <a:solidFill>
                  <a:srgbClr val="CFCFCF"/>
                </a:solidFill>
              </a:rPr>
              <a:t>Providers change pricing, deprecate models, or alter terms with little advance warning.</a:t>
            </a:r>
            <a:endParaRPr lang="en-US" sz="920"/>
          </a:p>
        </p:txBody>
      </p:sp>
      <p:sp>
        <p:nvSpPr>
          <p:cNvPr id="20" name="Shape 18"/>
          <p:cNvSpPr/>
          <p:nvPr/>
        </p:nvSpPr>
        <p:spPr>
          <a:xfrm>
            <a:off x="6400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1" name="Shape 19"/>
          <p:cNvSpPr/>
          <p:nvPr/>
        </p:nvSpPr>
        <p:spPr>
          <a:xfrm>
            <a:off x="777240" y="3904488"/>
            <a:ext cx="914400" cy="201168"/>
          </a:xfrm>
          <a:prstGeom prst="roundRect">
            <a:avLst>
              <a:gd name="adj" fmla="val 13636"/>
            </a:avLst>
          </a:prstGeom>
          <a:solidFill>
            <a:srgbClr val="4A1717"/>
          </a:solidFill>
          <a:ln w="12700">
            <a:solidFill>
              <a:srgbClr val="4A1717"/>
            </a:solidFill>
            <a:prstDash val="solid"/>
          </a:ln>
        </p:spPr>
        <p:txBody>
          <a:bodyPr/>
          <a:lstStyle/>
          <a:p>
            <a:endParaRPr lang="en-US"/>
          </a:p>
        </p:txBody>
      </p:sp>
      <p:sp>
        <p:nvSpPr>
          <p:cNvPr id="22" name="Text 20"/>
          <p:cNvSpPr/>
          <p:nvPr/>
        </p:nvSpPr>
        <p:spPr>
          <a:xfrm>
            <a:off x="822960" y="394106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Latency limits</a:t>
            </a:r>
            <a:endParaRPr lang="en-US" sz="750"/>
          </a:p>
        </p:txBody>
      </p:sp>
      <p:sp>
        <p:nvSpPr>
          <p:cNvPr id="23" name="Text 21"/>
          <p:cNvSpPr/>
          <p:nvPr/>
        </p:nvSpPr>
        <p:spPr>
          <a:xfrm>
            <a:off x="1874520" y="3895344"/>
            <a:ext cx="3383280" cy="411480"/>
          </a:xfrm>
          <a:prstGeom prst="rect">
            <a:avLst/>
          </a:prstGeom>
          <a:noFill/>
          <a:ln/>
        </p:spPr>
        <p:txBody>
          <a:bodyPr wrap="square" lIns="254" tIns="254" rIns="254" bIns="254" rtlCol="0" anchor="ctr"/>
          <a:lstStyle/>
          <a:p>
            <a:pPr marL="0" indent="0">
              <a:buNone/>
            </a:pPr>
            <a:r>
              <a:rPr lang="en-US" sz="920">
                <a:solidFill>
                  <a:srgbClr val="CFCFCF"/>
                </a:solidFill>
              </a:rPr>
              <a:t>Network round-trips and opaque model updates undermine real-time and safety-critical use cases.</a:t>
            </a:r>
            <a:endParaRPr lang="en-US" sz="920"/>
          </a:p>
        </p:txBody>
      </p:sp>
      <p:sp>
        <p:nvSpPr>
          <p:cNvPr id="24" name="Shape 22"/>
          <p:cNvSpPr/>
          <p:nvPr/>
        </p:nvSpPr>
        <p:spPr>
          <a:xfrm>
            <a:off x="61264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5" name="Shape 23"/>
          <p:cNvSpPr/>
          <p:nvPr/>
        </p:nvSpPr>
        <p:spPr>
          <a:xfrm>
            <a:off x="6263640" y="3904488"/>
            <a:ext cx="914400" cy="201168"/>
          </a:xfrm>
          <a:prstGeom prst="roundRect">
            <a:avLst>
              <a:gd name="adj" fmla="val 13636"/>
            </a:avLst>
          </a:prstGeom>
          <a:solidFill>
            <a:srgbClr val="4A3517"/>
          </a:solidFill>
          <a:ln w="12700">
            <a:solidFill>
              <a:srgbClr val="4A3517"/>
            </a:solidFill>
            <a:prstDash val="solid"/>
          </a:ln>
        </p:spPr>
        <p:txBody>
          <a:bodyPr/>
          <a:lstStyle/>
          <a:p>
            <a:endParaRPr lang="en-US"/>
          </a:p>
        </p:txBody>
      </p:sp>
      <p:sp>
        <p:nvSpPr>
          <p:cNvPr id="26" name="Text 24"/>
          <p:cNvSpPr/>
          <p:nvPr/>
        </p:nvSpPr>
        <p:spPr>
          <a:xfrm>
            <a:off x="6309360" y="394106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Compliance gaps</a:t>
            </a:r>
            <a:endParaRPr lang="en-US" sz="750"/>
          </a:p>
        </p:txBody>
      </p:sp>
      <p:sp>
        <p:nvSpPr>
          <p:cNvPr id="27" name="Text 25"/>
          <p:cNvSpPr/>
          <p:nvPr/>
        </p:nvSpPr>
        <p:spPr>
          <a:xfrm>
            <a:off x="7360920" y="3895344"/>
            <a:ext cx="3383280" cy="411480"/>
          </a:xfrm>
          <a:prstGeom prst="rect">
            <a:avLst/>
          </a:prstGeom>
          <a:noFill/>
          <a:ln/>
        </p:spPr>
        <p:txBody>
          <a:bodyPr wrap="square" lIns="254" tIns="254" rIns="254" bIns="254" rtlCol="0" anchor="ctr"/>
          <a:lstStyle/>
          <a:p>
            <a:pPr marL="0" indent="0">
              <a:buNone/>
            </a:pPr>
            <a:r>
              <a:rPr lang="en-US" sz="920">
                <a:solidFill>
                  <a:srgbClr val="CFCFCF"/>
                </a:solidFill>
              </a:rPr>
              <a:t>Data residency, audit trails, and sovereignty rules may conflict with hosted model geography.</a:t>
            </a:r>
            <a:endParaRPr lang="en-US" sz="92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192024"/>
            <a:ext cx="9600000" cy="384048"/>
          </a:xfrm>
          <a:prstGeom prst="rect">
            <a:avLst/>
          </a:prstGeom>
          <a:noFill/>
          <a:ln/>
        </p:spPr>
        <p:txBody>
          <a:bodyPr wrap="square" lIns="0" tIns="0" rIns="0" bIns="0" rtlCol="0" anchor="ctr"/>
          <a:lstStyle/>
          <a:p>
            <a:pPr marL="0" indent="0">
              <a:buNone/>
            </a:pPr>
            <a:r>
              <a:rPr lang="en-US" sz="2200" b="1">
                <a:solidFill>
                  <a:srgbClr val="FFFFFF"/>
                </a:solidFill>
                <a:latin typeface="Aptos Display" pitchFamily="34" charset="0"/>
                <a:ea typeface="Aptos Display" pitchFamily="34" charset="-122"/>
                <a:cs typeface="Aptos Display" pitchFamily="34" charset="-120"/>
              </a:rPr>
              <a:t>Dangers of relying on local hardware resources</a:t>
            </a:r>
            <a:endParaRPr lang="en-US" sz="220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a:solidFill>
                  <a:srgbClr val="8B8B8B"/>
                </a:solidFill>
                <a:latin typeface="Aptos" pitchFamily="34" charset="0"/>
                <a:ea typeface="Aptos" pitchFamily="34" charset="-122"/>
                <a:cs typeface="Aptos" pitchFamily="34" charset="-120"/>
              </a:rPr>
              <a:t>Control comes at a cost that few teams budget for honestly.</a:t>
            </a:r>
            <a:endParaRPr lang="en-US" sz="750"/>
          </a:p>
        </p:txBody>
      </p:sp>
      <p:sp>
        <p:nvSpPr>
          <p:cNvPr id="4" name="Shape 2"/>
          <p:cNvSpPr/>
          <p:nvPr/>
        </p:nvSpPr>
        <p:spPr>
          <a:xfrm>
            <a:off x="6400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5" name="Shape 3"/>
          <p:cNvSpPr/>
          <p:nvPr/>
        </p:nvSpPr>
        <p:spPr>
          <a:xfrm>
            <a:off x="777240" y="143560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6" name="Text 4"/>
          <p:cNvSpPr/>
          <p:nvPr/>
        </p:nvSpPr>
        <p:spPr>
          <a:xfrm>
            <a:off x="822960" y="147218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Capital expense</a:t>
            </a:r>
            <a:endParaRPr lang="en-US" sz="750"/>
          </a:p>
        </p:txBody>
      </p:sp>
      <p:sp>
        <p:nvSpPr>
          <p:cNvPr id="7" name="Text 5"/>
          <p:cNvSpPr/>
          <p:nvPr/>
        </p:nvSpPr>
        <p:spPr>
          <a:xfrm>
            <a:off x="1874520" y="1426464"/>
            <a:ext cx="3383280" cy="411480"/>
          </a:xfrm>
          <a:prstGeom prst="rect">
            <a:avLst/>
          </a:prstGeom>
          <a:noFill/>
          <a:ln/>
        </p:spPr>
        <p:txBody>
          <a:bodyPr wrap="square" lIns="254" tIns="254" rIns="254" bIns="254" rtlCol="0" anchor="ctr"/>
          <a:lstStyle/>
          <a:p>
            <a:pPr marL="0" indent="0">
              <a:buNone/>
            </a:pPr>
            <a:r>
              <a:rPr lang="en-US" sz="920">
                <a:solidFill>
                  <a:srgbClr val="CFCFCF"/>
                </a:solidFill>
              </a:rPr>
              <a:t>Large upfront hardware investment with rapid depreciation and uncertain utilization rates.</a:t>
            </a:r>
            <a:endParaRPr lang="en-US" sz="920"/>
          </a:p>
        </p:txBody>
      </p:sp>
      <p:sp>
        <p:nvSpPr>
          <p:cNvPr id="8" name="Shape 6"/>
          <p:cNvSpPr/>
          <p:nvPr/>
        </p:nvSpPr>
        <p:spPr>
          <a:xfrm>
            <a:off x="6126480" y="128016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9" name="Shape 7"/>
          <p:cNvSpPr/>
          <p:nvPr/>
        </p:nvSpPr>
        <p:spPr>
          <a:xfrm>
            <a:off x="6263640" y="1435608"/>
            <a:ext cx="914400" cy="201168"/>
          </a:xfrm>
          <a:prstGeom prst="roundRect">
            <a:avLst>
              <a:gd name="adj" fmla="val 13636"/>
            </a:avLst>
          </a:prstGeom>
          <a:solidFill>
            <a:srgbClr val="174A3D"/>
          </a:solidFill>
          <a:ln w="12700">
            <a:solidFill>
              <a:srgbClr val="174A3D"/>
            </a:solidFill>
            <a:prstDash val="solid"/>
          </a:ln>
        </p:spPr>
        <p:txBody>
          <a:bodyPr/>
          <a:lstStyle/>
          <a:p>
            <a:endParaRPr lang="en-US"/>
          </a:p>
        </p:txBody>
      </p:sp>
      <p:sp>
        <p:nvSpPr>
          <p:cNvPr id="10" name="Text 8"/>
          <p:cNvSpPr/>
          <p:nvPr/>
        </p:nvSpPr>
        <p:spPr>
          <a:xfrm>
            <a:off x="6309360" y="147218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Scaling limits</a:t>
            </a:r>
            <a:endParaRPr lang="en-US" sz="750"/>
          </a:p>
        </p:txBody>
      </p:sp>
      <p:sp>
        <p:nvSpPr>
          <p:cNvPr id="11" name="Text 9"/>
          <p:cNvSpPr/>
          <p:nvPr/>
        </p:nvSpPr>
        <p:spPr>
          <a:xfrm>
            <a:off x="7360920" y="1426464"/>
            <a:ext cx="3383280" cy="411480"/>
          </a:xfrm>
          <a:prstGeom prst="rect">
            <a:avLst/>
          </a:prstGeom>
          <a:noFill/>
          <a:ln/>
        </p:spPr>
        <p:txBody>
          <a:bodyPr wrap="square" lIns="254" tIns="254" rIns="254" bIns="254" rtlCol="0" anchor="ctr"/>
          <a:lstStyle/>
          <a:p>
            <a:pPr marL="0" indent="0">
              <a:buNone/>
            </a:pPr>
            <a:r>
              <a:rPr lang="en-US" sz="920">
                <a:solidFill>
                  <a:srgbClr val="CFCFCF"/>
                </a:solidFill>
              </a:rPr>
              <a:t>Capacity ceilings are physical; sudden demand spikes cannot be absorbed without pre-purchased headroom.</a:t>
            </a:r>
            <a:endParaRPr lang="en-US" sz="920"/>
          </a:p>
        </p:txBody>
      </p:sp>
      <p:sp>
        <p:nvSpPr>
          <p:cNvPr id="12" name="Shape 10"/>
          <p:cNvSpPr/>
          <p:nvPr/>
        </p:nvSpPr>
        <p:spPr>
          <a:xfrm>
            <a:off x="6400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3" name="Shape 11"/>
          <p:cNvSpPr/>
          <p:nvPr/>
        </p:nvSpPr>
        <p:spPr>
          <a:xfrm>
            <a:off x="777240" y="267004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14" name="Text 12"/>
          <p:cNvSpPr/>
          <p:nvPr/>
        </p:nvSpPr>
        <p:spPr>
          <a:xfrm>
            <a:off x="822960" y="270662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Talent burden</a:t>
            </a:r>
            <a:endParaRPr lang="en-US" sz="750"/>
          </a:p>
        </p:txBody>
      </p:sp>
      <p:sp>
        <p:nvSpPr>
          <p:cNvPr id="15" name="Text 13"/>
          <p:cNvSpPr/>
          <p:nvPr/>
        </p:nvSpPr>
        <p:spPr>
          <a:xfrm>
            <a:off x="1874520" y="2660904"/>
            <a:ext cx="3383280" cy="411480"/>
          </a:xfrm>
          <a:prstGeom prst="rect">
            <a:avLst/>
          </a:prstGeom>
          <a:noFill/>
          <a:ln/>
        </p:spPr>
        <p:txBody>
          <a:bodyPr wrap="square" lIns="254" tIns="254" rIns="254" bIns="254" rtlCol="0" anchor="ctr"/>
          <a:lstStyle/>
          <a:p>
            <a:pPr marL="0" indent="0">
              <a:buNone/>
            </a:pPr>
            <a:r>
              <a:rPr lang="en-US" sz="920">
                <a:solidFill>
                  <a:srgbClr val="CFCFCF"/>
                </a:solidFill>
              </a:rPr>
              <a:t>Requires specialized staff to maintain GPUs, networking, cooling, and ML infrastructure full-time.</a:t>
            </a:r>
            <a:endParaRPr lang="en-US" sz="920"/>
          </a:p>
        </p:txBody>
      </p:sp>
      <p:sp>
        <p:nvSpPr>
          <p:cNvPr id="16" name="Shape 14"/>
          <p:cNvSpPr/>
          <p:nvPr/>
        </p:nvSpPr>
        <p:spPr>
          <a:xfrm>
            <a:off x="6126480" y="251460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17" name="Shape 15"/>
          <p:cNvSpPr/>
          <p:nvPr/>
        </p:nvSpPr>
        <p:spPr>
          <a:xfrm>
            <a:off x="6263640" y="2670048"/>
            <a:ext cx="914400" cy="201168"/>
          </a:xfrm>
          <a:prstGeom prst="roundRect">
            <a:avLst>
              <a:gd name="adj" fmla="val 13636"/>
            </a:avLst>
          </a:prstGeom>
          <a:solidFill>
            <a:srgbClr val="174A3D"/>
          </a:solidFill>
          <a:ln w="12700">
            <a:solidFill>
              <a:srgbClr val="174A3D"/>
            </a:solidFill>
            <a:prstDash val="solid"/>
          </a:ln>
        </p:spPr>
        <p:txBody>
          <a:bodyPr/>
          <a:lstStyle/>
          <a:p>
            <a:endParaRPr lang="en-US"/>
          </a:p>
        </p:txBody>
      </p:sp>
      <p:sp>
        <p:nvSpPr>
          <p:cNvPr id="18" name="Text 16"/>
          <p:cNvSpPr/>
          <p:nvPr/>
        </p:nvSpPr>
        <p:spPr>
          <a:xfrm>
            <a:off x="6309360" y="270662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Model lag</a:t>
            </a:r>
            <a:endParaRPr lang="en-US" sz="750"/>
          </a:p>
        </p:txBody>
      </p:sp>
      <p:sp>
        <p:nvSpPr>
          <p:cNvPr id="19" name="Text 17"/>
          <p:cNvSpPr/>
          <p:nvPr/>
        </p:nvSpPr>
        <p:spPr>
          <a:xfrm>
            <a:off x="7360920" y="2660904"/>
            <a:ext cx="3383280" cy="411480"/>
          </a:xfrm>
          <a:prstGeom prst="rect">
            <a:avLst/>
          </a:prstGeom>
          <a:noFill/>
          <a:ln/>
        </p:spPr>
        <p:txBody>
          <a:bodyPr wrap="square" lIns="254" tIns="254" rIns="254" bIns="254" rtlCol="0" anchor="ctr"/>
          <a:lstStyle/>
          <a:p>
            <a:pPr marL="0" indent="0">
              <a:buNone/>
            </a:pPr>
            <a:r>
              <a:rPr lang="en-US" sz="920">
                <a:solidFill>
                  <a:srgbClr val="CFCFCF"/>
                </a:solidFill>
              </a:rPr>
              <a:t>Running the latest models locally means lengthy procurement, testing, and integration cycles.</a:t>
            </a:r>
            <a:endParaRPr lang="en-US" sz="920"/>
          </a:p>
        </p:txBody>
      </p:sp>
      <p:sp>
        <p:nvSpPr>
          <p:cNvPr id="20" name="Shape 18"/>
          <p:cNvSpPr/>
          <p:nvPr/>
        </p:nvSpPr>
        <p:spPr>
          <a:xfrm>
            <a:off x="6400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1" name="Shape 19"/>
          <p:cNvSpPr/>
          <p:nvPr/>
        </p:nvSpPr>
        <p:spPr>
          <a:xfrm>
            <a:off x="777240" y="3904488"/>
            <a:ext cx="91440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22" name="Text 20"/>
          <p:cNvSpPr/>
          <p:nvPr/>
        </p:nvSpPr>
        <p:spPr>
          <a:xfrm>
            <a:off x="822960" y="394106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Redundancy cost</a:t>
            </a:r>
            <a:endParaRPr lang="en-US" sz="750"/>
          </a:p>
        </p:txBody>
      </p:sp>
      <p:sp>
        <p:nvSpPr>
          <p:cNvPr id="23" name="Text 21"/>
          <p:cNvSpPr/>
          <p:nvPr/>
        </p:nvSpPr>
        <p:spPr>
          <a:xfrm>
            <a:off x="1874520" y="3895344"/>
            <a:ext cx="3383280" cy="411480"/>
          </a:xfrm>
          <a:prstGeom prst="rect">
            <a:avLst/>
          </a:prstGeom>
          <a:noFill/>
          <a:ln/>
        </p:spPr>
        <p:txBody>
          <a:bodyPr wrap="square" lIns="254" tIns="254" rIns="254" bIns="254" rtlCol="0" anchor="ctr"/>
          <a:lstStyle/>
          <a:p>
            <a:pPr marL="0" indent="0">
              <a:buNone/>
            </a:pPr>
            <a:r>
              <a:rPr lang="en-US" sz="920">
                <a:solidFill>
                  <a:srgbClr val="CFCFCF"/>
                </a:solidFill>
              </a:rPr>
              <a:t>Achieving high availability requires duplicate hardware, power, and connectivity across sites.</a:t>
            </a:r>
            <a:endParaRPr lang="en-US" sz="920"/>
          </a:p>
        </p:txBody>
      </p:sp>
      <p:sp>
        <p:nvSpPr>
          <p:cNvPr id="24" name="Shape 22"/>
          <p:cNvSpPr/>
          <p:nvPr/>
        </p:nvSpPr>
        <p:spPr>
          <a:xfrm>
            <a:off x="6126480" y="3749040"/>
            <a:ext cx="4892040" cy="868680"/>
          </a:xfrm>
          <a:prstGeom prst="roundRect">
            <a:avLst>
              <a:gd name="adj" fmla="val 6316"/>
            </a:avLst>
          </a:prstGeom>
          <a:solidFill>
            <a:srgbClr val="0A151F"/>
          </a:solidFill>
          <a:ln w="12700">
            <a:solidFill>
              <a:srgbClr val="2B2B2B"/>
            </a:solidFill>
            <a:prstDash val="solid"/>
          </a:ln>
        </p:spPr>
        <p:txBody>
          <a:bodyPr/>
          <a:lstStyle/>
          <a:p>
            <a:endParaRPr lang="en-US"/>
          </a:p>
        </p:txBody>
      </p:sp>
      <p:sp>
        <p:nvSpPr>
          <p:cNvPr id="25" name="Shape 23"/>
          <p:cNvSpPr/>
          <p:nvPr/>
        </p:nvSpPr>
        <p:spPr>
          <a:xfrm>
            <a:off x="6263640" y="3904488"/>
            <a:ext cx="914400" cy="201168"/>
          </a:xfrm>
          <a:prstGeom prst="roundRect">
            <a:avLst>
              <a:gd name="adj" fmla="val 13636"/>
            </a:avLst>
          </a:prstGeom>
          <a:solidFill>
            <a:srgbClr val="174A3D"/>
          </a:solidFill>
          <a:ln w="12700">
            <a:solidFill>
              <a:srgbClr val="174A3D"/>
            </a:solidFill>
            <a:prstDash val="solid"/>
          </a:ln>
        </p:spPr>
        <p:txBody>
          <a:bodyPr/>
          <a:lstStyle/>
          <a:p>
            <a:endParaRPr lang="en-US"/>
          </a:p>
        </p:txBody>
      </p:sp>
      <p:sp>
        <p:nvSpPr>
          <p:cNvPr id="26" name="Text 24"/>
          <p:cNvSpPr/>
          <p:nvPr/>
        </p:nvSpPr>
        <p:spPr>
          <a:xfrm>
            <a:off x="6309360" y="3941064"/>
            <a:ext cx="822960" cy="91440"/>
          </a:xfrm>
          <a:prstGeom prst="rect">
            <a:avLst/>
          </a:prstGeom>
          <a:noFill/>
          <a:ln/>
        </p:spPr>
        <p:txBody>
          <a:bodyPr wrap="square" lIns="0" tIns="0" rIns="0" bIns="0" rtlCol="0" anchor="ctr"/>
          <a:lstStyle/>
          <a:p>
            <a:pPr marL="0" indent="0" algn="ctr">
              <a:buNone/>
            </a:pPr>
            <a:r>
              <a:rPr lang="en-US" sz="750" b="1">
                <a:solidFill>
                  <a:srgbClr val="FFFFFF"/>
                </a:solidFill>
              </a:rPr>
              <a:t>Security surface</a:t>
            </a:r>
            <a:endParaRPr lang="en-US" sz="750"/>
          </a:p>
        </p:txBody>
      </p:sp>
      <p:sp>
        <p:nvSpPr>
          <p:cNvPr id="27" name="Text 25"/>
          <p:cNvSpPr/>
          <p:nvPr/>
        </p:nvSpPr>
        <p:spPr>
          <a:xfrm>
            <a:off x="7360920" y="3895344"/>
            <a:ext cx="3383280" cy="411480"/>
          </a:xfrm>
          <a:prstGeom prst="rect">
            <a:avLst/>
          </a:prstGeom>
          <a:noFill/>
          <a:ln/>
        </p:spPr>
        <p:txBody>
          <a:bodyPr wrap="square" lIns="254" tIns="254" rIns="254" bIns="254" rtlCol="0" anchor="ctr"/>
          <a:lstStyle/>
          <a:p>
            <a:pPr marL="0" indent="0">
              <a:buNone/>
            </a:pPr>
            <a:r>
              <a:rPr lang="en-US" sz="920">
                <a:solidFill>
                  <a:srgbClr val="CFCFCF"/>
                </a:solidFill>
              </a:rPr>
              <a:t>On-prem infrastructure exposes you to physical threats, patching lag, and supply-chain risks you must own entirely.</a:t>
            </a:r>
            <a:endParaRPr lang="en-US" sz="92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Governance and metrics</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Do not measure “AI usage.” Measure controlled business outcomes.</a:t>
            </a:r>
            <a:endParaRPr lang="en-US" sz="750" dirty="0"/>
          </a:p>
        </p:txBody>
      </p:sp>
      <p:sp>
        <p:nvSpPr>
          <p:cNvPr id="4" name="Shape 2"/>
          <p:cNvSpPr/>
          <p:nvPr/>
        </p:nvSpPr>
        <p:spPr>
          <a:xfrm>
            <a:off x="502920" y="128016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5" name="Text 3"/>
          <p:cNvSpPr/>
          <p:nvPr/>
        </p:nvSpPr>
        <p:spPr>
          <a:xfrm>
            <a:off x="667512" y="144475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Outcome quality</a:t>
            </a:r>
            <a:endParaRPr lang="en-US" sz="1100" dirty="0"/>
          </a:p>
        </p:txBody>
      </p:sp>
      <p:sp>
        <p:nvSpPr>
          <p:cNvPr id="6" name="Text 4"/>
          <p:cNvSpPr/>
          <p:nvPr/>
        </p:nvSpPr>
        <p:spPr>
          <a:xfrm>
            <a:off x="667512" y="1773936"/>
            <a:ext cx="2743200" cy="164592"/>
          </a:xfrm>
          <a:prstGeom prst="rect">
            <a:avLst/>
          </a:prstGeom>
          <a:noFill/>
          <a:ln/>
        </p:spPr>
        <p:txBody>
          <a:bodyPr wrap="square" lIns="0" tIns="0" rIns="0" bIns="0" rtlCol="0" anchor="ctr"/>
          <a:lstStyle/>
          <a:p>
            <a:pPr marL="0" indent="0">
              <a:buNone/>
            </a:pPr>
            <a:r>
              <a:rPr lang="en-US" sz="920" dirty="0">
                <a:solidFill>
                  <a:srgbClr val="CFCFCF"/>
                </a:solidFill>
              </a:rPr>
              <a:t>pass rate, rubric score, factuality</a:t>
            </a:r>
            <a:endParaRPr lang="en-US" sz="920" dirty="0"/>
          </a:p>
        </p:txBody>
      </p:sp>
      <p:sp>
        <p:nvSpPr>
          <p:cNvPr id="7" name="Shape 5"/>
          <p:cNvSpPr/>
          <p:nvPr/>
        </p:nvSpPr>
        <p:spPr>
          <a:xfrm>
            <a:off x="4297680" y="128016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8" name="Text 6"/>
          <p:cNvSpPr/>
          <p:nvPr/>
        </p:nvSpPr>
        <p:spPr>
          <a:xfrm>
            <a:off x="4462272" y="144475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Latency</a:t>
            </a:r>
            <a:endParaRPr lang="en-US" sz="1100" dirty="0"/>
          </a:p>
        </p:txBody>
      </p:sp>
      <p:sp>
        <p:nvSpPr>
          <p:cNvPr id="9" name="Text 7"/>
          <p:cNvSpPr/>
          <p:nvPr/>
        </p:nvSpPr>
        <p:spPr>
          <a:xfrm>
            <a:off x="4462272" y="1773936"/>
            <a:ext cx="2743200" cy="164592"/>
          </a:xfrm>
          <a:prstGeom prst="rect">
            <a:avLst/>
          </a:prstGeom>
          <a:noFill/>
          <a:ln/>
        </p:spPr>
        <p:txBody>
          <a:bodyPr wrap="square" lIns="0" tIns="0" rIns="0" bIns="0" rtlCol="0" anchor="ctr"/>
          <a:lstStyle/>
          <a:p>
            <a:pPr marL="0" indent="0">
              <a:buNone/>
            </a:pPr>
            <a:r>
              <a:rPr lang="en-US" sz="920" dirty="0">
                <a:solidFill>
                  <a:srgbClr val="CFCFCF"/>
                </a:solidFill>
              </a:rPr>
              <a:t>time to useful answer / completion</a:t>
            </a:r>
            <a:endParaRPr lang="en-US" sz="920" dirty="0"/>
          </a:p>
        </p:txBody>
      </p:sp>
      <p:sp>
        <p:nvSpPr>
          <p:cNvPr id="10" name="Shape 8"/>
          <p:cNvSpPr/>
          <p:nvPr/>
        </p:nvSpPr>
        <p:spPr>
          <a:xfrm>
            <a:off x="8092440" y="128016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11" name="Text 9"/>
          <p:cNvSpPr/>
          <p:nvPr/>
        </p:nvSpPr>
        <p:spPr>
          <a:xfrm>
            <a:off x="8257032" y="144475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Cost</a:t>
            </a:r>
            <a:endParaRPr lang="en-US" sz="1100" dirty="0"/>
          </a:p>
        </p:txBody>
      </p:sp>
      <p:sp>
        <p:nvSpPr>
          <p:cNvPr id="12" name="Text 10"/>
          <p:cNvSpPr/>
          <p:nvPr/>
        </p:nvSpPr>
        <p:spPr>
          <a:xfrm>
            <a:off x="8257032" y="1773936"/>
            <a:ext cx="2743200" cy="164592"/>
          </a:xfrm>
          <a:prstGeom prst="rect">
            <a:avLst/>
          </a:prstGeom>
          <a:noFill/>
          <a:ln/>
        </p:spPr>
        <p:txBody>
          <a:bodyPr wrap="square" lIns="0" tIns="0" rIns="0" bIns="0" rtlCol="0" anchor="ctr"/>
          <a:lstStyle/>
          <a:p>
            <a:pPr marL="0" indent="0">
              <a:buNone/>
            </a:pPr>
            <a:r>
              <a:rPr lang="en-US" sz="920" dirty="0">
                <a:solidFill>
                  <a:srgbClr val="CFCFCF"/>
                </a:solidFill>
              </a:rPr>
              <a:t>tokens + tools + human review</a:t>
            </a:r>
            <a:endParaRPr lang="en-US" sz="920" dirty="0"/>
          </a:p>
        </p:txBody>
      </p:sp>
      <p:sp>
        <p:nvSpPr>
          <p:cNvPr id="13" name="Shape 11"/>
          <p:cNvSpPr/>
          <p:nvPr/>
        </p:nvSpPr>
        <p:spPr>
          <a:xfrm>
            <a:off x="502920" y="278892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14" name="Text 12"/>
          <p:cNvSpPr/>
          <p:nvPr/>
        </p:nvSpPr>
        <p:spPr>
          <a:xfrm>
            <a:off x="667512" y="295351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Escalation rate</a:t>
            </a:r>
            <a:endParaRPr lang="en-US" sz="1100" dirty="0"/>
          </a:p>
        </p:txBody>
      </p:sp>
      <p:sp>
        <p:nvSpPr>
          <p:cNvPr id="15" name="Text 13"/>
          <p:cNvSpPr/>
          <p:nvPr/>
        </p:nvSpPr>
        <p:spPr>
          <a:xfrm>
            <a:off x="667512" y="3282696"/>
            <a:ext cx="2743200" cy="164592"/>
          </a:xfrm>
          <a:prstGeom prst="rect">
            <a:avLst/>
          </a:prstGeom>
          <a:noFill/>
          <a:ln/>
        </p:spPr>
        <p:txBody>
          <a:bodyPr wrap="square" lIns="0" tIns="0" rIns="0" bIns="0" rtlCol="0" anchor="ctr"/>
          <a:lstStyle/>
          <a:p>
            <a:pPr marL="0" indent="0">
              <a:buNone/>
            </a:pPr>
            <a:r>
              <a:rPr lang="en-US" sz="920" dirty="0">
                <a:solidFill>
                  <a:srgbClr val="CFCFCF"/>
                </a:solidFill>
              </a:rPr>
              <a:t>when the workflow needs a human</a:t>
            </a:r>
            <a:endParaRPr lang="en-US" sz="920" dirty="0"/>
          </a:p>
        </p:txBody>
      </p:sp>
      <p:sp>
        <p:nvSpPr>
          <p:cNvPr id="16" name="Shape 14"/>
          <p:cNvSpPr/>
          <p:nvPr/>
        </p:nvSpPr>
        <p:spPr>
          <a:xfrm>
            <a:off x="4297680" y="278892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17" name="Text 15"/>
          <p:cNvSpPr/>
          <p:nvPr/>
        </p:nvSpPr>
        <p:spPr>
          <a:xfrm>
            <a:off x="4462272" y="295351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Risk events</a:t>
            </a:r>
            <a:endParaRPr lang="en-US" sz="1100" dirty="0"/>
          </a:p>
        </p:txBody>
      </p:sp>
      <p:sp>
        <p:nvSpPr>
          <p:cNvPr id="18" name="Text 16"/>
          <p:cNvSpPr/>
          <p:nvPr/>
        </p:nvSpPr>
        <p:spPr>
          <a:xfrm>
            <a:off x="4462272" y="3282696"/>
            <a:ext cx="2743200" cy="164592"/>
          </a:xfrm>
          <a:prstGeom prst="rect">
            <a:avLst/>
          </a:prstGeom>
          <a:noFill/>
          <a:ln/>
        </p:spPr>
        <p:txBody>
          <a:bodyPr wrap="square" lIns="0" tIns="0" rIns="0" bIns="0" rtlCol="0" anchor="ctr"/>
          <a:lstStyle/>
          <a:p>
            <a:pPr marL="0" indent="0">
              <a:buNone/>
            </a:pPr>
            <a:r>
              <a:rPr lang="en-US" sz="920" dirty="0">
                <a:solidFill>
                  <a:srgbClr val="CFCFCF"/>
                </a:solidFill>
              </a:rPr>
              <a:t>blocked actions, policy hits, incidents</a:t>
            </a:r>
            <a:endParaRPr lang="en-US" sz="920" dirty="0"/>
          </a:p>
        </p:txBody>
      </p:sp>
      <p:sp>
        <p:nvSpPr>
          <p:cNvPr id="19" name="Shape 17"/>
          <p:cNvSpPr/>
          <p:nvPr/>
        </p:nvSpPr>
        <p:spPr>
          <a:xfrm>
            <a:off x="8092440" y="2788920"/>
            <a:ext cx="3429000" cy="1051560"/>
          </a:xfrm>
          <a:prstGeom prst="roundRect">
            <a:avLst>
              <a:gd name="adj" fmla="val 5217"/>
            </a:avLst>
          </a:prstGeom>
          <a:solidFill>
            <a:srgbClr val="0A1A2A"/>
          </a:solidFill>
          <a:ln w="12700">
            <a:solidFill>
              <a:srgbClr val="2B2B2B"/>
            </a:solidFill>
            <a:prstDash val="solid"/>
          </a:ln>
        </p:spPr>
        <p:txBody>
          <a:bodyPr/>
          <a:lstStyle/>
          <a:p>
            <a:endParaRPr lang="en-US"/>
          </a:p>
        </p:txBody>
      </p:sp>
      <p:sp>
        <p:nvSpPr>
          <p:cNvPr id="20" name="Text 18"/>
          <p:cNvSpPr/>
          <p:nvPr/>
        </p:nvSpPr>
        <p:spPr>
          <a:xfrm>
            <a:off x="8257032" y="2953512"/>
            <a:ext cx="2560320" cy="164592"/>
          </a:xfrm>
          <a:prstGeom prst="rect">
            <a:avLst/>
          </a:prstGeom>
          <a:noFill/>
          <a:ln/>
        </p:spPr>
        <p:txBody>
          <a:bodyPr wrap="square" lIns="0" tIns="0" rIns="0" bIns="0" rtlCol="0" anchor="ctr"/>
          <a:lstStyle/>
          <a:p>
            <a:pPr marL="0" indent="0">
              <a:buNone/>
            </a:pPr>
            <a:r>
              <a:rPr lang="en-US" sz="1100" b="1" dirty="0">
                <a:solidFill>
                  <a:srgbClr val="FFFFFF"/>
                </a:solidFill>
              </a:rPr>
              <a:t>Drift</a:t>
            </a:r>
            <a:endParaRPr lang="en-US" sz="1100" dirty="0"/>
          </a:p>
        </p:txBody>
      </p:sp>
      <p:sp>
        <p:nvSpPr>
          <p:cNvPr id="21" name="Text 19"/>
          <p:cNvSpPr/>
          <p:nvPr/>
        </p:nvSpPr>
        <p:spPr>
          <a:xfrm>
            <a:off x="8257032" y="3282696"/>
            <a:ext cx="2743200" cy="164592"/>
          </a:xfrm>
          <a:prstGeom prst="rect">
            <a:avLst/>
          </a:prstGeom>
          <a:noFill/>
          <a:ln/>
        </p:spPr>
        <p:txBody>
          <a:bodyPr wrap="square" lIns="0" tIns="0" rIns="0" bIns="0" rtlCol="0" anchor="ctr"/>
          <a:lstStyle/>
          <a:p>
            <a:pPr marL="0" indent="0">
              <a:buNone/>
            </a:pPr>
            <a:r>
              <a:rPr lang="en-US" sz="920" dirty="0">
                <a:solidFill>
                  <a:srgbClr val="CFCFCF"/>
                </a:solidFill>
              </a:rPr>
              <a:t>performance by task, segment, or prompt family</a:t>
            </a:r>
            <a:endParaRPr lang="en-US" sz="920" dirty="0"/>
          </a:p>
        </p:txBody>
      </p:sp>
      <p:sp>
        <p:nvSpPr>
          <p:cNvPr id="22" name="Text 20"/>
          <p:cNvSpPr/>
          <p:nvPr/>
        </p:nvSpPr>
        <p:spPr>
          <a:xfrm>
            <a:off x="548640" y="5669280"/>
            <a:ext cx="7132320" cy="219456"/>
          </a:xfrm>
          <a:prstGeom prst="rect">
            <a:avLst/>
          </a:prstGeom>
          <a:noFill/>
          <a:ln/>
        </p:spPr>
        <p:txBody>
          <a:bodyPr wrap="square" lIns="0" tIns="0" rIns="0" bIns="0" rtlCol="0" anchor="ctr"/>
          <a:lstStyle/>
          <a:p>
            <a:pPr marL="0" indent="0">
              <a:buNone/>
            </a:pPr>
            <a:r>
              <a:rPr lang="en-US" sz="1000" i="1" dirty="0">
                <a:solidFill>
                  <a:srgbClr val="CFCFCF"/>
                </a:solidFill>
              </a:rPr>
              <a:t>Board-level question: where do humans still create disproportionate value, and where should orchestration remove drag?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a:effectLst/>
      </p:bgPr>
    </p:bg>
    <p:spTree>
      <p:nvGrpSpPr>
        <p:cNvPr id="1" name=""/>
        <p:cNvGrpSpPr/>
        <p:nvPr/>
      </p:nvGrpSpPr>
      <p:grpSpPr>
        <a:xfrm>
          <a:off x="0" y="0"/>
          <a:ext cx="0" cy="0"/>
          <a:chOff x="0" y="0"/>
          <a:chExt cx="0" cy="0"/>
        </a:xfrm>
      </p:grpSpPr>
      <p:sp>
        <p:nvSpPr>
          <p:cNvPr id="2"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A practical 90-day plan</a:t>
            </a:r>
            <a:endParaRPr lang="en-US" sz="2200" dirty="0"/>
          </a:p>
        </p:txBody>
      </p:sp>
      <p:sp>
        <p:nvSpPr>
          <p:cNvPr id="3" name="Text 1"/>
          <p:cNvSpPr/>
          <p:nvPr/>
        </p:nvSpPr>
        <p:spPr>
          <a:xfrm>
            <a:off x="320040" y="676656"/>
            <a:ext cx="8961120" cy="128016"/>
          </a:xfrm>
          <a:prstGeom prst="rect">
            <a:avLst/>
          </a:prstGeom>
          <a:noFill/>
          <a:ln/>
        </p:spPr>
        <p:txBody>
          <a:bodyPr wrap="square" lIns="0" tIns="0" rIns="0" bIns="0" rtlCol="0" anchor="ctr"/>
          <a:lstStyle/>
          <a:p>
            <a:pPr marL="0" indent="0">
              <a:buNone/>
            </a:pPr>
            <a:r>
              <a:rPr lang="en-US" sz="750" dirty="0">
                <a:solidFill>
                  <a:srgbClr val="8B8B8B"/>
                </a:solidFill>
                <a:latin typeface="Aptos" pitchFamily="34" charset="0"/>
                <a:ea typeface="Aptos" pitchFamily="34" charset="-122"/>
                <a:cs typeface="Aptos" pitchFamily="34" charset="-120"/>
              </a:rPr>
              <a:t>Small scope, live data, strong controls.</a:t>
            </a:r>
            <a:endParaRPr lang="en-US" sz="750" dirty="0"/>
          </a:p>
        </p:txBody>
      </p:sp>
      <p:sp>
        <p:nvSpPr>
          <p:cNvPr id="4" name="Shape 2"/>
          <p:cNvSpPr/>
          <p:nvPr/>
        </p:nvSpPr>
        <p:spPr>
          <a:xfrm>
            <a:off x="1051560" y="1417320"/>
            <a:ext cx="2697480" cy="3794760"/>
          </a:xfrm>
          <a:prstGeom prst="roundRect">
            <a:avLst>
              <a:gd name="adj" fmla="val 2034"/>
            </a:avLst>
          </a:prstGeom>
          <a:solidFill>
            <a:srgbClr val="0A1C2E"/>
          </a:solidFill>
          <a:ln w="12700">
            <a:solidFill>
              <a:srgbClr val="2B2B2B"/>
            </a:solidFill>
            <a:prstDash val="solid"/>
          </a:ln>
        </p:spPr>
        <p:txBody>
          <a:bodyPr/>
          <a:lstStyle/>
          <a:p>
            <a:endParaRPr lang="en-US"/>
          </a:p>
        </p:txBody>
      </p:sp>
      <p:sp>
        <p:nvSpPr>
          <p:cNvPr id="5" name="Shape 3"/>
          <p:cNvSpPr/>
          <p:nvPr/>
        </p:nvSpPr>
        <p:spPr>
          <a:xfrm>
            <a:off x="1280160" y="1627632"/>
            <a:ext cx="82296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6" name="Text 4"/>
          <p:cNvSpPr/>
          <p:nvPr/>
        </p:nvSpPr>
        <p:spPr>
          <a:xfrm>
            <a:off x="1325880" y="1664208"/>
            <a:ext cx="731520" cy="91440"/>
          </a:xfrm>
          <a:prstGeom prst="rect">
            <a:avLst/>
          </a:prstGeom>
          <a:noFill/>
          <a:ln/>
        </p:spPr>
        <p:txBody>
          <a:bodyPr wrap="square" lIns="0" tIns="0" rIns="0" bIns="0" rtlCol="0" anchor="ctr"/>
          <a:lstStyle/>
          <a:p>
            <a:pPr marL="0" indent="0" algn="ctr">
              <a:buNone/>
            </a:pPr>
            <a:r>
              <a:rPr lang="en-US" sz="750" b="1" dirty="0">
                <a:solidFill>
                  <a:srgbClr val="FFFFFF"/>
                </a:solidFill>
              </a:rPr>
              <a:t>Days 1–30</a:t>
            </a:r>
            <a:endParaRPr lang="en-US" sz="750" dirty="0"/>
          </a:p>
        </p:txBody>
      </p:sp>
      <p:sp>
        <p:nvSpPr>
          <p:cNvPr id="7" name="Text 5"/>
          <p:cNvSpPr/>
          <p:nvPr/>
        </p:nvSpPr>
        <p:spPr>
          <a:xfrm>
            <a:off x="1280160" y="201168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Pick one high-friction workflow</a:t>
            </a:r>
            <a:endParaRPr lang="en-US" sz="1200" dirty="0"/>
          </a:p>
        </p:txBody>
      </p:sp>
      <p:sp>
        <p:nvSpPr>
          <p:cNvPr id="8" name="Text 6"/>
          <p:cNvSpPr/>
          <p:nvPr/>
        </p:nvSpPr>
        <p:spPr>
          <a:xfrm>
            <a:off x="1280160" y="274320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Map tools, people, and approvals</a:t>
            </a:r>
            <a:endParaRPr lang="en-US" sz="1200" dirty="0"/>
          </a:p>
        </p:txBody>
      </p:sp>
      <p:sp>
        <p:nvSpPr>
          <p:cNvPr id="9" name="Text 7"/>
          <p:cNvSpPr/>
          <p:nvPr/>
        </p:nvSpPr>
        <p:spPr>
          <a:xfrm>
            <a:off x="1280160" y="347472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Define tests and stop conditions</a:t>
            </a:r>
            <a:endParaRPr lang="en-US" sz="1200" dirty="0"/>
          </a:p>
        </p:txBody>
      </p:sp>
      <p:sp>
        <p:nvSpPr>
          <p:cNvPr id="10" name="Shape 8"/>
          <p:cNvSpPr/>
          <p:nvPr/>
        </p:nvSpPr>
        <p:spPr>
          <a:xfrm>
            <a:off x="4709160" y="1417320"/>
            <a:ext cx="2697480" cy="3794760"/>
          </a:xfrm>
          <a:prstGeom prst="roundRect">
            <a:avLst>
              <a:gd name="adj" fmla="val 2034"/>
            </a:avLst>
          </a:prstGeom>
          <a:solidFill>
            <a:srgbClr val="0A1C2E"/>
          </a:solidFill>
          <a:ln w="12700">
            <a:solidFill>
              <a:srgbClr val="2B2B2B"/>
            </a:solidFill>
            <a:prstDash val="solid"/>
          </a:ln>
        </p:spPr>
        <p:txBody>
          <a:bodyPr/>
          <a:lstStyle/>
          <a:p>
            <a:endParaRPr lang="en-US"/>
          </a:p>
        </p:txBody>
      </p:sp>
      <p:sp>
        <p:nvSpPr>
          <p:cNvPr id="11" name="Shape 9"/>
          <p:cNvSpPr/>
          <p:nvPr/>
        </p:nvSpPr>
        <p:spPr>
          <a:xfrm>
            <a:off x="4937760" y="1627632"/>
            <a:ext cx="82296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12" name="Text 10"/>
          <p:cNvSpPr/>
          <p:nvPr/>
        </p:nvSpPr>
        <p:spPr>
          <a:xfrm>
            <a:off x="4983480" y="1664208"/>
            <a:ext cx="731520" cy="91440"/>
          </a:xfrm>
          <a:prstGeom prst="rect">
            <a:avLst/>
          </a:prstGeom>
          <a:noFill/>
          <a:ln/>
        </p:spPr>
        <p:txBody>
          <a:bodyPr wrap="square" lIns="0" tIns="0" rIns="0" bIns="0" rtlCol="0" anchor="ctr"/>
          <a:lstStyle/>
          <a:p>
            <a:pPr marL="0" indent="0" algn="ctr">
              <a:buNone/>
            </a:pPr>
            <a:r>
              <a:rPr lang="en-US" sz="750" b="1" dirty="0">
                <a:solidFill>
                  <a:srgbClr val="FFFFFF"/>
                </a:solidFill>
              </a:rPr>
              <a:t>Days 31–60</a:t>
            </a:r>
            <a:endParaRPr lang="en-US" sz="750" dirty="0"/>
          </a:p>
        </p:txBody>
      </p:sp>
      <p:sp>
        <p:nvSpPr>
          <p:cNvPr id="13" name="Text 11"/>
          <p:cNvSpPr/>
          <p:nvPr/>
        </p:nvSpPr>
        <p:spPr>
          <a:xfrm>
            <a:off x="4937760" y="201168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Add retrieval and drafting</a:t>
            </a:r>
            <a:endParaRPr lang="en-US" sz="1200" dirty="0"/>
          </a:p>
        </p:txBody>
      </p:sp>
      <p:sp>
        <p:nvSpPr>
          <p:cNvPr id="14" name="Text 12"/>
          <p:cNvSpPr/>
          <p:nvPr/>
        </p:nvSpPr>
        <p:spPr>
          <a:xfrm>
            <a:off x="4937760" y="274320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Introduce evaluators and tracing</a:t>
            </a:r>
            <a:endParaRPr lang="en-US" sz="1200" dirty="0"/>
          </a:p>
        </p:txBody>
      </p:sp>
      <p:sp>
        <p:nvSpPr>
          <p:cNvPr id="15" name="Text 13"/>
          <p:cNvSpPr/>
          <p:nvPr/>
        </p:nvSpPr>
        <p:spPr>
          <a:xfrm>
            <a:off x="4937760" y="347472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Keep human approval on all side effects</a:t>
            </a:r>
            <a:endParaRPr lang="en-US" sz="1200" dirty="0"/>
          </a:p>
        </p:txBody>
      </p:sp>
      <p:sp>
        <p:nvSpPr>
          <p:cNvPr id="16" name="Shape 14"/>
          <p:cNvSpPr/>
          <p:nvPr/>
        </p:nvSpPr>
        <p:spPr>
          <a:xfrm>
            <a:off x="8366760" y="1417320"/>
            <a:ext cx="2697480" cy="3794760"/>
          </a:xfrm>
          <a:prstGeom prst="roundRect">
            <a:avLst>
              <a:gd name="adj" fmla="val 2034"/>
            </a:avLst>
          </a:prstGeom>
          <a:solidFill>
            <a:srgbClr val="0A1C2E"/>
          </a:solidFill>
          <a:ln w="12700">
            <a:solidFill>
              <a:srgbClr val="2B2B2B"/>
            </a:solidFill>
            <a:prstDash val="solid"/>
          </a:ln>
        </p:spPr>
        <p:txBody>
          <a:bodyPr/>
          <a:lstStyle/>
          <a:p>
            <a:endParaRPr lang="en-US"/>
          </a:p>
        </p:txBody>
      </p:sp>
      <p:sp>
        <p:nvSpPr>
          <p:cNvPr id="17" name="Shape 15"/>
          <p:cNvSpPr/>
          <p:nvPr/>
        </p:nvSpPr>
        <p:spPr>
          <a:xfrm>
            <a:off x="8595360" y="1627632"/>
            <a:ext cx="822960" cy="201168"/>
          </a:xfrm>
          <a:prstGeom prst="roundRect">
            <a:avLst>
              <a:gd name="adj" fmla="val 13636"/>
            </a:avLst>
          </a:prstGeom>
          <a:solidFill>
            <a:srgbClr val="17314A"/>
          </a:solidFill>
          <a:ln w="12700">
            <a:solidFill>
              <a:srgbClr val="17314A"/>
            </a:solidFill>
            <a:prstDash val="solid"/>
          </a:ln>
        </p:spPr>
        <p:txBody>
          <a:bodyPr/>
          <a:lstStyle/>
          <a:p>
            <a:endParaRPr lang="en-US"/>
          </a:p>
        </p:txBody>
      </p:sp>
      <p:sp>
        <p:nvSpPr>
          <p:cNvPr id="18" name="Text 16"/>
          <p:cNvSpPr/>
          <p:nvPr/>
        </p:nvSpPr>
        <p:spPr>
          <a:xfrm>
            <a:off x="8641080" y="1664208"/>
            <a:ext cx="731520" cy="91440"/>
          </a:xfrm>
          <a:prstGeom prst="rect">
            <a:avLst/>
          </a:prstGeom>
          <a:noFill/>
          <a:ln/>
        </p:spPr>
        <p:txBody>
          <a:bodyPr wrap="square" lIns="0" tIns="0" rIns="0" bIns="0" rtlCol="0" anchor="ctr"/>
          <a:lstStyle/>
          <a:p>
            <a:pPr marL="0" indent="0" algn="ctr">
              <a:buNone/>
            </a:pPr>
            <a:r>
              <a:rPr lang="en-US" sz="750" b="1" dirty="0">
                <a:solidFill>
                  <a:srgbClr val="FFFFFF"/>
                </a:solidFill>
              </a:rPr>
              <a:t>Days 61–90</a:t>
            </a:r>
            <a:endParaRPr lang="en-US" sz="750" dirty="0"/>
          </a:p>
        </p:txBody>
      </p:sp>
      <p:sp>
        <p:nvSpPr>
          <p:cNvPr id="19" name="Text 17"/>
          <p:cNvSpPr/>
          <p:nvPr/>
        </p:nvSpPr>
        <p:spPr>
          <a:xfrm>
            <a:off x="8595360" y="201168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Pilot on live traffic</a:t>
            </a:r>
            <a:endParaRPr lang="en-US" sz="1200" dirty="0"/>
          </a:p>
        </p:txBody>
      </p:sp>
      <p:sp>
        <p:nvSpPr>
          <p:cNvPr id="20" name="Text 18"/>
          <p:cNvSpPr/>
          <p:nvPr/>
        </p:nvSpPr>
        <p:spPr>
          <a:xfrm>
            <a:off x="8595360" y="274320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Measure quality, cost, and escalation</a:t>
            </a:r>
            <a:endParaRPr lang="en-US" sz="1200" dirty="0"/>
          </a:p>
        </p:txBody>
      </p:sp>
      <p:sp>
        <p:nvSpPr>
          <p:cNvPr id="21" name="Text 19"/>
          <p:cNvSpPr/>
          <p:nvPr/>
        </p:nvSpPr>
        <p:spPr>
          <a:xfrm>
            <a:off x="8595360" y="3474720"/>
            <a:ext cx="2148840" cy="411480"/>
          </a:xfrm>
          <a:prstGeom prst="rect">
            <a:avLst/>
          </a:prstGeom>
          <a:noFill/>
          <a:ln/>
        </p:spPr>
        <p:txBody>
          <a:bodyPr wrap="square" lIns="254" tIns="254" rIns="254" bIns="254" rtlCol="0" anchor="ctr"/>
          <a:lstStyle/>
          <a:p>
            <a:pPr marL="127000" indent="-127000">
              <a:buSzPct val="100000"/>
              <a:buChar char="•"/>
            </a:pPr>
            <a:r>
              <a:rPr lang="en-US" sz="1200" dirty="0">
                <a:solidFill>
                  <a:srgbClr val="FFFFFF"/>
                </a:solidFill>
              </a:rPr>
              <a:t>Expand only after incident review</a:t>
            </a:r>
            <a:endParaRPr lang="en-US" sz="1200" dirty="0"/>
          </a:p>
        </p:txBody>
      </p:sp>
      <p:sp>
        <p:nvSpPr>
          <p:cNvPr id="22" name="Text 20"/>
          <p:cNvSpPr/>
          <p:nvPr/>
        </p:nvSpPr>
        <p:spPr>
          <a:xfrm>
            <a:off x="2788920" y="5486400"/>
            <a:ext cx="6492240" cy="182880"/>
          </a:xfrm>
          <a:prstGeom prst="rect">
            <a:avLst/>
          </a:prstGeom>
          <a:noFill/>
          <a:ln/>
        </p:spPr>
        <p:txBody>
          <a:bodyPr wrap="square" lIns="0" tIns="0" rIns="0" bIns="0" rtlCol="0" anchor="ctr"/>
          <a:lstStyle/>
          <a:p>
            <a:pPr marL="0" indent="0" algn="ctr">
              <a:buNone/>
            </a:pPr>
            <a:r>
              <a:rPr lang="en-US" sz="1100" b="1" dirty="0">
                <a:solidFill>
                  <a:srgbClr val="FFFFFF"/>
                </a:solidFill>
              </a:rPr>
              <a:t>The winning move is not “full autonomy.” It is high-confidence partial autonomy.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50505"/>
        </a:solidFill>
        <a:effectLst/>
      </p:bgPr>
    </p:bg>
    <p:spTree>
      <p:nvGrpSpPr>
        <p:cNvPr id="1" name=""/>
        <p:cNvGrpSpPr/>
        <p:nvPr/>
      </p:nvGrpSpPr>
      <p:grpSpPr>
        <a:xfrm>
          <a:off x="0" y="0"/>
          <a:ext cx="0" cy="0"/>
          <a:chOff x="0" y="0"/>
          <a:chExt cx="0" cy="0"/>
        </a:xfrm>
      </p:grpSpPr>
      <p:pic>
        <p:nvPicPr>
          <p:cNvPr id="2" name="Image 0" descr="/mnt/data/mms_assets/Graphics/MMSDots1000x1000.png"/>
          <p:cNvPicPr>
            <a:picLocks noChangeAspect="1"/>
          </p:cNvPicPr>
          <p:nvPr/>
        </p:nvPicPr>
        <p:blipFill>
          <a:blip r:embed="rId3">
            <a:alphaModFix amt="72000"/>
          </a:blip>
          <a:stretch>
            <a:fillRect/>
          </a:stretch>
        </p:blipFill>
        <p:spPr>
          <a:xfrm>
            <a:off x="7955280" y="4160520"/>
            <a:ext cx="3749040" cy="2560320"/>
          </a:xfrm>
          <a:prstGeom prst="rect">
            <a:avLst/>
          </a:prstGeom>
        </p:spPr>
      </p:pic>
      <p:sp>
        <p:nvSpPr>
          <p:cNvPr id="3" name="Text 0"/>
          <p:cNvSpPr/>
          <p:nvPr/>
        </p:nvSpPr>
        <p:spPr>
          <a:xfrm>
            <a:off x="320040" y="256032"/>
            <a:ext cx="7132320" cy="38404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Three takeaways</a:t>
            </a:r>
            <a:endParaRPr lang="en-US" sz="2200" dirty="0"/>
          </a:p>
        </p:txBody>
      </p:sp>
      <p:sp>
        <p:nvSpPr>
          <p:cNvPr id="4" name="Text 1"/>
          <p:cNvSpPr/>
          <p:nvPr/>
        </p:nvSpPr>
        <p:spPr>
          <a:xfrm>
            <a:off x="777240" y="1508760"/>
            <a:ext cx="8869680" cy="2560320"/>
          </a:xfrm>
          <a:prstGeom prst="rect">
            <a:avLst/>
          </a:prstGeom>
          <a:noFill/>
          <a:ln/>
        </p:spPr>
        <p:txBody>
          <a:bodyPr wrap="square" lIns="381" tIns="381" rIns="381" bIns="381" rtlCol="0" anchor="t"/>
          <a:lstStyle/>
          <a:p>
            <a:pPr marL="203200" indent="-203200">
              <a:buSzPct val="100000"/>
              <a:buChar char="•"/>
            </a:pPr>
            <a:r>
              <a:rPr lang="en-US" sz="2000" dirty="0">
                <a:solidFill>
                  <a:srgbClr val="FFFFFF"/>
                </a:solidFill>
                <a:latin typeface="Aptos" pitchFamily="34" charset="0"/>
                <a:ea typeface="Aptos" pitchFamily="34" charset="-122"/>
                <a:cs typeface="Aptos" pitchFamily="34" charset="-120"/>
              </a:rPr>
              <a:t>The future is not one model. It is orchestrated systems.</a:t>
            </a:r>
            <a:endParaRPr lang="en-US" sz="2000" dirty="0"/>
          </a:p>
          <a:p>
            <a:pPr marL="203200" indent="-203200">
              <a:buSzPct val="100000"/>
              <a:buChar char="•"/>
            </a:pPr>
            <a:r>
              <a:rPr lang="en-US" sz="2000" dirty="0">
                <a:solidFill>
                  <a:srgbClr val="FFFFFF"/>
                </a:solidFill>
                <a:latin typeface="Aptos" pitchFamily="34" charset="0"/>
                <a:ea typeface="Aptos" pitchFamily="34" charset="-122"/>
                <a:cs typeface="Aptos" pitchFamily="34" charset="-120"/>
              </a:rPr>
              <a:t>Human judgment belongs at goals, boundaries, and irreversible actions.</a:t>
            </a:r>
            <a:endParaRPr lang="en-US" sz="2000" dirty="0"/>
          </a:p>
          <a:p>
            <a:pPr marL="203200" indent="-203200">
              <a:buSzPct val="100000"/>
              <a:buChar char="•"/>
            </a:pPr>
            <a:r>
              <a:rPr lang="en-US" sz="2000" dirty="0">
                <a:solidFill>
                  <a:srgbClr val="FFFFFF"/>
                </a:solidFill>
                <a:latin typeface="Aptos" pitchFamily="34" charset="0"/>
                <a:ea typeface="Aptos" pitchFamily="34" charset="-122"/>
                <a:cs typeface="Aptos" pitchFamily="34" charset="-120"/>
              </a:rPr>
              <a:t>Security is the design of the workflow, not a wrapper on top.</a:t>
            </a:r>
            <a:endParaRPr lang="en-US" sz="2000" dirty="0"/>
          </a:p>
        </p:txBody>
      </p:sp>
      <p:sp>
        <p:nvSpPr>
          <p:cNvPr id="5" name="Text 2"/>
          <p:cNvSpPr/>
          <p:nvPr/>
        </p:nvSpPr>
        <p:spPr>
          <a:xfrm>
            <a:off x="777240" y="5303520"/>
            <a:ext cx="2103120" cy="320040"/>
          </a:xfrm>
          <a:prstGeom prst="rect">
            <a:avLst/>
          </a:prstGeom>
          <a:noFill/>
          <a:ln/>
        </p:spPr>
        <p:txBody>
          <a:bodyPr wrap="square" lIns="0" tIns="0" rIns="0" bIns="0" rtlCol="0" anchor="ctr"/>
          <a:lstStyle/>
          <a:p>
            <a:pPr marL="0" indent="0">
              <a:buNone/>
            </a:pPr>
            <a:r>
              <a:rPr lang="en-US" sz="1800" b="1" dirty="0">
                <a:solidFill>
                  <a:srgbClr val="FFFFFF"/>
                </a:solidFill>
              </a:rPr>
              <a:t>Questions?</a:t>
            </a:r>
            <a:endParaRPr lang="en-US" sz="1800" dirty="0"/>
          </a:p>
        </p:txBody>
      </p:sp>
      <p:sp>
        <p:nvSpPr>
          <p:cNvPr id="6" name="Text 3"/>
          <p:cNvSpPr/>
          <p:nvPr/>
        </p:nvSpPr>
        <p:spPr>
          <a:xfrm>
            <a:off x="777240" y="5650992"/>
            <a:ext cx="4297680" cy="182880"/>
          </a:xfrm>
          <a:prstGeom prst="rect">
            <a:avLst/>
          </a:prstGeom>
          <a:noFill/>
          <a:ln/>
        </p:spPr>
        <p:txBody>
          <a:bodyPr wrap="square" lIns="0" tIns="0" rIns="0" bIns="0" rtlCol="0" anchor="ctr"/>
          <a:lstStyle/>
          <a:p>
            <a:pPr marL="0" indent="0">
              <a:buNone/>
            </a:pPr>
            <a:r>
              <a:rPr lang="en-US" sz="1000" dirty="0">
                <a:solidFill>
                  <a:srgbClr val="CFCFCF"/>
                </a:solidFill>
              </a:rPr>
              <a:t>Let’s build the control plane, not just the prompt.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781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rk Mod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 2026 at MOA.potx" id="{D8842C19-AA0D-435F-9EEB-FA31630ABB9B}" vid="{B3EE2789-FD7D-46D1-B302-E8985430D9C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2540</TotalTime>
  <Words>3416</Words>
  <Application>Microsoft Office PowerPoint</Application>
  <PresentationFormat>Widescreen</PresentationFormat>
  <Paragraphs>247</Paragraphs>
  <Slides>20</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Aptos</vt:lpstr>
      <vt:lpstr>Aptos Display</vt:lpstr>
      <vt:lpstr>Arial</vt:lpstr>
      <vt:lpstr>Calibri</vt:lpstr>
      <vt:lpstr>Wingdings</vt:lpstr>
      <vt:lpstr>Office Theme</vt:lpstr>
      <vt:lpstr>Dark Mode</vt:lpstr>
      <vt:lpstr>AI Orchestration</vt:lpstr>
      <vt:lpstr>Attention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Orchestration in Action</dc:title>
  <dc:subject>AI orchestration</dc:subject>
  <dc:creator>OpenAI</dc:creator>
  <cp:lastModifiedBy>Chris Sires</cp:lastModifiedBy>
  <cp:revision>5</cp:revision>
  <dcterms:created xsi:type="dcterms:W3CDTF">2026-04-12T06:28:35Z</dcterms:created>
  <dcterms:modified xsi:type="dcterms:W3CDTF">2026-05-03T05:42:20Z</dcterms:modified>
</cp:coreProperties>
</file>