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59"/>
  </p:notesMasterIdLst>
  <p:handoutMasterIdLst>
    <p:handoutMasterId r:id="rId60"/>
  </p:handoutMasterIdLst>
  <p:sldIdLst>
    <p:sldId id="256" r:id="rId6"/>
    <p:sldId id="264" r:id="rId7"/>
    <p:sldId id="260" r:id="rId8"/>
    <p:sldId id="258" r:id="rId9"/>
    <p:sldId id="267" r:id="rId10"/>
    <p:sldId id="268" r:id="rId11"/>
    <p:sldId id="269" r:id="rId12"/>
    <p:sldId id="270" r:id="rId13"/>
    <p:sldId id="261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311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259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263" r:id="rId57"/>
    <p:sldId id="265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4"/>
            <p14:sldId id="260"/>
          </p14:sldIdLst>
        </p14:section>
        <p14:section name="Presentation" id="{88398753-748C-4CE7-B81D-D95829EA2652}">
          <p14:sldIdLst>
            <p14:sldId id="258"/>
            <p14:sldId id="267"/>
            <p14:sldId id="268"/>
            <p14:sldId id="269"/>
            <p14:sldId id="270"/>
            <p14:sldId id="261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311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259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Closing" id="{35F0DD0F-C871-4339-9D6B-25AB6010E816}">
          <p14:sldIdLst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7" autoAdjust="0"/>
    <p:restoredTop sz="94692" autoAdjust="0"/>
  </p:normalViewPr>
  <p:slideViewPr>
    <p:cSldViewPr snapToGrid="0">
      <p:cViewPr varScale="1">
        <p:scale>
          <a:sx n="100" d="100"/>
          <a:sy n="100" d="100"/>
        </p:scale>
        <p:origin x="96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2.xml"/><Relationship Id="rId61" Type="http://schemas.openxmlformats.org/officeDocument/2006/relationships/presProps" Target="pres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D1B2E-4A29-44BA-927B-DD73980A956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1CFCC-7C5A-4281-B435-AC7E33242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9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Tell them: you’ll leave with a prioritized checklist and references (GPO/Intune/WDAC).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Timebox. Park deep questions for appendix/Q&amp;A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Assume creds get stolen. OS hardening reduces what stolen creds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model maps to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Narrate the attack chain end-to-end in ~60 seconds. Use callout boxes to explain where each control breaks the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representative: tools change, the path stays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LOLBins and signed binaries are common.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rollout: ASR audit first; WDAC audit ring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Local admin reuse is still a top enabler.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Prioritize LAPS + Credential 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Management servers are crown-jewel adjacent.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Network reachability controls are cheap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focus OS-level: interactive logon restrictions and credential hygiene on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 into Top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Call out biggest ROI: 1,2,4,6.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Frame: you’re shrinking the attack graph and increasing attacker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Endpoint folks: this is your starting point. Server folks: clients are your entry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Prefer GPO/Intune over one-off scripts. Validate cached logon count impact for offline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mapping: GPO common on servers; Intune common on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Workflow &gt; GUID memorization.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Avoid breaking dev workflows: use rings and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changes kill common relay/lateral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Validate if any legacy segments rely on multicast name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Decision: if modernizing, go WDAC.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Servers accelerate lateral movement when not hardened.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 is a top ransomware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Servers should not be used as workstations.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back to walkthrough Step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NTLM restriction as a program. Start with auditing.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Pick high-value server roles first for enforce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Hardening without verification is just hope.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plan to start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Motivate: some wins are immediate, others are journeys.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patterns: unusual type 3/10, 4648 spikes, 4672 on endpoints, 4776 to find NTLM fallbacks.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to techniques: service install, scheduled tasks, admin share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escalation/hiding signals. Alert on 1102.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IDs can vary by OS build; channels are authoritative for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these five as the highest ROI hardening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Windows Operating System Hardening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Defending clients and servers against modern attacks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Michael Niehaus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SE" dirty="0"/>
              <a:t>Mikael Nystrom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SE" dirty="0"/>
              <a:t>michael.niehaus@2pint.com</a:t>
            </a:r>
          </a:p>
          <a:p>
            <a:r>
              <a:rPr lang="en-SE" dirty="0"/>
              <a:t>@mniehaus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71859" y="5261408"/>
            <a:ext cx="5469308" cy="914400"/>
          </a:xfrm>
        </p:spPr>
        <p:txBody>
          <a:bodyPr/>
          <a:lstStyle/>
          <a:p>
            <a:r>
              <a:rPr lang="en-SE" dirty="0"/>
              <a:t>deploymentbunny@outlook.com</a:t>
            </a:r>
            <a:endParaRPr lang="en-US" dirty="0"/>
          </a:p>
          <a:p>
            <a:r>
              <a:rPr lang="en-US" dirty="0"/>
              <a:t>   @</a:t>
            </a:r>
            <a:r>
              <a:rPr lang="en-SE" dirty="0" err="1"/>
              <a:t>mikael_nystrom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Programme</a:t>
            </a:r>
            <a:r>
              <a:rPr lang="en-US" dirty="0"/>
              <a:t> Director and Master Inventor,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/>
          <a:lstStyle/>
          <a:p>
            <a:r>
              <a:rPr lang="en-SE" dirty="0"/>
              <a:t>Microsoft MVP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C7F4F2-0A36-BA27-8151-0351BB2B3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365" y="1579653"/>
            <a:ext cx="2455042" cy="2455042"/>
          </a:xfrm>
          <a:prstGeom prst="rect">
            <a:avLst/>
          </a:prstGeom>
        </p:spPr>
      </p:pic>
      <p:pic>
        <p:nvPicPr>
          <p:cNvPr id="1026" name="Picture 2" descr="avatar for Mikael Nystrom">
            <a:extLst>
              <a:ext uri="{FF2B5EF4-FFF2-40B4-BE49-F238E27FC236}">
                <a16:creationId xmlns:a16="http://schemas.microsoft.com/office/drawing/2014/main" id="{0FA18AE8-9600-7835-670D-2C553A0D0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792" y="1600664"/>
            <a:ext cx="2519629" cy="251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78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So, let us begin..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T</a:t>
            </a:r>
            <a:r>
              <a:rPr lang="en-SE" dirty="0"/>
              <a:t>here is no turning back...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Essential OS-level hardening steps for every environment</a:t>
            </a:r>
          </a:p>
          <a:p>
            <a:r>
              <a:rPr lang="sv-SE"/>
              <a:t>Modern local + remote attack vectors and how to block them</a:t>
            </a:r>
          </a:p>
          <a:p>
            <a:r>
              <a:rPr lang="sv-SE"/>
              <a:t>Workstation surface reduction: browser, services, networking, credentials</a:t>
            </a:r>
          </a:p>
          <a:p>
            <a:r>
              <a:rPr lang="sv-SE"/>
              <a:t>Server hardening patterns for commonly overlooked roles</a:t>
            </a:r>
          </a:p>
          <a:p>
            <a:r>
              <a:rPr lang="sv-SE"/>
              <a:t>Rollout approach: baselines → exceptions →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Agenda (75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 dirty="0" err="1"/>
              <a:t>Threat</a:t>
            </a:r>
            <a:r>
              <a:rPr lang="sv-SE" dirty="0"/>
              <a:t> </a:t>
            </a:r>
            <a:r>
              <a:rPr lang="sv-SE" dirty="0" err="1"/>
              <a:t>model</a:t>
            </a:r>
            <a:r>
              <a:rPr lang="sv-SE" dirty="0"/>
              <a:t>: </a:t>
            </a:r>
            <a:r>
              <a:rPr lang="sv-SE" dirty="0" err="1"/>
              <a:t>how</a:t>
            </a:r>
            <a:r>
              <a:rPr lang="sv-SE" dirty="0"/>
              <a:t> Windows </a:t>
            </a:r>
            <a:r>
              <a:rPr lang="sv-SE" dirty="0" err="1"/>
              <a:t>environments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actually</a:t>
            </a:r>
            <a:r>
              <a:rPr lang="sv-SE" dirty="0"/>
              <a:t> </a:t>
            </a:r>
            <a:r>
              <a:rPr lang="sv-SE" dirty="0" err="1"/>
              <a:t>compromised</a:t>
            </a:r>
            <a:endParaRPr lang="sv-SE" dirty="0"/>
          </a:p>
          <a:p>
            <a:r>
              <a:rPr lang="sv-SE" dirty="0"/>
              <a:t>Attack </a:t>
            </a:r>
            <a:r>
              <a:rPr lang="sv-SE" dirty="0" err="1"/>
              <a:t>walkthrough</a:t>
            </a:r>
            <a:r>
              <a:rPr lang="sv-SE" dirty="0"/>
              <a:t>: </a:t>
            </a:r>
            <a:r>
              <a:rPr lang="sv-SE" dirty="0" err="1"/>
              <a:t>credential</a:t>
            </a:r>
            <a:r>
              <a:rPr lang="sv-SE" dirty="0"/>
              <a:t> </a:t>
            </a:r>
            <a:r>
              <a:rPr lang="sv-SE" dirty="0" err="1"/>
              <a:t>theft</a:t>
            </a:r>
            <a:r>
              <a:rPr lang="sv-SE" dirty="0"/>
              <a:t> → lateral </a:t>
            </a:r>
            <a:r>
              <a:rPr lang="sv-SE" dirty="0" err="1"/>
              <a:t>movement</a:t>
            </a:r>
            <a:r>
              <a:rPr lang="sv-SE" dirty="0"/>
              <a:t> → </a:t>
            </a:r>
            <a:r>
              <a:rPr lang="sv-SE" dirty="0" err="1"/>
              <a:t>impact</a:t>
            </a:r>
            <a:endParaRPr lang="sv-SE" dirty="0"/>
          </a:p>
          <a:p>
            <a:r>
              <a:rPr lang="sv-SE" dirty="0" err="1"/>
              <a:t>Top</a:t>
            </a:r>
            <a:r>
              <a:rPr lang="sv-SE" dirty="0"/>
              <a:t> 10 </a:t>
            </a:r>
            <a:r>
              <a:rPr lang="sv-SE" dirty="0" err="1"/>
              <a:t>hardening</a:t>
            </a:r>
            <a:r>
              <a:rPr lang="sv-SE" dirty="0"/>
              <a:t> </a:t>
            </a:r>
            <a:r>
              <a:rPr lang="sv-SE" dirty="0" err="1"/>
              <a:t>controls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actually</a:t>
            </a:r>
            <a:r>
              <a:rPr lang="sv-SE" dirty="0"/>
              <a:t> </a:t>
            </a:r>
            <a:r>
              <a:rPr lang="sv-SE" dirty="0" err="1"/>
              <a:t>matter</a:t>
            </a:r>
            <a:r>
              <a:rPr lang="sv-SE" dirty="0"/>
              <a:t> </a:t>
            </a:r>
          </a:p>
          <a:p>
            <a:r>
              <a:rPr lang="sv-SE" dirty="0" err="1"/>
              <a:t>Client</a:t>
            </a:r>
            <a:r>
              <a:rPr lang="sv-SE" dirty="0"/>
              <a:t> </a:t>
            </a:r>
            <a:r>
              <a:rPr lang="sv-SE" dirty="0" err="1"/>
              <a:t>hardening</a:t>
            </a:r>
            <a:r>
              <a:rPr lang="sv-SE" dirty="0"/>
              <a:t> </a:t>
            </a:r>
            <a:r>
              <a:rPr lang="sv-SE" dirty="0" err="1"/>
              <a:t>playbook</a:t>
            </a:r>
            <a:r>
              <a:rPr lang="sv-SE" dirty="0"/>
              <a:t> + </a:t>
            </a:r>
            <a:r>
              <a:rPr lang="sv-SE" dirty="0" err="1"/>
              <a:t>examples</a:t>
            </a:r>
            <a:endParaRPr lang="sv-SE" dirty="0"/>
          </a:p>
          <a:p>
            <a:r>
              <a:rPr lang="sv-SE" dirty="0"/>
              <a:t>Server </a:t>
            </a:r>
            <a:r>
              <a:rPr lang="sv-SE" dirty="0" err="1"/>
              <a:t>hardening</a:t>
            </a:r>
            <a:r>
              <a:rPr lang="sv-SE" dirty="0"/>
              <a:t> </a:t>
            </a:r>
            <a:r>
              <a:rPr lang="sv-SE" dirty="0" err="1"/>
              <a:t>playbook</a:t>
            </a:r>
            <a:r>
              <a:rPr lang="sv-SE" dirty="0"/>
              <a:t> + </a:t>
            </a:r>
            <a:r>
              <a:rPr lang="sv-SE" dirty="0" err="1"/>
              <a:t>examples</a:t>
            </a:r>
            <a:endParaRPr lang="sv-SE" dirty="0"/>
          </a:p>
          <a:p>
            <a:r>
              <a:rPr lang="sv-SE" dirty="0" err="1"/>
              <a:t>Verification</a:t>
            </a:r>
            <a:r>
              <a:rPr lang="sv-SE" dirty="0"/>
              <a:t> + </a:t>
            </a:r>
            <a:r>
              <a:rPr lang="sv-SE" dirty="0" err="1"/>
              <a:t>rollout</a:t>
            </a:r>
            <a:r>
              <a:rPr lang="sv-SE" dirty="0"/>
              <a:t> </a:t>
            </a:r>
            <a:r>
              <a:rPr lang="sv-SE" dirty="0" err="1"/>
              <a:t>strategy</a:t>
            </a:r>
            <a:endParaRPr lang="sv-S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4383251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Threat model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rPr dirty="0"/>
              <a:t>What attackers do 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Modern reality: fewer exploits, more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 dirty="0"/>
              <a:t>Initial access: </a:t>
            </a:r>
            <a:r>
              <a:rPr lang="sv-SE" dirty="0" err="1"/>
              <a:t>phishing</a:t>
            </a:r>
            <a:r>
              <a:rPr lang="sv-SE" dirty="0"/>
              <a:t>, token </a:t>
            </a:r>
            <a:r>
              <a:rPr lang="sv-SE" dirty="0" err="1"/>
              <a:t>theft</a:t>
            </a:r>
            <a:r>
              <a:rPr lang="sv-SE" dirty="0"/>
              <a:t>, </a:t>
            </a:r>
            <a:r>
              <a:rPr lang="sv-SE" dirty="0" err="1"/>
              <a:t>exposed</a:t>
            </a:r>
            <a:r>
              <a:rPr lang="sv-SE" dirty="0"/>
              <a:t> services</a:t>
            </a:r>
            <a:r>
              <a:rPr lang="en-SE" dirty="0"/>
              <a:t>,</a:t>
            </a:r>
            <a:r>
              <a:rPr lang="sv-SE" dirty="0"/>
              <a:t> social </a:t>
            </a:r>
            <a:r>
              <a:rPr lang="sv-SE" dirty="0" err="1"/>
              <a:t>engineering</a:t>
            </a:r>
            <a:endParaRPr lang="sv-SE" dirty="0"/>
          </a:p>
          <a:p>
            <a:r>
              <a:rPr lang="sv-SE" dirty="0" err="1"/>
              <a:t>Privilege</a:t>
            </a:r>
            <a:r>
              <a:rPr lang="sv-SE" dirty="0"/>
              <a:t>: </a:t>
            </a:r>
            <a:r>
              <a:rPr lang="sv-SE" dirty="0" err="1"/>
              <a:t>local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sprawl</a:t>
            </a:r>
            <a:r>
              <a:rPr lang="sv-SE" dirty="0"/>
              <a:t>, </a:t>
            </a:r>
            <a:r>
              <a:rPr lang="sv-SE" dirty="0" err="1"/>
              <a:t>misconfigurations</a:t>
            </a:r>
            <a:r>
              <a:rPr lang="sv-SE" dirty="0"/>
              <a:t>, </a:t>
            </a:r>
            <a:r>
              <a:rPr lang="sv-SE" dirty="0" err="1"/>
              <a:t>delegated</a:t>
            </a:r>
            <a:r>
              <a:rPr lang="sv-SE" dirty="0"/>
              <a:t> </a:t>
            </a:r>
            <a:r>
              <a:rPr lang="sv-SE" dirty="0" err="1"/>
              <a:t>rights</a:t>
            </a:r>
            <a:endParaRPr lang="sv-SE" dirty="0"/>
          </a:p>
          <a:p>
            <a:r>
              <a:rPr lang="sv-SE" dirty="0"/>
              <a:t>Lateral </a:t>
            </a:r>
            <a:r>
              <a:rPr lang="sv-SE" dirty="0" err="1"/>
              <a:t>movement</a:t>
            </a:r>
            <a:r>
              <a:rPr lang="sv-SE" dirty="0"/>
              <a:t>: SMB/RPC, RDP, </a:t>
            </a:r>
            <a:r>
              <a:rPr lang="sv-SE" dirty="0" err="1"/>
              <a:t>WinRM</a:t>
            </a:r>
            <a:r>
              <a:rPr lang="sv-SE" dirty="0"/>
              <a:t>, </a:t>
            </a:r>
            <a:r>
              <a:rPr lang="sv-SE" dirty="0" err="1"/>
              <a:t>scheduled</a:t>
            </a:r>
            <a:r>
              <a:rPr lang="sv-SE" dirty="0"/>
              <a:t> tasks</a:t>
            </a:r>
          </a:p>
          <a:p>
            <a:r>
              <a:rPr lang="sv-SE" dirty="0" err="1"/>
              <a:t>Impact</a:t>
            </a:r>
            <a:r>
              <a:rPr lang="sv-SE" dirty="0"/>
              <a:t>: </a:t>
            </a:r>
            <a:r>
              <a:rPr lang="sv-SE" dirty="0" err="1"/>
              <a:t>ransomware</a:t>
            </a:r>
            <a:r>
              <a:rPr lang="sv-SE" dirty="0"/>
              <a:t>, data </a:t>
            </a:r>
            <a:r>
              <a:rPr lang="sv-SE" dirty="0" err="1"/>
              <a:t>theft</a:t>
            </a:r>
            <a:r>
              <a:rPr lang="sv-SE" dirty="0"/>
              <a:t>, business </a:t>
            </a:r>
            <a:r>
              <a:rPr lang="sv-SE" dirty="0" err="1"/>
              <a:t>disruption</a:t>
            </a:r>
            <a:endParaRPr lang="sv-SE" dirty="0"/>
          </a:p>
          <a:p>
            <a:r>
              <a:rPr lang="sv-SE" dirty="0" err="1"/>
              <a:t>Hardening</a:t>
            </a:r>
            <a:r>
              <a:rPr lang="sv-SE" dirty="0"/>
              <a:t> </a:t>
            </a:r>
            <a:r>
              <a:rPr lang="sv-SE" dirty="0" err="1"/>
              <a:t>wins</a:t>
            </a:r>
            <a:r>
              <a:rPr lang="sv-SE" dirty="0"/>
              <a:t> </a:t>
            </a:r>
            <a:r>
              <a:rPr lang="sv-SE" dirty="0" err="1"/>
              <a:t>when</a:t>
            </a:r>
            <a:r>
              <a:rPr lang="sv-SE" dirty="0"/>
              <a:t> it </a:t>
            </a:r>
            <a:r>
              <a:rPr lang="sv-SE" dirty="0" err="1"/>
              <a:t>removes</a:t>
            </a:r>
            <a:r>
              <a:rPr lang="sv-SE" dirty="0"/>
              <a:t> </a:t>
            </a:r>
            <a:r>
              <a:rPr lang="sv-SE" dirty="0" err="1"/>
              <a:t>paths</a:t>
            </a:r>
            <a:r>
              <a:rPr lang="sv-SE" dirty="0"/>
              <a:t> and </a:t>
            </a:r>
            <a:r>
              <a:rPr lang="sv-SE" dirty="0" err="1"/>
              <a:t>reduces</a:t>
            </a:r>
            <a:r>
              <a:rPr lang="sv-SE" dirty="0"/>
              <a:t> blast </a:t>
            </a:r>
            <a:r>
              <a:rPr lang="sv-SE" dirty="0" err="1"/>
              <a:t>radius</a:t>
            </a:r>
            <a:endParaRPr lang="sv-S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Principles of effective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Reduce attack surface (disable/remove what you don’t need)</a:t>
            </a:r>
          </a:p>
          <a:p>
            <a:r>
              <a:rPr lang="sv-SE"/>
              <a:t>Reduce privilege (least privilege, no standing admin)</a:t>
            </a:r>
          </a:p>
          <a:p>
            <a:r>
              <a:rPr lang="sv-SE"/>
              <a:t>Reduce credential exposure (protect secrets, isolate, limit delegation)</a:t>
            </a:r>
          </a:p>
          <a:p>
            <a:r>
              <a:rPr lang="sv-SE"/>
              <a:t>Constrain execution (application control + script controls)</a:t>
            </a:r>
          </a:p>
          <a:p>
            <a:r>
              <a:rPr lang="sv-SE"/>
              <a:t>Instrument and verify (logs, alerts, drift control)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7017177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Attack walkthrough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rPr dirty="0"/>
              <a:t>Credential theft → Lateral movement →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Segoe UI"/>
              </a:defRPr>
            </a:pPr>
            <a:r>
              <a:t>MMSMOA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Attack path: from initial access to domain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200400"/>
            <a:ext cx="10911535" cy="73152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8660" y="1828800"/>
            <a:ext cx="1681429" cy="10515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5820" y="1920240"/>
            <a:ext cx="140710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4F9F"/>
                </a:solidFill>
                <a:latin typeface="Segoe UI Semibold"/>
              </a:defRPr>
            </a:pPr>
            <a:r>
              <a:t>Initial access</a:t>
            </a:r>
          </a:p>
          <a:p>
            <a:pPr>
              <a:defRPr sz="1300">
                <a:solidFill>
                  <a:srgbClr val="111827"/>
                </a:solidFill>
                <a:latin typeface="Segoe UI"/>
              </a:defRPr>
            </a:pPr>
            <a:r>
              <a:t>Phish / drive-by</a:t>
            </a:r>
            <a:br/>
            <a:r>
              <a:t>trusted app abuse</a:t>
            </a:r>
          </a:p>
        </p:txBody>
      </p:sp>
      <p:sp>
        <p:nvSpPr>
          <p:cNvPr id="6" name="Oval 5"/>
          <p:cNvSpPr/>
          <p:nvPr/>
        </p:nvSpPr>
        <p:spPr>
          <a:xfrm>
            <a:off x="1439646" y="3127248"/>
            <a:ext cx="219456" cy="219456"/>
          </a:xfrm>
          <a:prstGeom prst="ellipse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27249" y="1828800"/>
            <a:ext cx="1681429" cy="10515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64409" y="1920240"/>
            <a:ext cx="140710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4F9F"/>
                </a:solidFill>
                <a:latin typeface="Segoe UI Semibold"/>
              </a:defRPr>
            </a:pPr>
            <a:r>
              <a:t>Foothold</a:t>
            </a:r>
          </a:p>
          <a:p>
            <a:pPr>
              <a:defRPr sz="1300">
                <a:solidFill>
                  <a:srgbClr val="111827"/>
                </a:solidFill>
                <a:latin typeface="Segoe UI"/>
              </a:defRPr>
            </a:pPr>
            <a:r>
              <a:t>LOLBins</a:t>
            </a:r>
            <a:br/>
            <a:r>
              <a:t>PowerShell/WMI</a:t>
            </a:r>
          </a:p>
        </p:txBody>
      </p:sp>
      <p:sp>
        <p:nvSpPr>
          <p:cNvPr id="9" name="Oval 8"/>
          <p:cNvSpPr/>
          <p:nvPr/>
        </p:nvSpPr>
        <p:spPr>
          <a:xfrm>
            <a:off x="3258235" y="3127248"/>
            <a:ext cx="219456" cy="219456"/>
          </a:xfrm>
          <a:prstGeom prst="ellipse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45838" y="1828800"/>
            <a:ext cx="1681429" cy="10515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2998" y="1920240"/>
            <a:ext cx="140710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4F9F"/>
                </a:solidFill>
                <a:latin typeface="Segoe UI Semibold"/>
              </a:defRPr>
            </a:pPr>
            <a:r>
              <a:t>Credential theft</a:t>
            </a:r>
          </a:p>
          <a:p>
            <a:pPr>
              <a:defRPr sz="1300">
                <a:solidFill>
                  <a:srgbClr val="111827"/>
                </a:solidFill>
                <a:latin typeface="Segoe UI"/>
              </a:defRPr>
            </a:pPr>
            <a:r>
              <a:t>Tokens/LSASS</a:t>
            </a:r>
            <a:br/>
            <a:r>
              <a:t>Saved creds</a:t>
            </a:r>
          </a:p>
        </p:txBody>
      </p:sp>
      <p:sp>
        <p:nvSpPr>
          <p:cNvPr id="12" name="Oval 11"/>
          <p:cNvSpPr/>
          <p:nvPr/>
        </p:nvSpPr>
        <p:spPr>
          <a:xfrm>
            <a:off x="5076824" y="3127248"/>
            <a:ext cx="219456" cy="219456"/>
          </a:xfrm>
          <a:prstGeom prst="ellipse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64427" y="1828800"/>
            <a:ext cx="1681429" cy="10515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1587" y="1920240"/>
            <a:ext cx="140710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4F9F"/>
                </a:solidFill>
                <a:latin typeface="Segoe UI Semibold"/>
              </a:defRPr>
            </a:pPr>
            <a:r>
              <a:t>Lateral movement</a:t>
            </a:r>
          </a:p>
          <a:p>
            <a:pPr>
              <a:defRPr sz="1300">
                <a:solidFill>
                  <a:srgbClr val="111827"/>
                </a:solidFill>
                <a:latin typeface="Segoe UI"/>
              </a:defRPr>
            </a:pPr>
            <a:r>
              <a:t>SMB/RPC</a:t>
            </a:r>
            <a:br/>
            <a:r>
              <a:t>RDP/WinRM</a:t>
            </a:r>
          </a:p>
        </p:txBody>
      </p:sp>
      <p:sp>
        <p:nvSpPr>
          <p:cNvPr id="15" name="Oval 14"/>
          <p:cNvSpPr/>
          <p:nvPr/>
        </p:nvSpPr>
        <p:spPr>
          <a:xfrm>
            <a:off x="6895414" y="3127248"/>
            <a:ext cx="219456" cy="219456"/>
          </a:xfrm>
          <a:prstGeom prst="ellipse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83016" y="1828800"/>
            <a:ext cx="1681429" cy="10515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20176" y="1920240"/>
            <a:ext cx="140710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4F9F"/>
                </a:solidFill>
                <a:latin typeface="Segoe UI Semibold"/>
              </a:defRPr>
            </a:pPr>
            <a:r>
              <a:t>Privilege escalation</a:t>
            </a:r>
          </a:p>
          <a:p>
            <a:pPr>
              <a:defRPr sz="1300">
                <a:solidFill>
                  <a:srgbClr val="111827"/>
                </a:solidFill>
                <a:latin typeface="Segoe UI"/>
              </a:defRPr>
            </a:pPr>
            <a:r>
              <a:t>Service creds</a:t>
            </a:r>
            <a:br/>
            <a:r>
              <a:t>Delegation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714003" y="3127248"/>
            <a:ext cx="219456" cy="219456"/>
          </a:xfrm>
          <a:prstGeom prst="ellipse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01605" y="1828800"/>
            <a:ext cx="1681429" cy="10515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38765" y="1920240"/>
            <a:ext cx="140710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4F9F"/>
                </a:solidFill>
                <a:latin typeface="Segoe UI Semibold"/>
              </a:defRPr>
            </a:pPr>
            <a:r>
              <a:t>Impact</a:t>
            </a:r>
          </a:p>
          <a:p>
            <a:pPr>
              <a:defRPr sz="1300">
                <a:solidFill>
                  <a:srgbClr val="111827"/>
                </a:solidFill>
                <a:latin typeface="Segoe UI"/>
              </a:defRPr>
            </a:pPr>
            <a:r>
              <a:t>Ransomware</a:t>
            </a:r>
            <a:br/>
            <a:r>
              <a:t>Data theft</a:t>
            </a:r>
          </a:p>
        </p:txBody>
      </p:sp>
      <p:sp>
        <p:nvSpPr>
          <p:cNvPr id="21" name="Oval 20"/>
          <p:cNvSpPr/>
          <p:nvPr/>
        </p:nvSpPr>
        <p:spPr>
          <a:xfrm>
            <a:off x="10532592" y="3127248"/>
            <a:ext cx="219456" cy="219456"/>
          </a:xfrm>
          <a:prstGeom prst="ellipse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40560" y="44805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05152" y="4590288"/>
            <a:ext cx="27797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 Semibold"/>
              </a:defRPr>
            </a:pPr>
            <a:r>
              <a:t>Constrain execution</a:t>
            </a:r>
          </a:p>
          <a:p>
            <a:pPr>
              <a:defRPr sz="1200">
                <a:solidFill>
                  <a:srgbClr val="6B7280"/>
                </a:solidFill>
                <a:latin typeface="Segoe UI"/>
              </a:defRPr>
            </a:pPr>
            <a:r>
              <a:t>WDAC/AppLocker • ASR • SmartScreen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68444" y="44805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33036" y="4590288"/>
            <a:ext cx="27797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 Semibold"/>
              </a:defRPr>
            </a:pPr>
            <a:r>
              <a:t>Protect credentials</a:t>
            </a:r>
          </a:p>
          <a:p>
            <a:pPr>
              <a:defRPr sz="1200">
                <a:solidFill>
                  <a:srgbClr val="6B7280"/>
                </a:solidFill>
                <a:latin typeface="Segoe UI"/>
              </a:defRPr>
            </a:pPr>
            <a:r>
              <a:t>Credential Guard • LAPS • LSASS protections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96328" y="44805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0920" y="4590288"/>
            <a:ext cx="27797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 Semibold"/>
              </a:defRPr>
            </a:pPr>
            <a:r>
              <a:t>Restrict admin channels</a:t>
            </a:r>
          </a:p>
          <a:p>
            <a:pPr>
              <a:defRPr sz="1200">
                <a:solidFill>
                  <a:srgbClr val="6B7280"/>
                </a:solidFill>
                <a:latin typeface="Segoe UI"/>
              </a:defRPr>
            </a:pPr>
            <a:r>
              <a:t>Firewall • RDP/WinRM scope • SMB hardening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7750" y="44805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52342" y="4590288"/>
            <a:ext cx="27797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 Semibold"/>
              </a:defRPr>
            </a:pPr>
            <a:r>
              <a:t>Contain blast radius</a:t>
            </a:r>
          </a:p>
          <a:p>
            <a:pPr>
              <a:defRPr sz="1200">
                <a:solidFill>
                  <a:srgbClr val="6B7280"/>
                </a:solidFill>
                <a:latin typeface="Segoe UI"/>
              </a:defRPr>
            </a:pPr>
            <a:r>
              <a:t>Tiering • Segmentation • JIT/JEA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Walkthrough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 dirty="0"/>
              <a:t>Scenario: Attacker land on workstation via social engineering/teams call</a:t>
            </a:r>
          </a:p>
          <a:p>
            <a:r>
              <a:rPr lang="en-US" dirty="0"/>
              <a:t>Goal: reach a server, steal higher-privilege credentials, achieve domain impact</a:t>
            </a:r>
          </a:p>
          <a:p>
            <a:r>
              <a:rPr lang="en-US" dirty="0"/>
              <a:t>We map each step to concrete Windows mitigations</a:t>
            </a:r>
          </a:p>
          <a:p>
            <a:r>
              <a:rPr lang="en-US" dirty="0"/>
              <a:t>Key: stop the chain at multiple points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Step 1: Foothold on a workstation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 dirty="0"/>
              <a:t>User runs a </a:t>
            </a:r>
            <a:r>
              <a:rPr lang="sv-SE" dirty="0"/>
              <a:t>RMM </a:t>
            </a:r>
            <a:r>
              <a:rPr lang="sv-SE" dirty="0" err="1"/>
              <a:t>tool</a:t>
            </a:r>
            <a:r>
              <a:rPr lang="en-SE" dirty="0"/>
              <a:t>s </a:t>
            </a:r>
            <a:r>
              <a:rPr lang="en-US" dirty="0"/>
              <a:t>or malicious script</a:t>
            </a:r>
            <a:r>
              <a:rPr lang="en-SE" dirty="0"/>
              <a:t> wit persistence</a:t>
            </a:r>
            <a:endParaRPr lang="en-US" dirty="0"/>
          </a:p>
          <a:p>
            <a:r>
              <a:rPr lang="en-US" dirty="0"/>
              <a:t>Attacker uses built-in tools (PowerShell, WMI, rundll32)</a:t>
            </a:r>
          </a:p>
          <a:p>
            <a:r>
              <a:rPr lang="en-US" dirty="0"/>
              <a:t>Persistence via scheduled task / Run keys / service </a:t>
            </a:r>
            <a:r>
              <a:rPr lang="en-US" dirty="0" err="1"/>
              <a:t>misconfig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Mitigations for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ASR rules to block common abuse</a:t>
            </a:r>
          </a:p>
          <a:p>
            <a:r>
              <a:rPr lang="en-US"/>
              <a:t>WDAC (recommended) or AppLocker allowlisting</a:t>
            </a:r>
          </a:p>
          <a:p>
            <a:r>
              <a:rPr lang="en-US"/>
              <a:t>PowerShell logging + constrain script abuse</a:t>
            </a:r>
          </a:p>
          <a:p>
            <a:r>
              <a:rPr lang="en-US"/>
              <a:t>Disable legacy scripting hosts where not needed (wscript/cscript)</a:t>
            </a:r>
          </a:p>
          <a:p>
            <a:r>
              <a:rPr lang="en-US"/>
              <a:t>Reduce local admin; use JEA for admin tasks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Step 2: Credential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Harvest cached creds / tokens</a:t>
            </a:r>
          </a:p>
          <a:p>
            <a:r>
              <a:rPr lang="sv-SE"/>
              <a:t>Steal hashes / tickets</a:t>
            </a:r>
          </a:p>
          <a:p>
            <a:r>
              <a:rPr lang="sv-SE"/>
              <a:t>Abuse saved RDP creds, browser passwords, DPAPI secrets</a:t>
            </a:r>
          </a:p>
          <a:p>
            <a:r>
              <a:rPr lang="sv-SE"/>
              <a:t>Target: local admin creds reused elsewhere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Mitigations for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Credential Guard where supported</a:t>
            </a:r>
          </a:p>
          <a:p>
            <a:r>
              <a:rPr lang="sv-SE"/>
              <a:t>LSASS protections (RunAsPPL) + disable WDigest plaintext creds</a:t>
            </a:r>
          </a:p>
          <a:p>
            <a:r>
              <a:rPr lang="sv-SE"/>
              <a:t>Windows LAPS to eliminate local admin password reuse</a:t>
            </a:r>
          </a:p>
          <a:p>
            <a:r>
              <a:rPr lang="sv-SE"/>
              <a:t>Reduce cached logons where feasible</a:t>
            </a:r>
          </a:p>
          <a:p>
            <a:r>
              <a:rPr lang="sv-SE"/>
              <a:t>Harden browser credential storage and extension controls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Step 3: Lateral movement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SMB/RPC admin shares</a:t>
            </a:r>
          </a:p>
          <a:p>
            <a:r>
              <a:rPr lang="en-US"/>
              <a:t>Remote service creation and scheduled tasks</a:t>
            </a:r>
          </a:p>
          <a:p>
            <a:r>
              <a:rPr lang="en-US"/>
              <a:t>WMI / WinRM</a:t>
            </a:r>
          </a:p>
          <a:p>
            <a:r>
              <a:rPr lang="en-US"/>
              <a:t>RDP pivot to servers (often management/file servers)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Mitigations for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Firewall: default deny inbound; allow admin protocols only from management subnets</a:t>
            </a:r>
          </a:p>
          <a:p>
            <a:r>
              <a:rPr lang="sv-SE"/>
              <a:t>Harden SMB and reduce NTLM (audit → enforce)</a:t>
            </a:r>
          </a:p>
          <a:p>
            <a:r>
              <a:rPr lang="sv-SE"/>
              <a:t>Restrict WinRM scope; require HTTPS where appropriate</a:t>
            </a:r>
          </a:p>
          <a:p>
            <a:r>
              <a:rPr lang="sv-SE"/>
              <a:t>RDP: NLA + restrict who/where; use gateways and MFA</a:t>
            </a:r>
          </a:p>
          <a:p>
            <a:r>
              <a:rPr lang="sv-SE"/>
              <a:t>Use PAWs/jump hosts for admin, not daily endpoints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Step 4: Privilege escalation → domain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 dirty="0"/>
              <a:t>Find stored service creds and misconfigured tasks/services</a:t>
            </a:r>
          </a:p>
          <a:p>
            <a:r>
              <a:rPr lang="en-US" dirty="0"/>
              <a:t>Abuse delegation and over-permissioned groups</a:t>
            </a:r>
            <a:endParaRPr lang="en-SE" dirty="0"/>
          </a:p>
          <a:p>
            <a:r>
              <a:rPr lang="en-US" dirty="0"/>
              <a:t>Abuse certificate services</a:t>
            </a:r>
          </a:p>
          <a:p>
            <a:r>
              <a:rPr lang="en-US" dirty="0"/>
              <a:t>Move to DC adjacency</a:t>
            </a:r>
          </a:p>
          <a:p>
            <a:r>
              <a:rPr lang="en-US" dirty="0"/>
              <a:t>Impact: ransomware deployment / data exfiltration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Mitigations for 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 dirty="0" err="1"/>
              <a:t>Tiered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model</a:t>
            </a:r>
            <a:r>
              <a:rPr lang="sv-SE" dirty="0"/>
              <a:t> (workstations vs servers vs DCs)</a:t>
            </a:r>
          </a:p>
          <a:p>
            <a:r>
              <a:rPr lang="sv-SE" dirty="0" err="1"/>
              <a:t>Restrict</a:t>
            </a:r>
            <a:r>
              <a:rPr lang="sv-SE" dirty="0"/>
              <a:t> </a:t>
            </a:r>
            <a:r>
              <a:rPr lang="sv-SE" dirty="0" err="1"/>
              <a:t>interactive</a:t>
            </a:r>
            <a:r>
              <a:rPr lang="sv-SE" dirty="0"/>
              <a:t> logon to servers</a:t>
            </a:r>
          </a:p>
          <a:p>
            <a:r>
              <a:rPr lang="sv-SE" dirty="0" err="1"/>
              <a:t>Minimize</a:t>
            </a:r>
            <a:r>
              <a:rPr lang="sv-SE" dirty="0"/>
              <a:t> service </a:t>
            </a:r>
            <a:r>
              <a:rPr lang="sv-SE" dirty="0" err="1"/>
              <a:t>accounts</a:t>
            </a:r>
            <a:r>
              <a:rPr lang="sv-SE" dirty="0"/>
              <a:t> and </a:t>
            </a:r>
            <a:r>
              <a:rPr lang="sv-SE" dirty="0" err="1"/>
              <a:t>rights</a:t>
            </a:r>
            <a:r>
              <a:rPr lang="sv-SE" dirty="0"/>
              <a:t>; </a:t>
            </a:r>
            <a:r>
              <a:rPr lang="sv-SE" dirty="0" err="1"/>
              <a:t>remove</a:t>
            </a:r>
            <a:r>
              <a:rPr lang="sv-SE" dirty="0"/>
              <a:t> </a:t>
            </a:r>
            <a:r>
              <a:rPr lang="sv-SE" dirty="0" err="1"/>
              <a:t>stored</a:t>
            </a:r>
            <a:r>
              <a:rPr lang="sv-SE" dirty="0"/>
              <a:t> </a:t>
            </a:r>
            <a:r>
              <a:rPr lang="sv-SE" dirty="0" err="1"/>
              <a:t>creds</a:t>
            </a:r>
            <a:endParaRPr lang="sv-SE" dirty="0"/>
          </a:p>
          <a:p>
            <a:r>
              <a:rPr lang="sv-SE" dirty="0" err="1"/>
              <a:t>Disable</a:t>
            </a:r>
            <a:r>
              <a:rPr lang="sv-SE" dirty="0"/>
              <a:t> </a:t>
            </a:r>
            <a:r>
              <a:rPr lang="sv-SE" dirty="0" err="1"/>
              <a:t>unconstrained</a:t>
            </a:r>
            <a:r>
              <a:rPr lang="sv-SE" dirty="0"/>
              <a:t> delegation and </a:t>
            </a:r>
            <a:r>
              <a:rPr lang="sv-SE" dirty="0" err="1"/>
              <a:t>reduce</a:t>
            </a:r>
            <a:r>
              <a:rPr lang="sv-SE" dirty="0"/>
              <a:t> </a:t>
            </a:r>
            <a:r>
              <a:rPr lang="sv-SE" dirty="0" err="1"/>
              <a:t>risky</a:t>
            </a:r>
            <a:r>
              <a:rPr lang="sv-SE" dirty="0"/>
              <a:t> delegation </a:t>
            </a:r>
            <a:r>
              <a:rPr lang="sv-SE" dirty="0" err="1"/>
              <a:t>patterns</a:t>
            </a:r>
            <a:endParaRPr lang="sv-SE" dirty="0"/>
          </a:p>
          <a:p>
            <a:r>
              <a:rPr lang="sv-SE" dirty="0"/>
              <a:t>Alert on </a:t>
            </a:r>
            <a:r>
              <a:rPr lang="sv-SE" dirty="0" err="1"/>
              <a:t>privileged</a:t>
            </a:r>
            <a:r>
              <a:rPr lang="sv-SE" dirty="0"/>
              <a:t> </a:t>
            </a:r>
            <a:r>
              <a:rPr lang="sv-SE" dirty="0" err="1"/>
              <a:t>group</a:t>
            </a:r>
            <a:r>
              <a:rPr lang="sv-SE" dirty="0"/>
              <a:t> </a:t>
            </a:r>
            <a:r>
              <a:rPr lang="sv-SE" dirty="0" err="1"/>
              <a:t>changes</a:t>
            </a:r>
            <a:r>
              <a:rPr lang="sv-SE" dirty="0"/>
              <a:t> and </a:t>
            </a:r>
            <a:r>
              <a:rPr lang="sv-SE" dirty="0" err="1"/>
              <a:t>remote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logons</a:t>
            </a:r>
            <a:endParaRPr lang="en-SE" dirty="0"/>
          </a:p>
          <a:p>
            <a:r>
              <a:rPr lang="en-US" dirty="0"/>
              <a:t>Don't forget permissions on things</a:t>
            </a:r>
            <a:endParaRPr lang="sv-SE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4910703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Top 10 controls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rPr dirty="0"/>
              <a:t>Hardening that actually matters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Top 10 hardening controls (prioritized)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>
            <a:normAutofit fontScale="92500" lnSpcReduction="20000"/>
          </a:bodyPr>
          <a:lstStyle/>
          <a:p>
            <a:r>
              <a:rPr lang="sv-SE" dirty="0" err="1"/>
              <a:t>Remove</a:t>
            </a:r>
            <a:r>
              <a:rPr lang="sv-SE" dirty="0"/>
              <a:t> </a:t>
            </a:r>
            <a:r>
              <a:rPr lang="sv-SE" dirty="0" err="1"/>
              <a:t>standing</a:t>
            </a:r>
            <a:r>
              <a:rPr lang="sv-SE" dirty="0"/>
              <a:t> </a:t>
            </a:r>
            <a:r>
              <a:rPr lang="sv-SE" dirty="0" err="1"/>
              <a:t>local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+ </a:t>
            </a:r>
            <a:r>
              <a:rPr lang="sv-SE" dirty="0" err="1"/>
              <a:t>deploy</a:t>
            </a:r>
            <a:r>
              <a:rPr lang="sv-SE" dirty="0"/>
              <a:t> Windows LAPS</a:t>
            </a:r>
          </a:p>
          <a:p>
            <a:r>
              <a:rPr lang="sv-SE" dirty="0" err="1"/>
              <a:t>Enable</a:t>
            </a:r>
            <a:r>
              <a:rPr lang="sv-SE" dirty="0"/>
              <a:t> </a:t>
            </a:r>
            <a:r>
              <a:rPr lang="sv-SE" dirty="0" err="1"/>
              <a:t>Credential</a:t>
            </a:r>
            <a:r>
              <a:rPr lang="sv-SE" dirty="0"/>
              <a:t> </a:t>
            </a:r>
            <a:r>
              <a:rPr lang="sv-SE" dirty="0" err="1"/>
              <a:t>Guard</a:t>
            </a:r>
            <a:r>
              <a:rPr lang="sv-SE" dirty="0"/>
              <a:t> (</a:t>
            </a:r>
            <a:r>
              <a:rPr lang="sv-SE" dirty="0" err="1"/>
              <a:t>where</a:t>
            </a:r>
            <a:r>
              <a:rPr lang="sv-SE" dirty="0"/>
              <a:t> </a:t>
            </a:r>
            <a:r>
              <a:rPr lang="sv-SE" dirty="0" err="1"/>
              <a:t>supported</a:t>
            </a:r>
            <a:r>
              <a:rPr lang="sv-SE" dirty="0"/>
              <a:t>)</a:t>
            </a:r>
          </a:p>
          <a:p>
            <a:r>
              <a:rPr lang="sv-SE" dirty="0" err="1"/>
              <a:t>Enforce</a:t>
            </a:r>
            <a:r>
              <a:rPr lang="sv-SE" dirty="0"/>
              <a:t> MFA/</a:t>
            </a:r>
            <a:r>
              <a:rPr lang="sv-SE" dirty="0" err="1"/>
              <a:t>Conditional</a:t>
            </a:r>
            <a:r>
              <a:rPr lang="sv-SE" dirty="0"/>
              <a:t> Access for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sign-ins</a:t>
            </a:r>
            <a:r>
              <a:rPr lang="sv-SE" dirty="0"/>
              <a:t> + </a:t>
            </a:r>
            <a:r>
              <a:rPr lang="sv-SE" dirty="0" err="1"/>
              <a:t>separate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accounts</a:t>
            </a:r>
            <a:endParaRPr lang="sv-SE" dirty="0"/>
          </a:p>
          <a:p>
            <a:r>
              <a:rPr lang="sv-SE" dirty="0"/>
              <a:t>WDAC </a:t>
            </a:r>
            <a:r>
              <a:rPr lang="sv-SE" dirty="0" err="1"/>
              <a:t>allowlisting</a:t>
            </a:r>
            <a:r>
              <a:rPr lang="sv-SE" dirty="0"/>
              <a:t> (start in </a:t>
            </a:r>
            <a:r>
              <a:rPr lang="sv-SE" dirty="0" err="1"/>
              <a:t>audit</a:t>
            </a:r>
            <a:r>
              <a:rPr lang="sv-SE" dirty="0"/>
              <a:t> mode) or </a:t>
            </a:r>
            <a:r>
              <a:rPr lang="sv-SE" dirty="0" err="1"/>
              <a:t>AppLocker</a:t>
            </a:r>
            <a:endParaRPr lang="sv-SE" dirty="0"/>
          </a:p>
          <a:p>
            <a:r>
              <a:rPr lang="sv-SE" dirty="0"/>
              <a:t>ASR </a:t>
            </a:r>
            <a:r>
              <a:rPr lang="sv-SE" dirty="0" err="1"/>
              <a:t>baseline</a:t>
            </a:r>
            <a:r>
              <a:rPr lang="sv-SE" dirty="0"/>
              <a:t> </a:t>
            </a:r>
            <a:r>
              <a:rPr lang="sv-SE" dirty="0" err="1"/>
              <a:t>rules</a:t>
            </a:r>
            <a:r>
              <a:rPr lang="sv-SE" dirty="0"/>
              <a:t> + </a:t>
            </a:r>
            <a:r>
              <a:rPr lang="sv-SE" dirty="0" err="1"/>
              <a:t>tune</a:t>
            </a:r>
            <a:r>
              <a:rPr lang="sv-SE" dirty="0"/>
              <a:t> from </a:t>
            </a:r>
            <a:r>
              <a:rPr lang="sv-SE" dirty="0" err="1"/>
              <a:t>audit</a:t>
            </a:r>
            <a:r>
              <a:rPr lang="sv-SE" dirty="0"/>
              <a:t> events</a:t>
            </a:r>
          </a:p>
          <a:p>
            <a:r>
              <a:rPr lang="sv-SE" dirty="0" err="1"/>
              <a:t>Firewall</a:t>
            </a:r>
            <a:r>
              <a:rPr lang="sv-SE" dirty="0"/>
              <a:t>: default </a:t>
            </a:r>
            <a:r>
              <a:rPr lang="sv-SE" dirty="0" err="1"/>
              <a:t>deny</a:t>
            </a:r>
            <a:r>
              <a:rPr lang="sv-SE" dirty="0"/>
              <a:t> </a:t>
            </a:r>
            <a:r>
              <a:rPr lang="sv-SE" dirty="0" err="1"/>
              <a:t>inbound</a:t>
            </a:r>
            <a:r>
              <a:rPr lang="sv-SE" dirty="0"/>
              <a:t> </a:t>
            </a:r>
            <a:r>
              <a:rPr lang="sv-SE" dirty="0" err="1"/>
              <a:t>admin</a:t>
            </a:r>
            <a:r>
              <a:rPr lang="sv-SE" dirty="0"/>
              <a:t> </a:t>
            </a:r>
            <a:r>
              <a:rPr lang="sv-SE" dirty="0" err="1"/>
              <a:t>protocols</a:t>
            </a:r>
            <a:r>
              <a:rPr lang="sv-SE" dirty="0"/>
              <a:t>; segment management</a:t>
            </a:r>
          </a:p>
          <a:p>
            <a:r>
              <a:rPr lang="sv-SE" dirty="0" err="1"/>
              <a:t>Disable</a:t>
            </a:r>
            <a:r>
              <a:rPr lang="sv-SE" dirty="0"/>
              <a:t> SMB1 and </a:t>
            </a:r>
            <a:r>
              <a:rPr lang="sv-SE" dirty="0" err="1"/>
              <a:t>reduce</a:t>
            </a:r>
            <a:r>
              <a:rPr lang="sv-SE" dirty="0"/>
              <a:t> NTLM </a:t>
            </a:r>
            <a:r>
              <a:rPr lang="sv-SE" dirty="0" err="1"/>
              <a:t>where</a:t>
            </a:r>
            <a:r>
              <a:rPr lang="sv-SE" dirty="0"/>
              <a:t> </a:t>
            </a:r>
            <a:r>
              <a:rPr lang="sv-SE" dirty="0" err="1"/>
              <a:t>feasible</a:t>
            </a:r>
            <a:endParaRPr lang="sv-SE" dirty="0"/>
          </a:p>
          <a:p>
            <a:r>
              <a:rPr lang="sv-SE" dirty="0" err="1"/>
              <a:t>Patch</a:t>
            </a:r>
            <a:r>
              <a:rPr lang="sv-SE" dirty="0"/>
              <a:t> OS + browsers </a:t>
            </a:r>
            <a:r>
              <a:rPr lang="sv-SE" dirty="0" err="1"/>
              <a:t>aggressively</a:t>
            </a:r>
            <a:r>
              <a:rPr lang="sv-SE" dirty="0"/>
              <a:t>; </a:t>
            </a:r>
            <a:r>
              <a:rPr lang="sv-SE" dirty="0" err="1"/>
              <a:t>retire</a:t>
            </a:r>
            <a:r>
              <a:rPr lang="sv-SE" dirty="0"/>
              <a:t> </a:t>
            </a:r>
            <a:r>
              <a:rPr lang="sv-SE" dirty="0" err="1"/>
              <a:t>unsupported</a:t>
            </a:r>
            <a:r>
              <a:rPr lang="sv-SE" dirty="0"/>
              <a:t> OS</a:t>
            </a:r>
          </a:p>
          <a:p>
            <a:r>
              <a:rPr lang="sv-SE" dirty="0" err="1"/>
              <a:t>Harden</a:t>
            </a:r>
            <a:r>
              <a:rPr lang="sv-SE" dirty="0"/>
              <a:t> RDP/</a:t>
            </a:r>
            <a:r>
              <a:rPr lang="sv-SE" dirty="0" err="1"/>
              <a:t>WinRM</a:t>
            </a:r>
            <a:r>
              <a:rPr lang="sv-SE" dirty="0"/>
              <a:t>; </a:t>
            </a:r>
            <a:r>
              <a:rPr lang="sv-SE" dirty="0" err="1"/>
              <a:t>restrict</a:t>
            </a:r>
            <a:r>
              <a:rPr lang="sv-SE" dirty="0"/>
              <a:t> </a:t>
            </a:r>
            <a:r>
              <a:rPr lang="sv-SE" dirty="0" err="1"/>
              <a:t>who</a:t>
            </a:r>
            <a:r>
              <a:rPr lang="sv-SE" dirty="0"/>
              <a:t>/</a:t>
            </a:r>
            <a:r>
              <a:rPr lang="sv-SE" dirty="0" err="1"/>
              <a:t>where</a:t>
            </a:r>
            <a:r>
              <a:rPr lang="sv-SE" dirty="0"/>
              <a:t>/</a:t>
            </a:r>
            <a:r>
              <a:rPr lang="sv-SE" dirty="0" err="1"/>
              <a:t>how</a:t>
            </a:r>
            <a:endParaRPr lang="sv-SE" dirty="0"/>
          </a:p>
          <a:p>
            <a:r>
              <a:rPr lang="sv-SE" dirty="0" err="1"/>
              <a:t>Logging</a:t>
            </a:r>
            <a:r>
              <a:rPr lang="sv-SE" dirty="0"/>
              <a:t> + drift </a:t>
            </a:r>
            <a:r>
              <a:rPr lang="sv-SE" dirty="0" err="1"/>
              <a:t>control</a:t>
            </a:r>
            <a:r>
              <a:rPr lang="sv-SE" dirty="0"/>
              <a:t> (</a:t>
            </a:r>
            <a:r>
              <a:rPr lang="sv-SE" dirty="0" err="1"/>
              <a:t>audit</a:t>
            </a:r>
            <a:r>
              <a:rPr lang="sv-SE" dirty="0"/>
              <a:t> policy, CI logs, </a:t>
            </a:r>
            <a:r>
              <a:rPr lang="sv-SE" dirty="0" err="1"/>
              <a:t>Defender</a:t>
            </a:r>
            <a:r>
              <a:rPr lang="sv-SE" dirty="0"/>
              <a:t> </a:t>
            </a:r>
            <a:r>
              <a:rPr lang="sv-SE" dirty="0" err="1"/>
              <a:t>telemetry</a:t>
            </a:r>
            <a:r>
              <a:rPr lang="sv-SE" dirty="0"/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Top 10 controls – Why these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13384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4F9F"/>
                </a:solidFill>
                <a:latin typeface="Segoe UI Semibold"/>
              </a:defRPr>
            </a:pPr>
            <a:r>
              <a:rPr dirty="0"/>
              <a:t>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13384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4F9F"/>
                </a:solidFill>
                <a:latin typeface="Segoe UI Semibold"/>
              </a:defRPr>
            </a:pPr>
            <a:r>
              <a:t>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32119"/>
            <a:ext cx="5486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Credential dumping/reuse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Remote admin protocol abuse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Unknown code execution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Persistence via built-in tooling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Rapid lateral spread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532119"/>
            <a:ext cx="51206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Reduce privileges + unique local admin passwords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Constrain execution with WDAC/AppLocker + ASR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Limit reachability with Firewall/segmentation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Protect secrets with Credential Guard/LSASS protections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Detect/alert with auditing + Defender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5394747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Client hardening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rPr dirty="0"/>
              <a:t>Workstations: shrink the surface area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Client baseline: what ‘good’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No standing local admin; elevation via controlled workflows</a:t>
            </a:r>
          </a:p>
          <a:p>
            <a:r>
              <a:rPr lang="sv-SE"/>
              <a:t>Credential Guard enabled where possible</a:t>
            </a:r>
          </a:p>
          <a:p>
            <a:r>
              <a:rPr lang="sv-SE"/>
              <a:t>ASR baseline applied + tuned</a:t>
            </a:r>
          </a:p>
          <a:p>
            <a:r>
              <a:rPr lang="sv-SE"/>
              <a:t>WDAC in audit → enforce for high-risk rings</a:t>
            </a:r>
          </a:p>
          <a:p>
            <a:r>
              <a:rPr lang="sv-SE"/>
              <a:t>Inbound firewall blocked; outbound controlled where feasible</a:t>
            </a:r>
          </a:p>
          <a:p>
            <a:r>
              <a:rPr lang="sv-SE"/>
              <a:t>Browser/Office hardened; macros constrained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Example: LSA / LSASS hardening (Registry)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  <a:ln>
            <a:solidFill>
              <a:srgbClr val="0B12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Enable LSASS as a protected process (RunAsPPL)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reg add HKLM\SYSTEM\CurrentControlSet\Control\Lsa /v RunAsPPL /t REG_DWORD /d 1 /f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endParaRPr/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Disable WDigest credential caching (plaintext)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reg add HKLM\SYSTEM\CurrentControlSet\Control\SecurityProviders\WDigest /v UseLogonCredential /t REG_DWORD /d 0 /f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endParaRPr/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Reduce cached logons (tune per environment)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reg add HKLM\SOFTWARE\Microsoft\Windows NT\CurrentVersion\Winlogon /v CachedLogonsCount /t REG_SZ /d 1 /f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GPO/Intune: Credential protections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 dirty="0"/>
              <a:t>GPO: </a:t>
            </a:r>
            <a:r>
              <a:rPr lang="sv-SE" dirty="0" err="1"/>
              <a:t>Device</a:t>
            </a:r>
            <a:r>
              <a:rPr lang="sv-SE" dirty="0"/>
              <a:t> </a:t>
            </a:r>
            <a:r>
              <a:rPr lang="sv-SE" dirty="0" err="1"/>
              <a:t>Guard</a:t>
            </a:r>
            <a:r>
              <a:rPr lang="sv-SE" dirty="0"/>
              <a:t>/VBS </a:t>
            </a:r>
            <a:r>
              <a:rPr lang="sv-SE" dirty="0" err="1"/>
              <a:t>settings</a:t>
            </a:r>
            <a:r>
              <a:rPr lang="sv-SE" dirty="0"/>
              <a:t> (</a:t>
            </a:r>
            <a:r>
              <a:rPr lang="sv-SE" dirty="0" err="1"/>
              <a:t>Turn</a:t>
            </a:r>
            <a:r>
              <a:rPr lang="sv-SE" dirty="0"/>
              <a:t> on VBS)</a:t>
            </a:r>
          </a:p>
          <a:p>
            <a:r>
              <a:rPr lang="sv-SE" dirty="0" err="1"/>
              <a:t>Enable</a:t>
            </a:r>
            <a:r>
              <a:rPr lang="sv-SE" dirty="0"/>
              <a:t> </a:t>
            </a:r>
            <a:r>
              <a:rPr lang="sv-SE" dirty="0" err="1"/>
              <a:t>Credential</a:t>
            </a:r>
            <a:r>
              <a:rPr lang="sv-SE" dirty="0"/>
              <a:t> </a:t>
            </a:r>
            <a:r>
              <a:rPr lang="sv-SE" dirty="0" err="1"/>
              <a:t>Guard</a:t>
            </a:r>
            <a:r>
              <a:rPr lang="sv-SE" dirty="0"/>
              <a:t> and lock </a:t>
            </a:r>
            <a:r>
              <a:rPr lang="sv-SE" dirty="0" err="1"/>
              <a:t>where</a:t>
            </a:r>
            <a:r>
              <a:rPr lang="sv-SE" dirty="0"/>
              <a:t> </a:t>
            </a:r>
            <a:r>
              <a:rPr lang="sv-SE" dirty="0" err="1"/>
              <a:t>appropriate</a:t>
            </a:r>
            <a:endParaRPr lang="sv-SE" dirty="0"/>
          </a:p>
          <a:p>
            <a:r>
              <a:rPr lang="sv-SE" dirty="0"/>
              <a:t>GPO </a:t>
            </a:r>
            <a:r>
              <a:rPr lang="sv-SE" dirty="0" err="1"/>
              <a:t>Security</a:t>
            </a:r>
            <a:r>
              <a:rPr lang="sv-SE" dirty="0"/>
              <a:t> Options: </a:t>
            </a:r>
            <a:r>
              <a:rPr lang="sv-SE" dirty="0" err="1"/>
              <a:t>restrict</a:t>
            </a:r>
            <a:r>
              <a:rPr lang="sv-SE" dirty="0"/>
              <a:t> LM/NTLM, </a:t>
            </a:r>
            <a:r>
              <a:rPr lang="sv-SE" dirty="0" err="1"/>
              <a:t>disable</a:t>
            </a:r>
            <a:r>
              <a:rPr lang="sv-SE" dirty="0"/>
              <a:t> </a:t>
            </a:r>
            <a:r>
              <a:rPr lang="sv-SE" dirty="0" err="1"/>
              <a:t>storing</a:t>
            </a:r>
            <a:r>
              <a:rPr lang="sv-SE" dirty="0"/>
              <a:t> LM </a:t>
            </a:r>
            <a:r>
              <a:rPr lang="sv-SE" dirty="0" err="1"/>
              <a:t>hash</a:t>
            </a:r>
            <a:endParaRPr lang="sv-SE" dirty="0"/>
          </a:p>
          <a:p>
            <a:r>
              <a:rPr lang="sv-SE" dirty="0"/>
              <a:t>Intune: Endpoint </a:t>
            </a:r>
            <a:r>
              <a:rPr lang="sv-SE" dirty="0" err="1"/>
              <a:t>security</a:t>
            </a:r>
            <a:r>
              <a:rPr lang="sv-SE" dirty="0"/>
              <a:t> → </a:t>
            </a:r>
            <a:r>
              <a:rPr lang="sv-SE" dirty="0" err="1"/>
              <a:t>Account</a:t>
            </a:r>
            <a:r>
              <a:rPr lang="sv-SE" dirty="0"/>
              <a:t> </a:t>
            </a:r>
            <a:r>
              <a:rPr lang="sv-SE" dirty="0" err="1"/>
              <a:t>protection</a:t>
            </a:r>
            <a:r>
              <a:rPr lang="sv-SE" dirty="0"/>
              <a:t> / ASR </a:t>
            </a:r>
            <a:r>
              <a:rPr lang="sv-SE" dirty="0" err="1"/>
              <a:t>profiles</a:t>
            </a:r>
            <a:endParaRPr lang="sv-SE" dirty="0"/>
          </a:p>
          <a:p>
            <a:r>
              <a:rPr lang="sv-SE" dirty="0"/>
              <a:t>Start from Microsoft </a:t>
            </a:r>
            <a:r>
              <a:rPr lang="sv-SE" dirty="0" err="1"/>
              <a:t>security</a:t>
            </a:r>
            <a:r>
              <a:rPr lang="sv-SE" dirty="0"/>
              <a:t> </a:t>
            </a:r>
            <a:r>
              <a:rPr lang="sv-SE" dirty="0" err="1"/>
              <a:t>baselines</a:t>
            </a:r>
            <a:r>
              <a:rPr lang="sv-SE" dirty="0"/>
              <a:t>, </a:t>
            </a:r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dirty="0" err="1"/>
              <a:t>tune</a:t>
            </a:r>
            <a:endParaRPr lang="en-SE" dirty="0"/>
          </a:p>
          <a:p>
            <a:r>
              <a:rPr lang="en-US" dirty="0"/>
              <a:t>Don't forget to disable RC4 and DES</a:t>
            </a:r>
            <a:endParaRPr lang="sv-SE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ASR – practical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Start with a recommended baseline</a:t>
            </a:r>
          </a:p>
          <a:p>
            <a:r>
              <a:rPr lang="sv-SE"/>
              <a:t>Deploy in Audit mode → review events → tune → Enforce</a:t>
            </a:r>
          </a:p>
          <a:p>
            <a:r>
              <a:rPr lang="sv-SE"/>
              <a:t>High-value rules: Office child process blocks, credential stealing blocks, web/email payload blocks</a:t>
            </a:r>
          </a:p>
          <a:p>
            <a:r>
              <a:rPr lang="sv-SE"/>
              <a:t>Measure: false positives + reduced suspicious activity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Browser + Office hardening (client)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Block macros from the Internet and reduce add-in risk</a:t>
            </a:r>
          </a:p>
          <a:p>
            <a:r>
              <a:rPr lang="en-US"/>
              <a:t>Restrict browser extensions; enforce updates</a:t>
            </a:r>
          </a:p>
          <a:p>
            <a:r>
              <a:rPr lang="en-US"/>
              <a:t>Enable reputation-based protections (SmartScreen)</a:t>
            </a:r>
          </a:p>
          <a:p>
            <a:r>
              <a:rPr lang="en-US"/>
              <a:t>Persona-based rings (dev/admin/standard)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Client networking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Inbound firewall blocked on all profiles</a:t>
            </a:r>
          </a:p>
          <a:p>
            <a:r>
              <a:rPr lang="sv-SE"/>
              <a:t>Disable unused services/listeners</a:t>
            </a:r>
          </a:p>
          <a:p>
            <a:r>
              <a:rPr lang="sv-SE"/>
              <a:t>SMB: disable SMB1; disable guest; require signing where feasible</a:t>
            </a:r>
          </a:p>
          <a:p>
            <a:r>
              <a:rPr lang="sv-SE"/>
              <a:t>Reduce NTLM with audit → remediation</a:t>
            </a:r>
          </a:p>
          <a:p>
            <a:r>
              <a:rPr lang="sv-SE"/>
              <a:t>Disable LLMNR/NetBIOS where possible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Example: Disable LLMNR (GPO registry)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  <a:ln>
            <a:solidFill>
              <a:srgbClr val="0B12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GPO: Computer Config &gt; Admin Templates &gt; Network &gt; DNS Client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'Turn off Multicast Name Resolution' = Enabled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reg add HKLM\Software\Policies\Microsoft\Windows NT\DNSClient /v EnableMulticast /t REG_DWORD /d 0 /f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WDAC vs AppLocker (client)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WDAC: stronger, kernel-enforced allowlisting</a:t>
            </a:r>
          </a:p>
          <a:p>
            <a:r>
              <a:rPr lang="en-US"/>
              <a:t>AppLocker: easier legacy option; still useful in many estates</a:t>
            </a:r>
          </a:p>
          <a:p>
            <a:r>
              <a:rPr lang="en-US"/>
              <a:t>Start WDAC in Audit mode and roll out ring-by-ring</a:t>
            </a:r>
          </a:p>
          <a:p>
            <a:r>
              <a:rPr lang="en-US"/>
              <a:t>Use publisher rules and managed installer concepts where applicable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4D76-A883-FF9D-1374-F5516D92A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561BD-0DB3-7DEA-1DE3-C9B771A56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/>
          <a:lstStyle/>
          <a:p>
            <a:r>
              <a:rPr lang="en-SE" dirty="0"/>
              <a:t>Checking the client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D78FD-5946-F002-1321-874433FE5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688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7089890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Server hardening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rPr dirty="0"/>
              <a:t>Servers: role-aware and lateral-movement resistant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Server baseline: what changes from clients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Higher compatibility constraints — but higher attack value</a:t>
            </a:r>
          </a:p>
          <a:p>
            <a:r>
              <a:rPr lang="en-US"/>
              <a:t>Goal: restrict admin channels, protect creds, minimize interactive use</a:t>
            </a:r>
          </a:p>
          <a:p>
            <a:r>
              <a:rPr lang="en-US"/>
              <a:t>Treat management, file, and backup servers as high value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Role-specific hardening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File servers: SMB hardening, share ACL hygiene, auditing</a:t>
            </a:r>
          </a:p>
          <a:p>
            <a:r>
              <a:rPr lang="sv-SE"/>
              <a:t>Management servers: isolate network, no email/web, strict admin workflow</a:t>
            </a:r>
          </a:p>
          <a:p>
            <a:r>
              <a:rPr lang="sv-SE"/>
              <a:t>Backup servers: separate creds, isolation, immutable/air-gapped options</a:t>
            </a:r>
          </a:p>
          <a:p>
            <a:r>
              <a:rPr lang="sv-SE"/>
              <a:t>App servers: service account hygiene + constrained delegation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Interactive logon restrictions (servers)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Deny local/RDP logon for standard users</a:t>
            </a:r>
          </a:p>
          <a:p>
            <a:r>
              <a:rPr lang="sv-SE"/>
              <a:t>Only allow tiered admin accounts</a:t>
            </a:r>
          </a:p>
          <a:p>
            <a:r>
              <a:rPr lang="sv-SE"/>
              <a:t>Avoid stored creds; remove saved RDP/passwords</a:t>
            </a:r>
          </a:p>
          <a:p>
            <a:r>
              <a:rPr lang="sv-SE"/>
              <a:t>Use JIT/JEA where possible</a:t>
            </a:r>
          </a:p>
          <a:p>
            <a:r>
              <a:rPr lang="sv-SE"/>
              <a:t>Harden local groups (Administrators, RDP Users)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Server remote management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WinRM: restrict to management subnets; audit usage</a:t>
            </a:r>
          </a:p>
          <a:p>
            <a:r>
              <a:rPr lang="sv-SE"/>
              <a:t>RDP: restrict scope; prefer jump hosts; enforce NLA</a:t>
            </a:r>
          </a:p>
          <a:p>
            <a:r>
              <a:rPr lang="sv-SE"/>
              <a:t>SMB admin shares: limit reachability and monitor usage</a:t>
            </a:r>
          </a:p>
          <a:p>
            <a:r>
              <a:rPr lang="sv-SE"/>
              <a:t>Firewall: explicit allow from management networks only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SMB + NTLM hardening (servers)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Disable SMB1</a:t>
            </a:r>
          </a:p>
          <a:p>
            <a:r>
              <a:rPr lang="sv-SE"/>
              <a:t>Require SMB signing where feasible</a:t>
            </a:r>
          </a:p>
          <a:p>
            <a:r>
              <a:rPr lang="sv-SE"/>
              <a:t>Audit NTLM usage and reduce gradually</a:t>
            </a:r>
          </a:p>
          <a:p>
            <a:r>
              <a:rPr lang="sv-SE"/>
              <a:t>Prefer Kerberos; fix SPNs/time sync to reduce NTLM fallbacks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Server application control (high value roles)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WDAC enforced on management/jump/backup servers</a:t>
            </a:r>
          </a:p>
          <a:p>
            <a:r>
              <a:rPr lang="en-US"/>
              <a:t>AppLocker as interim</a:t>
            </a:r>
          </a:p>
          <a:p>
            <a:r>
              <a:rPr lang="en-US"/>
              <a:t>Reduce unsigned drivers where possible</a:t>
            </a:r>
          </a:p>
          <a:p>
            <a:r>
              <a:rPr lang="en-US"/>
              <a:t>Define an exception process with ownership and expiry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5156155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Verify &amp; roll out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rPr dirty="0"/>
              <a:t>Make hardening operational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/>
          <a:lstStyle/>
          <a:p>
            <a:r>
              <a:rPr lang="en-US" dirty="0"/>
              <a:t>How to win at life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/>
          <a:p>
            <a:r>
              <a:rPr lang="en-US" dirty="0"/>
              <a:t>According to Brian</a:t>
            </a:r>
          </a:p>
        </p:txBody>
      </p:sp>
    </p:spTree>
    <p:extLst>
      <p:ext uri="{BB962C8B-B14F-4D97-AF65-F5344CB8AC3E}">
        <p14:creationId xmlns:p14="http://schemas.microsoft.com/office/powerpoint/2010/main" val="29985676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Verification: how you know it’s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Configuration compliance: Intune/GPO/DSC/CM</a:t>
            </a:r>
          </a:p>
          <a:p>
            <a:r>
              <a:rPr lang="sv-SE"/>
              <a:t>Telemetry: Defender, Security logs, Code Integrity logs</a:t>
            </a:r>
          </a:p>
          <a:p>
            <a:r>
              <a:rPr lang="sv-SE"/>
              <a:t>Key audit categories: logon, privilege use, process creation</a:t>
            </a:r>
          </a:p>
          <a:p>
            <a:r>
              <a:rPr lang="sv-SE"/>
              <a:t>Attack simulation / purple-team validation</a:t>
            </a:r>
          </a:p>
          <a:p>
            <a:r>
              <a:rPr lang="sv-SE"/>
              <a:t>Exception tracking with owners + expiry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Rollout strategy (mixed estates)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Start from security baselines</a:t>
            </a:r>
          </a:p>
          <a:p>
            <a:r>
              <a:rPr lang="sv-SE"/>
              <a:t>Use rings: Audit → Pilot → Broad → Enforce</a:t>
            </a:r>
          </a:p>
          <a:p>
            <a:r>
              <a:rPr lang="sv-SE"/>
              <a:t>Segment by persona (dev/admin/standard)</a:t>
            </a:r>
          </a:p>
          <a:p>
            <a:r>
              <a:rPr lang="sv-SE"/>
              <a:t>Document exceptions; revisit quarterly</a:t>
            </a:r>
          </a:p>
          <a:p>
            <a:r>
              <a:rPr lang="sv-SE"/>
              <a:t>Automate drift detection/remediation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Quick wins vs longer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8270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4F9F"/>
                </a:solidFill>
                <a:latin typeface="Segoe UI Semibold"/>
              </a:defRPr>
            </a:pPr>
            <a:r>
              <a:rPr dirty="0"/>
              <a:t>Quick wins (weeks)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6206" y="1382709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4F9F"/>
                </a:solidFill>
                <a:latin typeface="Segoe UI Semibold"/>
              </a:defRPr>
            </a:pPr>
            <a:r>
              <a:rPr dirty="0"/>
              <a:t>Programs (months)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Deploy Windows LAPS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Inbound firewall deny + </a:t>
            </a:r>
            <a:r>
              <a:rPr dirty="0" err="1">
                <a:solidFill>
                  <a:schemeClr val="bg1"/>
                </a:solidFill>
              </a:rPr>
              <a:t>mgmt</a:t>
            </a:r>
            <a:r>
              <a:rPr dirty="0">
                <a:solidFill>
                  <a:schemeClr val="bg1"/>
                </a:solidFill>
              </a:rPr>
              <a:t> subnet allows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Disable SMB1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ASR </a:t>
            </a:r>
            <a:r>
              <a:rPr dirty="0" err="1">
                <a:solidFill>
                  <a:schemeClr val="bg1"/>
                </a:solidFill>
              </a:rPr>
              <a:t>audit→enforce</a:t>
            </a:r>
            <a:endParaRPr dirty="0">
              <a:solidFill>
                <a:schemeClr val="bg1"/>
              </a:solidFill>
            </a:endParaRP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Restrict RDP scope + NLA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1206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WDAC ring rollout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NTLM restriction program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Tiered admin model + PAWs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Segmentation redesign</a:t>
            </a:r>
          </a:p>
          <a:p>
            <a:pPr>
              <a:defRPr sz="2000">
                <a:solidFill>
                  <a:srgbClr val="111827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Centralized </a:t>
            </a:r>
            <a:r>
              <a:rPr dirty="0" err="1">
                <a:solidFill>
                  <a:schemeClr val="bg1"/>
                </a:solidFill>
              </a:rPr>
              <a:t>logging+detections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0312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t>Appendix</a:t>
            </a:r>
          </a:p>
          <a:p>
            <a:pPr>
              <a:defRPr sz="2400">
                <a:solidFill>
                  <a:srgbClr val="E5E7EB"/>
                </a:solidFill>
                <a:latin typeface="Segoe UI"/>
              </a:defRPr>
            </a:pPr>
            <a:r>
              <a:t>Event IDs &amp; logs (reference)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Event IDs (1/4): Credential theft &amp; logon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Security: 4624/4625 — Logon success/failure (watch LogonType 3 &amp; 10)</a:t>
            </a:r>
          </a:p>
          <a:p>
            <a:r>
              <a:rPr lang="en-US"/>
              <a:t>Security: 4648 — Logon with explicit credentials</a:t>
            </a:r>
          </a:p>
          <a:p>
            <a:r>
              <a:rPr lang="en-US"/>
              <a:t>Security: 4672 — Special privileges assigned</a:t>
            </a:r>
          </a:p>
          <a:p>
            <a:r>
              <a:rPr lang="en-US"/>
              <a:t>Security: 4768/4769 — Kerberos; Security: 4776 — NTLM authentication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Event IDs (2/4): Lateral movement &amp; remote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Security: 4688 — Process creation (enable command line auditing)</a:t>
            </a:r>
          </a:p>
          <a:p>
            <a:r>
              <a:rPr lang="en-US"/>
              <a:t>System: 7045 — New service installed; System: 7036 — Service state changes</a:t>
            </a:r>
          </a:p>
          <a:p>
            <a:r>
              <a:rPr lang="en-US"/>
              <a:t>Security: 4697 — Service installed; 4698/4699/4702 — Task create/delete/update</a:t>
            </a:r>
          </a:p>
          <a:p>
            <a:r>
              <a:rPr lang="en-US"/>
              <a:t>Security: 5140 — Network share access (watch C$, ADMIN$)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sv-SE"/>
              <a:t>Event IDs (3/4): Privilege changes &amp; anti-forensics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Security: 4719 — Audit policy changed</a:t>
            </a:r>
          </a:p>
          <a:p>
            <a:r>
              <a:rPr lang="en-US"/>
              <a:t>Security: 4732/4733 — Local group member added/removed</a:t>
            </a:r>
          </a:p>
          <a:p>
            <a:r>
              <a:rPr lang="en-US"/>
              <a:t>Security: 4728/4729 — Domain group member added/removed</a:t>
            </a:r>
          </a:p>
          <a:p>
            <a:r>
              <a:rPr lang="en-US"/>
              <a:t>Security: 1102 — Audit log cleared (high severity)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Event IDs (4/4): WDAC / App control &amp; ASR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WDAC: Microsoft-Windows-CodeIntegrity/Operational (e.g., 3076 in audit scenarios)</a:t>
            </a:r>
          </a:p>
          <a:p>
            <a:r>
              <a:rPr lang="sv-SE"/>
              <a:t>AppLocker: Microsoft-Windows-AppLocker/*</a:t>
            </a:r>
          </a:p>
          <a:p>
            <a:r>
              <a:rPr lang="sv-SE"/>
              <a:t>ASR: Microsoft-Windows-Windows Defender/Operational</a:t>
            </a:r>
          </a:p>
          <a:p>
            <a:r>
              <a:rPr lang="sv-SE"/>
              <a:t>Tip: Audit → tune via events → Enforce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If you do only 5 things…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Deploy Windows LAPS and eliminate standing local admin</a:t>
            </a:r>
          </a:p>
          <a:p>
            <a:r>
              <a:rPr lang="en-US"/>
              <a:t>Enable Credential Guard (where supported) + LSASS protections</a:t>
            </a:r>
          </a:p>
          <a:p>
            <a:r>
              <a:rPr lang="en-US"/>
              <a:t>Roll out ASR rules (Audit → Enforce) to block Office/script abuse</a:t>
            </a:r>
          </a:p>
          <a:p>
            <a:r>
              <a:rPr lang="en-US"/>
              <a:t>Constrain execution with WDAC (start with high-value rings / audit mode)</a:t>
            </a:r>
          </a:p>
          <a:p>
            <a:r>
              <a:rPr lang="en-US"/>
              <a:t>Default-deny inbound admin protocols; allow only from management subnets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 at MOA.potx" id="{3D8E68AC-16B8-4BF5-AFB2-B763BDCC3743}" vid="{944DB8A9-B0C4-41B8-9949-B64142275FBB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 at MOA.potx" id="{3D8E68AC-16B8-4BF5-AFB2-B763BDCC3743}" vid="{90CBDD63-E5FD-4EF7-9221-F3431DD888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edddbbb644e7c0bd6adf7ea50799224d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49108ad5585ca2305a1dbbeb1151d3a3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Props1.xml><?xml version="1.0" encoding="utf-8"?>
<ds:datastoreItem xmlns:ds="http://schemas.openxmlformats.org/officeDocument/2006/customXml" ds:itemID="{72549C15-4E42-4D07-A4DB-8ECA1C2B5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a23f2dc9-b9fe-448a-b0b1-aa092771f91e}" enabled="1" method="Privileged" siteId="{dd4bfd4f-bb54-4c50-ae35-38d9719db1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Windows Operating System Hardening_Nystrom_Niehaus</Template>
  <TotalTime>91</TotalTime>
  <Words>2504</Words>
  <Application>Microsoft Office PowerPoint</Application>
  <PresentationFormat>Widescreen</PresentationFormat>
  <Paragraphs>322</Paragraphs>
  <Slides>53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Windows Operating System Hardening</vt:lpstr>
      <vt:lpstr>Attention</vt:lpstr>
      <vt:lpstr>PowerPoint Presentation</vt:lpstr>
      <vt:lpstr>So, let us begin..</vt:lpstr>
      <vt:lpstr>Session outcomes</vt:lpstr>
      <vt:lpstr>Agenda (75 minutes)</vt:lpstr>
      <vt:lpstr>PowerPoint Presentation</vt:lpstr>
      <vt:lpstr>Modern reality: fewer exploits, more abuse</vt:lpstr>
      <vt:lpstr>Principles of effective hardening</vt:lpstr>
      <vt:lpstr>PowerPoint Presentation</vt:lpstr>
      <vt:lpstr>Attack path: from initial access to domain impact</vt:lpstr>
      <vt:lpstr>Walkthrough overview</vt:lpstr>
      <vt:lpstr>Step 1: Foothold on a workstation</vt:lpstr>
      <vt:lpstr>Mitigations for Step 1</vt:lpstr>
      <vt:lpstr>Step 2: Credential access</vt:lpstr>
      <vt:lpstr>Mitigations for Step 2</vt:lpstr>
      <vt:lpstr>Step 3: Lateral movement</vt:lpstr>
      <vt:lpstr>Mitigations for Step 3</vt:lpstr>
      <vt:lpstr>Step 4: Privilege escalation → domain impact</vt:lpstr>
      <vt:lpstr>Mitigations for Step 4</vt:lpstr>
      <vt:lpstr>PowerPoint Presentation</vt:lpstr>
      <vt:lpstr>Top 10 hardening controls (prioritized)</vt:lpstr>
      <vt:lpstr>Top 10 controls – Why these work</vt:lpstr>
      <vt:lpstr>PowerPoint Presentation</vt:lpstr>
      <vt:lpstr>Client baseline: what ‘good’ looks like</vt:lpstr>
      <vt:lpstr>Example: LSA / LSASS hardening (Registry)</vt:lpstr>
      <vt:lpstr>GPO/Intune: Credential protections</vt:lpstr>
      <vt:lpstr>ASR – practical approach</vt:lpstr>
      <vt:lpstr>Browser + Office hardening (client)</vt:lpstr>
      <vt:lpstr>Client networking hardening</vt:lpstr>
      <vt:lpstr>Example: Disable LLMNR (GPO registry)</vt:lpstr>
      <vt:lpstr>WDAC vs AppLocker (client)</vt:lpstr>
      <vt:lpstr>Checking the client</vt:lpstr>
      <vt:lpstr>PowerPoint Presentation</vt:lpstr>
      <vt:lpstr>Server baseline: what changes from clients</vt:lpstr>
      <vt:lpstr>Role-specific hardening patterns</vt:lpstr>
      <vt:lpstr>Interactive logon restrictions (servers)</vt:lpstr>
      <vt:lpstr>Server remote management hardening</vt:lpstr>
      <vt:lpstr>SMB + NTLM hardening (servers)</vt:lpstr>
      <vt:lpstr>Server application control (high value roles)</vt:lpstr>
      <vt:lpstr>PowerPoint Presentation</vt:lpstr>
      <vt:lpstr>How to win at life</vt:lpstr>
      <vt:lpstr>Verification: how you know it’s working</vt:lpstr>
      <vt:lpstr>Rollout strategy (mixed estates)</vt:lpstr>
      <vt:lpstr>Quick wins vs longer programs</vt:lpstr>
      <vt:lpstr>PowerPoint Presentation</vt:lpstr>
      <vt:lpstr>Event IDs (1/4): Credential theft &amp; logon abuse</vt:lpstr>
      <vt:lpstr>Event IDs (2/4): Lateral movement &amp; remote execution</vt:lpstr>
      <vt:lpstr>Event IDs (3/4): Privilege changes &amp; anti-forensics</vt:lpstr>
      <vt:lpstr>Event IDs (4/4): WDAC / App control &amp; ASR verification</vt:lpstr>
      <vt:lpstr>If you do only 5 things…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Mikael Nyström</dc:creator>
  <cp:lastModifiedBy>Mikael Nyström</cp:lastModifiedBy>
  <cp:revision>4</cp:revision>
  <dcterms:created xsi:type="dcterms:W3CDTF">2026-05-06T13:06:53Z</dcterms:created>
  <dcterms:modified xsi:type="dcterms:W3CDTF">2026-05-06T14:41:52Z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